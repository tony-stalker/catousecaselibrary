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6" r:id="rId5"/>
    <p:sldId id="257" r:id="rId6"/>
    <p:sldId id="2076137945" r:id="rId7"/>
    <p:sldId id="258" r:id="rId8"/>
    <p:sldId id="2076137943" r:id="rId9"/>
    <p:sldId id="2076137946"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70A9E2-D5C8-7F4C-BFA9-8B3CCA8A3A36}" v="1" dt="2026-02-01T13:41:18.5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Stalker" userId="bf9b65f5-c969-497d-9e20-5b2e72fd07bf" providerId="ADAL" clId="{43C1C026-0DEF-533E-9438-13A95D4BD409}"/>
    <pc:docChg chg="modSld">
      <pc:chgData name="Tony Stalker" userId="bf9b65f5-c969-497d-9e20-5b2e72fd07bf" providerId="ADAL" clId="{43C1C026-0DEF-533E-9438-13A95D4BD409}" dt="2026-01-30T15:56:35.793" v="21" actId="20577"/>
      <pc:docMkLst>
        <pc:docMk/>
      </pc:docMkLst>
      <pc:sldChg chg="modSp mod">
        <pc:chgData name="Tony Stalker" userId="bf9b65f5-c969-497d-9e20-5b2e72fd07bf" providerId="ADAL" clId="{43C1C026-0DEF-533E-9438-13A95D4BD409}" dt="2026-01-30T15:49:57.182" v="4" actId="20577"/>
        <pc:sldMkLst>
          <pc:docMk/>
          <pc:sldMk cId="3532354212" sldId="256"/>
        </pc:sldMkLst>
        <pc:spChg chg="mod">
          <ac:chgData name="Tony Stalker" userId="bf9b65f5-c969-497d-9e20-5b2e72fd07bf" providerId="ADAL" clId="{43C1C026-0DEF-533E-9438-13A95D4BD409}" dt="2026-01-30T15:49:57.182" v="4" actId="20577"/>
          <ac:spMkLst>
            <pc:docMk/>
            <pc:sldMk cId="3532354212" sldId="256"/>
            <ac:spMk id="2" creationId="{999A8DF3-449F-4811-BD22-4B7964C142E2}"/>
          </ac:spMkLst>
        </pc:spChg>
      </pc:sldChg>
      <pc:sldChg chg="modSp mod">
        <pc:chgData name="Tony Stalker" userId="bf9b65f5-c969-497d-9e20-5b2e72fd07bf" providerId="ADAL" clId="{43C1C026-0DEF-533E-9438-13A95D4BD409}" dt="2026-01-30T15:56:35.793" v="21" actId="20577"/>
        <pc:sldMkLst>
          <pc:docMk/>
          <pc:sldMk cId="3399241255" sldId="2076137946"/>
        </pc:sldMkLst>
        <pc:spChg chg="mod">
          <ac:chgData name="Tony Stalker" userId="bf9b65f5-c969-497d-9e20-5b2e72fd07bf" providerId="ADAL" clId="{43C1C026-0DEF-533E-9438-13A95D4BD409}" dt="2026-01-30T15:56:35.793" v="21" actId="20577"/>
          <ac:spMkLst>
            <pc:docMk/>
            <pc:sldMk cId="3399241255" sldId="2076137946"/>
            <ac:spMk id="6" creationId="{E91298D0-A93D-6824-70D3-93B19FEB4A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7CB17-974E-494A-9109-E30C7318F43A}"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F026F-5CEC-4793-872F-B7F99F4A2DB3}" type="slidenum">
              <a:rPr lang="en-US" smtClean="0"/>
              <a:t>‹#›</a:t>
            </a:fld>
            <a:endParaRPr lang="en-US"/>
          </a:p>
        </p:txBody>
      </p:sp>
    </p:spTree>
    <p:extLst>
      <p:ext uri="{BB962C8B-B14F-4D97-AF65-F5344CB8AC3E}">
        <p14:creationId xmlns:p14="http://schemas.microsoft.com/office/powerpoint/2010/main" val="319745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[click1]</a:t>
            </a:r>
          </a:p>
          <a:p>
            <a:r>
              <a:rPr lang="en-US"/>
              <a:t>Enterprises today need to connect the hybrid workforce, securely, wherever they are. Users seamlessly roam between the office, customer locations, travel, and their homes. </a:t>
            </a:r>
          </a:p>
          <a:p>
            <a:endParaRPr lang="en-US"/>
          </a:p>
          <a:p>
            <a:r>
              <a:rPr lang="en-US"/>
              <a:t>[click2]</a:t>
            </a:r>
          </a:p>
          <a:p>
            <a:r>
              <a:rPr lang="en-US"/>
              <a:t>Cato SSE 360 enforces a </a:t>
            </a:r>
            <a:r>
              <a:rPr lang="en-US" b="1"/>
              <a:t>consistent</a:t>
            </a:r>
            <a:r>
              <a:rPr lang="en-US"/>
              <a:t> policy on </a:t>
            </a:r>
            <a:r>
              <a:rPr lang="en-US" b="1"/>
              <a:t>users</a:t>
            </a:r>
            <a:r>
              <a:rPr lang="en-US"/>
              <a:t> based on their </a:t>
            </a:r>
            <a:r>
              <a:rPr lang="en-US" b="1"/>
              <a:t>identity</a:t>
            </a:r>
            <a:r>
              <a:rPr lang="en-US"/>
              <a:t>. </a:t>
            </a:r>
          </a:p>
          <a:p>
            <a:r>
              <a:rPr lang="en-US"/>
              <a:t>The global cloud service seamlessly distributes the relevant policies globally, so policies are enforced consistently across the globe. </a:t>
            </a:r>
          </a:p>
          <a:p>
            <a:r>
              <a:rPr lang="en-US"/>
              <a:t>And, there is </a:t>
            </a:r>
            <a:r>
              <a:rPr lang="en-US" b="1"/>
              <a:t>no</a:t>
            </a:r>
            <a:r>
              <a:rPr lang="en-US"/>
              <a:t> need to </a:t>
            </a:r>
            <a:r>
              <a:rPr lang="en-US" b="1"/>
              <a:t>backhaul</a:t>
            </a:r>
            <a:r>
              <a:rPr lang="en-US"/>
              <a:t> traffic across the world to a </a:t>
            </a:r>
            <a:r>
              <a:rPr lang="en-US" b="1"/>
              <a:t>single VPN appliance, or</a:t>
            </a:r>
            <a:r>
              <a:rPr lang="en-US"/>
              <a:t> deploy global instances to achieve the same goal. </a:t>
            </a:r>
          </a:p>
          <a:p>
            <a:endParaRPr lang="en-US"/>
          </a:p>
          <a:p>
            <a:r>
              <a:rPr lang="en-US"/>
              <a:t>[click3]</a:t>
            </a:r>
          </a:p>
          <a:p>
            <a:r>
              <a:rPr lang="en-US"/>
              <a:t>Cato SSE 360 delivers true Zero Trust with continuous verification. Access control, threat prevention, and sensitive data protection are continually enforced on all traffic, throughout the user’s session. </a:t>
            </a:r>
          </a:p>
          <a:p>
            <a:endParaRPr lang="en-US"/>
          </a:p>
          <a:p>
            <a:r>
              <a:rPr lang="en-US"/>
              <a:t>Using Cato for the hybrid workforce was </a:t>
            </a:r>
            <a:r>
              <a:rPr lang="en-US" b="1"/>
              <a:t>proven</a:t>
            </a:r>
            <a:r>
              <a:rPr lang="en-US"/>
              <a:t> During COVID. </a:t>
            </a:r>
          </a:p>
          <a:p>
            <a:r>
              <a:rPr lang="en-US"/>
              <a:t>Our customers were able to support all their users transitioning to home working, </a:t>
            </a:r>
            <a:r>
              <a:rPr lang="en-US" b="1"/>
              <a:t>without</a:t>
            </a:r>
            <a:r>
              <a:rPr lang="en-US"/>
              <a:t> giving up security - due to the reach and scalability of the Cato solution. </a:t>
            </a:r>
          </a:p>
        </p:txBody>
      </p:sp>
      <p:sp>
        <p:nvSpPr>
          <p:cNvPr id="4" name="Slide Number Placeholder 3"/>
          <p:cNvSpPr>
            <a:spLocks noGrp="1"/>
          </p:cNvSpPr>
          <p:nvPr>
            <p:ph type="sldNum" sz="quarter" idx="5"/>
          </p:nvPr>
        </p:nvSpPr>
        <p:spPr/>
        <p:txBody>
          <a:bodyPr/>
          <a:lstStyle/>
          <a:p>
            <a:fld id="{94ADEB05-5168-4175-A66F-2235235D7F1A}" type="slidenum">
              <a:rPr lang="en-US" smtClean="0"/>
              <a:t>5</a:t>
            </a:fld>
            <a:endParaRPr lang="en-US"/>
          </a:p>
        </p:txBody>
      </p:sp>
    </p:spTree>
    <p:extLst>
      <p:ext uri="{BB962C8B-B14F-4D97-AF65-F5344CB8AC3E}">
        <p14:creationId xmlns:p14="http://schemas.microsoft.com/office/powerpoint/2010/main" val="3232415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0D568-29B1-3852-5B4D-CA1726632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0CC9C-B539-D8F5-D823-527D8E13316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8F0AA1-0B71-EDF8-D8B7-5D2BDA3699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48EE13-73BB-3FF2-44FF-93B35208352E}"/>
              </a:ext>
            </a:extLst>
          </p:cNvPr>
          <p:cNvSpPr>
            <a:spLocks noGrp="1"/>
          </p:cNvSpPr>
          <p:nvPr>
            <p:ph type="sldNum" sz="quarter" idx="5"/>
          </p:nvPr>
        </p:nvSpPr>
        <p:spPr/>
        <p:txBody>
          <a:bodyPr/>
          <a:lstStyle/>
          <a:p>
            <a:fld id="{94ADEB05-5168-4175-A66F-2235235D7F1A}" type="slidenum">
              <a:rPr lang="en-US" smtClean="0"/>
              <a:t>6</a:t>
            </a:fld>
            <a:endParaRPr lang="en-US"/>
          </a:p>
        </p:txBody>
      </p:sp>
    </p:spTree>
    <p:extLst>
      <p:ext uri="{BB962C8B-B14F-4D97-AF65-F5344CB8AC3E}">
        <p14:creationId xmlns:p14="http://schemas.microsoft.com/office/powerpoint/2010/main" val="12593272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emf"/><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emf"/><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hyperlink" Target="https://www.facebook.com/CatoNetworks/" TargetMode="External"/><Relationship Id="rId7" Type="http://schemas.openxmlformats.org/officeDocument/2006/relationships/hyperlink" Target="https://twitter.com/CatoNetworks" TargetMode="External"/><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31.emf"/><Relationship Id="rId5" Type="http://schemas.openxmlformats.org/officeDocument/2006/relationships/hyperlink" Target="https://www.linkedin.com/company/cato-networks/" TargetMode="External"/><Relationship Id="rId4" Type="http://schemas.openxmlformats.org/officeDocument/2006/relationships/image" Target="../media/image30.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EC0BC0D-94C3-40D0-9E20-4DAC94B139A8}"/>
              </a:ext>
            </a:extLst>
          </p:cNvPr>
          <p:cNvSpPr>
            <a:spLocks noGrp="1"/>
          </p:cNvSpPr>
          <p:nvPr>
            <p:ph type="dt" sz="half" idx="10"/>
          </p:nvPr>
        </p:nvSpPr>
        <p:spPr/>
        <p:txBody>
          <a:bodyPr/>
          <a:lstStyle/>
          <a:p>
            <a:fld id="{8744D272-7787-42F5-8E85-5772E5920C77}" type="datetimeFigureOut">
              <a:rPr lang="en-US" smtClean="0"/>
              <a:t>2/1/2026</a:t>
            </a:fld>
            <a:endParaRPr lang="en-US"/>
          </a:p>
        </p:txBody>
      </p:sp>
      <p:pic>
        <p:nvPicPr>
          <p:cNvPr id="7" name="Picture 6">
            <a:extLst>
              <a:ext uri="{FF2B5EF4-FFF2-40B4-BE49-F238E27FC236}">
                <a16:creationId xmlns:a16="http://schemas.microsoft.com/office/drawing/2014/main" id="{EB6395E8-8E25-4945-9EE5-D8B4D541F3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pic>
        <p:nvPicPr>
          <p:cNvPr id="8" name="Graphic 7">
            <a:extLst>
              <a:ext uri="{FF2B5EF4-FFF2-40B4-BE49-F238E27FC236}">
                <a16:creationId xmlns:a16="http://schemas.microsoft.com/office/drawing/2014/main" id="{75747591-AC59-42CB-980E-33E4403291E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365760"/>
            <a:ext cx="1290196" cy="643089"/>
          </a:xfrm>
          <a:prstGeom prst="rect">
            <a:avLst/>
          </a:prstGeom>
        </p:spPr>
      </p:pic>
      <p:sp>
        <p:nvSpPr>
          <p:cNvPr id="2" name="Title 1">
            <a:extLst>
              <a:ext uri="{FF2B5EF4-FFF2-40B4-BE49-F238E27FC236}">
                <a16:creationId xmlns:a16="http://schemas.microsoft.com/office/drawing/2014/main" id="{2C6E0CF3-E19D-4C66-B453-5E0745350EC8}"/>
              </a:ext>
            </a:extLst>
          </p:cNvPr>
          <p:cNvSpPr>
            <a:spLocks noGrp="1"/>
          </p:cNvSpPr>
          <p:nvPr>
            <p:ph type="ctrTitle"/>
          </p:nvPr>
        </p:nvSpPr>
        <p:spPr>
          <a:xfrm>
            <a:off x="1066800" y="1831533"/>
            <a:ext cx="9144000" cy="840230"/>
          </a:xfrm>
        </p:spPr>
        <p:txBody>
          <a:bodyPr anchor="b"/>
          <a:lstStyle>
            <a:lvl1pPr algn="l">
              <a:defRPr sz="5400" b="1"/>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1275A7E2-CF45-41D8-8207-D721E2289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F9BFF-2202-4316-A54D-EEEA13FD5135}"/>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3" name="Subtitle 2">
            <a:extLst>
              <a:ext uri="{FF2B5EF4-FFF2-40B4-BE49-F238E27FC236}">
                <a16:creationId xmlns:a16="http://schemas.microsoft.com/office/drawing/2014/main" id="{BF306307-D548-4EC6-A4B3-D564B330A806}"/>
              </a:ext>
            </a:extLst>
          </p:cNvPr>
          <p:cNvSpPr>
            <a:spLocks noGrp="1"/>
          </p:cNvSpPr>
          <p:nvPr>
            <p:ph type="subTitle" idx="1"/>
          </p:nvPr>
        </p:nvSpPr>
        <p:spPr>
          <a:xfrm>
            <a:off x="1066800" y="3037674"/>
            <a:ext cx="9144000" cy="1655762"/>
          </a:xfrm>
        </p:spPr>
        <p:txBody>
          <a:bodyPr>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10911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A7C3-FC47-4BCB-B69A-CE0BC45A9E3E}"/>
              </a:ext>
            </a:extLst>
          </p:cNvPr>
          <p:cNvSpPr>
            <a:spLocks noGrp="1"/>
          </p:cNvSpPr>
          <p:nvPr>
            <p:ph type="title"/>
          </p:nvPr>
        </p:nvSpPr>
        <p:spPr>
          <a:xfrm>
            <a:off x="831850" y="1278898"/>
            <a:ext cx="8626475" cy="1588127"/>
          </a:xfrm>
        </p:spPr>
        <p:txBody>
          <a:bodyPr anchor="b"/>
          <a:lstStyle>
            <a:lvl1pPr>
              <a:defRPr sz="54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B5D9269-4020-4E58-8F2C-41611893D596}"/>
              </a:ext>
            </a:extLst>
          </p:cNvPr>
          <p:cNvSpPr>
            <a:spLocks noGrp="1"/>
          </p:cNvSpPr>
          <p:nvPr>
            <p:ph type="body" idx="1"/>
          </p:nvPr>
        </p:nvSpPr>
        <p:spPr>
          <a:xfrm>
            <a:off x="831850" y="289401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510BE1E-A2C1-4029-AD84-B27BB3A9BC12}"/>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9BEE92F3-9A58-4CAD-B7AD-FBE2801F7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9D194-10F0-45C8-BC3A-1F67F39B996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1729618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798703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43420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FBE3-E447-4593-9D29-D23F9A0352E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31F121-D797-47D5-BB5B-C41FCD77BF4C}"/>
              </a:ext>
            </a:extLst>
          </p:cNvPr>
          <p:cNvSpPr>
            <a:spLocks noGrp="1"/>
          </p:cNvSpPr>
          <p:nvPr>
            <p:ph sz="half" idx="1"/>
          </p:nvPr>
        </p:nvSpPr>
        <p:spPr>
          <a:xfrm>
            <a:off x="183219"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4CCE33C-15E7-463B-A719-8F944C6C7248}"/>
              </a:ext>
            </a:extLst>
          </p:cNvPr>
          <p:cNvSpPr>
            <a:spLocks noGrp="1"/>
          </p:cNvSpPr>
          <p:nvPr>
            <p:ph sz="half" idx="2"/>
          </p:nvPr>
        </p:nvSpPr>
        <p:spPr>
          <a:xfrm>
            <a:off x="6096000"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D0F29A0-F316-43B3-80F3-F7D94E2CA74F}"/>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6" name="Footer Placeholder 5">
            <a:extLst>
              <a:ext uri="{FF2B5EF4-FFF2-40B4-BE49-F238E27FC236}">
                <a16:creationId xmlns:a16="http://schemas.microsoft.com/office/drawing/2014/main" id="{92BDE97A-4292-4901-A47C-4EE328B10C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63935-AEC7-41F5-8E50-FD4AAC1FAACC}"/>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3129892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7E0835-8031-4C40-B644-960ED469D8DD}"/>
              </a:ext>
            </a:extLst>
          </p:cNvPr>
          <p:cNvGrpSpPr/>
          <p:nvPr userDrawn="1"/>
        </p:nvGrpSpPr>
        <p:grpSpPr>
          <a:xfrm>
            <a:off x="9994965" y="1461676"/>
            <a:ext cx="1790875" cy="1548151"/>
            <a:chOff x="9994965" y="1461676"/>
            <a:chExt cx="1790875" cy="1548151"/>
          </a:xfrm>
        </p:grpSpPr>
        <p:pic>
          <p:nvPicPr>
            <p:cNvPr id="11" name="Picture 10">
              <a:extLst>
                <a:ext uri="{FF2B5EF4-FFF2-40B4-BE49-F238E27FC236}">
                  <a16:creationId xmlns:a16="http://schemas.microsoft.com/office/drawing/2014/main" id="{4C6116BF-2E29-406D-A91D-3290ACCD03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25051" y="1461676"/>
              <a:ext cx="1112760" cy="546264"/>
            </a:xfrm>
            <a:prstGeom prst="rect">
              <a:avLst/>
            </a:prstGeom>
          </p:spPr>
        </p:pic>
        <p:sp>
          <p:nvSpPr>
            <p:cNvPr id="12" name="TextBox 11">
              <a:extLst>
                <a:ext uri="{FF2B5EF4-FFF2-40B4-BE49-F238E27FC236}">
                  <a16:creationId xmlns:a16="http://schemas.microsoft.com/office/drawing/2014/main" id="{5916D192-6281-462B-B727-03EA6907AE5D}"/>
                </a:ext>
              </a:extLst>
            </p:cNvPr>
            <p:cNvSpPr txBox="1"/>
            <p:nvPr/>
          </p:nvSpPr>
          <p:spPr>
            <a:xfrm>
              <a:off x="9994965" y="2071108"/>
              <a:ext cx="1790875" cy="9387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600"/>
                </a:spcAft>
                <a:buClr>
                  <a:srgbClr val="127958"/>
                </a:buClr>
                <a:buSzTx/>
                <a:buFontTx/>
                <a:buNone/>
                <a:tabLst/>
                <a:defRPr/>
              </a:pPr>
              <a:r>
                <a:rPr kumimoji="0" lang="en-US" sz="1400" b="1" i="0" u="none" strike="noStrike" kern="1200" cap="none" spc="0" normalizeH="0" baseline="0" noProof="0">
                  <a:ln>
                    <a:noFill/>
                  </a:ln>
                  <a:solidFill>
                    <a:srgbClr val="127958"/>
                  </a:solidFill>
                  <a:effectLst/>
                  <a:uLnTx/>
                  <a:uFillTx/>
                  <a:latin typeface="Calibri" panose="020F0502020204030204"/>
                  <a:ea typeface="+mn-ea"/>
                  <a:cs typeface="+mn-cs"/>
                </a:rPr>
                <a:t>Flexible Management</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Self-service</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Co-managed</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Fully managed</a:t>
              </a:r>
            </a:p>
          </p:txBody>
        </p:sp>
      </p:grpSp>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grpSp>
        <p:nvGrpSpPr>
          <p:cNvPr id="14" name="Group 13">
            <a:extLst>
              <a:ext uri="{FF2B5EF4-FFF2-40B4-BE49-F238E27FC236}">
                <a16:creationId xmlns:a16="http://schemas.microsoft.com/office/drawing/2014/main" id="{AB5C4FA2-CF25-4C5B-B790-A37E65684E54}"/>
              </a:ext>
            </a:extLst>
          </p:cNvPr>
          <p:cNvGrpSpPr/>
          <p:nvPr userDrawn="1"/>
        </p:nvGrpSpPr>
        <p:grpSpPr>
          <a:xfrm>
            <a:off x="6144482" y="1408394"/>
            <a:ext cx="2649460" cy="1585140"/>
            <a:chOff x="5328375" y="1408394"/>
            <a:chExt cx="2649460" cy="1585140"/>
          </a:xfrm>
        </p:grpSpPr>
        <p:pic>
          <p:nvPicPr>
            <p:cNvPr id="15" name="Picture 14">
              <a:extLst>
                <a:ext uri="{FF2B5EF4-FFF2-40B4-BE49-F238E27FC236}">
                  <a16:creationId xmlns:a16="http://schemas.microsoft.com/office/drawing/2014/main" id="{E1E07D88-863E-41D5-B2D0-E0766BEF8BE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flipH="1">
              <a:off x="5328375" y="1554246"/>
              <a:ext cx="783699" cy="1439288"/>
            </a:xfrm>
            <a:prstGeom prst="rect">
              <a:avLst/>
            </a:prstGeom>
          </p:spPr>
        </p:pic>
        <p:grpSp>
          <p:nvGrpSpPr>
            <p:cNvPr id="16" name="Group 15">
              <a:extLst>
                <a:ext uri="{FF2B5EF4-FFF2-40B4-BE49-F238E27FC236}">
                  <a16:creationId xmlns:a16="http://schemas.microsoft.com/office/drawing/2014/main" id="{FB577DC2-85F9-439D-8DE9-DA8FBBBC7409}"/>
                </a:ext>
              </a:extLst>
            </p:cNvPr>
            <p:cNvGrpSpPr/>
            <p:nvPr/>
          </p:nvGrpSpPr>
          <p:grpSpPr>
            <a:xfrm>
              <a:off x="6058720" y="1408394"/>
              <a:ext cx="1919115" cy="963318"/>
              <a:chOff x="5942039" y="1446816"/>
              <a:chExt cx="1919115" cy="963318"/>
            </a:xfrm>
          </p:grpSpPr>
          <p:sp>
            <p:nvSpPr>
              <p:cNvPr id="17" name="Rectangle 16">
                <a:extLst>
                  <a:ext uri="{FF2B5EF4-FFF2-40B4-BE49-F238E27FC236}">
                    <a16:creationId xmlns:a16="http://schemas.microsoft.com/office/drawing/2014/main" id="{34F8EDE0-6194-4DFE-BA35-0BADF5A23707}"/>
                  </a:ext>
                </a:extLst>
              </p:cNvPr>
              <p:cNvSpPr/>
              <p:nvPr/>
            </p:nvSpPr>
            <p:spPr>
              <a:xfrm>
                <a:off x="5942039" y="1446816"/>
                <a:ext cx="864339"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NG Firewall</a:t>
                </a:r>
              </a:p>
            </p:txBody>
          </p:sp>
          <p:sp>
            <p:nvSpPr>
              <p:cNvPr id="18" name="Rectangle 17">
                <a:extLst>
                  <a:ext uri="{FF2B5EF4-FFF2-40B4-BE49-F238E27FC236}">
                    <a16:creationId xmlns:a16="http://schemas.microsoft.com/office/drawing/2014/main" id="{23FEBEA4-A290-4E1F-B15F-01FCD9D072A0}"/>
                  </a:ext>
                </a:extLst>
              </p:cNvPr>
              <p:cNvSpPr/>
              <p:nvPr/>
            </p:nvSpPr>
            <p:spPr>
              <a:xfrm>
                <a:off x="5942039" y="1663884"/>
                <a:ext cx="1468672"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Secure Web Gateway </a:t>
                </a:r>
              </a:p>
            </p:txBody>
          </p:sp>
          <p:sp>
            <p:nvSpPr>
              <p:cNvPr id="19" name="Rectangle 18">
                <a:extLst>
                  <a:ext uri="{FF2B5EF4-FFF2-40B4-BE49-F238E27FC236}">
                    <a16:creationId xmlns:a16="http://schemas.microsoft.com/office/drawing/2014/main" id="{5AC0677C-6501-402E-8743-5216F26791D2}"/>
                  </a:ext>
                </a:extLst>
              </p:cNvPr>
              <p:cNvSpPr/>
              <p:nvPr/>
            </p:nvSpPr>
            <p:spPr>
              <a:xfrm>
                <a:off x="5942039" y="1911367"/>
                <a:ext cx="191911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Advanced Threat Prevention  </a:t>
                </a:r>
              </a:p>
            </p:txBody>
          </p:sp>
          <p:sp>
            <p:nvSpPr>
              <p:cNvPr id="20" name="Rectangle 19">
                <a:extLst>
                  <a:ext uri="{FF2B5EF4-FFF2-40B4-BE49-F238E27FC236}">
                    <a16:creationId xmlns:a16="http://schemas.microsoft.com/office/drawing/2014/main" id="{1458A31F-BAD3-446B-9F98-881F167E169B}"/>
                  </a:ext>
                </a:extLst>
              </p:cNvPr>
              <p:cNvSpPr/>
              <p:nvPr/>
            </p:nvSpPr>
            <p:spPr>
              <a:xfrm>
                <a:off x="5942039" y="2136276"/>
                <a:ext cx="172675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and Mobile Security</a:t>
                </a:r>
              </a:p>
            </p:txBody>
          </p:sp>
        </p:grpSp>
      </p:grpSp>
      <p:grpSp>
        <p:nvGrpSpPr>
          <p:cNvPr id="21" name="Group 20">
            <a:extLst>
              <a:ext uri="{FF2B5EF4-FFF2-40B4-BE49-F238E27FC236}">
                <a16:creationId xmlns:a16="http://schemas.microsoft.com/office/drawing/2014/main" id="{C359527F-F9D2-44F8-954C-11137634E415}"/>
              </a:ext>
            </a:extLst>
          </p:cNvPr>
          <p:cNvGrpSpPr/>
          <p:nvPr userDrawn="1"/>
        </p:nvGrpSpPr>
        <p:grpSpPr>
          <a:xfrm>
            <a:off x="3659831" y="1408394"/>
            <a:ext cx="2464573" cy="1585140"/>
            <a:chOff x="2843724" y="1408394"/>
            <a:chExt cx="2464573" cy="1585140"/>
          </a:xfrm>
        </p:grpSpPr>
        <p:pic>
          <p:nvPicPr>
            <p:cNvPr id="22" name="Picture 21">
              <a:extLst>
                <a:ext uri="{FF2B5EF4-FFF2-40B4-BE49-F238E27FC236}">
                  <a16:creationId xmlns:a16="http://schemas.microsoft.com/office/drawing/2014/main" id="{1D68E4D2-81C4-43FC-8BB1-AC87C1BBEAB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a:off x="4524598" y="1554246"/>
              <a:ext cx="783699" cy="1439288"/>
            </a:xfrm>
            <a:prstGeom prst="rect">
              <a:avLst/>
            </a:prstGeom>
          </p:spPr>
        </p:pic>
        <p:grpSp>
          <p:nvGrpSpPr>
            <p:cNvPr id="23" name="Group 22">
              <a:extLst>
                <a:ext uri="{FF2B5EF4-FFF2-40B4-BE49-F238E27FC236}">
                  <a16:creationId xmlns:a16="http://schemas.microsoft.com/office/drawing/2014/main" id="{00D75136-6A4F-41ED-8CC5-5FCFC92498DF}"/>
                </a:ext>
              </a:extLst>
            </p:cNvPr>
            <p:cNvGrpSpPr/>
            <p:nvPr/>
          </p:nvGrpSpPr>
          <p:grpSpPr>
            <a:xfrm>
              <a:off x="2843724" y="1408394"/>
              <a:ext cx="1747594" cy="963318"/>
              <a:chOff x="2640072" y="1434290"/>
              <a:chExt cx="1747594" cy="963318"/>
            </a:xfrm>
          </p:grpSpPr>
          <p:sp>
            <p:nvSpPr>
              <p:cNvPr id="24" name="Rectangle 23">
                <a:extLst>
                  <a:ext uri="{FF2B5EF4-FFF2-40B4-BE49-F238E27FC236}">
                    <a16:creationId xmlns:a16="http://schemas.microsoft.com/office/drawing/2014/main" id="{286F1819-A363-4938-9651-91C834CD94C8}"/>
                  </a:ext>
                </a:extLst>
              </p:cNvPr>
              <p:cNvSpPr/>
              <p:nvPr/>
            </p:nvSpPr>
            <p:spPr>
              <a:xfrm>
                <a:off x="3066470" y="1434290"/>
                <a:ext cx="1321196"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Optimization</a:t>
                </a:r>
              </a:p>
            </p:txBody>
          </p:sp>
          <p:sp>
            <p:nvSpPr>
              <p:cNvPr id="25" name="Rectangle 24">
                <a:extLst>
                  <a:ext uri="{FF2B5EF4-FFF2-40B4-BE49-F238E27FC236}">
                    <a16:creationId xmlns:a16="http://schemas.microsoft.com/office/drawing/2014/main" id="{500F7753-7FA0-4EC3-84DB-F37A2A8ACD7E}"/>
                  </a:ext>
                </a:extLst>
              </p:cNvPr>
              <p:cNvSpPr/>
              <p:nvPr/>
            </p:nvSpPr>
            <p:spPr>
              <a:xfrm>
                <a:off x="3096928" y="1651358"/>
                <a:ext cx="1290738"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WAN Optimization</a:t>
                </a:r>
              </a:p>
            </p:txBody>
          </p:sp>
          <p:sp>
            <p:nvSpPr>
              <p:cNvPr id="26" name="Rectangle 25">
                <a:extLst>
                  <a:ext uri="{FF2B5EF4-FFF2-40B4-BE49-F238E27FC236}">
                    <a16:creationId xmlns:a16="http://schemas.microsoft.com/office/drawing/2014/main" id="{369D292F-BA87-4BD0-864E-A321B92DE6A0}"/>
                  </a:ext>
                </a:extLst>
              </p:cNvPr>
              <p:cNvSpPr/>
              <p:nvPr/>
            </p:nvSpPr>
            <p:spPr>
              <a:xfrm>
                <a:off x="2640072" y="1898841"/>
                <a:ext cx="1747594"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Global Route Optimization</a:t>
                </a:r>
              </a:p>
            </p:txBody>
          </p:sp>
          <p:sp>
            <p:nvSpPr>
              <p:cNvPr id="27" name="Rectangle 26">
                <a:extLst>
                  <a:ext uri="{FF2B5EF4-FFF2-40B4-BE49-F238E27FC236}">
                    <a16:creationId xmlns:a16="http://schemas.microsoft.com/office/drawing/2014/main" id="{D7FCAE52-A4B2-4BB3-B7C6-C4C66C5A4C76}"/>
                  </a:ext>
                </a:extLst>
              </p:cNvPr>
              <p:cNvSpPr/>
              <p:nvPr/>
            </p:nvSpPr>
            <p:spPr>
              <a:xfrm>
                <a:off x="2752283" y="2123750"/>
                <a:ext cx="1635383"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Self-healing Architecture</a:t>
                </a:r>
              </a:p>
            </p:txBody>
          </p:sp>
        </p:grpSp>
      </p:grpSp>
      <p:pic>
        <p:nvPicPr>
          <p:cNvPr id="28" name="Picture 27">
            <a:extLst>
              <a:ext uri="{FF2B5EF4-FFF2-40B4-BE49-F238E27FC236}">
                <a16:creationId xmlns:a16="http://schemas.microsoft.com/office/drawing/2014/main" id="{0D43E9A2-20C8-4031-B969-EFBA0E6C4B87}"/>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111510" y="3083940"/>
            <a:ext cx="6045866" cy="1022462"/>
          </a:xfrm>
          <a:prstGeom prst="rect">
            <a:avLst/>
          </a:prstGeom>
        </p:spPr>
      </p:pic>
      <p:grpSp>
        <p:nvGrpSpPr>
          <p:cNvPr id="29" name="Group 28">
            <a:extLst>
              <a:ext uri="{FF2B5EF4-FFF2-40B4-BE49-F238E27FC236}">
                <a16:creationId xmlns:a16="http://schemas.microsoft.com/office/drawing/2014/main" id="{B46D4916-A549-45D5-90FE-E35F46D5FEB3}"/>
              </a:ext>
            </a:extLst>
          </p:cNvPr>
          <p:cNvGrpSpPr/>
          <p:nvPr userDrawn="1"/>
        </p:nvGrpSpPr>
        <p:grpSpPr>
          <a:xfrm>
            <a:off x="1453471" y="2069038"/>
            <a:ext cx="2336333" cy="1811732"/>
            <a:chOff x="2285868" y="3762352"/>
            <a:chExt cx="1885286" cy="1461963"/>
          </a:xfrm>
        </p:grpSpPr>
        <p:cxnSp>
          <p:nvCxnSpPr>
            <p:cNvPr id="30" name="Straight Connector 29">
              <a:extLst>
                <a:ext uri="{FF2B5EF4-FFF2-40B4-BE49-F238E27FC236}">
                  <a16:creationId xmlns:a16="http://schemas.microsoft.com/office/drawing/2014/main" id="{1BA8495D-B394-4B9B-AD2C-2C27E3E3DE96}"/>
                </a:ext>
              </a:extLst>
            </p:cNvPr>
            <p:cNvCxnSpPr>
              <a:cxnSpLocks/>
            </p:cNvCxnSpPr>
            <p:nvPr/>
          </p:nvCxnSpPr>
          <p:spPr>
            <a:xfrm>
              <a:off x="3123368" y="4546943"/>
              <a:ext cx="462556" cy="316356"/>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0E61C5-6FF5-40BE-8FAC-45DE3F69C6C8}"/>
                </a:ext>
              </a:extLst>
            </p:cNvPr>
            <p:cNvCxnSpPr>
              <a:cxnSpLocks/>
            </p:cNvCxnSpPr>
            <p:nvPr/>
          </p:nvCxnSpPr>
          <p:spPr>
            <a:xfrm>
              <a:off x="2685008" y="4467929"/>
              <a:ext cx="923980" cy="442685"/>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019B2C3A-C0D0-4E44-8C2D-2F7D48A7FF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07072" y="4303678"/>
              <a:ext cx="409034" cy="256090"/>
            </a:xfrm>
            <a:prstGeom prst="rect">
              <a:avLst/>
            </a:prstGeom>
          </p:spPr>
        </p:pic>
        <p:cxnSp>
          <p:nvCxnSpPr>
            <p:cNvPr id="33" name="Straight Connector 32">
              <a:extLst>
                <a:ext uri="{FF2B5EF4-FFF2-40B4-BE49-F238E27FC236}">
                  <a16:creationId xmlns:a16="http://schemas.microsoft.com/office/drawing/2014/main" id="{66997227-5BCC-46C6-B532-74516A38929D}"/>
                </a:ext>
              </a:extLst>
            </p:cNvPr>
            <p:cNvCxnSpPr/>
            <p:nvPr/>
          </p:nvCxnSpPr>
          <p:spPr>
            <a:xfrm flipH="1">
              <a:off x="3750602" y="4546943"/>
              <a:ext cx="190681" cy="2860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AE1DD8-F717-4B3E-B160-DFC024D4D4C8}"/>
                </a:ext>
              </a:extLst>
            </p:cNvPr>
            <p:cNvCxnSpPr/>
            <p:nvPr/>
          </p:nvCxnSpPr>
          <p:spPr>
            <a:xfrm>
              <a:off x="3690606" y="4178339"/>
              <a:ext cx="0" cy="68496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378109-B75F-4C57-95D0-BD7C1A6C9BAF}"/>
                </a:ext>
              </a:extLst>
            </p:cNvPr>
            <p:cNvCxnSpPr/>
            <p:nvPr/>
          </p:nvCxnSpPr>
          <p:spPr>
            <a:xfrm>
              <a:off x="3460923" y="4000903"/>
              <a:ext cx="207340" cy="87973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83C1737-B062-4C09-B85E-DF3364358B7D}"/>
                </a:ext>
              </a:extLst>
            </p:cNvPr>
            <p:cNvCxnSpPr>
              <a:cxnSpLocks/>
            </p:cNvCxnSpPr>
            <p:nvPr/>
          </p:nvCxnSpPr>
          <p:spPr>
            <a:xfrm>
              <a:off x="3080194" y="4068225"/>
              <a:ext cx="566401" cy="799408"/>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F5F7F0-8796-4CBF-8136-76927590A288}"/>
                </a:ext>
              </a:extLst>
            </p:cNvPr>
            <p:cNvCxnSpPr/>
            <p:nvPr/>
          </p:nvCxnSpPr>
          <p:spPr>
            <a:xfrm>
              <a:off x="2948876" y="4766983"/>
              <a:ext cx="645715" cy="1613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002816-B12B-4C98-9097-348318F06B46}"/>
                </a:ext>
              </a:extLst>
            </p:cNvPr>
            <p:cNvCxnSpPr/>
            <p:nvPr/>
          </p:nvCxnSpPr>
          <p:spPr>
            <a:xfrm flipV="1">
              <a:off x="3235573" y="4954306"/>
              <a:ext cx="341683" cy="82882"/>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513E5A94-F649-4324-B080-F739A32EC54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20243" y="3965009"/>
              <a:ext cx="439090" cy="291395"/>
            </a:xfrm>
            <a:prstGeom prst="rect">
              <a:avLst/>
            </a:prstGeom>
          </p:spPr>
        </p:pic>
        <p:pic>
          <p:nvPicPr>
            <p:cNvPr id="40" name="Picture 39">
              <a:extLst>
                <a:ext uri="{FF2B5EF4-FFF2-40B4-BE49-F238E27FC236}">
                  <a16:creationId xmlns:a16="http://schemas.microsoft.com/office/drawing/2014/main" id="{CF8263A5-5F0F-4BE3-B074-98192039841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747511" y="4345864"/>
              <a:ext cx="423643" cy="265236"/>
            </a:xfrm>
            <a:prstGeom prst="rect">
              <a:avLst/>
            </a:prstGeom>
          </p:spPr>
        </p:pic>
        <p:pic>
          <p:nvPicPr>
            <p:cNvPr id="41" name="Picture 40">
              <a:extLst>
                <a:ext uri="{FF2B5EF4-FFF2-40B4-BE49-F238E27FC236}">
                  <a16:creationId xmlns:a16="http://schemas.microsoft.com/office/drawing/2014/main" id="{9F32977F-0D9C-4F91-B5D9-98EB5987431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06052" y="3762352"/>
              <a:ext cx="596783" cy="375752"/>
            </a:xfrm>
            <a:prstGeom prst="rect">
              <a:avLst/>
            </a:prstGeom>
          </p:spPr>
        </p:pic>
        <p:pic>
          <p:nvPicPr>
            <p:cNvPr id="42" name="Picture 41">
              <a:extLst>
                <a:ext uri="{FF2B5EF4-FFF2-40B4-BE49-F238E27FC236}">
                  <a16:creationId xmlns:a16="http://schemas.microsoft.com/office/drawing/2014/main" id="{9AABE23A-79C4-4ABE-BF83-B7E260097F1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362961" y="4586038"/>
              <a:ext cx="648357" cy="254185"/>
            </a:xfrm>
            <a:prstGeom prst="rect">
              <a:avLst/>
            </a:prstGeom>
          </p:spPr>
        </p:pic>
        <p:pic>
          <p:nvPicPr>
            <p:cNvPr id="43" name="Picture 42">
              <a:extLst>
                <a:ext uri="{FF2B5EF4-FFF2-40B4-BE49-F238E27FC236}">
                  <a16:creationId xmlns:a16="http://schemas.microsoft.com/office/drawing/2014/main" id="{23CD6DAC-F1A0-40FD-B91F-8A8924D6BD0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758803" y="4863299"/>
              <a:ext cx="515738" cy="361016"/>
            </a:xfrm>
            <a:prstGeom prst="rect">
              <a:avLst/>
            </a:prstGeom>
          </p:spPr>
        </p:pic>
        <p:pic>
          <p:nvPicPr>
            <p:cNvPr id="44" name="Picture 43">
              <a:extLst>
                <a:ext uri="{FF2B5EF4-FFF2-40B4-BE49-F238E27FC236}">
                  <a16:creationId xmlns:a16="http://schemas.microsoft.com/office/drawing/2014/main" id="{1F36D387-1BFC-4229-A7CD-F005BE83A54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250940" y="3814611"/>
              <a:ext cx="364701" cy="232082"/>
            </a:xfrm>
            <a:prstGeom prst="rect">
              <a:avLst/>
            </a:prstGeom>
          </p:spPr>
        </p:pic>
        <p:pic>
          <p:nvPicPr>
            <p:cNvPr id="45" name="Picture 44">
              <a:extLst>
                <a:ext uri="{FF2B5EF4-FFF2-40B4-BE49-F238E27FC236}">
                  <a16:creationId xmlns:a16="http://schemas.microsoft.com/office/drawing/2014/main" id="{5CBBB2CB-1950-4371-82C1-4BAA08E9425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285868" y="4155913"/>
              <a:ext cx="519742" cy="325992"/>
            </a:xfrm>
            <a:prstGeom prst="rect">
              <a:avLst/>
            </a:prstGeom>
          </p:spPr>
        </p:pic>
      </p:grpSp>
      <p:grpSp>
        <p:nvGrpSpPr>
          <p:cNvPr id="46" name="Group 45">
            <a:extLst>
              <a:ext uri="{FF2B5EF4-FFF2-40B4-BE49-F238E27FC236}">
                <a16:creationId xmlns:a16="http://schemas.microsoft.com/office/drawing/2014/main" id="{79C39A0E-4BCE-4E3E-A11D-B411C2177141}"/>
              </a:ext>
            </a:extLst>
          </p:cNvPr>
          <p:cNvGrpSpPr/>
          <p:nvPr userDrawn="1"/>
        </p:nvGrpSpPr>
        <p:grpSpPr>
          <a:xfrm>
            <a:off x="1444938" y="3599432"/>
            <a:ext cx="5416190" cy="2052950"/>
            <a:chOff x="628831" y="3599432"/>
            <a:chExt cx="5416190" cy="2052950"/>
          </a:xfrm>
        </p:grpSpPr>
        <p:grpSp>
          <p:nvGrpSpPr>
            <p:cNvPr id="47" name="Group 46">
              <a:extLst>
                <a:ext uri="{FF2B5EF4-FFF2-40B4-BE49-F238E27FC236}">
                  <a16:creationId xmlns:a16="http://schemas.microsoft.com/office/drawing/2014/main" id="{C058DF4D-A6CC-4994-8F97-D36C2DB64797}"/>
                </a:ext>
              </a:extLst>
            </p:cNvPr>
            <p:cNvGrpSpPr/>
            <p:nvPr/>
          </p:nvGrpSpPr>
          <p:grpSpPr>
            <a:xfrm>
              <a:off x="628831" y="3599432"/>
              <a:ext cx="5160945" cy="2052950"/>
              <a:chOff x="2341995" y="4494588"/>
              <a:chExt cx="4164579" cy="1656610"/>
            </a:xfrm>
          </p:grpSpPr>
          <p:grpSp>
            <p:nvGrpSpPr>
              <p:cNvPr id="59" name="Group 58">
                <a:extLst>
                  <a:ext uri="{FF2B5EF4-FFF2-40B4-BE49-F238E27FC236}">
                    <a16:creationId xmlns:a16="http://schemas.microsoft.com/office/drawing/2014/main" id="{9AC816E0-4084-4403-B54D-14F777C64975}"/>
                  </a:ext>
                </a:extLst>
              </p:cNvPr>
              <p:cNvGrpSpPr/>
              <p:nvPr/>
            </p:nvGrpSpPr>
            <p:grpSpPr>
              <a:xfrm>
                <a:off x="2341995" y="4494588"/>
                <a:ext cx="4164579" cy="1656610"/>
                <a:chOff x="2341995" y="4494588"/>
                <a:chExt cx="4164579" cy="1656610"/>
              </a:xfrm>
            </p:grpSpPr>
            <p:cxnSp>
              <p:nvCxnSpPr>
                <p:cNvPr id="61" name="Straight Connector 60">
                  <a:extLst>
                    <a:ext uri="{FF2B5EF4-FFF2-40B4-BE49-F238E27FC236}">
                      <a16:creationId xmlns:a16="http://schemas.microsoft.com/office/drawing/2014/main" id="{564F05D9-C16C-4EDA-BAB3-B2FEA0F61437}"/>
                    </a:ext>
                  </a:extLst>
                </p:cNvPr>
                <p:cNvCxnSpPr/>
                <p:nvPr/>
              </p:nvCxnSpPr>
              <p:spPr>
                <a:xfrm>
                  <a:off x="6018415"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AB86A45-2D58-45E4-94DD-F3FABE3706A2}"/>
                    </a:ext>
                  </a:extLst>
                </p:cNvPr>
                <p:cNvCxnSpPr/>
                <p:nvPr/>
              </p:nvCxnSpPr>
              <p:spPr>
                <a:xfrm>
                  <a:off x="5964382"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44982D4-26EF-4689-9836-5C21CFAADD1A}"/>
                    </a:ext>
                  </a:extLst>
                </p:cNvPr>
                <p:cNvCxnSpPr>
                  <a:cxnSpLocks/>
                </p:cNvCxnSpPr>
                <p:nvPr/>
              </p:nvCxnSpPr>
              <p:spPr>
                <a:xfrm flipH="1">
                  <a:off x="2581102"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E81B59E-2A69-4D75-9196-CECB0CB8C0B6}"/>
                    </a:ext>
                  </a:extLst>
                </p:cNvPr>
                <p:cNvCxnSpPr>
                  <a:cxnSpLocks/>
                </p:cNvCxnSpPr>
                <p:nvPr/>
              </p:nvCxnSpPr>
              <p:spPr>
                <a:xfrm flipH="1">
                  <a:off x="2660073"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65" name="Picture 64">
                  <a:extLst>
                    <a:ext uri="{FF2B5EF4-FFF2-40B4-BE49-F238E27FC236}">
                      <a16:creationId xmlns:a16="http://schemas.microsoft.com/office/drawing/2014/main" id="{B1D61435-8977-4818-A1D4-B336B124B5DF}"/>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425972" y="5539528"/>
                  <a:ext cx="386803" cy="386803"/>
                </a:xfrm>
                <a:prstGeom prst="rect">
                  <a:avLst/>
                </a:prstGeom>
              </p:spPr>
            </p:pic>
            <p:sp>
              <p:nvSpPr>
                <p:cNvPr id="66" name="TextBox 65">
                  <a:extLst>
                    <a:ext uri="{FF2B5EF4-FFF2-40B4-BE49-F238E27FC236}">
                      <a16:creationId xmlns:a16="http://schemas.microsoft.com/office/drawing/2014/main" id="{6E8384B4-8B54-421C-8F43-7E3BB4C220C7}"/>
                    </a:ext>
                  </a:extLst>
                </p:cNvPr>
                <p:cNvSpPr txBox="1"/>
                <p:nvPr/>
              </p:nvSpPr>
              <p:spPr>
                <a:xfrm>
                  <a:off x="2341995" y="5902840"/>
                  <a:ext cx="558701"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Branch</a:t>
                  </a:r>
                </a:p>
              </p:txBody>
            </p:sp>
            <p:sp>
              <p:nvSpPr>
                <p:cNvPr id="67" name="TextBox 66">
                  <a:extLst>
                    <a:ext uri="{FF2B5EF4-FFF2-40B4-BE49-F238E27FC236}">
                      <a16:creationId xmlns:a16="http://schemas.microsoft.com/office/drawing/2014/main" id="{BDA958BE-C6C2-4408-90C7-ACC88A4BC70B}"/>
                    </a:ext>
                  </a:extLst>
                </p:cNvPr>
                <p:cNvSpPr txBox="1"/>
                <p:nvPr/>
              </p:nvSpPr>
              <p:spPr>
                <a:xfrm rot="18900000">
                  <a:off x="2906463" y="4800777"/>
                  <a:ext cx="627829"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rPr>
                    <a:t>Internet</a:t>
                  </a:r>
                </a:p>
              </p:txBody>
            </p:sp>
            <p:sp>
              <p:nvSpPr>
                <p:cNvPr id="68" name="TextBox 67">
                  <a:extLst>
                    <a:ext uri="{FF2B5EF4-FFF2-40B4-BE49-F238E27FC236}">
                      <a16:creationId xmlns:a16="http://schemas.microsoft.com/office/drawing/2014/main" id="{9A6D93F8-6CB3-4384-9D3E-AA47CB4F2280}"/>
                    </a:ext>
                  </a:extLst>
                </p:cNvPr>
                <p:cNvSpPr txBox="1"/>
                <p:nvPr/>
              </p:nvSpPr>
              <p:spPr>
                <a:xfrm>
                  <a:off x="5703862" y="5902840"/>
                  <a:ext cx="802712"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Datacenter</a:t>
                  </a:r>
                </a:p>
              </p:txBody>
            </p:sp>
            <p:pic>
              <p:nvPicPr>
                <p:cNvPr id="69" name="Picture 68">
                  <a:extLst>
                    <a:ext uri="{FF2B5EF4-FFF2-40B4-BE49-F238E27FC236}">
                      <a16:creationId xmlns:a16="http://schemas.microsoft.com/office/drawing/2014/main" id="{0AB60BBF-0970-4DE8-8C1A-4E70D5D92CC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909005" y="5539528"/>
                  <a:ext cx="386803" cy="386803"/>
                </a:xfrm>
                <a:prstGeom prst="rect">
                  <a:avLst/>
                </a:prstGeom>
              </p:spPr>
            </p:pic>
            <p:pic>
              <p:nvPicPr>
                <p:cNvPr id="70" name="Picture 69">
                  <a:extLst>
                    <a:ext uri="{FF2B5EF4-FFF2-40B4-BE49-F238E27FC236}">
                      <a16:creationId xmlns:a16="http://schemas.microsoft.com/office/drawing/2014/main" id="{1E9FBCE4-3F3A-443F-A8F3-AB6D10AC3787}"/>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2686637" y="5257377"/>
                  <a:ext cx="504052" cy="232082"/>
                </a:xfrm>
                <a:prstGeom prst="rect">
                  <a:avLst/>
                </a:prstGeom>
              </p:spPr>
            </p:pic>
            <p:pic>
              <p:nvPicPr>
                <p:cNvPr id="71" name="Picture 70">
                  <a:extLst>
                    <a:ext uri="{FF2B5EF4-FFF2-40B4-BE49-F238E27FC236}">
                      <a16:creationId xmlns:a16="http://schemas.microsoft.com/office/drawing/2014/main" id="{691102DE-4793-49F8-9F4A-E1BE85C1FB39}"/>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5571153" y="5257377"/>
                  <a:ext cx="504052" cy="232082"/>
                </a:xfrm>
                <a:prstGeom prst="rect">
                  <a:avLst/>
                </a:prstGeom>
              </p:spPr>
            </p:pic>
          </p:grpSp>
          <p:sp>
            <p:nvSpPr>
              <p:cNvPr id="60" name="TextBox 59">
                <a:extLst>
                  <a:ext uri="{FF2B5EF4-FFF2-40B4-BE49-F238E27FC236}">
                    <a16:creationId xmlns:a16="http://schemas.microsoft.com/office/drawing/2014/main" id="{5EA6B87B-1EC6-4579-B591-BEE9103EBDDE}"/>
                  </a:ext>
                </a:extLst>
              </p:cNvPr>
              <p:cNvSpPr txBox="1"/>
              <p:nvPr/>
            </p:nvSpPr>
            <p:spPr>
              <a:xfrm>
                <a:off x="3149296" y="5472835"/>
                <a:ext cx="149067"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endParaRPr>
              </a:p>
            </p:txBody>
          </p:sp>
        </p:grpSp>
        <p:grpSp>
          <p:nvGrpSpPr>
            <p:cNvPr id="48" name="Group 47">
              <a:extLst>
                <a:ext uri="{FF2B5EF4-FFF2-40B4-BE49-F238E27FC236}">
                  <a16:creationId xmlns:a16="http://schemas.microsoft.com/office/drawing/2014/main" id="{73606AB8-DE73-4D03-A34B-1DACEDFD2C4A}"/>
                </a:ext>
              </a:extLst>
            </p:cNvPr>
            <p:cNvGrpSpPr/>
            <p:nvPr/>
          </p:nvGrpSpPr>
          <p:grpSpPr>
            <a:xfrm>
              <a:off x="1685531" y="3843892"/>
              <a:ext cx="4359490" cy="1334211"/>
              <a:chOff x="2396017" y="3843570"/>
              <a:chExt cx="2638394" cy="807473"/>
            </a:xfrm>
          </p:grpSpPr>
          <p:grpSp>
            <p:nvGrpSpPr>
              <p:cNvPr id="49" name="Group 48">
                <a:extLst>
                  <a:ext uri="{FF2B5EF4-FFF2-40B4-BE49-F238E27FC236}">
                    <a16:creationId xmlns:a16="http://schemas.microsoft.com/office/drawing/2014/main" id="{F7FD70F8-9CBB-4A9D-86B9-62203CC4B9D3}"/>
                  </a:ext>
                </a:extLst>
              </p:cNvPr>
              <p:cNvGrpSpPr/>
              <p:nvPr/>
            </p:nvGrpSpPr>
            <p:grpSpPr>
              <a:xfrm>
                <a:off x="4599950" y="3843570"/>
                <a:ext cx="434461" cy="807473"/>
                <a:chOff x="6133238" y="4691857"/>
                <a:chExt cx="579279" cy="1076631"/>
              </a:xfrm>
            </p:grpSpPr>
            <p:cxnSp>
              <p:nvCxnSpPr>
                <p:cNvPr id="56" name="Straight Connector 55">
                  <a:extLst>
                    <a:ext uri="{FF2B5EF4-FFF2-40B4-BE49-F238E27FC236}">
                      <a16:creationId xmlns:a16="http://schemas.microsoft.com/office/drawing/2014/main" id="{E9FA0D9D-78EC-439D-A5D1-8059D6E283DB}"/>
                    </a:ext>
                  </a:extLst>
                </p:cNvPr>
                <p:cNvCxnSpPr/>
                <p:nvPr/>
              </p:nvCxnSpPr>
              <p:spPr>
                <a:xfrm>
                  <a:off x="6213764" y="4691857"/>
                  <a:ext cx="0" cy="1076631"/>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5352871A-4B20-4D54-81C2-59E3AE55EBD7}"/>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133238" y="5278232"/>
                  <a:ext cx="165773" cy="165773"/>
                </a:xfrm>
                <a:prstGeom prst="rect">
                  <a:avLst/>
                </a:prstGeom>
              </p:spPr>
            </p:pic>
            <p:sp>
              <p:nvSpPr>
                <p:cNvPr id="58" name="TextBox 57">
                  <a:extLst>
                    <a:ext uri="{FF2B5EF4-FFF2-40B4-BE49-F238E27FC236}">
                      <a16:creationId xmlns:a16="http://schemas.microsoft.com/office/drawing/2014/main" id="{B04CD08D-D845-440E-BC1C-22973FACD378}"/>
                    </a:ext>
                  </a:extLst>
                </p:cNvPr>
                <p:cNvSpPr txBox="1"/>
                <p:nvPr/>
              </p:nvSpPr>
              <p:spPr>
                <a:xfrm>
                  <a:off x="6251735" y="5240441"/>
                  <a:ext cx="460782" cy="2471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IPSec</a:t>
                  </a:r>
                </a:p>
              </p:txBody>
            </p:sp>
          </p:grpSp>
          <p:grpSp>
            <p:nvGrpSpPr>
              <p:cNvPr id="50" name="Group 49">
                <a:extLst>
                  <a:ext uri="{FF2B5EF4-FFF2-40B4-BE49-F238E27FC236}">
                    <a16:creationId xmlns:a16="http://schemas.microsoft.com/office/drawing/2014/main" id="{0FC0B286-A8C8-466B-9485-4EAE107F1B50}"/>
                  </a:ext>
                </a:extLst>
              </p:cNvPr>
              <p:cNvGrpSpPr/>
              <p:nvPr/>
            </p:nvGrpSpPr>
            <p:grpSpPr>
              <a:xfrm>
                <a:off x="2396017" y="4155935"/>
                <a:ext cx="1779347" cy="380912"/>
                <a:chOff x="3194690" y="5108339"/>
                <a:chExt cx="2372462" cy="507882"/>
              </a:xfrm>
            </p:grpSpPr>
            <p:cxnSp>
              <p:nvCxnSpPr>
                <p:cNvPr id="51" name="Straight Connector 50">
                  <a:extLst>
                    <a:ext uri="{FF2B5EF4-FFF2-40B4-BE49-F238E27FC236}">
                      <a16:creationId xmlns:a16="http://schemas.microsoft.com/office/drawing/2014/main" id="{8F97E215-44BC-45A4-8DE5-C2B822155655}"/>
                    </a:ext>
                  </a:extLst>
                </p:cNvPr>
                <p:cNvCxnSpPr>
                  <a:cxnSpLocks/>
                </p:cNvCxnSpPr>
                <p:nvPr/>
              </p:nvCxnSpPr>
              <p:spPr>
                <a:xfrm>
                  <a:off x="3194690" y="5311073"/>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E4DE64-2A8E-481B-A828-D51D8E0D0A5D}"/>
                    </a:ext>
                  </a:extLst>
                </p:cNvPr>
                <p:cNvCxnSpPr>
                  <a:cxnSpLocks/>
                </p:cNvCxnSpPr>
                <p:nvPr/>
              </p:nvCxnSpPr>
              <p:spPr>
                <a:xfrm>
                  <a:off x="3194690" y="5344324"/>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E01010B-EB1C-4D22-856D-BB4C3B9EC8CD}"/>
                    </a:ext>
                  </a:extLst>
                </p:cNvPr>
                <p:cNvSpPr txBox="1"/>
                <p:nvPr/>
              </p:nvSpPr>
              <p:spPr>
                <a:xfrm>
                  <a:off x="4055159" y="5108339"/>
                  <a:ext cx="62783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Internet</a:t>
                  </a:r>
                </a:p>
              </p:txBody>
            </p:sp>
            <p:cxnSp>
              <p:nvCxnSpPr>
                <p:cNvPr id="54" name="Straight Connector 53">
                  <a:extLst>
                    <a:ext uri="{FF2B5EF4-FFF2-40B4-BE49-F238E27FC236}">
                      <a16:creationId xmlns:a16="http://schemas.microsoft.com/office/drawing/2014/main" id="{526D9871-F0BA-4838-AF60-B86BA69DA527}"/>
                    </a:ext>
                  </a:extLst>
                </p:cNvPr>
                <p:cNvCxnSpPr>
                  <a:cxnSpLocks/>
                </p:cNvCxnSpPr>
                <p:nvPr/>
              </p:nvCxnSpPr>
              <p:spPr>
                <a:xfrm>
                  <a:off x="3194690" y="5406670"/>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FFB6332-E207-450C-BED3-C6D1F6958287}"/>
                    </a:ext>
                  </a:extLst>
                </p:cNvPr>
                <p:cNvSpPr txBox="1"/>
                <p:nvPr/>
              </p:nvSpPr>
              <p:spPr>
                <a:xfrm>
                  <a:off x="4132245" y="5369098"/>
                  <a:ext cx="473654" cy="24712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MPLS</a:t>
                  </a:r>
                </a:p>
              </p:txBody>
            </p:sp>
          </p:grpSp>
        </p:grpSp>
      </p:grpSp>
      <p:grpSp>
        <p:nvGrpSpPr>
          <p:cNvPr id="72" name="Group 71">
            <a:extLst>
              <a:ext uri="{FF2B5EF4-FFF2-40B4-BE49-F238E27FC236}">
                <a16:creationId xmlns:a16="http://schemas.microsoft.com/office/drawing/2014/main" id="{CB537592-4924-4167-AE35-E41488CBE0F6}"/>
              </a:ext>
            </a:extLst>
          </p:cNvPr>
          <p:cNvGrpSpPr/>
          <p:nvPr userDrawn="1"/>
        </p:nvGrpSpPr>
        <p:grpSpPr>
          <a:xfrm>
            <a:off x="8374446" y="2534521"/>
            <a:ext cx="2549849" cy="1260980"/>
            <a:chOff x="7933691" y="3635269"/>
            <a:chExt cx="2057578" cy="1017537"/>
          </a:xfrm>
        </p:grpSpPr>
        <p:cxnSp>
          <p:nvCxnSpPr>
            <p:cNvPr id="73" name="Straight Connector 72">
              <a:extLst>
                <a:ext uri="{FF2B5EF4-FFF2-40B4-BE49-F238E27FC236}">
                  <a16:creationId xmlns:a16="http://schemas.microsoft.com/office/drawing/2014/main" id="{613186F5-70D5-4CDD-8047-6C27B58E308E}"/>
                </a:ext>
              </a:extLst>
            </p:cNvPr>
            <p:cNvCxnSpPr>
              <a:cxnSpLocks/>
            </p:cNvCxnSpPr>
            <p:nvPr/>
          </p:nvCxnSpPr>
          <p:spPr>
            <a:xfrm flipV="1">
              <a:off x="8546632" y="4084273"/>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8440997-A3CC-4BF2-9D22-75CBD20B571F}"/>
                </a:ext>
              </a:extLst>
            </p:cNvPr>
            <p:cNvCxnSpPr>
              <a:cxnSpLocks/>
            </p:cNvCxnSpPr>
            <p:nvPr/>
          </p:nvCxnSpPr>
          <p:spPr>
            <a:xfrm flipH="1">
              <a:off x="8548653"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8D25B4C-0364-4D0C-B5E9-8DBAABAB652F}"/>
                </a:ext>
              </a:extLst>
            </p:cNvPr>
            <p:cNvSpPr txBox="1"/>
            <p:nvPr/>
          </p:nvSpPr>
          <p:spPr>
            <a:xfrm>
              <a:off x="8703949" y="4404448"/>
              <a:ext cx="128732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Hybrid/Multi Cloud</a:t>
              </a:r>
            </a:p>
          </p:txBody>
        </p:sp>
        <p:cxnSp>
          <p:nvCxnSpPr>
            <p:cNvPr id="76" name="Straight Connector 75">
              <a:extLst>
                <a:ext uri="{FF2B5EF4-FFF2-40B4-BE49-F238E27FC236}">
                  <a16:creationId xmlns:a16="http://schemas.microsoft.com/office/drawing/2014/main" id="{3144AE58-932F-491C-886D-88E6FF91EDCF}"/>
                </a:ext>
              </a:extLst>
            </p:cNvPr>
            <p:cNvCxnSpPr>
              <a:cxnSpLocks/>
            </p:cNvCxnSpPr>
            <p:nvPr/>
          </p:nvCxnSpPr>
          <p:spPr>
            <a:xfrm flipH="1">
              <a:off x="8486158"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1F2E688-E77C-4AC5-82D7-08E98A99FB69}"/>
                </a:ext>
              </a:extLst>
            </p:cNvPr>
            <p:cNvSpPr txBox="1"/>
            <p:nvPr/>
          </p:nvSpPr>
          <p:spPr>
            <a:xfrm>
              <a:off x="7933691" y="3885274"/>
              <a:ext cx="728206"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Agentless</a:t>
              </a:r>
            </a:p>
          </p:txBody>
        </p:sp>
        <p:pic>
          <p:nvPicPr>
            <p:cNvPr id="78" name="Picture 77">
              <a:extLst>
                <a:ext uri="{FF2B5EF4-FFF2-40B4-BE49-F238E27FC236}">
                  <a16:creationId xmlns:a16="http://schemas.microsoft.com/office/drawing/2014/main" id="{E8969B40-1FF2-4EA9-B217-15AFAEDC67FE}"/>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8581176" y="3635269"/>
              <a:ext cx="408906" cy="268920"/>
            </a:xfrm>
            <a:prstGeom prst="rect">
              <a:avLst/>
            </a:prstGeom>
          </p:spPr>
        </p:pic>
        <p:cxnSp>
          <p:nvCxnSpPr>
            <p:cNvPr id="79" name="Straight Connector 78">
              <a:extLst>
                <a:ext uri="{FF2B5EF4-FFF2-40B4-BE49-F238E27FC236}">
                  <a16:creationId xmlns:a16="http://schemas.microsoft.com/office/drawing/2014/main" id="{508C7B82-C580-4B83-89CA-F4F008052BE8}"/>
                </a:ext>
              </a:extLst>
            </p:cNvPr>
            <p:cNvCxnSpPr>
              <a:cxnSpLocks/>
            </p:cNvCxnSpPr>
            <p:nvPr/>
          </p:nvCxnSpPr>
          <p:spPr>
            <a:xfrm flipV="1">
              <a:off x="8546632" y="4150057"/>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80" name="Picture 79">
              <a:extLst>
                <a:ext uri="{FF2B5EF4-FFF2-40B4-BE49-F238E27FC236}">
                  <a16:creationId xmlns:a16="http://schemas.microsoft.com/office/drawing/2014/main" id="{90BFE486-1AEF-468F-AF11-D7D8E81DB095}"/>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911182" y="4000364"/>
              <a:ext cx="405222" cy="268920"/>
            </a:xfrm>
            <a:prstGeom prst="rect">
              <a:avLst/>
            </a:prstGeom>
          </p:spPr>
        </p:pic>
      </p:grpSp>
      <p:pic>
        <p:nvPicPr>
          <p:cNvPr id="81" name="Picture 80">
            <a:extLst>
              <a:ext uri="{FF2B5EF4-FFF2-40B4-BE49-F238E27FC236}">
                <a16:creationId xmlns:a16="http://schemas.microsoft.com/office/drawing/2014/main" id="{F5033CFE-9B8E-410C-B417-4CB613FB800D}"/>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8727801" y="3256830"/>
            <a:ext cx="553156" cy="617158"/>
          </a:xfrm>
          <a:prstGeom prst="rect">
            <a:avLst/>
          </a:prstGeom>
          <a:effectLst>
            <a:outerShdw blurRad="63500" sx="102000" sy="102000" algn="ctr" rotWithShape="0">
              <a:prstClr val="black">
                <a:alpha val="40000"/>
              </a:prstClr>
            </a:outerShdw>
          </a:effectLst>
        </p:spPr>
      </p:pic>
      <p:grpSp>
        <p:nvGrpSpPr>
          <p:cNvPr id="82" name="Group 81">
            <a:extLst>
              <a:ext uri="{FF2B5EF4-FFF2-40B4-BE49-F238E27FC236}">
                <a16:creationId xmlns:a16="http://schemas.microsoft.com/office/drawing/2014/main" id="{95457DCE-0417-4047-97DD-48FA029E66F7}"/>
              </a:ext>
            </a:extLst>
          </p:cNvPr>
          <p:cNvGrpSpPr/>
          <p:nvPr userDrawn="1"/>
        </p:nvGrpSpPr>
        <p:grpSpPr>
          <a:xfrm>
            <a:off x="8739024" y="3730813"/>
            <a:ext cx="2020784" cy="1921561"/>
            <a:chOff x="8227895" y="4600609"/>
            <a:chExt cx="1630654" cy="1550589"/>
          </a:xfrm>
        </p:grpSpPr>
        <p:cxnSp>
          <p:nvCxnSpPr>
            <p:cNvPr id="83" name="Straight Connector 82">
              <a:extLst>
                <a:ext uri="{FF2B5EF4-FFF2-40B4-BE49-F238E27FC236}">
                  <a16:creationId xmlns:a16="http://schemas.microsoft.com/office/drawing/2014/main" id="{4B6569F7-8952-4279-A944-3225908E89BD}"/>
                </a:ext>
              </a:extLst>
            </p:cNvPr>
            <p:cNvCxnSpPr>
              <a:cxnSpLocks/>
            </p:cNvCxnSpPr>
            <p:nvPr/>
          </p:nvCxnSpPr>
          <p:spPr>
            <a:xfrm flipH="1" flipV="1">
              <a:off x="8589891" y="4600609"/>
              <a:ext cx="890775" cy="1036980"/>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8E0890A-9042-4D6C-879B-87DA8816E80A}"/>
                </a:ext>
              </a:extLst>
            </p:cNvPr>
            <p:cNvSpPr txBox="1"/>
            <p:nvPr/>
          </p:nvSpPr>
          <p:spPr>
            <a:xfrm>
              <a:off x="9293016" y="5902840"/>
              <a:ext cx="565533"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Mobile</a:t>
              </a:r>
            </a:p>
          </p:txBody>
        </p:sp>
        <p:pic>
          <p:nvPicPr>
            <p:cNvPr id="85" name="Picture 84">
              <a:extLst>
                <a:ext uri="{FF2B5EF4-FFF2-40B4-BE49-F238E27FC236}">
                  <a16:creationId xmlns:a16="http://schemas.microsoft.com/office/drawing/2014/main" id="{D8CD6965-F9D0-40F8-BB5B-E6D8517732FF}"/>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379569" y="5539528"/>
              <a:ext cx="386803" cy="386803"/>
            </a:xfrm>
            <a:prstGeom prst="rect">
              <a:avLst/>
            </a:prstGeom>
          </p:spPr>
        </p:pic>
        <p:pic>
          <p:nvPicPr>
            <p:cNvPr id="86" name="Picture 85">
              <a:extLst>
                <a:ext uri="{FF2B5EF4-FFF2-40B4-BE49-F238E27FC236}">
                  <a16:creationId xmlns:a16="http://schemas.microsoft.com/office/drawing/2014/main" id="{82AD8B31-6CFD-4DB9-9FE3-EBBB412453C2}"/>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9315862" y="5467413"/>
              <a:ext cx="121567" cy="121567"/>
            </a:xfrm>
            <a:prstGeom prst="rect">
              <a:avLst/>
            </a:prstGeom>
          </p:spPr>
        </p:pic>
        <p:sp>
          <p:nvSpPr>
            <p:cNvPr id="87" name="TextBox 86">
              <a:extLst>
                <a:ext uri="{FF2B5EF4-FFF2-40B4-BE49-F238E27FC236}">
                  <a16:creationId xmlns:a16="http://schemas.microsoft.com/office/drawing/2014/main" id="{1694C39C-6649-4AA1-B8EA-EDCE0C0CF5AB}"/>
                </a:ext>
              </a:extLst>
            </p:cNvPr>
            <p:cNvSpPr txBox="1"/>
            <p:nvPr/>
          </p:nvSpPr>
          <p:spPr>
            <a:xfrm>
              <a:off x="8227895" y="5395827"/>
              <a:ext cx="1131994" cy="42220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Client/Clientless</a:t>
              </a:r>
              <a:b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b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SDP</a:t>
              </a:r>
            </a:p>
          </p:txBody>
        </p:sp>
      </p:grpSp>
      <p:pic>
        <p:nvPicPr>
          <p:cNvPr id="88" name="Picture 87">
            <a:extLst>
              <a:ext uri="{FF2B5EF4-FFF2-40B4-BE49-F238E27FC236}">
                <a16:creationId xmlns:a16="http://schemas.microsoft.com/office/drawing/2014/main" id="{C618EBB4-E3B9-4F20-8FA5-CC2095C71B4B}"/>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2909652" y="3256830"/>
            <a:ext cx="553156" cy="617158"/>
          </a:xfrm>
          <a:prstGeom prst="rect">
            <a:avLst/>
          </a:prstGeom>
          <a:effectLst>
            <a:outerShdw blurRad="63500" sx="102000" sy="102000" algn="ctr" rotWithShape="0">
              <a:prstClr val="black">
                <a:alpha val="40000"/>
              </a:prstClr>
            </a:outerShdw>
          </a:effectLst>
        </p:spPr>
      </p:pic>
      <p:sp>
        <p:nvSpPr>
          <p:cNvPr id="89" name="TextBox 88">
            <a:extLst>
              <a:ext uri="{FF2B5EF4-FFF2-40B4-BE49-F238E27FC236}">
                <a16:creationId xmlns:a16="http://schemas.microsoft.com/office/drawing/2014/main" id="{A49BC104-E956-4355-B8AA-08570F0DCC71}"/>
              </a:ext>
            </a:extLst>
          </p:cNvPr>
          <p:cNvSpPr txBox="1"/>
          <p:nvPr userDrawn="1"/>
        </p:nvSpPr>
        <p:spPr>
          <a:xfrm>
            <a:off x="8791426" y="3422022"/>
            <a:ext cx="42364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PoP</a:t>
            </a:r>
          </a:p>
        </p:txBody>
      </p:sp>
      <p:pic>
        <p:nvPicPr>
          <p:cNvPr id="90" name="Picture 89">
            <a:extLst>
              <a:ext uri="{FF2B5EF4-FFF2-40B4-BE49-F238E27FC236}">
                <a16:creationId xmlns:a16="http://schemas.microsoft.com/office/drawing/2014/main" id="{951EF95D-18E8-4B1D-B614-3AC39BF5FC22}"/>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5069494" y="2448090"/>
            <a:ext cx="2095148" cy="2279779"/>
          </a:xfrm>
          <a:prstGeom prst="rect">
            <a:avLst/>
          </a:prstGeom>
        </p:spPr>
      </p:pic>
      <p:sp>
        <p:nvSpPr>
          <p:cNvPr id="91" name="TextBox 90">
            <a:extLst>
              <a:ext uri="{FF2B5EF4-FFF2-40B4-BE49-F238E27FC236}">
                <a16:creationId xmlns:a16="http://schemas.microsoft.com/office/drawing/2014/main" id="{3E24F8E3-EF1A-4D74-8D2C-5B22B4E866F1}"/>
              </a:ext>
            </a:extLst>
          </p:cNvPr>
          <p:cNvSpPr txBox="1"/>
          <p:nvPr userDrawn="1"/>
        </p:nvSpPr>
        <p:spPr>
          <a:xfrm>
            <a:off x="5661841" y="3181223"/>
            <a:ext cx="91377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8864"/>
                </a:solidFill>
                <a:effectLst/>
                <a:uLnTx/>
                <a:uFillTx/>
                <a:latin typeface="Calibri" panose="020F0502020204030204"/>
                <a:ea typeface="+mn-ea"/>
                <a:cs typeface="+mn-cs"/>
              </a:rPr>
              <a:t>Converged Network &amp; Security </a:t>
            </a:r>
          </a:p>
        </p:txBody>
      </p:sp>
      <p:sp>
        <p:nvSpPr>
          <p:cNvPr id="92" name="Rectangle 91">
            <a:extLst>
              <a:ext uri="{FF2B5EF4-FFF2-40B4-BE49-F238E27FC236}">
                <a16:creationId xmlns:a16="http://schemas.microsoft.com/office/drawing/2014/main" id="{BCCFB2DF-E815-4E59-8B20-43532D017B3F}"/>
              </a:ext>
            </a:extLst>
          </p:cNvPr>
          <p:cNvSpPr/>
          <p:nvPr userDrawn="1"/>
        </p:nvSpPr>
        <p:spPr>
          <a:xfrm>
            <a:off x="0" y="1143000"/>
            <a:ext cx="12192000" cy="5005137"/>
          </a:xfrm>
          <a:prstGeom prst="rect">
            <a:avLst/>
          </a:prstGeom>
          <a:solidFill>
            <a:srgbClr val="FFFFFF">
              <a:alpha val="90000"/>
            </a:srgbClr>
          </a:solidFill>
          <a:ln w="9525">
            <a:no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2340273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pic>
        <p:nvPicPr>
          <p:cNvPr id="93" name="תמונה 39">
            <a:extLst>
              <a:ext uri="{FF2B5EF4-FFF2-40B4-BE49-F238E27FC236}">
                <a16:creationId xmlns:a16="http://schemas.microsoft.com/office/drawing/2014/main" id="{17FB6B68-B667-44AC-BCC1-D2C4CE522F64}"/>
              </a:ext>
            </a:extLst>
          </p:cNvPr>
          <p:cNvPicPr>
            <a:picLocks noChangeAspect="1"/>
          </p:cNvPicPr>
          <p:nvPr userDrawn="1"/>
        </p:nvPicPr>
        <p:blipFill>
          <a:blip r:embed="rId2">
            <a:alphaModFix amt="10000"/>
            <a:extLst>
              <a:ext uri="{BEBA8EAE-BF5A-486C-A8C5-ECC9F3942E4B}">
                <a14:imgProps xmlns:a14="http://schemas.microsoft.com/office/drawing/2010/main">
                  <a14:imgLayer r:embed="rId3">
                    <a14:imgEffect>
                      <a14:saturation sat="83000"/>
                    </a14:imgEffect>
                  </a14:imgLayer>
                </a14:imgProps>
              </a:ext>
              <a:ext uri="{28A0092B-C50C-407E-A947-70E740481C1C}">
                <a14:useLocalDpi xmlns:a14="http://schemas.microsoft.com/office/drawing/2010/main" val="0"/>
              </a:ext>
            </a:extLst>
          </a:blip>
          <a:stretch>
            <a:fillRect/>
          </a:stretch>
        </p:blipFill>
        <p:spPr>
          <a:xfrm>
            <a:off x="243979" y="1115012"/>
            <a:ext cx="11642757" cy="5648202"/>
          </a:xfrm>
          <a:prstGeom prst="rect">
            <a:avLst/>
          </a:prstGeom>
        </p:spPr>
      </p:pic>
    </p:spTree>
    <p:extLst>
      <p:ext uri="{BB962C8B-B14F-4D97-AF65-F5344CB8AC3E}">
        <p14:creationId xmlns:p14="http://schemas.microsoft.com/office/powerpoint/2010/main" val="2283446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1952624" y="134181"/>
            <a:ext cx="9791700" cy="424732"/>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952624" y="558913"/>
            <a:ext cx="9791699" cy="714375"/>
          </a:xfrm>
        </p:spPr>
        <p:txBody>
          <a:bodyPr lIns="0" rIns="0"/>
          <a:lstStyle>
            <a:lvl1pPr marL="0" indent="0">
              <a:buFontTx/>
              <a:buNone/>
              <a:defRPr/>
            </a:lvl1pPr>
            <a:lvl2pPr marL="228600" indent="0">
              <a:buNone/>
              <a:defRPr/>
            </a:lvl2pPr>
          </a:lstStyle>
          <a:p>
            <a:pPr lvl="0"/>
            <a:r>
              <a:rPr lang="en-GB"/>
              <a:t>Click to edit Master text styles</a:t>
            </a:r>
          </a:p>
        </p:txBody>
      </p:sp>
      <p:cxnSp>
        <p:nvCxnSpPr>
          <p:cNvPr id="9" name="Straight Connector 8">
            <a:extLst>
              <a:ext uri="{FF2B5EF4-FFF2-40B4-BE49-F238E27FC236}">
                <a16:creationId xmlns:a16="http://schemas.microsoft.com/office/drawing/2014/main" id="{145E9378-966F-47B6-8719-5A2437B5A700}"/>
              </a:ext>
            </a:extLst>
          </p:cNvPr>
          <p:cNvCxnSpPr>
            <a:cxnSpLocks/>
          </p:cNvCxnSpPr>
          <p:nvPr userDrawn="1"/>
        </p:nvCxnSpPr>
        <p:spPr>
          <a:xfrm>
            <a:off x="1719618" y="0"/>
            <a:ext cx="0" cy="1173707"/>
          </a:xfrm>
          <a:prstGeom prst="line">
            <a:avLst/>
          </a:prstGeom>
          <a:ln w="6350" cmpd="sng">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30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4259920" y="1753277"/>
            <a:ext cx="7331806" cy="424732"/>
          </a:xfrm>
        </p:spPr>
        <p:txBody>
          <a:bodyPr/>
          <a:lstStyle>
            <a:lvl1pPr>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a:xfrm>
            <a:off x="4257675" y="2349459"/>
            <a:ext cx="7334250" cy="3535383"/>
          </a:xfrm>
        </p:spPr>
        <p:txBody>
          <a:bodyPr/>
          <a:lstStyle>
            <a:lvl1pPr marL="457200" indent="-457200">
              <a:buFont typeface="+mj-lt"/>
              <a:buAutoNum type="arabicPeriod"/>
              <a:defRPr>
                <a:solidFill>
                  <a:schemeClr val="bg1"/>
                </a:solidFill>
              </a:defRPr>
            </a:lvl1pPr>
            <a:lvl2pPr marL="571500" indent="-342900">
              <a:buFont typeface="+mj-lt"/>
              <a:buAutoNum type="arabicPeriod"/>
              <a:defRPr>
                <a:solidFill>
                  <a:schemeClr val="bg1"/>
                </a:solidFill>
              </a:defRPr>
            </a:lvl2pPr>
            <a:lvl3pPr marL="800100" indent="-342900">
              <a:buFont typeface="+mj-lt"/>
              <a:buAutoNum type="arabicPeriod"/>
              <a:defRPr>
                <a:solidFill>
                  <a:schemeClr val="bg1"/>
                </a:solidFill>
              </a:defRPr>
            </a:lvl3pPr>
            <a:lvl4pPr marL="1028700" indent="-342900">
              <a:buFont typeface="+mj-lt"/>
              <a:buAutoNum type="arabicPeriod"/>
              <a:defRPr>
                <a:solidFill>
                  <a:schemeClr val="bg1"/>
                </a:solidFill>
              </a:defRPr>
            </a:lvl4pPr>
            <a:lvl5pPr>
              <a:buFont typeface="+mj-lt"/>
              <a:buAutoNum type="arabicPeriod"/>
              <a:defRPr>
                <a:solidFill>
                  <a:schemeClr val="bg1"/>
                </a:solidFill>
              </a:defRPr>
            </a:lvl5pPr>
          </a:lstStyle>
          <a:p>
            <a:pPr lvl="0"/>
            <a:r>
              <a:rPr lang="en-GB"/>
              <a:t>Click to edit Master text styles</a:t>
            </a:r>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2/1/2026</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41298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254A-0B81-4DFB-9926-D523EAF978A2}"/>
              </a:ext>
            </a:extLst>
          </p:cNvPr>
          <p:cNvSpPr>
            <a:spLocks noGrp="1"/>
          </p:cNvSpPr>
          <p:nvPr>
            <p:ph type="title"/>
          </p:nvPr>
        </p:nvSpPr>
        <p:spPr>
          <a:xfrm>
            <a:off x="315448" y="2676272"/>
            <a:ext cx="11561105" cy="480131"/>
          </a:xfrm>
        </p:spPr>
        <p:txBody>
          <a:bodyPr/>
          <a:lstStyle>
            <a:lvl1pPr algn="ctr">
              <a:defRPr sz="2800" b="0">
                <a:solidFill>
                  <a:schemeClr val="bg1"/>
                </a:solidFill>
              </a:defRPr>
            </a:lvl1pPr>
          </a:lstStyle>
          <a:p>
            <a:r>
              <a:rPr lang="en-GB"/>
              <a:t>Click to edit Master title style</a:t>
            </a:r>
            <a:endParaRPr lang="en-US"/>
          </a:p>
        </p:txBody>
      </p:sp>
      <p:pic>
        <p:nvPicPr>
          <p:cNvPr id="6" name="Picture 5">
            <a:extLst>
              <a:ext uri="{FF2B5EF4-FFF2-40B4-BE49-F238E27FC236}">
                <a16:creationId xmlns:a16="http://schemas.microsoft.com/office/drawing/2014/main" id="{94302C2B-9D94-41E6-8C08-4727B385E0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14839" y="996387"/>
            <a:ext cx="1362328" cy="565494"/>
          </a:xfrm>
          <a:prstGeom prst="rect">
            <a:avLst/>
          </a:prstGeom>
        </p:spPr>
      </p:pic>
      <p:pic>
        <p:nvPicPr>
          <p:cNvPr id="7" name="Picture 6">
            <a:hlinkClick r:id="rId3"/>
            <a:extLst>
              <a:ext uri="{FF2B5EF4-FFF2-40B4-BE49-F238E27FC236}">
                <a16:creationId xmlns:a16="http://schemas.microsoft.com/office/drawing/2014/main" id="{1F85FB81-12EA-4F6B-A72A-4B3C8E0D4DBF}"/>
              </a:ext>
            </a:extLst>
          </p:cNvPr>
          <p:cNvPicPr>
            <a:picLocks noChangeAspect="1"/>
          </p:cNvPicPr>
          <p:nvPr userDrawn="1"/>
        </p:nvPicPr>
        <p:blipFill>
          <a:blip r:embed="rId4"/>
          <a:stretch>
            <a:fillRect/>
          </a:stretch>
        </p:blipFill>
        <p:spPr>
          <a:xfrm>
            <a:off x="5249482" y="3862252"/>
            <a:ext cx="324000" cy="324000"/>
          </a:xfrm>
          <a:prstGeom prst="rect">
            <a:avLst/>
          </a:prstGeom>
        </p:spPr>
      </p:pic>
      <p:pic>
        <p:nvPicPr>
          <p:cNvPr id="8" name="Picture 7">
            <a:hlinkClick r:id="rId5"/>
            <a:extLst>
              <a:ext uri="{FF2B5EF4-FFF2-40B4-BE49-F238E27FC236}">
                <a16:creationId xmlns:a16="http://schemas.microsoft.com/office/drawing/2014/main" id="{936E5ED6-C61A-4AC2-8AC5-49000EE11679}"/>
              </a:ext>
            </a:extLst>
          </p:cNvPr>
          <p:cNvPicPr>
            <a:picLocks noChangeAspect="1"/>
          </p:cNvPicPr>
          <p:nvPr userDrawn="1"/>
        </p:nvPicPr>
        <p:blipFill>
          <a:blip r:embed="rId6"/>
          <a:stretch>
            <a:fillRect/>
          </a:stretch>
        </p:blipFill>
        <p:spPr>
          <a:xfrm>
            <a:off x="5937792" y="3862252"/>
            <a:ext cx="324000" cy="324000"/>
          </a:xfrm>
          <a:prstGeom prst="rect">
            <a:avLst/>
          </a:prstGeom>
        </p:spPr>
      </p:pic>
      <p:pic>
        <p:nvPicPr>
          <p:cNvPr id="9" name="Picture 8">
            <a:hlinkClick r:id="rId7"/>
            <a:extLst>
              <a:ext uri="{FF2B5EF4-FFF2-40B4-BE49-F238E27FC236}">
                <a16:creationId xmlns:a16="http://schemas.microsoft.com/office/drawing/2014/main" id="{A3598CEF-0330-4423-84C1-B585F37B5582}"/>
              </a:ext>
            </a:extLst>
          </p:cNvPr>
          <p:cNvPicPr>
            <a:picLocks noChangeAspect="1"/>
          </p:cNvPicPr>
          <p:nvPr userDrawn="1"/>
        </p:nvPicPr>
        <p:blipFill>
          <a:blip r:embed="rId8"/>
          <a:stretch>
            <a:fillRect/>
          </a:stretch>
        </p:blipFill>
        <p:spPr>
          <a:xfrm>
            <a:off x="6626103" y="3871296"/>
            <a:ext cx="324000" cy="324000"/>
          </a:xfrm>
          <a:prstGeom prst="rect">
            <a:avLst/>
          </a:prstGeom>
        </p:spPr>
      </p:pic>
      <p:sp>
        <p:nvSpPr>
          <p:cNvPr id="10" name="TextBox 9">
            <a:extLst>
              <a:ext uri="{FF2B5EF4-FFF2-40B4-BE49-F238E27FC236}">
                <a16:creationId xmlns:a16="http://schemas.microsoft.com/office/drawing/2014/main" id="{1A442F28-7EEE-498B-9360-086D79CA9199}"/>
              </a:ext>
            </a:extLst>
          </p:cNvPr>
          <p:cNvSpPr txBox="1"/>
          <p:nvPr userDrawn="1"/>
        </p:nvSpPr>
        <p:spPr>
          <a:xfrm>
            <a:off x="4564372" y="1815649"/>
            <a:ext cx="3394840" cy="338554"/>
          </a:xfrm>
          <a:prstGeom prst="rect">
            <a:avLst/>
          </a:prstGeom>
          <a:noFill/>
        </p:spPr>
        <p:txBody>
          <a:bodyPr wrap="none" rtlCol="0">
            <a:spAutoFit/>
          </a:bodyPr>
          <a:lstStyle/>
          <a:p>
            <a:r>
              <a:rPr lang="en-US" sz="1600">
                <a:solidFill>
                  <a:schemeClr val="bg1"/>
                </a:solidFill>
              </a:rPr>
              <a:t>Cato SASE. Ready for Whatever’s Next.</a:t>
            </a:r>
          </a:p>
        </p:txBody>
      </p:sp>
    </p:spTree>
    <p:extLst>
      <p:ext uri="{BB962C8B-B14F-4D97-AF65-F5344CB8AC3E}">
        <p14:creationId xmlns:p14="http://schemas.microsoft.com/office/powerpoint/2010/main" val="1791653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_sub 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E45DD1-FD64-0540-9527-100B5BAAD148}"/>
              </a:ext>
            </a:extLst>
          </p:cNvPr>
          <p:cNvSpPr>
            <a:spLocks noGrp="1"/>
          </p:cNvSpPr>
          <p:nvPr>
            <p:ph type="title"/>
          </p:nvPr>
        </p:nvSpPr>
        <p:spPr>
          <a:xfrm>
            <a:off x="314138" y="186990"/>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7" name="Text Placeholder 9">
            <a:extLst>
              <a:ext uri="{FF2B5EF4-FFF2-40B4-BE49-F238E27FC236}">
                <a16:creationId xmlns:a16="http://schemas.microsoft.com/office/drawing/2014/main" id="{EFF29200-DFCC-A144-AAAE-5D0C7E5464D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5" name="Slide Number Placeholder 22">
            <a:extLst>
              <a:ext uri="{FF2B5EF4-FFF2-40B4-BE49-F238E27FC236}">
                <a16:creationId xmlns:a16="http://schemas.microsoft.com/office/drawing/2014/main" id="{FFD90C3E-6227-4944-868A-EB9526CF0841}"/>
              </a:ext>
            </a:extLst>
          </p:cNvPr>
          <p:cNvSpPr>
            <a:spLocks noGrp="1"/>
          </p:cNvSpPr>
          <p:nvPr>
            <p:ph type="sldNum" sz="quarter" idx="4"/>
          </p:nvPr>
        </p:nvSpPr>
        <p:spPr>
          <a:xfrm>
            <a:off x="11720468" y="6518553"/>
            <a:ext cx="408632"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3436719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342BA-C0C7-4B92-A3B0-28D958E430E2}"/>
              </a:ext>
            </a:extLst>
          </p:cNvPr>
          <p:cNvSpPr>
            <a:spLocks noGrp="1"/>
          </p:cNvSpPr>
          <p:nvPr>
            <p:ph type="title"/>
          </p:nvPr>
        </p:nvSpPr>
        <p:spPr>
          <a:xfrm>
            <a:off x="183219" y="134181"/>
            <a:ext cx="11561105" cy="424732"/>
          </a:xfrm>
          <a:prstGeom prst="rect">
            <a:avLst/>
          </a:prstGeom>
        </p:spPr>
        <p:txBody>
          <a:bodyPr vert="horz" wrap="square" lIns="0" tIns="45720" rIns="0" bIns="45720" rtlCol="0" anchor="t" anchorCtr="0">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DD79E5E-3ABE-4681-8D48-1BC683D90115}"/>
              </a:ext>
            </a:extLst>
          </p:cNvPr>
          <p:cNvSpPr>
            <a:spLocks noGrp="1"/>
          </p:cNvSpPr>
          <p:nvPr>
            <p:ph type="body" idx="1"/>
          </p:nvPr>
        </p:nvSpPr>
        <p:spPr>
          <a:xfrm>
            <a:off x="183220" y="1294662"/>
            <a:ext cx="11561104"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7E0323-8A40-4138-9D5E-5EAB16992FEA}"/>
              </a:ext>
            </a:extLst>
          </p:cNvPr>
          <p:cNvSpPr>
            <a:spLocks noGrp="1"/>
          </p:cNvSpPr>
          <p:nvPr>
            <p:ph type="dt" sz="half" idx="2"/>
          </p:nvPr>
        </p:nvSpPr>
        <p:spPr>
          <a:xfrm>
            <a:off x="1295400" y="6356350"/>
            <a:ext cx="2743200" cy="365125"/>
          </a:xfrm>
          <a:prstGeom prst="rect">
            <a:avLst/>
          </a:prstGeom>
        </p:spPr>
        <p:txBody>
          <a:bodyPr vert="horz" lIns="91440" tIns="45720" rIns="91440" bIns="45720" rtlCol="0" anchor="ctr"/>
          <a:lstStyle>
            <a:lvl1pPr algn="l">
              <a:defRPr sz="800">
                <a:solidFill>
                  <a:schemeClr val="bg1">
                    <a:lumMod val="65000"/>
                  </a:schemeClr>
                </a:solidFill>
              </a:defRPr>
            </a:lvl1pPr>
          </a:lstStyle>
          <a:p>
            <a:fld id="{8744D272-7787-42F5-8E85-5772E5920C77}" type="datetimeFigureOut">
              <a:rPr lang="en-US" smtClean="0"/>
              <a:pPr/>
              <a:t>2/1/2026</a:t>
            </a:fld>
            <a:endParaRPr lang="en-US"/>
          </a:p>
        </p:txBody>
      </p:sp>
      <p:sp>
        <p:nvSpPr>
          <p:cNvPr id="5" name="Footer Placeholder 4">
            <a:extLst>
              <a:ext uri="{FF2B5EF4-FFF2-40B4-BE49-F238E27FC236}">
                <a16:creationId xmlns:a16="http://schemas.microsoft.com/office/drawing/2014/main" id="{11E65438-486D-49FD-96B6-77EDEC541D86}"/>
              </a:ext>
            </a:extLst>
          </p:cNvPr>
          <p:cNvSpPr>
            <a:spLocks noGrp="1"/>
          </p:cNvSpPr>
          <p:nvPr>
            <p:ph type="ftr" sz="quarter" idx="3"/>
          </p:nvPr>
        </p:nvSpPr>
        <p:spPr>
          <a:xfrm>
            <a:off x="7362914" y="6356350"/>
            <a:ext cx="411480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endParaRPr lang="en-US"/>
          </a:p>
        </p:txBody>
      </p:sp>
      <p:sp>
        <p:nvSpPr>
          <p:cNvPr id="6" name="Slide Number Placeholder 5">
            <a:extLst>
              <a:ext uri="{FF2B5EF4-FFF2-40B4-BE49-F238E27FC236}">
                <a16:creationId xmlns:a16="http://schemas.microsoft.com/office/drawing/2014/main" id="{8BE18855-E68B-41AB-A58C-334AEAA41064}"/>
              </a:ext>
            </a:extLst>
          </p:cNvPr>
          <p:cNvSpPr>
            <a:spLocks noGrp="1"/>
          </p:cNvSpPr>
          <p:nvPr>
            <p:ph type="sldNum" sz="quarter" idx="4"/>
          </p:nvPr>
        </p:nvSpPr>
        <p:spPr>
          <a:xfrm>
            <a:off x="11639372" y="6356350"/>
            <a:ext cx="42923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fld id="{37527A84-62A5-40F8-9ABB-C2EE3BC8218F}" type="slidenum">
              <a:rPr lang="en-US" smtClean="0"/>
              <a:pPr/>
              <a:t>‹#›</a:t>
            </a:fld>
            <a:endParaRPr lang="en-US"/>
          </a:p>
        </p:txBody>
      </p:sp>
      <p:pic>
        <p:nvPicPr>
          <p:cNvPr id="7" name="Picture 6">
            <a:extLst>
              <a:ext uri="{FF2B5EF4-FFF2-40B4-BE49-F238E27FC236}">
                <a16:creationId xmlns:a16="http://schemas.microsoft.com/office/drawing/2014/main" id="{AB4C70CE-EB63-40B3-A208-4E959621EA0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3220" y="6304547"/>
            <a:ext cx="918763" cy="458667"/>
          </a:xfrm>
          <a:prstGeom prst="rect">
            <a:avLst/>
          </a:prstGeom>
        </p:spPr>
      </p:pic>
    </p:spTree>
    <p:extLst>
      <p:ext uri="{BB962C8B-B14F-4D97-AF65-F5344CB8AC3E}">
        <p14:creationId xmlns:p14="http://schemas.microsoft.com/office/powerpoint/2010/main" val="688934115"/>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2" r:id="rId4"/>
    <p:sldLayoutId id="2147483652" r:id="rId5"/>
    <p:sldLayoutId id="2147483663" r:id="rId6"/>
    <p:sldLayoutId id="2147483664" r:id="rId7"/>
    <p:sldLayoutId id="2147483665" r:id="rId8"/>
    <p:sldLayoutId id="2147483668" r:id="rId9"/>
    <p:sldLayoutId id="2147483666" r:id="rId10"/>
    <p:sldLayoutId id="2147483669" r:id="rId11"/>
  </p:sldLayoutIdLst>
  <p:txStyles>
    <p:titleStyle>
      <a:lvl1pPr algn="l" defTabSz="914400" rtl="0" eaLnBrk="1" latinLnBrk="0" hangingPunct="1">
        <a:lnSpc>
          <a:spcPct val="90000"/>
        </a:lnSpc>
        <a:spcBef>
          <a:spcPct val="0"/>
        </a:spcBef>
        <a:buNone/>
        <a:defRPr sz="24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8DF3-449F-4811-BD22-4B7964C142E2}"/>
              </a:ext>
            </a:extLst>
          </p:cNvPr>
          <p:cNvSpPr>
            <a:spLocks noGrp="1"/>
          </p:cNvSpPr>
          <p:nvPr>
            <p:ph type="ctrTitle"/>
          </p:nvPr>
        </p:nvSpPr>
        <p:spPr/>
        <p:txBody>
          <a:bodyPr/>
          <a:lstStyle/>
          <a:p>
            <a:r>
              <a:rPr lang="en-US"/>
              <a:t>De-risking 3</a:t>
            </a:r>
            <a:r>
              <a:rPr lang="en-US" baseline="30000"/>
              <a:t>rd</a:t>
            </a:r>
            <a:r>
              <a:rPr lang="en-US"/>
              <a:t> Party Access</a:t>
            </a:r>
          </a:p>
        </p:txBody>
      </p:sp>
      <p:sp>
        <p:nvSpPr>
          <p:cNvPr id="3" name="Subtitle 2">
            <a:extLst>
              <a:ext uri="{FF2B5EF4-FFF2-40B4-BE49-F238E27FC236}">
                <a16:creationId xmlns:a16="http://schemas.microsoft.com/office/drawing/2014/main" id="{7B129F8E-0923-4437-A75A-767FA82FB790}"/>
              </a:ext>
            </a:extLst>
          </p:cNvPr>
          <p:cNvSpPr>
            <a:spLocks noGrp="1"/>
          </p:cNvSpPr>
          <p:nvPr>
            <p:ph type="subTitle" idx="1"/>
          </p:nvPr>
        </p:nvSpPr>
        <p:spPr/>
        <p:txBody>
          <a:bodyPr/>
          <a:lstStyle/>
          <a:p>
            <a:r>
              <a:rPr lang="en-GB">
                <a:latin typeface="Helvetica Neue" panose="02000503000000020004" pitchFamily="2" charset="0"/>
              </a:rPr>
              <a:t>Overview &amp; Use Case</a:t>
            </a:r>
            <a:endParaRPr lang="en-GB">
              <a:effectLst/>
              <a:latin typeface="Helvetica Neue" panose="02000503000000020004" pitchFamily="2" charset="0"/>
            </a:endParaRPr>
          </a:p>
          <a:p>
            <a:endParaRPr lang="en-US"/>
          </a:p>
        </p:txBody>
      </p:sp>
    </p:spTree>
    <p:extLst>
      <p:ext uri="{BB962C8B-B14F-4D97-AF65-F5344CB8AC3E}">
        <p14:creationId xmlns:p14="http://schemas.microsoft.com/office/powerpoint/2010/main" val="35323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051145-21E8-47F6-BBCA-EF759715C550}"/>
              </a:ext>
            </a:extLst>
          </p:cNvPr>
          <p:cNvSpPr>
            <a:spLocks noGrp="1"/>
          </p:cNvSpPr>
          <p:nvPr>
            <p:ph type="title"/>
          </p:nvPr>
        </p:nvSpPr>
        <p:spPr>
          <a:xfrm>
            <a:off x="831850" y="2026795"/>
            <a:ext cx="8626475" cy="840230"/>
          </a:xfrm>
        </p:spPr>
        <p:txBody>
          <a:bodyPr/>
          <a:lstStyle/>
          <a:p>
            <a:r>
              <a:rPr lang="en-US"/>
              <a:t>Overview of Risk	</a:t>
            </a:r>
          </a:p>
        </p:txBody>
      </p:sp>
    </p:spTree>
    <p:extLst>
      <p:ext uri="{BB962C8B-B14F-4D97-AF65-F5344CB8AC3E}">
        <p14:creationId xmlns:p14="http://schemas.microsoft.com/office/powerpoint/2010/main" val="3712427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F8286-E71A-1A7A-7A48-68DB360D713E}"/>
              </a:ext>
            </a:extLst>
          </p:cNvPr>
          <p:cNvSpPr>
            <a:spLocks noGrp="1"/>
          </p:cNvSpPr>
          <p:nvPr>
            <p:ph type="title"/>
          </p:nvPr>
        </p:nvSpPr>
        <p:spPr/>
        <p:txBody>
          <a:bodyPr/>
          <a:lstStyle/>
          <a:p>
            <a:r>
              <a:rPr lang="en-US"/>
              <a:t>Impact of 3</a:t>
            </a:r>
            <a:r>
              <a:rPr lang="en-US" baseline="30000"/>
              <a:t>rd</a:t>
            </a:r>
            <a:r>
              <a:rPr lang="en-US"/>
              <a:t> Party Supply Chain Risk</a:t>
            </a:r>
          </a:p>
        </p:txBody>
      </p:sp>
      <p:sp>
        <p:nvSpPr>
          <p:cNvPr id="3" name="Text Placeholder 2">
            <a:extLst>
              <a:ext uri="{FF2B5EF4-FFF2-40B4-BE49-F238E27FC236}">
                <a16:creationId xmlns:a16="http://schemas.microsoft.com/office/drawing/2014/main" id="{057F7AF4-FDE0-CFE5-8C14-D6F01413EC78}"/>
              </a:ext>
            </a:extLst>
          </p:cNvPr>
          <p:cNvSpPr>
            <a:spLocks noGrp="1"/>
          </p:cNvSpPr>
          <p:nvPr>
            <p:ph type="body" sz="quarter" idx="12"/>
          </p:nvPr>
        </p:nvSpPr>
        <p:spPr/>
        <p:txBody>
          <a:bodyPr/>
          <a:lstStyle/>
          <a:p>
            <a:r>
              <a:rPr lang="en-US">
                <a:cs typeface="Calibri"/>
              </a:rPr>
              <a:t>High profile organizations have been targeted through supplier and 3</a:t>
            </a:r>
            <a:r>
              <a:rPr lang="en-US" baseline="30000">
                <a:cs typeface="Calibri"/>
              </a:rPr>
              <a:t>rd</a:t>
            </a:r>
            <a:r>
              <a:rPr lang="en-US">
                <a:cs typeface="Calibri"/>
              </a:rPr>
              <a:t> party access</a:t>
            </a:r>
          </a:p>
          <a:p>
            <a:endParaRPr lang="en-US"/>
          </a:p>
        </p:txBody>
      </p:sp>
      <p:sp>
        <p:nvSpPr>
          <p:cNvPr id="4" name="Content Placeholder 4">
            <a:extLst>
              <a:ext uri="{FF2B5EF4-FFF2-40B4-BE49-F238E27FC236}">
                <a16:creationId xmlns:a16="http://schemas.microsoft.com/office/drawing/2014/main" id="{8BDCFB88-EBCC-9D42-B4E6-4CAA432B91CF}"/>
              </a:ext>
            </a:extLst>
          </p:cNvPr>
          <p:cNvSpPr txBox="1">
            <a:spLocks/>
          </p:cNvSpPr>
          <p:nvPr/>
        </p:nvSpPr>
        <p:spPr>
          <a:xfrm>
            <a:off x="183220" y="1294662"/>
            <a:ext cx="11561104"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cs typeface="Calibri"/>
              </a:rPr>
              <a:t>Jaguar-Land Rover (2025) – Compromised credentials allowed access to an internal JIRA Server which was exploited and PII leaked</a:t>
            </a:r>
          </a:p>
          <a:p>
            <a:pPr lvl="1"/>
            <a:r>
              <a:rPr lang="en-US" sz="1600">
                <a:cs typeface="Calibri"/>
              </a:rPr>
              <a:t>Huge reputational damage and an estimated cost of £2B to the UK economy</a:t>
            </a:r>
          </a:p>
          <a:p>
            <a:pPr marL="685800" lvl="3" indent="0">
              <a:buNone/>
            </a:pPr>
            <a:endParaRPr lang="en-US" sz="1600">
              <a:cs typeface="Calibri"/>
            </a:endParaRPr>
          </a:p>
          <a:p>
            <a:pPr marL="0" indent="0">
              <a:buNone/>
            </a:pPr>
            <a:r>
              <a:rPr lang="en-GB" sz="1600">
                <a:cs typeface="Calibri"/>
              </a:rPr>
              <a:t>Truist Bank Data Breach (2024) - 3rd Party debt collection agency was breached and that agency had access to sensitive Truist Bank data</a:t>
            </a:r>
          </a:p>
          <a:p>
            <a:pPr lvl="1"/>
            <a:r>
              <a:rPr lang="en-US" sz="1600">
                <a:cs typeface="Calibri"/>
              </a:rPr>
              <a:t>Sensitive PII data leaked for nearly 4.2 million including bank customers</a:t>
            </a:r>
          </a:p>
          <a:p>
            <a:pPr lvl="1"/>
            <a:r>
              <a:rPr lang="en-US" sz="1600">
                <a:cs typeface="Calibri"/>
              </a:rPr>
              <a:t>Lawsuits, reputational damage, estimated $400-600M in damages</a:t>
            </a:r>
          </a:p>
          <a:p>
            <a:pPr marL="228600" lvl="1" indent="0">
              <a:buNone/>
            </a:pPr>
            <a:endParaRPr lang="en-US">
              <a:cs typeface="Calibri"/>
            </a:endParaRPr>
          </a:p>
          <a:p>
            <a:pPr marL="0" indent="0">
              <a:buNone/>
            </a:pPr>
            <a:r>
              <a:rPr lang="en-US" sz="1600">
                <a:cs typeface="Calibri"/>
              </a:rPr>
              <a:t>Marks and Spencers (2025) – Compromised credentials from a contractor IT provider</a:t>
            </a:r>
          </a:p>
          <a:p>
            <a:r>
              <a:rPr lang="en-US" sz="1600">
                <a:cs typeface="Calibri"/>
              </a:rPr>
              <a:t>Online store down for nearly 2 months causing losses of up to £300M, market valuation dropped by £1B</a:t>
            </a:r>
          </a:p>
          <a:p>
            <a:pPr marL="228600" lvl="1" indent="0">
              <a:buFont typeface="Arial" panose="020B0604020202020204" pitchFamily="34" charset="0"/>
              <a:buNone/>
            </a:pPr>
            <a:endParaRPr lang="en-US">
              <a:cs typeface="Calibri"/>
            </a:endParaRPr>
          </a:p>
          <a:p>
            <a:pPr lvl="1"/>
            <a:endParaRPr lang="en-US">
              <a:cs typeface="Calibri"/>
            </a:endParaRPr>
          </a:p>
          <a:p>
            <a:pPr lvl="1">
              <a:buFont typeface="Courier New" panose="020B0604020202020204" pitchFamily="34" charset="0"/>
              <a:buChar char="o"/>
            </a:pPr>
            <a:endParaRPr lang="en-US">
              <a:cs typeface="Calibri"/>
            </a:endParaRPr>
          </a:p>
          <a:p>
            <a:pPr lvl="1">
              <a:buFont typeface="Courier New" panose="020B0604020202020204" pitchFamily="34" charset="0"/>
              <a:buChar char="o"/>
            </a:pPr>
            <a:endParaRPr lang="en-US">
              <a:cs typeface="Calibri"/>
            </a:endParaRPr>
          </a:p>
          <a:p>
            <a:pPr lvl="1">
              <a:buFont typeface="Courier New" panose="020B0604020202020204" pitchFamily="34" charset="0"/>
              <a:buChar char="o"/>
            </a:pPr>
            <a:endParaRPr lang="en-US">
              <a:cs typeface="Calibri"/>
            </a:endParaRPr>
          </a:p>
        </p:txBody>
      </p:sp>
    </p:spTree>
    <p:extLst>
      <p:ext uri="{BB962C8B-B14F-4D97-AF65-F5344CB8AC3E}">
        <p14:creationId xmlns:p14="http://schemas.microsoft.com/office/powerpoint/2010/main" val="2347848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8B1D187-D362-4B73-AD63-B3D432410318}"/>
              </a:ext>
            </a:extLst>
          </p:cNvPr>
          <p:cNvSpPr>
            <a:spLocks noGrp="1"/>
          </p:cNvSpPr>
          <p:nvPr>
            <p:ph idx="1"/>
          </p:nvPr>
        </p:nvSpPr>
        <p:spPr/>
        <p:txBody>
          <a:bodyPr vert="horz" lIns="91440" tIns="45720" rIns="91440" bIns="45720" rtlCol="0" anchor="t">
            <a:normAutofit fontScale="92500" lnSpcReduction="10000"/>
          </a:bodyPr>
          <a:lstStyle/>
          <a:p>
            <a:pPr marL="228600" lvl="1" indent="0">
              <a:buNone/>
            </a:pPr>
            <a:r>
              <a:rPr lang="en-US" sz="2400">
                <a:cs typeface="Calibri"/>
              </a:rPr>
              <a:t>Legacy VPN</a:t>
            </a:r>
          </a:p>
          <a:p>
            <a:pPr lvl="1"/>
            <a:r>
              <a:rPr lang="en-US">
                <a:cs typeface="Calibri"/>
              </a:rPr>
              <a:t>Designed for connectivity, not security</a:t>
            </a:r>
          </a:p>
          <a:p>
            <a:pPr lvl="1"/>
            <a:r>
              <a:rPr lang="en-US">
                <a:cs typeface="Calibri"/>
              </a:rPr>
              <a:t>Overly permissive and designed for implicit trust</a:t>
            </a:r>
          </a:p>
          <a:p>
            <a:pPr lvl="1"/>
            <a:r>
              <a:rPr lang="en-US">
                <a:cs typeface="Calibri"/>
              </a:rPr>
              <a:t>No segmentation</a:t>
            </a:r>
          </a:p>
          <a:p>
            <a:pPr lvl="1"/>
            <a:r>
              <a:rPr lang="en-US">
                <a:cs typeface="Calibri"/>
              </a:rPr>
              <a:t>No visibility</a:t>
            </a:r>
          </a:p>
          <a:p>
            <a:pPr lvl="1"/>
            <a:r>
              <a:rPr lang="en-US">
                <a:cs typeface="Calibri"/>
              </a:rPr>
              <a:t>Enables lateral movement of threats</a:t>
            </a:r>
          </a:p>
          <a:p>
            <a:pPr lvl="1"/>
            <a:endParaRPr lang="en-US">
              <a:cs typeface="Calibri"/>
            </a:endParaRPr>
          </a:p>
          <a:p>
            <a:pPr marL="228600" lvl="1" indent="0">
              <a:buNone/>
            </a:pPr>
            <a:r>
              <a:rPr lang="en-US" sz="2400">
                <a:cs typeface="Calibri"/>
              </a:rPr>
              <a:t>Use of on-premise appliances</a:t>
            </a:r>
          </a:p>
          <a:p>
            <a:pPr lvl="1"/>
            <a:r>
              <a:rPr lang="en-US">
                <a:cs typeface="Calibri"/>
              </a:rPr>
              <a:t>Requires maintenance and management</a:t>
            </a:r>
          </a:p>
          <a:p>
            <a:pPr lvl="1"/>
            <a:r>
              <a:rPr lang="en-US">
                <a:cs typeface="Calibri"/>
              </a:rPr>
              <a:t>Extra appliances needed if security is required</a:t>
            </a:r>
          </a:p>
          <a:p>
            <a:pPr lvl="1"/>
            <a:r>
              <a:rPr lang="en-US">
                <a:cs typeface="Calibri"/>
              </a:rPr>
              <a:t>Increases time and cost</a:t>
            </a:r>
          </a:p>
          <a:p>
            <a:pPr lvl="1"/>
            <a:r>
              <a:rPr lang="en-US">
                <a:cs typeface="Calibri"/>
              </a:rPr>
              <a:t>No consistent security</a:t>
            </a:r>
          </a:p>
          <a:p>
            <a:pPr lvl="1"/>
            <a:r>
              <a:rPr lang="en-US">
                <a:cs typeface="Calibri"/>
              </a:rPr>
              <a:t>Scalability challenges</a:t>
            </a:r>
          </a:p>
          <a:p>
            <a:pPr lvl="1"/>
            <a:endParaRPr lang="en-US">
              <a:cs typeface="Calibri"/>
            </a:endParaRPr>
          </a:p>
          <a:p>
            <a:pPr marL="228600" lvl="1" indent="0">
              <a:buNone/>
            </a:pPr>
            <a:r>
              <a:rPr lang="en-US" sz="2400">
                <a:cs typeface="Calibri"/>
              </a:rPr>
              <a:t>Compromised Credentials</a:t>
            </a:r>
          </a:p>
          <a:p>
            <a:pPr lvl="1"/>
            <a:endParaRPr lang="en-US">
              <a:cs typeface="Calibri"/>
            </a:endParaRPr>
          </a:p>
          <a:p>
            <a:pPr lvl="1"/>
            <a:endParaRPr lang="en-US">
              <a:cs typeface="Calibri"/>
            </a:endParaRPr>
          </a:p>
          <a:p>
            <a:pPr marL="228600" lvl="1" indent="0">
              <a:buNone/>
            </a:pPr>
            <a:endParaRPr lang="en-US">
              <a:cs typeface="Calibri"/>
            </a:endParaRPr>
          </a:p>
          <a:p>
            <a:pPr lvl="1"/>
            <a:endParaRPr lang="en-US">
              <a:cs typeface="Calibri"/>
            </a:endParaRPr>
          </a:p>
          <a:p>
            <a:pPr lvl="1">
              <a:buFont typeface="Courier New" panose="020B0604020202020204" pitchFamily="34" charset="0"/>
              <a:buChar char="o"/>
            </a:pPr>
            <a:endParaRPr lang="en-US">
              <a:cs typeface="Calibri"/>
            </a:endParaRPr>
          </a:p>
          <a:p>
            <a:pPr lvl="1">
              <a:buFont typeface="Courier New" panose="020B0604020202020204" pitchFamily="34" charset="0"/>
              <a:buChar char="o"/>
            </a:pPr>
            <a:endParaRPr lang="en-US">
              <a:cs typeface="Calibri"/>
            </a:endParaRPr>
          </a:p>
          <a:p>
            <a:pPr lvl="1">
              <a:buFont typeface="Courier New" panose="020B0604020202020204" pitchFamily="34" charset="0"/>
              <a:buChar char="o"/>
            </a:pPr>
            <a:endParaRPr lang="en-US">
              <a:cs typeface="Calibri"/>
            </a:endParaRPr>
          </a:p>
        </p:txBody>
      </p:sp>
      <p:sp>
        <p:nvSpPr>
          <p:cNvPr id="3" name="Title 2">
            <a:extLst>
              <a:ext uri="{FF2B5EF4-FFF2-40B4-BE49-F238E27FC236}">
                <a16:creationId xmlns:a16="http://schemas.microsoft.com/office/drawing/2014/main" id="{E0F7FFC9-E698-6936-5341-493C7A203C87}"/>
              </a:ext>
            </a:extLst>
          </p:cNvPr>
          <p:cNvSpPr>
            <a:spLocks noGrp="1"/>
          </p:cNvSpPr>
          <p:nvPr>
            <p:ph type="title"/>
          </p:nvPr>
        </p:nvSpPr>
        <p:spPr/>
        <p:txBody>
          <a:bodyPr/>
          <a:lstStyle/>
          <a:p>
            <a:r>
              <a:rPr lang="en-US"/>
              <a:t>Cause of risk - Legacy 3</a:t>
            </a:r>
            <a:r>
              <a:rPr lang="en-US" baseline="30000"/>
              <a:t>rd</a:t>
            </a:r>
            <a:r>
              <a:rPr lang="en-US"/>
              <a:t> Party Access</a:t>
            </a:r>
          </a:p>
        </p:txBody>
      </p:sp>
    </p:spTree>
    <p:extLst>
      <p:ext uri="{BB962C8B-B14F-4D97-AF65-F5344CB8AC3E}">
        <p14:creationId xmlns:p14="http://schemas.microsoft.com/office/powerpoint/2010/main" val="312643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diagram of a route&#10;&#10;AI-generated content may be incorrect.">
            <a:extLst>
              <a:ext uri="{FF2B5EF4-FFF2-40B4-BE49-F238E27FC236}">
                <a16:creationId xmlns:a16="http://schemas.microsoft.com/office/drawing/2014/main" id="{CD6F02AD-4909-8A85-E1CD-E9494EE805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6700" y="1541375"/>
            <a:ext cx="7772400" cy="4701048"/>
          </a:xfrm>
          <a:prstGeom prst="rect">
            <a:avLst/>
          </a:prstGeom>
        </p:spPr>
      </p:pic>
      <p:sp>
        <p:nvSpPr>
          <p:cNvPr id="2" name="Title 1">
            <a:extLst>
              <a:ext uri="{FF2B5EF4-FFF2-40B4-BE49-F238E27FC236}">
                <a16:creationId xmlns:a16="http://schemas.microsoft.com/office/drawing/2014/main" id="{CEF9AEA0-ECB3-946F-064A-86F5238B7FE7}"/>
              </a:ext>
            </a:extLst>
          </p:cNvPr>
          <p:cNvSpPr>
            <a:spLocks noGrp="1"/>
          </p:cNvSpPr>
          <p:nvPr>
            <p:ph type="title"/>
          </p:nvPr>
        </p:nvSpPr>
        <p:spPr/>
        <p:txBody>
          <a:bodyPr/>
          <a:lstStyle/>
          <a:p>
            <a:r>
              <a:rPr lang="en-US"/>
              <a:t>How Cato Networks removes risk from 3</a:t>
            </a:r>
            <a:r>
              <a:rPr lang="en-US" baseline="30000"/>
              <a:t>rd</a:t>
            </a:r>
            <a:r>
              <a:rPr lang="en-US"/>
              <a:t> Party Contractors</a:t>
            </a:r>
          </a:p>
        </p:txBody>
      </p:sp>
      <p:sp>
        <p:nvSpPr>
          <p:cNvPr id="3" name="Text Placeholder 2">
            <a:extLst>
              <a:ext uri="{FF2B5EF4-FFF2-40B4-BE49-F238E27FC236}">
                <a16:creationId xmlns:a16="http://schemas.microsoft.com/office/drawing/2014/main" id="{DE0E5668-A0B4-F401-7F88-6C8FBCCC3554}"/>
              </a:ext>
            </a:extLst>
          </p:cNvPr>
          <p:cNvSpPr>
            <a:spLocks noGrp="1"/>
          </p:cNvSpPr>
          <p:nvPr>
            <p:ph type="body" sz="quarter" idx="12"/>
          </p:nvPr>
        </p:nvSpPr>
        <p:spPr/>
        <p:txBody>
          <a:bodyPr/>
          <a:lstStyle/>
          <a:p>
            <a:r>
              <a:rPr lang="en-US"/>
              <a:t>Removing risk through least privileged access</a:t>
            </a:r>
          </a:p>
        </p:txBody>
      </p:sp>
      <p:sp>
        <p:nvSpPr>
          <p:cNvPr id="4" name="Slide Number Placeholder 3">
            <a:extLst>
              <a:ext uri="{FF2B5EF4-FFF2-40B4-BE49-F238E27FC236}">
                <a16:creationId xmlns:a16="http://schemas.microsoft.com/office/drawing/2014/main" id="{C289952D-8085-F4C3-7242-FFA37E324C06}"/>
              </a:ext>
            </a:extLst>
          </p:cNvPr>
          <p:cNvSpPr>
            <a:spLocks noGrp="1"/>
          </p:cNvSpPr>
          <p:nvPr>
            <p:ph type="sldNum" sz="quarter" idx="4"/>
          </p:nvPr>
        </p:nvSpPr>
        <p:spPr/>
        <p:txBody>
          <a:bodyPr/>
          <a:lstStyle/>
          <a:p>
            <a:r>
              <a:rPr lang="en-US"/>
              <a:t>| </a:t>
            </a:r>
            <a:fld id="{FEC5E14B-9965-442C-8683-0E66DD8427DC}" type="slidenum">
              <a:rPr lang="en-US" smtClean="0"/>
              <a:pPr/>
              <a:t>5</a:t>
            </a:fld>
            <a:endParaRPr lang="en-US"/>
          </a:p>
        </p:txBody>
      </p:sp>
      <p:sp>
        <p:nvSpPr>
          <p:cNvPr id="5" name="Content Placeholder 53">
            <a:extLst>
              <a:ext uri="{FF2B5EF4-FFF2-40B4-BE49-F238E27FC236}">
                <a16:creationId xmlns:a16="http://schemas.microsoft.com/office/drawing/2014/main" id="{AFF11B26-9B4C-B274-D878-9C59AC112154}"/>
              </a:ext>
            </a:extLst>
          </p:cNvPr>
          <p:cNvSpPr txBox="1">
            <a:spLocks/>
          </p:cNvSpPr>
          <p:nvPr/>
        </p:nvSpPr>
        <p:spPr>
          <a:xfrm>
            <a:off x="311430" y="1358075"/>
            <a:ext cx="5042984" cy="3540969"/>
          </a:xfrm>
          <a:prstGeom prst="rect">
            <a:avLst/>
          </a:prstGeom>
        </p:spPr>
        <p:txBody>
          <a:bodyPr wrap="none" l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2400" b="1"/>
              <a:t>Consistent Policy for Users Everywhere</a:t>
            </a:r>
          </a:p>
          <a:p>
            <a:pPr marL="233363" lvl="1" indent="-233363">
              <a:spcAft>
                <a:spcPts val="600"/>
              </a:spcAft>
              <a:buFont typeface="Arial" panose="020B0604020202020204" pitchFamily="34" charset="0"/>
              <a:buChar char="•"/>
              <a:defRPr/>
            </a:pPr>
            <a:r>
              <a:rPr lang="en-US" sz="1800">
                <a:solidFill>
                  <a:srgbClr val="222C33"/>
                </a:solidFill>
              </a:rPr>
              <a:t>Identity driven</a:t>
            </a:r>
          </a:p>
          <a:p>
            <a:pPr marL="233363" lvl="1" indent="-233363">
              <a:spcAft>
                <a:spcPts val="600"/>
              </a:spcAft>
              <a:buFont typeface="Arial" panose="020B0604020202020204" pitchFamily="34" charset="0"/>
              <a:buChar char="•"/>
              <a:defRPr/>
            </a:pPr>
            <a:r>
              <a:rPr lang="en-US" sz="1800">
                <a:solidFill>
                  <a:srgbClr val="222C33"/>
                </a:solidFill>
              </a:rPr>
              <a:t>Global coverage</a:t>
            </a:r>
          </a:p>
          <a:p>
            <a:pPr marL="0" lvl="0" indent="0">
              <a:buNone/>
              <a:defRPr/>
            </a:pPr>
            <a:r>
              <a:rPr lang="en-US" sz="2400" b="1"/>
              <a:t>ZTNA: Trust but Verify</a:t>
            </a:r>
          </a:p>
          <a:p>
            <a:pPr marL="233363" lvl="1" indent="-233363">
              <a:spcAft>
                <a:spcPts val="600"/>
              </a:spcAft>
              <a:buFont typeface="Arial" panose="020B0604020202020204" pitchFamily="34" charset="0"/>
              <a:buChar char="•"/>
              <a:defRPr/>
            </a:pPr>
            <a:r>
              <a:rPr lang="en-US" sz="1800">
                <a:solidFill>
                  <a:srgbClr val="222C33"/>
                </a:solidFill>
              </a:rPr>
              <a:t>Access control with device posture</a:t>
            </a:r>
          </a:p>
          <a:p>
            <a:pPr marL="233363" lvl="1" indent="-233363">
              <a:spcAft>
                <a:spcPts val="600"/>
              </a:spcAft>
              <a:buFont typeface="Arial" panose="020B0604020202020204" pitchFamily="34" charset="0"/>
              <a:buChar char="•"/>
              <a:defRPr/>
            </a:pPr>
            <a:r>
              <a:rPr lang="en-US" sz="1800">
                <a:solidFill>
                  <a:srgbClr val="222C33"/>
                </a:solidFill>
              </a:rPr>
              <a:t>Threat prevention (</a:t>
            </a:r>
            <a:r>
              <a:rPr lang="en-US" sz="1800" err="1">
                <a:solidFill>
                  <a:srgbClr val="222C33"/>
                </a:solidFill>
              </a:rPr>
              <a:t>FWaaS</a:t>
            </a:r>
            <a:r>
              <a:rPr lang="en-US" sz="1800">
                <a:solidFill>
                  <a:srgbClr val="222C33"/>
                </a:solidFill>
              </a:rPr>
              <a:t>, SWG, IPS, AM)</a:t>
            </a:r>
          </a:p>
          <a:p>
            <a:pPr marL="233363" lvl="1" indent="-233363">
              <a:spcAft>
                <a:spcPts val="600"/>
              </a:spcAft>
              <a:buFont typeface="Arial" panose="020B0604020202020204" pitchFamily="34" charset="0"/>
              <a:buChar char="•"/>
              <a:defRPr/>
            </a:pPr>
            <a:r>
              <a:rPr lang="en-US" sz="1800">
                <a:solidFill>
                  <a:srgbClr val="222C33"/>
                </a:solidFill>
              </a:rPr>
              <a:t>Sensitive data protection (DLP)</a:t>
            </a:r>
          </a:p>
          <a:p>
            <a:pPr marL="233363" lvl="1" indent="-233363">
              <a:spcAft>
                <a:spcPts val="600"/>
              </a:spcAft>
              <a:buFont typeface="Arial" panose="020B0604020202020204" pitchFamily="34" charset="0"/>
              <a:buChar char="•"/>
              <a:defRPr/>
            </a:pPr>
            <a:r>
              <a:rPr lang="en-US" sz="1800">
                <a:solidFill>
                  <a:srgbClr val="222C33"/>
                </a:solidFill>
              </a:rPr>
              <a:t>Risk-based applications access control (CASB)</a:t>
            </a:r>
          </a:p>
          <a:p>
            <a:pPr marL="0" lvl="1" indent="0">
              <a:spcAft>
                <a:spcPts val="600"/>
              </a:spcAft>
              <a:buNone/>
              <a:defRPr/>
            </a:pPr>
            <a:endParaRPr lang="en-US" sz="1800">
              <a:solidFill>
                <a:srgbClr val="222C33"/>
              </a:solidFill>
            </a:endParaRPr>
          </a:p>
        </p:txBody>
      </p:sp>
    </p:spTree>
    <p:extLst>
      <p:ext uri="{BB962C8B-B14F-4D97-AF65-F5344CB8AC3E}">
        <p14:creationId xmlns:p14="http://schemas.microsoft.com/office/powerpoint/2010/main" val="35981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4D4E04-7392-04E5-727D-F19275135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88715-C2DB-FD17-7FA4-5802CE71208C}"/>
              </a:ext>
            </a:extLst>
          </p:cNvPr>
          <p:cNvSpPr>
            <a:spLocks noGrp="1"/>
          </p:cNvSpPr>
          <p:nvPr>
            <p:ph type="title"/>
          </p:nvPr>
        </p:nvSpPr>
        <p:spPr/>
        <p:txBody>
          <a:bodyPr/>
          <a:lstStyle/>
          <a:p>
            <a:r>
              <a:rPr lang="en-US"/>
              <a:t>How to run the demo ( SE only slide )</a:t>
            </a:r>
          </a:p>
        </p:txBody>
      </p:sp>
      <p:sp>
        <p:nvSpPr>
          <p:cNvPr id="3" name="Text Placeholder 2">
            <a:extLst>
              <a:ext uri="{FF2B5EF4-FFF2-40B4-BE49-F238E27FC236}">
                <a16:creationId xmlns:a16="http://schemas.microsoft.com/office/drawing/2014/main" id="{116C63FA-F31D-4C4C-9CEF-EE4AC02BEF91}"/>
              </a:ext>
            </a:extLst>
          </p:cNvPr>
          <p:cNvSpPr>
            <a:spLocks noGrp="1"/>
          </p:cNvSpPr>
          <p:nvPr>
            <p:ph type="body" sz="quarter" idx="12"/>
          </p:nvPr>
        </p:nvSpPr>
        <p:spPr/>
        <p:txBody>
          <a:bodyPr/>
          <a:lstStyle/>
          <a:p>
            <a:r>
              <a:rPr lang="en-US"/>
              <a:t>Removing risk through least privileged access</a:t>
            </a:r>
          </a:p>
        </p:txBody>
      </p:sp>
      <p:sp>
        <p:nvSpPr>
          <p:cNvPr id="4" name="Slide Number Placeholder 3">
            <a:extLst>
              <a:ext uri="{FF2B5EF4-FFF2-40B4-BE49-F238E27FC236}">
                <a16:creationId xmlns:a16="http://schemas.microsoft.com/office/drawing/2014/main" id="{E64BBEE1-28FD-7288-CA79-A05E416F6618}"/>
              </a:ext>
            </a:extLst>
          </p:cNvPr>
          <p:cNvSpPr>
            <a:spLocks noGrp="1"/>
          </p:cNvSpPr>
          <p:nvPr>
            <p:ph type="sldNum" sz="quarter" idx="4"/>
          </p:nvPr>
        </p:nvSpPr>
        <p:spPr/>
        <p:txBody>
          <a:bodyPr/>
          <a:lstStyle/>
          <a:p>
            <a:r>
              <a:rPr lang="en-US"/>
              <a:t>| </a:t>
            </a:r>
            <a:fld id="{FEC5E14B-9965-442C-8683-0E66DD8427DC}" type="slidenum">
              <a:rPr lang="en-US" smtClean="0"/>
              <a:pPr/>
              <a:t>6</a:t>
            </a:fld>
            <a:endParaRPr lang="en-US"/>
          </a:p>
        </p:txBody>
      </p:sp>
      <p:sp>
        <p:nvSpPr>
          <p:cNvPr id="5" name="Content Placeholder 53">
            <a:extLst>
              <a:ext uri="{FF2B5EF4-FFF2-40B4-BE49-F238E27FC236}">
                <a16:creationId xmlns:a16="http://schemas.microsoft.com/office/drawing/2014/main" id="{1BEE490B-B0EC-CA20-92DC-5C9461A3F439}"/>
              </a:ext>
            </a:extLst>
          </p:cNvPr>
          <p:cNvSpPr txBox="1">
            <a:spLocks/>
          </p:cNvSpPr>
          <p:nvPr/>
        </p:nvSpPr>
        <p:spPr>
          <a:xfrm>
            <a:off x="311430" y="1358075"/>
            <a:ext cx="92398" cy="341632"/>
          </a:xfrm>
          <a:prstGeom prst="rect">
            <a:avLst/>
          </a:prstGeom>
        </p:spPr>
        <p:txBody>
          <a:bodyPr wrap="none" l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Aft>
                <a:spcPts val="600"/>
              </a:spcAft>
              <a:buNone/>
              <a:defRPr/>
            </a:pPr>
            <a:endParaRPr lang="en-US" sz="1800">
              <a:solidFill>
                <a:srgbClr val="222C33"/>
              </a:solidFill>
            </a:endParaRPr>
          </a:p>
        </p:txBody>
      </p:sp>
      <p:sp>
        <p:nvSpPr>
          <p:cNvPr id="6" name="TextBox 5">
            <a:extLst>
              <a:ext uri="{FF2B5EF4-FFF2-40B4-BE49-F238E27FC236}">
                <a16:creationId xmlns:a16="http://schemas.microsoft.com/office/drawing/2014/main" id="{E91298D0-A93D-6824-70D3-93B19FEB4AE0}"/>
              </a:ext>
            </a:extLst>
          </p:cNvPr>
          <p:cNvSpPr txBox="1"/>
          <p:nvPr/>
        </p:nvSpPr>
        <p:spPr>
          <a:xfrm>
            <a:off x="524107" y="1358075"/>
            <a:ext cx="8318810" cy="3231654"/>
          </a:xfrm>
          <a:prstGeom prst="rect">
            <a:avLst/>
          </a:prstGeom>
          <a:noFill/>
        </p:spPr>
        <p:txBody>
          <a:bodyPr wrap="square" rtlCol="0">
            <a:spAutoFit/>
          </a:bodyPr>
          <a:lstStyle/>
          <a:p>
            <a:pPr marL="342900" indent="-342900">
              <a:buAutoNum type="arabicParenR"/>
            </a:pPr>
            <a:r>
              <a:rPr lang="en-US" sz="1200"/>
              <a:t>Initial discussion with prospect to dig into the ‘why’ they are looking at security for 3</a:t>
            </a:r>
            <a:r>
              <a:rPr lang="en-US" sz="1200" baseline="30000"/>
              <a:t>rd</a:t>
            </a:r>
            <a:r>
              <a:rPr lang="en-US" sz="1200"/>
              <a:t> parties, contractors etc. Understand business use case for this access and risk surrounding it</a:t>
            </a:r>
          </a:p>
          <a:p>
            <a:pPr marL="342900" indent="-342900">
              <a:buAutoNum type="arabicParenR"/>
            </a:pPr>
            <a:r>
              <a:rPr lang="en-US" sz="1200"/>
              <a:t>First slide – Business impact of not securing 3</a:t>
            </a:r>
            <a:r>
              <a:rPr lang="en-US" sz="1200" baseline="30000"/>
              <a:t>rd</a:t>
            </a:r>
            <a:r>
              <a:rPr lang="en-US" sz="1200"/>
              <a:t> party access</a:t>
            </a:r>
          </a:p>
          <a:p>
            <a:pPr marL="342900" indent="-342900">
              <a:buAutoNum type="arabicParenR"/>
            </a:pPr>
            <a:r>
              <a:rPr lang="en-US" sz="1200"/>
              <a:t>Second slide – How 3</a:t>
            </a:r>
            <a:r>
              <a:rPr lang="en-US" sz="1200" baseline="30000"/>
              <a:t>rd</a:t>
            </a:r>
            <a:r>
              <a:rPr lang="en-US" sz="1200"/>
              <a:t> parties currently access resources, limitations and risk around this</a:t>
            </a:r>
          </a:p>
          <a:p>
            <a:pPr marL="342900" indent="-342900">
              <a:buAutoNum type="arabicParenR"/>
            </a:pPr>
            <a:r>
              <a:rPr lang="en-US" sz="1200"/>
              <a:t>Overview of Cato ZTNA and how we use device posture, confidence, user awareness to enable least privileged access. Security capabilities like FWaaS and SWG, CASB and DLP to protect sensitive data and prevent breaches</a:t>
            </a:r>
          </a:p>
          <a:p>
            <a:pPr marL="800100" lvl="1" indent="-342900">
              <a:buAutoNum type="arabicParenR"/>
            </a:pPr>
            <a:r>
              <a:rPr lang="en-US" sz="1200"/>
              <a:t>Red line – </a:t>
            </a:r>
            <a:r>
              <a:rPr lang="en-US" sz="1200" err="1"/>
              <a:t>geoblocking</a:t>
            </a:r>
            <a:r>
              <a:rPr lang="en-US" sz="1200"/>
              <a:t>, unauthorized users and/or non-compliant devices</a:t>
            </a:r>
          </a:p>
          <a:p>
            <a:pPr marL="800100" lvl="1" indent="-342900">
              <a:buAutoNum type="arabicParenR"/>
            </a:pPr>
            <a:r>
              <a:rPr lang="en-US" sz="1200"/>
              <a:t>Orange line – Internet only, user authenticates but is not compliant</a:t>
            </a:r>
          </a:p>
          <a:p>
            <a:pPr marL="800100" lvl="1" indent="-342900">
              <a:buAutoNum type="arabicParenR"/>
            </a:pPr>
            <a:r>
              <a:rPr lang="en-US" sz="1200"/>
              <a:t>Green line – WAN and Internet – user authenticated and device compliant</a:t>
            </a:r>
          </a:p>
          <a:p>
            <a:pPr marL="342900" indent="-342900">
              <a:buAutoNum type="arabicParenR"/>
            </a:pPr>
            <a:r>
              <a:rPr lang="en-US" sz="1200"/>
              <a:t>Demo </a:t>
            </a:r>
          </a:p>
          <a:p>
            <a:pPr marL="800100" lvl="1" indent="-342900">
              <a:buAutoNum type="arabicParenR"/>
            </a:pPr>
            <a:r>
              <a:rPr lang="en-US" sz="1200"/>
              <a:t>Start off with showing Access Tab &gt; Client connectivity (</a:t>
            </a:r>
            <a:r>
              <a:rPr lang="en-US" sz="1200" err="1"/>
              <a:t>geoblocking</a:t>
            </a:r>
            <a:r>
              <a:rPr lang="en-US" sz="1200"/>
              <a:t> rules, rules for user groups, internet only rules) talk around this as examples on how to restrict that initial connectivity</a:t>
            </a:r>
          </a:p>
          <a:p>
            <a:pPr marL="800100" lvl="1" indent="-342900">
              <a:buAutoNum type="arabicParenR"/>
            </a:pPr>
            <a:r>
              <a:rPr lang="en-US" sz="1200"/>
              <a:t>WAN firewall rules – show rules with contractor user groups only allowed to access certain resources, corporate users must be compliant with device profile.</a:t>
            </a:r>
          </a:p>
          <a:p>
            <a:pPr marL="800100" lvl="1" indent="-342900">
              <a:buAutoNum type="arabicParenR"/>
            </a:pPr>
            <a:r>
              <a:rPr lang="en-US" sz="1200"/>
              <a:t>Show device posture profiles and criteria we can do.</a:t>
            </a:r>
          </a:p>
          <a:p>
            <a:pPr marL="800100" lvl="1" indent="-342900">
              <a:buAutoNum type="arabicParenR"/>
            </a:pPr>
            <a:r>
              <a:rPr lang="en-US" sz="1200"/>
              <a:t>Show live demo of a contractor user being blocked from internal resource but able to access another resource (HTML code for web pages in folder – contractor portal and internal portal)</a:t>
            </a:r>
          </a:p>
        </p:txBody>
      </p:sp>
    </p:spTree>
    <p:extLst>
      <p:ext uri="{BB962C8B-B14F-4D97-AF65-F5344CB8AC3E}">
        <p14:creationId xmlns:p14="http://schemas.microsoft.com/office/powerpoint/2010/main" val="339924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9B7FDB-60B9-4F88-864C-781524C2E40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2423315"/>
      </p:ext>
    </p:extLst>
  </p:cSld>
  <p:clrMapOvr>
    <a:masterClrMapping/>
  </p:clrMapOvr>
</p:sld>
</file>

<file path=ppt/theme/theme1.xml><?xml version="1.0" encoding="utf-8"?>
<a:theme xmlns:a="http://schemas.openxmlformats.org/drawingml/2006/main" name="Office Theme">
  <a:themeElements>
    <a:clrScheme name="cato 2019">
      <a:dk1>
        <a:srgbClr val="222C33"/>
      </a:dk1>
      <a:lt1>
        <a:srgbClr val="FFFFFF"/>
      </a:lt1>
      <a:dk2>
        <a:srgbClr val="222222"/>
      </a:dk2>
      <a:lt2>
        <a:srgbClr val="FAFAFA"/>
      </a:lt2>
      <a:accent1>
        <a:srgbClr val="158864"/>
      </a:accent1>
      <a:accent2>
        <a:srgbClr val="127958"/>
      </a:accent2>
      <a:accent3>
        <a:srgbClr val="0C513B"/>
      </a:accent3>
      <a:accent4>
        <a:srgbClr val="FF715B"/>
      </a:accent4>
      <a:accent5>
        <a:srgbClr val="FDCA0B"/>
      </a:accent5>
      <a:accent6>
        <a:srgbClr val="FAA934"/>
      </a:accent6>
      <a:hlink>
        <a:srgbClr val="0277BD"/>
      </a:hlink>
      <a:folHlink>
        <a:srgbClr val="03A9F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2022 06.potx" id="{C0F50A09-C38A-4BC0-AD93-17F5AD48579C}" vid="{DC00E7B4-0CF7-47E3-99ED-6FD79A895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d5da3514-3b6b-4ccd-bd93-9b0746cba409">
      <UserInfo>
        <DisplayName>Sharon Halbani</DisplayName>
        <AccountId>832</AccountId>
        <AccountType/>
      </UserInfo>
    </SharedWithUsers>
    <lcf76f155ced4ddcb4097134ff3c332f xmlns="59af04aa-14d6-4764-88c2-31407ba52b8d">
      <Terms xmlns="http://schemas.microsoft.com/office/infopath/2007/PartnerControls"/>
    </lcf76f155ced4ddcb4097134ff3c332f>
    <TaxCatchAll xmlns="d5da3514-3b6b-4ccd-bd93-9b0746cba409" xsi:nil="true"/>
    <_Flow_SignoffStatus xmlns="59af04aa-14d6-4764-88c2-31407ba52b8d" xsi:nil="true"/>
    <Manager_x0020_Name xmlns="59af04aa-14d6-4764-88c2-31407ba52b8d" xsi:nil="true"/>
    <Full_x0020_Name xmlns="59af04aa-14d6-4764-88c2-31407ba52b8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372A94E03C407419BC564D94F1A306B" ma:contentTypeVersion="22" ma:contentTypeDescription="Create a new document." ma:contentTypeScope="" ma:versionID="2a5be53b095fe5f2c3f270eac2e82b16">
  <xsd:schema xmlns:xsd="http://www.w3.org/2001/XMLSchema" xmlns:xs="http://www.w3.org/2001/XMLSchema" xmlns:p="http://schemas.microsoft.com/office/2006/metadata/properties" xmlns:ns2="59af04aa-14d6-4764-88c2-31407ba52b8d" xmlns:ns3="d5da3514-3b6b-4ccd-bd93-9b0746cba409" targetNamespace="http://schemas.microsoft.com/office/2006/metadata/properties" ma:root="true" ma:fieldsID="1573f9c29841bbcb0b7ecf2d122902d7" ns2:_="" ns3:_="">
    <xsd:import namespace="59af04aa-14d6-4764-88c2-31407ba52b8d"/>
    <xsd:import namespace="d5da3514-3b6b-4ccd-bd93-9b0746cba40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ObjectDetectorVersions" minOccurs="0"/>
                <xsd:element ref="ns2:_Flow_SignoffStatus" minOccurs="0"/>
                <xsd:element ref="ns2:MediaServiceBillingMetadata" minOccurs="0"/>
                <xsd:element ref="ns2:MediaServiceLocation" minOccurs="0"/>
                <xsd:element ref="ns2:Full_x0020_Name" minOccurs="0"/>
                <xsd:element ref="ns2:Manager_x0020_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af04aa-14d6-4764-88c2-31407ba52b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b4fd814-cd30-4341-b83e-5a3d1412f97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_Flow_SignoffStatus" ma:index="24" nillable="true" ma:displayName="Sign-off status" ma:internalName="Sign_x002d_off_x0020_status">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ServiceLocation" ma:index="26" nillable="true" ma:displayName="Location" ma:indexed="true" ma:internalName="MediaServiceLocation" ma:readOnly="true">
      <xsd:simpleType>
        <xsd:restriction base="dms:Text"/>
      </xsd:simpleType>
    </xsd:element>
    <xsd:element name="Full_x0020_Name" ma:index="27" nillable="true" ma:displayName="Full Name" ma:internalName="Full_x0020_Name">
      <xsd:simpleType>
        <xsd:restriction base="dms:Text">
          <xsd:maxLength value="255"/>
        </xsd:restriction>
      </xsd:simpleType>
    </xsd:element>
    <xsd:element name="Manager_x0020_Name" ma:index="28" nillable="true" ma:displayName="Manager Name" ma:internalName="Manager_x0020_Nam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da3514-3b6b-4ccd-bd93-9b0746cba40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ddf6969e-8904-444d-9e9f-a1179b64f1ca}" ma:internalName="TaxCatchAll" ma:showField="CatchAllData" ma:web="d5da3514-3b6b-4ccd-bd93-9b0746cba40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0B76D7-C0C3-42FF-97C1-EF20CF65F793}">
  <ds:schemaRefs>
    <ds:schemaRef ds:uri="http://schemas.microsoft.com/sharepoint/v3/contenttype/forms"/>
  </ds:schemaRefs>
</ds:datastoreItem>
</file>

<file path=customXml/itemProps2.xml><?xml version="1.0" encoding="utf-8"?>
<ds:datastoreItem xmlns:ds="http://schemas.openxmlformats.org/officeDocument/2006/customXml" ds:itemID="{748E23FD-1D3C-4B77-BD11-3F1EF586A9C7}">
  <ds:schemaRefs>
    <ds:schemaRef ds:uri="59af04aa-14d6-4764-88c2-31407ba52b8d"/>
    <ds:schemaRef ds:uri="d5da3514-3b6b-4ccd-bd93-9b0746cba40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F045C05-CF52-430F-AAF4-2DF48AFF18C4}"/>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2</Notes>
  <HiddenSlides>1</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De-risking 3rd Party Access</vt:lpstr>
      <vt:lpstr>Overview of Risk </vt:lpstr>
      <vt:lpstr>Impact of 3rd Party Supply Chain Risk</vt:lpstr>
      <vt:lpstr>Cause of risk - Legacy 3rd Party Access</vt:lpstr>
      <vt:lpstr>How Cato Networks removes risk from 3rd Party Contractors</vt:lpstr>
      <vt:lpstr>How to run the demo ( SE only slide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Huggins</dc:creator>
  <cp:revision>1</cp:revision>
  <dcterms:created xsi:type="dcterms:W3CDTF">2024-09-17T11:17:58Z</dcterms:created>
  <dcterms:modified xsi:type="dcterms:W3CDTF">2026-02-01T13:41:19Z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0x0101009372A94E03C407419BC564D94F1A306B</vt:lpwstr>
  </property>
  <property fmtid="{D5CDD505-2E9C-101B-9397-08002B2CF9AE}" pid="3" name="MediaServiceImageTags">
    <vt:lpwstr/>
  </property>
</Properties>
</file>
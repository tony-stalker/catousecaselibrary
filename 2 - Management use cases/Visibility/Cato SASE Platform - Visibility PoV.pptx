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5"/>
  </p:notesMasterIdLst>
  <p:sldIdLst>
    <p:sldId id="2076137930" r:id="rId5"/>
    <p:sldId id="2147472085" r:id="rId6"/>
    <p:sldId id="2147472076" r:id="rId7"/>
    <p:sldId id="2147472079" r:id="rId8"/>
    <p:sldId id="2145873298" r:id="rId9"/>
    <p:sldId id="2076137936" r:id="rId10"/>
    <p:sldId id="2145874257" r:id="rId11"/>
    <p:sldId id="2145873917" r:id="rId12"/>
    <p:sldId id="2145874259" r:id="rId13"/>
    <p:sldId id="2145874258" r:id="rId14"/>
    <p:sldId id="2145874260" r:id="rId15"/>
    <p:sldId id="2145874261" r:id="rId16"/>
    <p:sldId id="2145874262" r:id="rId17"/>
    <p:sldId id="2145874263" r:id="rId18"/>
    <p:sldId id="2145874264" r:id="rId19"/>
    <p:sldId id="2076137946" r:id="rId20"/>
    <p:sldId id="2147472086" r:id="rId21"/>
    <p:sldId id="2147472087" r:id="rId22"/>
    <p:sldId id="2147472088" r:id="rId23"/>
    <p:sldId id="214747208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255"/>
    <a:srgbClr val="FF715B"/>
    <a:srgbClr val="0081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826E70-0DD2-674F-A8DB-74C69C26D618}" v="533" dt="2025-12-04T16:14:02.0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oin Thornton" userId="425fa37f-8f9e-4476-a495-56de1721fe3a" providerId="ADAL" clId="{792C8A9A-88E5-5740-8788-CBE34462183A}"/>
    <pc:docChg chg="undo custSel addSld modSld">
      <pc:chgData name="Eoin Thornton" userId="425fa37f-8f9e-4476-a495-56de1721fe3a" providerId="ADAL" clId="{792C8A9A-88E5-5740-8788-CBE34462183A}" dt="2025-12-04T16:14:02.007" v="530"/>
      <pc:docMkLst>
        <pc:docMk/>
      </pc:docMkLst>
      <pc:sldChg chg="modSp modAnim">
        <pc:chgData name="Eoin Thornton" userId="425fa37f-8f9e-4476-a495-56de1721fe3a" providerId="ADAL" clId="{792C8A9A-88E5-5740-8788-CBE34462183A}" dt="2025-12-04T16:14:02.007" v="530"/>
        <pc:sldMkLst>
          <pc:docMk/>
          <pc:sldMk cId="2644029943" sldId="2147472085"/>
        </pc:sldMkLst>
        <pc:spChg chg="mod">
          <ac:chgData name="Eoin Thornton" userId="425fa37f-8f9e-4476-a495-56de1721fe3a" providerId="ADAL" clId="{792C8A9A-88E5-5740-8788-CBE34462183A}" dt="2025-12-04T16:07:20.472" v="509" actId="166"/>
          <ac:spMkLst>
            <pc:docMk/>
            <pc:sldMk cId="2644029943" sldId="2147472085"/>
            <ac:spMk id="12" creationId="{9A5806FF-212C-4E5A-B183-9D8779147D74}"/>
          </ac:spMkLst>
        </pc:spChg>
      </pc:sldChg>
      <pc:sldChg chg="modSp modAnim">
        <pc:chgData name="Eoin Thornton" userId="425fa37f-8f9e-4476-a495-56de1721fe3a" providerId="ADAL" clId="{792C8A9A-88E5-5740-8788-CBE34462183A}" dt="2025-12-04T15:29:45.089" v="502"/>
        <pc:sldMkLst>
          <pc:docMk/>
          <pc:sldMk cId="1583742326" sldId="2147472086"/>
        </pc:sldMkLst>
        <pc:spChg chg="mod">
          <ac:chgData name="Eoin Thornton" userId="425fa37f-8f9e-4476-a495-56de1721fe3a" providerId="ADAL" clId="{792C8A9A-88E5-5740-8788-CBE34462183A}" dt="2025-12-04T15:26:39.720" v="488" actId="20577"/>
          <ac:spMkLst>
            <pc:docMk/>
            <pc:sldMk cId="1583742326" sldId="2147472086"/>
            <ac:spMk id="8" creationId="{2E5DFA2F-9F46-1BA9-7BF7-661E757F529D}"/>
          </ac:spMkLst>
        </pc:spChg>
      </pc:sldChg>
      <pc:sldChg chg="delSp modSp add mod modNotesTx">
        <pc:chgData name="Eoin Thornton" userId="425fa37f-8f9e-4476-a495-56de1721fe3a" providerId="ADAL" clId="{792C8A9A-88E5-5740-8788-CBE34462183A}" dt="2025-12-04T16:06:03.578" v="507" actId="20577"/>
        <pc:sldMkLst>
          <pc:docMk/>
          <pc:sldMk cId="431689169" sldId="2147472087"/>
        </pc:sldMkLst>
        <pc:spChg chg="mod">
          <ac:chgData name="Eoin Thornton" userId="425fa37f-8f9e-4476-a495-56de1721fe3a" providerId="ADAL" clId="{792C8A9A-88E5-5740-8788-CBE34462183A}" dt="2025-12-04T15:23:10.011" v="441"/>
          <ac:spMkLst>
            <pc:docMk/>
            <pc:sldMk cId="431689169" sldId="2147472087"/>
            <ac:spMk id="5" creationId="{C9C3DCA4-F930-D3AE-23EF-78796248C1BB}"/>
          </ac:spMkLst>
        </pc:spChg>
        <pc:spChg chg="mod">
          <ac:chgData name="Eoin Thornton" userId="425fa37f-8f9e-4476-a495-56de1721fe3a" providerId="ADAL" clId="{792C8A9A-88E5-5740-8788-CBE34462183A}" dt="2025-12-04T15:24:09.463" v="451" actId="1076"/>
          <ac:spMkLst>
            <pc:docMk/>
            <pc:sldMk cId="431689169" sldId="2147472087"/>
            <ac:spMk id="8" creationId="{8099CD06-9166-F940-A8F7-E4DB76DB30C5}"/>
          </ac:spMkLst>
        </pc:spChg>
        <pc:spChg chg="mod">
          <ac:chgData name="Eoin Thornton" userId="425fa37f-8f9e-4476-a495-56de1721fe3a" providerId="ADAL" clId="{792C8A9A-88E5-5740-8788-CBE34462183A}" dt="2025-12-04T15:23:43.142" v="447" actId="1076"/>
          <ac:spMkLst>
            <pc:docMk/>
            <pc:sldMk cId="431689169" sldId="2147472087"/>
            <ac:spMk id="9" creationId="{C8E1A545-5957-4F3D-1DCC-DED9A2A61CA1}"/>
          </ac:spMkLst>
        </pc:spChg>
        <pc:spChg chg="mod">
          <ac:chgData name="Eoin Thornton" userId="425fa37f-8f9e-4476-a495-56de1721fe3a" providerId="ADAL" clId="{792C8A9A-88E5-5740-8788-CBE34462183A}" dt="2025-12-04T15:24:13.495" v="452" actId="1076"/>
          <ac:spMkLst>
            <pc:docMk/>
            <pc:sldMk cId="431689169" sldId="2147472087"/>
            <ac:spMk id="12" creationId="{31C79CB6-2783-65DC-6B0D-F0D920886559}"/>
          </ac:spMkLst>
        </pc:spChg>
        <pc:spChg chg="mod">
          <ac:chgData name="Eoin Thornton" userId="425fa37f-8f9e-4476-a495-56de1721fe3a" providerId="ADAL" clId="{792C8A9A-88E5-5740-8788-CBE34462183A}" dt="2025-12-04T15:23:50.995" v="448" actId="1076"/>
          <ac:spMkLst>
            <pc:docMk/>
            <pc:sldMk cId="431689169" sldId="2147472087"/>
            <ac:spMk id="14" creationId="{239228E2-AA18-A79A-F103-1E3008ED3B31}"/>
          </ac:spMkLst>
        </pc:spChg>
        <pc:spChg chg="mod">
          <ac:chgData name="Eoin Thornton" userId="425fa37f-8f9e-4476-a495-56de1721fe3a" providerId="ADAL" clId="{792C8A9A-88E5-5740-8788-CBE34462183A}" dt="2025-12-04T15:24:18.824" v="453" actId="1076"/>
          <ac:spMkLst>
            <pc:docMk/>
            <pc:sldMk cId="431689169" sldId="2147472087"/>
            <ac:spMk id="15" creationId="{B9926E7F-3F96-3B10-6CA9-39EEA3D534FA}"/>
          </ac:spMkLst>
        </pc:spChg>
        <pc:spChg chg="mod">
          <ac:chgData name="Eoin Thornton" userId="425fa37f-8f9e-4476-a495-56de1721fe3a" providerId="ADAL" clId="{792C8A9A-88E5-5740-8788-CBE34462183A}" dt="2025-12-04T15:23:58.457" v="449" actId="1076"/>
          <ac:spMkLst>
            <pc:docMk/>
            <pc:sldMk cId="431689169" sldId="2147472087"/>
            <ac:spMk id="16" creationId="{C22E57BC-AD03-F4FF-A9A9-607D9B762E34}"/>
          </ac:spMkLst>
        </pc:spChg>
        <pc:spChg chg="mod">
          <ac:chgData name="Eoin Thornton" userId="425fa37f-8f9e-4476-a495-56de1721fe3a" providerId="ADAL" clId="{792C8A9A-88E5-5740-8788-CBE34462183A}" dt="2025-12-04T15:24:36.661" v="454" actId="1076"/>
          <ac:spMkLst>
            <pc:docMk/>
            <pc:sldMk cId="431689169" sldId="2147472087"/>
            <ac:spMk id="18" creationId="{83EE8269-D5F6-E858-DC05-213F542CF2E1}"/>
          </ac:spMkLst>
        </pc:spChg>
        <pc:spChg chg="mod">
          <ac:chgData name="Eoin Thornton" userId="425fa37f-8f9e-4476-a495-56de1721fe3a" providerId="ADAL" clId="{792C8A9A-88E5-5740-8788-CBE34462183A}" dt="2025-12-04T15:24:04.661" v="450" actId="1076"/>
          <ac:spMkLst>
            <pc:docMk/>
            <pc:sldMk cId="431689169" sldId="2147472087"/>
            <ac:spMk id="19" creationId="{9BAD06A0-D25E-DB50-8FF6-BE3721967E0C}"/>
          </ac:spMkLst>
        </pc:spChg>
        <pc:spChg chg="mod">
          <ac:chgData name="Eoin Thornton" userId="425fa37f-8f9e-4476-a495-56de1721fe3a" providerId="ADAL" clId="{792C8A9A-88E5-5740-8788-CBE34462183A}" dt="2025-12-04T15:23:10.011" v="441"/>
          <ac:spMkLst>
            <pc:docMk/>
            <pc:sldMk cId="431689169" sldId="2147472087"/>
            <ac:spMk id="25" creationId="{939E4D04-6C2D-B9F4-DD6F-464588C02093}"/>
          </ac:spMkLst>
        </pc:spChg>
        <pc:spChg chg="mod">
          <ac:chgData name="Eoin Thornton" userId="425fa37f-8f9e-4476-a495-56de1721fe3a" providerId="ADAL" clId="{792C8A9A-88E5-5740-8788-CBE34462183A}" dt="2025-12-04T15:23:10.011" v="441"/>
          <ac:spMkLst>
            <pc:docMk/>
            <pc:sldMk cId="431689169" sldId="2147472087"/>
            <ac:spMk id="27" creationId="{E630E8DA-7EE2-283C-2C06-3F889CE49101}"/>
          </ac:spMkLst>
        </pc:spChg>
        <pc:spChg chg="mod">
          <ac:chgData name="Eoin Thornton" userId="425fa37f-8f9e-4476-a495-56de1721fe3a" providerId="ADAL" clId="{792C8A9A-88E5-5740-8788-CBE34462183A}" dt="2025-12-04T15:06:18.334" v="60" actId="20577"/>
          <ac:spMkLst>
            <pc:docMk/>
            <pc:sldMk cId="431689169" sldId="2147472087"/>
            <ac:spMk id="42" creationId="{449D4BFC-B89D-79CB-48C2-FAF080519626}"/>
          </ac:spMkLst>
        </pc:spChg>
        <pc:picChg chg="del">
          <ac:chgData name="Eoin Thornton" userId="425fa37f-8f9e-4476-a495-56de1721fe3a" providerId="ADAL" clId="{792C8A9A-88E5-5740-8788-CBE34462183A}" dt="2025-12-04T15:05:16.177" v="27" actId="478"/>
          <ac:picMkLst>
            <pc:docMk/>
            <pc:sldMk cId="431689169" sldId="2147472087"/>
            <ac:picMk id="32" creationId="{90F4CB37-6526-0FB4-4B63-64CE44B8F96B}"/>
          </ac:picMkLst>
        </pc:picChg>
      </pc:sldChg>
      <pc:sldChg chg="modSp add mod">
        <pc:chgData name="Eoin Thornton" userId="425fa37f-8f9e-4476-a495-56de1721fe3a" providerId="ADAL" clId="{792C8A9A-88E5-5740-8788-CBE34462183A}" dt="2025-12-04T15:25:46.773" v="462" actId="1076"/>
        <pc:sldMkLst>
          <pc:docMk/>
          <pc:sldMk cId="1727646568" sldId="2147472088"/>
        </pc:sldMkLst>
        <pc:spChg chg="mod">
          <ac:chgData name="Eoin Thornton" userId="425fa37f-8f9e-4476-a495-56de1721fe3a" providerId="ADAL" clId="{792C8A9A-88E5-5740-8788-CBE34462183A}" dt="2025-12-04T15:23:31.812" v="446"/>
          <ac:spMkLst>
            <pc:docMk/>
            <pc:sldMk cId="1727646568" sldId="2147472088"/>
            <ac:spMk id="5" creationId="{7E6B64E0-889F-2C68-CF44-B14A0D7A595E}"/>
          </ac:spMkLst>
        </pc:spChg>
        <pc:spChg chg="mod">
          <ac:chgData name="Eoin Thornton" userId="425fa37f-8f9e-4476-a495-56de1721fe3a" providerId="ADAL" clId="{792C8A9A-88E5-5740-8788-CBE34462183A}" dt="2025-12-04T15:23:31.812" v="446"/>
          <ac:spMkLst>
            <pc:docMk/>
            <pc:sldMk cId="1727646568" sldId="2147472088"/>
            <ac:spMk id="6" creationId="{E523A205-CE48-29F6-E1A6-91CAC5986689}"/>
          </ac:spMkLst>
        </pc:spChg>
        <pc:spChg chg="mod">
          <ac:chgData name="Eoin Thornton" userId="425fa37f-8f9e-4476-a495-56de1721fe3a" providerId="ADAL" clId="{792C8A9A-88E5-5740-8788-CBE34462183A}" dt="2025-12-04T15:16:20.468" v="291" actId="1076"/>
          <ac:spMkLst>
            <pc:docMk/>
            <pc:sldMk cId="1727646568" sldId="2147472088"/>
            <ac:spMk id="7" creationId="{CEFB05B6-B1DD-0704-31DF-1864247BC367}"/>
          </ac:spMkLst>
        </pc:spChg>
        <pc:spChg chg="mod">
          <ac:chgData name="Eoin Thornton" userId="425fa37f-8f9e-4476-a495-56de1721fe3a" providerId="ADAL" clId="{792C8A9A-88E5-5740-8788-CBE34462183A}" dt="2025-12-04T15:23:31.812" v="446"/>
          <ac:spMkLst>
            <pc:docMk/>
            <pc:sldMk cId="1727646568" sldId="2147472088"/>
            <ac:spMk id="8" creationId="{C3F062A6-BAED-E1D9-D73D-D509575C8798}"/>
          </ac:spMkLst>
        </pc:spChg>
        <pc:spChg chg="mod">
          <ac:chgData name="Eoin Thornton" userId="425fa37f-8f9e-4476-a495-56de1721fe3a" providerId="ADAL" clId="{792C8A9A-88E5-5740-8788-CBE34462183A}" dt="2025-12-04T15:25:01.087" v="455" actId="1076"/>
          <ac:spMkLst>
            <pc:docMk/>
            <pc:sldMk cId="1727646568" sldId="2147472088"/>
            <ac:spMk id="9" creationId="{257CB439-8051-9F1A-1006-BC3CBBD8E27B}"/>
          </ac:spMkLst>
        </pc:spChg>
        <pc:spChg chg="mod">
          <ac:chgData name="Eoin Thornton" userId="425fa37f-8f9e-4476-a495-56de1721fe3a" providerId="ADAL" clId="{792C8A9A-88E5-5740-8788-CBE34462183A}" dt="2025-12-04T15:25:37.370" v="460" actId="1076"/>
          <ac:spMkLst>
            <pc:docMk/>
            <pc:sldMk cId="1727646568" sldId="2147472088"/>
            <ac:spMk id="12" creationId="{75DA5517-C324-0A56-4D37-2B1CC72AFF42}"/>
          </ac:spMkLst>
        </pc:spChg>
        <pc:spChg chg="mod">
          <ac:chgData name="Eoin Thornton" userId="425fa37f-8f9e-4476-a495-56de1721fe3a" providerId="ADAL" clId="{792C8A9A-88E5-5740-8788-CBE34462183A}" dt="2025-12-04T15:25:16.060" v="457" actId="1076"/>
          <ac:spMkLst>
            <pc:docMk/>
            <pc:sldMk cId="1727646568" sldId="2147472088"/>
            <ac:spMk id="14" creationId="{6C0872C9-8089-5015-0AF4-B9BC2F8BD988}"/>
          </ac:spMkLst>
        </pc:spChg>
        <pc:spChg chg="mod">
          <ac:chgData name="Eoin Thornton" userId="425fa37f-8f9e-4476-a495-56de1721fe3a" providerId="ADAL" clId="{792C8A9A-88E5-5740-8788-CBE34462183A}" dt="2025-12-04T15:25:41.386" v="461" actId="1076"/>
          <ac:spMkLst>
            <pc:docMk/>
            <pc:sldMk cId="1727646568" sldId="2147472088"/>
            <ac:spMk id="15" creationId="{C13DC352-9F1C-E97B-870F-E9425FE7E0CB}"/>
          </ac:spMkLst>
        </pc:spChg>
        <pc:spChg chg="mod">
          <ac:chgData name="Eoin Thornton" userId="425fa37f-8f9e-4476-a495-56de1721fe3a" providerId="ADAL" clId="{792C8A9A-88E5-5740-8788-CBE34462183A}" dt="2025-12-04T15:25:21.509" v="458" actId="1076"/>
          <ac:spMkLst>
            <pc:docMk/>
            <pc:sldMk cId="1727646568" sldId="2147472088"/>
            <ac:spMk id="16" creationId="{F8DB1327-AEE5-8504-B497-B75756D7514E}"/>
          </ac:spMkLst>
        </pc:spChg>
        <pc:spChg chg="mod">
          <ac:chgData name="Eoin Thornton" userId="425fa37f-8f9e-4476-a495-56de1721fe3a" providerId="ADAL" clId="{792C8A9A-88E5-5740-8788-CBE34462183A}" dt="2025-12-04T15:25:46.773" v="462" actId="1076"/>
          <ac:spMkLst>
            <pc:docMk/>
            <pc:sldMk cId="1727646568" sldId="2147472088"/>
            <ac:spMk id="18" creationId="{FC0CC9AD-3AE1-F9E1-975A-C81BC23723C2}"/>
          </ac:spMkLst>
        </pc:spChg>
        <pc:spChg chg="mod">
          <ac:chgData name="Eoin Thornton" userId="425fa37f-8f9e-4476-a495-56de1721fe3a" providerId="ADAL" clId="{792C8A9A-88E5-5740-8788-CBE34462183A}" dt="2025-12-04T15:25:28.469" v="459" actId="1076"/>
          <ac:spMkLst>
            <pc:docMk/>
            <pc:sldMk cId="1727646568" sldId="2147472088"/>
            <ac:spMk id="19" creationId="{6BABB714-4B77-38ED-257A-26C5955DB3D9}"/>
          </ac:spMkLst>
        </pc:spChg>
        <pc:spChg chg="mod">
          <ac:chgData name="Eoin Thornton" userId="425fa37f-8f9e-4476-a495-56de1721fe3a" providerId="ADAL" clId="{792C8A9A-88E5-5740-8788-CBE34462183A}" dt="2025-12-04T15:23:31.812" v="446"/>
          <ac:spMkLst>
            <pc:docMk/>
            <pc:sldMk cId="1727646568" sldId="2147472088"/>
            <ac:spMk id="23" creationId="{C19A581C-079E-00ED-8387-369D397381EC}"/>
          </ac:spMkLst>
        </pc:spChg>
        <pc:spChg chg="mod">
          <ac:chgData name="Eoin Thornton" userId="425fa37f-8f9e-4476-a495-56de1721fe3a" providerId="ADAL" clId="{792C8A9A-88E5-5740-8788-CBE34462183A}" dt="2025-12-04T15:23:31.812" v="446"/>
          <ac:spMkLst>
            <pc:docMk/>
            <pc:sldMk cId="1727646568" sldId="2147472088"/>
            <ac:spMk id="27" creationId="{C92EAF78-503C-3752-592F-D24A7C3D1EC7}"/>
          </ac:spMkLst>
        </pc:spChg>
        <pc:spChg chg="mod">
          <ac:chgData name="Eoin Thornton" userId="425fa37f-8f9e-4476-a495-56de1721fe3a" providerId="ADAL" clId="{792C8A9A-88E5-5740-8788-CBE34462183A}" dt="2025-12-04T15:23:31.812" v="446"/>
          <ac:spMkLst>
            <pc:docMk/>
            <pc:sldMk cId="1727646568" sldId="2147472088"/>
            <ac:spMk id="31" creationId="{673DEF95-0F96-0498-929E-D3E27D8010C3}"/>
          </ac:spMkLst>
        </pc:spChg>
        <pc:spChg chg="mod">
          <ac:chgData name="Eoin Thornton" userId="425fa37f-8f9e-4476-a495-56de1721fe3a" providerId="ADAL" clId="{792C8A9A-88E5-5740-8788-CBE34462183A}" dt="2025-12-04T15:06:12.380" v="58" actId="20577"/>
          <ac:spMkLst>
            <pc:docMk/>
            <pc:sldMk cId="1727646568" sldId="2147472088"/>
            <ac:spMk id="42" creationId="{ACA30531-F0F5-BF10-6F6D-13B854C4888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57CB17-974E-494A-9109-E30C7318F43A}" type="datetimeFigureOut">
              <a:rPr lang="en-US" smtClean="0"/>
              <a:t>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4F026F-5CEC-4793-872F-B7F99F4A2DB3}" type="slidenum">
              <a:rPr lang="en-US" smtClean="0"/>
              <a:t>‹#›</a:t>
            </a:fld>
            <a:endParaRPr lang="en-US"/>
          </a:p>
        </p:txBody>
      </p:sp>
    </p:spTree>
    <p:extLst>
      <p:ext uri="{BB962C8B-B14F-4D97-AF65-F5344CB8AC3E}">
        <p14:creationId xmlns:p14="http://schemas.microsoft.com/office/powerpoint/2010/main" val="3197457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94ADEB05-5168-4175-A66F-2235235D7F1A}" type="slidenum">
              <a:rPr lang="en-US" smtClean="0"/>
              <a:t>1</a:t>
            </a:fld>
            <a:endParaRPr lang="en-US"/>
          </a:p>
        </p:txBody>
      </p:sp>
    </p:spTree>
    <p:extLst>
      <p:ext uri="{BB962C8B-B14F-4D97-AF65-F5344CB8AC3E}">
        <p14:creationId xmlns:p14="http://schemas.microsoft.com/office/powerpoint/2010/main" val="3977392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Raman spoke earlier on some of the things we keep hearing from the IT Leaders we speak to – I’ve expanded on this a little</a:t>
            </a:r>
          </a:p>
          <a:p>
            <a:endParaRPr lang="en-US"/>
          </a:p>
          <a:p>
            <a:r>
              <a:rPr lang="en-US"/>
              <a:t>High complexity – so many point </a:t>
            </a:r>
            <a:r>
              <a:rPr lang="en-US" err="1"/>
              <a:t>solutuions</a:t>
            </a:r>
            <a:r>
              <a:rPr lang="en-US"/>
              <a:t> addressing so many and often overlapping use cases, so many </a:t>
            </a:r>
            <a:r>
              <a:rPr lang="en-US" err="1"/>
              <a:t>msp’s</a:t>
            </a:r>
            <a:r>
              <a:rPr lang="en-US"/>
              <a:t> managing their own services without a full picture</a:t>
            </a:r>
          </a:p>
          <a:p>
            <a:endParaRPr lang="en-US"/>
          </a:p>
          <a:p>
            <a:r>
              <a:rPr lang="en-US"/>
              <a:t>Poor Visibility – this makes getting visibility into </a:t>
            </a:r>
            <a:r>
              <a:rPr lang="en-US" err="1"/>
              <a:t>whats</a:t>
            </a:r>
            <a:r>
              <a:rPr lang="en-US"/>
              <a:t> going on on the network difficult and can involve piecing together information from different technologies and service providers</a:t>
            </a:r>
          </a:p>
          <a:p>
            <a:endParaRPr lang="en-US"/>
          </a:p>
          <a:p>
            <a:r>
              <a:rPr lang="en-US"/>
              <a:t>Bad performance – it’s the same with performance, where do we being to troubleshoot, often you have EUC, infra, security, network &amp; ops teams pointing the finger at each other</a:t>
            </a:r>
          </a:p>
          <a:p>
            <a:endParaRPr lang="en-US"/>
          </a:p>
          <a:p>
            <a:r>
              <a:rPr lang="en-US"/>
              <a:t>Remote/WFH Pain – we have </a:t>
            </a:r>
            <a:r>
              <a:rPr lang="en-US" err="1"/>
              <a:t>flutterwave</a:t>
            </a:r>
            <a:r>
              <a:rPr lang="en-US"/>
              <a:t> up next and we can maybe hear about the pain they were experiencing and what they did to address it</a:t>
            </a:r>
          </a:p>
          <a:p>
            <a:endParaRPr lang="en-US"/>
          </a:p>
          <a:p>
            <a:r>
              <a:rPr lang="en-US"/>
              <a:t>Cloud adoption risks – Cloud adoptions was more of an issue 10 years ago than it should be now. But leaders still have difficulty ensuring consistency between </a:t>
            </a:r>
            <a:r>
              <a:rPr lang="en-US" err="1"/>
              <a:t>onprem</a:t>
            </a:r>
            <a:r>
              <a:rPr lang="en-US"/>
              <a:t> and cloud environment when it comes to policy</a:t>
            </a:r>
          </a:p>
          <a:p>
            <a:endParaRPr lang="en-US"/>
          </a:p>
          <a:p>
            <a:r>
              <a:rPr lang="en-US"/>
              <a:t>Mounting Cost – MPLS is expensive and it can be rigid with long lead times to enact change – but rigidity </a:t>
            </a:r>
            <a:r>
              <a:rPr lang="en-US" err="1"/>
              <a:t>isnt</a:t>
            </a:r>
            <a:r>
              <a:rPr lang="en-US"/>
              <a:t> confined to MPLS only</a:t>
            </a:r>
          </a:p>
          <a:p>
            <a:endParaRPr lang="en-US"/>
          </a:p>
          <a:p>
            <a:r>
              <a:rPr lang="en-US"/>
              <a:t>A network and security technology stack stitched together with many point solutions (possibly managed by many service providers or partners) leads to a complexity that makes it difficult to enact transformational change efficiently</a:t>
            </a:r>
          </a:p>
          <a:p>
            <a:endParaRPr lang="en-US"/>
          </a:p>
          <a:p>
            <a:r>
              <a:rPr lang="en-US"/>
              <a:t>Inconsistent policy -  </a:t>
            </a:r>
            <a:r>
              <a:rPr lang="en-US" sz="1200"/>
              <a:t>Applying a consistent and uniform policy is almost impossible, prone to misconfiguration (Firewall/Network/DLP/IPS)</a:t>
            </a:r>
          </a:p>
          <a:p>
            <a:endParaRPr lang="en-US" sz="1200"/>
          </a:p>
          <a:p>
            <a:r>
              <a:rPr lang="en-US" sz="1200"/>
              <a:t>And then we have the explosion of AI – I see similarities to Cloud Adoption risks in that the business wants to transform swiftly to gain a competitive advantage but its not that simple if serious about securing your assets and data.</a:t>
            </a:r>
          </a:p>
          <a:p>
            <a:endParaRPr lang="en-US" sz="1200"/>
          </a:p>
          <a:p>
            <a:r>
              <a:rPr lang="en-US" sz="1200"/>
              <a:t>So lets gets some hands in the air – do any of these sounds like the pain you are experiencing or your customers are experiencing?</a:t>
            </a:r>
          </a:p>
          <a:p>
            <a:endParaRPr lang="en-US" sz="1200"/>
          </a:p>
          <a:p>
            <a:r>
              <a:rPr lang="en-US" sz="1200"/>
              <a:t>You might ask well what’s so complex, well lets take a look… taking a technology that every organization has, the NGFW</a:t>
            </a:r>
            <a:endParaRPr lang="en-US"/>
          </a:p>
          <a:p>
            <a:endParaRPr lang="en-US"/>
          </a:p>
          <a:p>
            <a:r>
              <a:rPr lang="en-US"/>
              <a:t> </a:t>
            </a:r>
          </a:p>
          <a:p>
            <a:endParaRPr lang="en-US"/>
          </a:p>
        </p:txBody>
      </p:sp>
      <p:sp>
        <p:nvSpPr>
          <p:cNvPr id="4" name="Slide Number Placeholder 3"/>
          <p:cNvSpPr>
            <a:spLocks noGrp="1"/>
          </p:cNvSpPr>
          <p:nvPr>
            <p:ph type="sldNum" sz="quarter" idx="5"/>
          </p:nvPr>
        </p:nvSpPr>
        <p:spPr/>
        <p:txBody>
          <a:bodyPr/>
          <a:lstStyle/>
          <a:p>
            <a:fld id="{94ADEB05-5168-4175-A66F-2235235D7F1A}" type="slidenum">
              <a:rPr lang="en-US" smtClean="0"/>
              <a:t>2</a:t>
            </a:fld>
            <a:endParaRPr lang="en-US"/>
          </a:p>
        </p:txBody>
      </p:sp>
    </p:spTree>
    <p:extLst>
      <p:ext uri="{BB962C8B-B14F-4D97-AF65-F5344CB8AC3E}">
        <p14:creationId xmlns:p14="http://schemas.microsoft.com/office/powerpoint/2010/main" val="6452537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Today we will talk about the future of enterprise network and security. </a:t>
            </a:r>
          </a:p>
          <a:p>
            <a:endParaRPr lang="en-US"/>
          </a:p>
          <a:p>
            <a:r>
              <a:rPr lang="en-US"/>
              <a:t>Let’s take a look at a very interesting Gartner perspective on this topic:</a:t>
            </a:r>
          </a:p>
          <a:p>
            <a:endParaRPr lang="en-US"/>
          </a:p>
          <a:p>
            <a:pPr marL="171450" indent="-171450">
              <a:buFont typeface="Arial" panose="020B0604020202020204" pitchFamily="34" charset="0"/>
              <a:buChar char="•"/>
            </a:pPr>
            <a:r>
              <a:rPr lang="en-US"/>
              <a:t>After chasing new features and better performance for decades, </a:t>
            </a:r>
          </a:p>
          <a:p>
            <a:pPr marL="171450" indent="-171450">
              <a:buFont typeface="Arial" panose="020B0604020202020204" pitchFamily="34" charset="0"/>
              <a:buChar char="•"/>
            </a:pPr>
            <a:r>
              <a:rPr lang="en-US"/>
              <a:t>complexity is getting out of control. </a:t>
            </a:r>
          </a:p>
          <a:p>
            <a:pPr marL="171450" indent="-171450">
              <a:buFont typeface="Arial" panose="020B0604020202020204" pitchFamily="34" charset="0"/>
              <a:buChar char="•"/>
            </a:pPr>
            <a:r>
              <a:rPr lang="en-US"/>
              <a:t>It is harder to maintain and secure the network. </a:t>
            </a:r>
          </a:p>
          <a:p>
            <a:pPr marL="171450" indent="-171450">
              <a:buFont typeface="Arial" panose="020B0604020202020204" pitchFamily="34" charset="0"/>
              <a:buChar char="•"/>
            </a:pPr>
            <a:endParaRPr lang="en-US"/>
          </a:p>
          <a:p>
            <a:r>
              <a:rPr lang="en-US"/>
              <a:t>What does it tell us? </a:t>
            </a:r>
          </a:p>
          <a:p>
            <a:endParaRPr lang="en-US"/>
          </a:p>
          <a:p>
            <a:r>
              <a:rPr lang="en-US"/>
              <a:t>That network innovation is less about </a:t>
            </a:r>
            <a:r>
              <a:rPr lang="en-US" b="1"/>
              <a:t>what</a:t>
            </a:r>
            <a:r>
              <a:rPr lang="en-US"/>
              <a:t> the network does, and more about </a:t>
            </a:r>
            <a:r>
              <a:rPr lang="en-US" b="1"/>
              <a:t>how</a:t>
            </a:r>
            <a:r>
              <a:rPr lang="en-US"/>
              <a:t> it does it. </a:t>
            </a:r>
          </a:p>
          <a:p>
            <a:endParaRPr lang="en-US"/>
          </a:p>
          <a:p>
            <a:r>
              <a:rPr lang="en-US"/>
              <a:t>Today we will show you a new proven architecture, built to deliver the simplicity, automation, reliability and flexibility that customers like you are looking for. </a:t>
            </a:r>
          </a:p>
        </p:txBody>
      </p:sp>
      <p:sp>
        <p:nvSpPr>
          <p:cNvPr id="4" name="Slide Number Placeholder 3"/>
          <p:cNvSpPr>
            <a:spLocks noGrp="1"/>
          </p:cNvSpPr>
          <p:nvPr>
            <p:ph type="sldNum" sz="quarter" idx="5"/>
          </p:nvPr>
        </p:nvSpPr>
        <p:spPr/>
        <p:txBody>
          <a:bodyPr/>
          <a:lstStyle/>
          <a:p>
            <a:fld id="{94ADEB05-5168-4175-A66F-2235235D7F1A}" type="slidenum">
              <a:rPr lang="en-US" smtClean="0"/>
              <a:t>3</a:t>
            </a:fld>
            <a:endParaRPr lang="en-US"/>
          </a:p>
        </p:txBody>
      </p:sp>
    </p:spTree>
    <p:extLst>
      <p:ext uri="{BB962C8B-B14F-4D97-AF65-F5344CB8AC3E}">
        <p14:creationId xmlns:p14="http://schemas.microsoft.com/office/powerpoint/2010/main" val="1741272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700"/>
              <a:t>So how do we move forward? Gartner says the solution is </a:t>
            </a:r>
            <a:r>
              <a:rPr lang="en-US" sz="1700" b="1"/>
              <a:t>convergence</a:t>
            </a:r>
            <a:r>
              <a:rPr lang="en-US" sz="1700"/>
              <a:t>. </a:t>
            </a:r>
          </a:p>
          <a:p>
            <a:r>
              <a:rPr lang="en-US" sz="1700"/>
              <a:t>Specifically, the convergence of networking and security into a single solution they call the Secure Access Service Edge (or SASE). </a:t>
            </a:r>
          </a:p>
          <a:p>
            <a:endParaRPr lang="en-US"/>
          </a:p>
          <a:p>
            <a:r>
              <a:rPr lang="en-US"/>
              <a:t>SASE is a new </a:t>
            </a:r>
            <a:r>
              <a:rPr lang="en-US" b="1"/>
              <a:t>architecture</a:t>
            </a:r>
            <a:r>
              <a:rPr lang="en-US"/>
              <a:t> that is built </a:t>
            </a:r>
          </a:p>
          <a:p>
            <a:pPr marL="171450" indent="-171450">
              <a:buFont typeface="Arial" panose="020B0604020202020204" pitchFamily="34" charset="0"/>
              <a:buChar char="•"/>
            </a:pPr>
            <a:r>
              <a:rPr lang="en-US"/>
              <a:t>to address today’s and tomorrow’s requirements </a:t>
            </a:r>
          </a:p>
          <a:p>
            <a:pPr marL="171450" indent="-171450">
              <a:buFont typeface="Arial" panose="020B0604020202020204" pitchFamily="34" charset="0"/>
              <a:buChar char="•"/>
            </a:pPr>
            <a:r>
              <a:rPr lang="en-US"/>
              <a:t>for optimal and secure </a:t>
            </a:r>
            <a:r>
              <a:rPr lang="en-US" b="1"/>
              <a:t>application access</a:t>
            </a:r>
            <a:r>
              <a:rPr lang="en-US"/>
              <a:t>;</a:t>
            </a:r>
          </a:p>
          <a:p>
            <a:pPr marL="171450" indent="-171450">
              <a:buFont typeface="Arial" panose="020B0604020202020204" pitchFamily="34" charset="0"/>
              <a:buChar char="•"/>
            </a:pPr>
            <a:r>
              <a:rPr lang="en-US"/>
              <a:t>to do it for </a:t>
            </a:r>
            <a:r>
              <a:rPr lang="en-US" b="1"/>
              <a:t>all users </a:t>
            </a:r>
            <a:r>
              <a:rPr lang="en-US"/>
              <a:t>and at </a:t>
            </a:r>
            <a:r>
              <a:rPr lang="en-US" b="1"/>
              <a:t>any location</a:t>
            </a:r>
            <a:r>
              <a:rPr lang="en-US"/>
              <a:t>. </a:t>
            </a:r>
          </a:p>
          <a:p>
            <a:endParaRPr lang="en-US"/>
          </a:p>
          <a:p>
            <a:endParaRPr lang="en-US"/>
          </a:p>
          <a:p>
            <a:r>
              <a:rPr lang="en-US" b="1"/>
              <a:t>[pause and ask] </a:t>
            </a:r>
          </a:p>
          <a:p>
            <a:r>
              <a:rPr lang="en-US" b="0" i="1">
                <a:solidFill>
                  <a:srgbClr val="806000"/>
                </a:solidFill>
                <a:effectLst/>
                <a:latin typeface="Segoe UI Light" panose="020B0502040204020203" pitchFamily="34" charset="0"/>
              </a:rPr>
              <a:t>Did you consider SASE as a solution to the problems we talked about?</a:t>
            </a:r>
          </a:p>
          <a:p>
            <a:r>
              <a:rPr lang="en-US" b="1" i="1">
                <a:solidFill>
                  <a:srgbClr val="806000"/>
                </a:solidFill>
                <a:effectLst/>
                <a:latin typeface="Segoe UI Light" panose="020B0502040204020203" pitchFamily="34" charset="0"/>
              </a:rPr>
              <a:t>[If yes … ]</a:t>
            </a:r>
          </a:p>
          <a:p>
            <a:r>
              <a:rPr lang="en-US" b="0" i="1">
                <a:solidFill>
                  <a:srgbClr val="806000"/>
                </a:solidFill>
                <a:effectLst/>
                <a:latin typeface="Segoe UI Light" panose="020B0502040204020203" pitchFamily="34" charset="0"/>
              </a:rPr>
              <a:t>Can you share with me some details on what you have discovered so far?</a:t>
            </a:r>
          </a:p>
          <a:p>
            <a:endParaRPr lang="en-US" b="0" i="1">
              <a:solidFill>
                <a:srgbClr val="806000"/>
              </a:solidFill>
              <a:effectLst/>
              <a:latin typeface="Segoe UI Light" panose="020B0502040204020203" pitchFamily="34" charset="0"/>
            </a:endParaRPr>
          </a:p>
        </p:txBody>
      </p:sp>
      <p:sp>
        <p:nvSpPr>
          <p:cNvPr id="4" name="Slide Number Placeholder 3"/>
          <p:cNvSpPr>
            <a:spLocks noGrp="1"/>
          </p:cNvSpPr>
          <p:nvPr>
            <p:ph type="sldNum" sz="quarter" idx="5"/>
          </p:nvPr>
        </p:nvSpPr>
        <p:spPr/>
        <p:txBody>
          <a:bodyPr/>
          <a:lstStyle/>
          <a:p>
            <a:fld id="{94ADEB05-5168-4175-A66F-2235235D7F1A}" type="slidenum">
              <a:rPr lang="en-US" smtClean="0"/>
              <a:t>4</a:t>
            </a:fld>
            <a:endParaRPr lang="en-US"/>
          </a:p>
        </p:txBody>
      </p:sp>
    </p:spTree>
    <p:extLst>
      <p:ext uri="{BB962C8B-B14F-4D97-AF65-F5344CB8AC3E}">
        <p14:creationId xmlns:p14="http://schemas.microsoft.com/office/powerpoint/2010/main" val="1382232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At Cato, we believe a true SASE platform consolidates all the necessary networking and security functions.</a:t>
            </a:r>
          </a:p>
          <a:p>
            <a:endParaRPr lang="en-GB"/>
          </a:p>
          <a:p>
            <a:r>
              <a:rPr lang="en-GB"/>
              <a:t>The platform optimises your performance and security posture, by ensuring that all capabilities are </a:t>
            </a:r>
          </a:p>
          <a:p>
            <a:endParaRPr lang="en-GB"/>
          </a:p>
          <a:p>
            <a:pPr marL="171450" indent="-171450">
              <a:buFont typeface="Arial" panose="020B0604020202020204" pitchFamily="34" charset="0"/>
              <a:buChar char="•"/>
            </a:pPr>
            <a:r>
              <a:rPr lang="en-GB" b="1"/>
              <a:t>consistently</a:t>
            </a:r>
            <a:r>
              <a:rPr lang="en-GB"/>
              <a:t> delivered, everywhere</a:t>
            </a:r>
          </a:p>
          <a:p>
            <a:pPr marL="171450" indent="-171450">
              <a:buFont typeface="Arial" panose="020B0604020202020204" pitchFamily="34" charset="0"/>
              <a:buChar char="•"/>
            </a:pPr>
            <a:r>
              <a:rPr lang="en-GB" b="1"/>
              <a:t>autonomously</a:t>
            </a:r>
            <a:r>
              <a:rPr lang="en-GB"/>
              <a:t> managed </a:t>
            </a:r>
          </a:p>
          <a:p>
            <a:endParaRPr lang="en-GB"/>
          </a:p>
          <a:p>
            <a:r>
              <a:rPr lang="en-GB"/>
              <a:t>So, this is the promise of SASE: to empower IT with a platform that can move at the speed of business.</a:t>
            </a:r>
          </a:p>
          <a:p>
            <a:endParaRPr lang="en-GB"/>
          </a:p>
          <a:p>
            <a:r>
              <a:rPr lang="en-GB"/>
              <a:t>[click]</a:t>
            </a:r>
          </a:p>
          <a:p>
            <a:endParaRPr lang="en-GB"/>
          </a:p>
          <a:p>
            <a:pPr marL="0" indent="0">
              <a:buFont typeface="Arial" panose="020B0604020202020204" pitchFamily="34" charset="0"/>
              <a:buNone/>
            </a:pPr>
            <a:r>
              <a:rPr lang="en-GB"/>
              <a:t>In summary, SASE enables</a:t>
            </a:r>
          </a:p>
          <a:p>
            <a:pPr marL="0" indent="0">
              <a:buFont typeface="Arial" panose="020B0604020202020204" pitchFamily="34" charset="0"/>
              <a:buNone/>
            </a:pPr>
            <a:endParaRPr lang="en-GB"/>
          </a:p>
          <a:p>
            <a:pPr marL="171450" indent="-171450">
              <a:buFont typeface="Arial" panose="020B0604020202020204" pitchFamily="34" charset="0"/>
              <a:buChar char="•"/>
            </a:pPr>
            <a:r>
              <a:rPr lang="en-GB"/>
              <a:t>secure, high-performance access, </a:t>
            </a:r>
          </a:p>
          <a:p>
            <a:pPr marL="171450" indent="-171450">
              <a:buFont typeface="Arial" panose="020B0604020202020204" pitchFamily="34" charset="0"/>
              <a:buChar char="•"/>
            </a:pPr>
            <a:r>
              <a:rPr lang="en-GB"/>
              <a:t>for everywhere and everyone,</a:t>
            </a:r>
          </a:p>
          <a:p>
            <a:pPr marL="171450" indent="-171450">
              <a:buFont typeface="Arial" panose="020B0604020202020204" pitchFamily="34" charset="0"/>
              <a:buChar char="•"/>
            </a:pPr>
            <a:r>
              <a:rPr lang="en-GB"/>
              <a:t>effortlessly.</a:t>
            </a:r>
          </a:p>
          <a:p>
            <a:endParaRPr lang="en-GB"/>
          </a:p>
          <a:p>
            <a:endParaRPr lang="en-IL"/>
          </a:p>
        </p:txBody>
      </p:sp>
      <p:sp>
        <p:nvSpPr>
          <p:cNvPr id="4" name="Slide Number Placeholder 3"/>
          <p:cNvSpPr>
            <a:spLocks noGrp="1"/>
          </p:cNvSpPr>
          <p:nvPr>
            <p:ph type="sldNum" sz="quarter" idx="5"/>
          </p:nvPr>
        </p:nvSpPr>
        <p:spPr/>
        <p:txBody>
          <a:bodyPr/>
          <a:lstStyle/>
          <a:p>
            <a:fld id="{94ADEB05-5168-4175-A66F-2235235D7F1A}" type="slidenum">
              <a:rPr lang="en-US" smtClean="0"/>
              <a:t>5</a:t>
            </a:fld>
            <a:endParaRPr lang="en-US"/>
          </a:p>
        </p:txBody>
      </p:sp>
    </p:spTree>
    <p:extLst>
      <p:ext uri="{BB962C8B-B14F-4D97-AF65-F5344CB8AC3E}">
        <p14:creationId xmlns:p14="http://schemas.microsoft.com/office/powerpoint/2010/main" val="215891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is needed is a cloud security service that provides total </a:t>
            </a:r>
            <a:r>
              <a:rPr lang="en-US" b="1"/>
              <a:t>visibility, optimization, and control </a:t>
            </a:r>
            <a:r>
              <a:rPr lang="en-US"/>
              <a:t>of all traffic. </a:t>
            </a:r>
          </a:p>
          <a:p>
            <a:pPr marL="171450" indent="-171450">
              <a:buFont typeface="Arial" panose="020B0604020202020204" pitchFamily="34" charset="0"/>
              <a:buChar char="•"/>
            </a:pPr>
            <a:r>
              <a:rPr lang="en-US"/>
              <a:t>We call it SSE 360. </a:t>
            </a:r>
          </a:p>
          <a:p>
            <a:endParaRPr lang="en-US"/>
          </a:p>
          <a:p>
            <a:r>
              <a:rPr lang="en-US"/>
              <a:t>SSE 360 is built to process all traffic across all ports and protocols </a:t>
            </a:r>
          </a:p>
          <a:p>
            <a:pPr marL="171450" indent="-171450">
              <a:buFont typeface="Arial" panose="020B0604020202020204" pitchFamily="34" charset="0"/>
              <a:buChar char="•"/>
            </a:pPr>
            <a:r>
              <a:rPr lang="en-US"/>
              <a:t>from </a:t>
            </a:r>
            <a:r>
              <a:rPr lang="en-US" b="1"/>
              <a:t>all </a:t>
            </a:r>
            <a:r>
              <a:rPr lang="en-US"/>
              <a:t>enterprise </a:t>
            </a:r>
            <a:r>
              <a:rPr lang="en-US" b="1"/>
              <a:t>sources</a:t>
            </a:r>
            <a:r>
              <a:rPr lang="en-US"/>
              <a:t>:  people, devices, IOT, services, applications </a:t>
            </a:r>
          </a:p>
          <a:p>
            <a:pPr marL="171450" indent="-171450">
              <a:buFont typeface="Arial" panose="020B0604020202020204" pitchFamily="34" charset="0"/>
              <a:buChar char="•"/>
            </a:pPr>
            <a:r>
              <a:rPr lang="en-US"/>
              <a:t>and to </a:t>
            </a:r>
            <a:r>
              <a:rPr lang="en-US" b="1"/>
              <a:t>all</a:t>
            </a:r>
            <a:r>
              <a:rPr lang="en-US"/>
              <a:t> </a:t>
            </a:r>
            <a:r>
              <a:rPr lang="en-US" b="1"/>
              <a:t>destinations</a:t>
            </a:r>
            <a:r>
              <a:rPr lang="en-US"/>
              <a:t> on the WAN, the Internet, and the Cloud. </a:t>
            </a:r>
          </a:p>
          <a:p>
            <a:endParaRPr lang="en-US"/>
          </a:p>
          <a:p>
            <a:r>
              <a:rPr lang="en-US"/>
              <a:t>All traffic is optimized and inspected in real-time for threats, sensitive data, and compliance - with </a:t>
            </a:r>
            <a:r>
              <a:rPr lang="en-US" b="1"/>
              <a:t>full enforcement </a:t>
            </a:r>
            <a:r>
              <a:rPr lang="en-US"/>
              <a:t>of corporate </a:t>
            </a:r>
            <a:r>
              <a:rPr lang="en-US" b="1"/>
              <a:t>policies</a:t>
            </a:r>
            <a:r>
              <a:rPr lang="en-US"/>
              <a:t>.</a:t>
            </a:r>
          </a:p>
          <a:p>
            <a:endParaRPr lang="en-US"/>
          </a:p>
          <a:p>
            <a:r>
              <a:rPr lang="en-US"/>
              <a:t>[Click]</a:t>
            </a:r>
          </a:p>
          <a:p>
            <a:endParaRPr lang="en-US"/>
          </a:p>
          <a:p>
            <a:r>
              <a:rPr lang="en-US"/>
              <a:t>SSE 360 overcomes the challenges of traditional SSE. It is built on </a:t>
            </a:r>
            <a:r>
              <a:rPr lang="en-US" b="1"/>
              <a:t>one</a:t>
            </a:r>
            <a:r>
              <a:rPr lang="en-US"/>
              <a:t> architecture and </a:t>
            </a:r>
            <a:r>
              <a:rPr lang="en-US" b="1"/>
              <a:t>one</a:t>
            </a:r>
            <a:r>
              <a:rPr lang="en-US"/>
              <a:t> policy engine, that cover </a:t>
            </a:r>
            <a:r>
              <a:rPr lang="en-US" b="1"/>
              <a:t>all traffic </a:t>
            </a:r>
            <a:r>
              <a:rPr lang="en-US"/>
              <a:t>for both security and optimization. </a:t>
            </a:r>
          </a:p>
          <a:p>
            <a:endParaRPr lang="en-US"/>
          </a:p>
        </p:txBody>
      </p:sp>
      <p:sp>
        <p:nvSpPr>
          <p:cNvPr id="4" name="Slide Number Placeholder 3"/>
          <p:cNvSpPr>
            <a:spLocks noGrp="1"/>
          </p:cNvSpPr>
          <p:nvPr>
            <p:ph type="sldNum" sz="quarter" idx="5"/>
          </p:nvPr>
        </p:nvSpPr>
        <p:spPr/>
        <p:txBody>
          <a:bodyPr/>
          <a:lstStyle/>
          <a:p>
            <a:fld id="{94ADEB05-5168-4175-A66F-2235235D7F1A}" type="slidenum">
              <a:rPr lang="en-US" smtClean="0"/>
              <a:t>6</a:t>
            </a:fld>
            <a:endParaRPr lang="en-US"/>
          </a:p>
        </p:txBody>
      </p:sp>
    </p:spTree>
    <p:extLst>
      <p:ext uri="{BB962C8B-B14F-4D97-AF65-F5344CB8AC3E}">
        <p14:creationId xmlns:p14="http://schemas.microsoft.com/office/powerpoint/2010/main" val="25430808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E" b="1"/>
              <a:t>1. Achieve Unified Visibility Across the Entire Estate</a:t>
            </a:r>
          </a:p>
          <a:p>
            <a:r>
              <a:rPr lang="en-IE"/>
              <a:t>Provide a </a:t>
            </a:r>
            <a:r>
              <a:rPr lang="en-IE" b="1"/>
              <a:t>single-pane-of-glass</a:t>
            </a:r>
            <a:r>
              <a:rPr lang="en-IE"/>
              <a:t> view of networking, security, users, sites, cloud apps, and traffic flows.</a:t>
            </a:r>
          </a:p>
          <a:p>
            <a:r>
              <a:rPr lang="en-IE"/>
              <a:t>Eliminate blind spots created by </a:t>
            </a:r>
            <a:r>
              <a:rPr lang="en-IE" b="1"/>
              <a:t>disparate point solutions</a:t>
            </a:r>
            <a:r>
              <a:rPr lang="en-IE"/>
              <a:t>, regional firewalls, VPN concentrators, and carrier-managed links.</a:t>
            </a:r>
          </a:p>
          <a:p>
            <a:r>
              <a:rPr lang="en-IE" b="1"/>
              <a:t>Business outcome:</a:t>
            </a:r>
            <a:r>
              <a:rPr lang="en-IE"/>
              <a:t> Faster, more accurate decision-making with a complete understanding of how the business communicates.</a:t>
            </a:r>
          </a:p>
          <a:p>
            <a:br>
              <a:rPr lang="en-IE"/>
            </a:br>
            <a:endParaRPr lang="en-IE"/>
          </a:p>
          <a:p>
            <a:r>
              <a:rPr lang="en-IE" b="1"/>
              <a:t>2. Improve Threat Detection Through End-to-End Insight</a:t>
            </a:r>
          </a:p>
          <a:p>
            <a:r>
              <a:rPr lang="en-IE"/>
              <a:t>Gain </a:t>
            </a:r>
            <a:r>
              <a:rPr lang="en-IE" b="1"/>
              <a:t>full session-level visibility</a:t>
            </a:r>
            <a:r>
              <a:rPr lang="en-IE"/>
              <a:t> for all traffic—WAN, internet, cloud, and remote users.</a:t>
            </a:r>
          </a:p>
          <a:p>
            <a:r>
              <a:rPr lang="en-IE"/>
              <a:t>Identify anomalies early through </a:t>
            </a:r>
            <a:r>
              <a:rPr lang="en-IE" b="1"/>
              <a:t>built-in threat intel</a:t>
            </a:r>
            <a:r>
              <a:rPr lang="en-IE"/>
              <a:t>, </a:t>
            </a:r>
            <a:r>
              <a:rPr lang="en-IE" err="1"/>
              <a:t>behavioral</a:t>
            </a:r>
            <a:r>
              <a:rPr lang="en-IE"/>
              <a:t> insights, and correlated events.</a:t>
            </a:r>
          </a:p>
          <a:p>
            <a:r>
              <a:rPr lang="en-IE" b="1"/>
              <a:t>Business outcome:</a:t>
            </a:r>
            <a:r>
              <a:rPr lang="en-IE"/>
              <a:t> Reduced time to detect (MTTD) and a measurable decrease in security incidents.</a:t>
            </a:r>
          </a:p>
          <a:p>
            <a:br>
              <a:rPr lang="en-IE"/>
            </a:br>
            <a:endParaRPr lang="en-IE"/>
          </a:p>
          <a:p>
            <a:r>
              <a:rPr lang="en-IE" b="1"/>
              <a:t>3. Reduce Mean Time to Resolution (MTTR) With Deep Analytics</a:t>
            </a:r>
          </a:p>
          <a:p>
            <a:r>
              <a:rPr lang="en-IE"/>
              <a:t>Empower IT teams with </a:t>
            </a:r>
            <a:r>
              <a:rPr lang="en-IE" b="1"/>
              <a:t>real-time and historical metrics</a:t>
            </a:r>
            <a:r>
              <a:rPr lang="en-IE"/>
              <a:t> (latency, jitter, packet loss, application usage).</a:t>
            </a:r>
          </a:p>
          <a:p>
            <a:r>
              <a:rPr lang="en-IE"/>
              <a:t>Use Cato’s </a:t>
            </a:r>
            <a:r>
              <a:rPr lang="en-IE" b="1"/>
              <a:t>event timeline and flow data</a:t>
            </a:r>
            <a:r>
              <a:rPr lang="en-IE"/>
              <a:t> to pinpoint the root cause within minutes.</a:t>
            </a:r>
          </a:p>
          <a:p>
            <a:r>
              <a:rPr lang="en-IE" b="1"/>
              <a:t>Business outcome:</a:t>
            </a:r>
            <a:r>
              <a:rPr lang="en-IE"/>
              <a:t> Accelerated incident remediation, higher uptime, and fewer business disruptions.</a:t>
            </a:r>
          </a:p>
          <a:p>
            <a:br>
              <a:rPr lang="en-IE"/>
            </a:br>
            <a:endParaRPr lang="en-IE"/>
          </a:p>
          <a:p>
            <a:r>
              <a:rPr lang="en-IE" b="1"/>
              <a:t>4. Enhance Policy Governance and Compliance Visibility</a:t>
            </a:r>
          </a:p>
          <a:p>
            <a:r>
              <a:rPr lang="en-IE"/>
              <a:t>Centralize visibility of </a:t>
            </a:r>
            <a:r>
              <a:rPr lang="en-IE" b="1"/>
              <a:t>security policies, rule changes, and access patterns</a:t>
            </a:r>
            <a:r>
              <a:rPr lang="en-IE"/>
              <a:t>.</a:t>
            </a:r>
          </a:p>
          <a:p>
            <a:r>
              <a:rPr lang="en-IE"/>
              <a:t>Provide </a:t>
            </a:r>
            <a:r>
              <a:rPr lang="en-IE" b="1"/>
              <a:t>auditable logs and reporting</a:t>
            </a:r>
            <a:r>
              <a:rPr lang="en-IE"/>
              <a:t> that satisfy compliance frameworks (PCI, HIPAA, GDPR, SOX).</a:t>
            </a:r>
          </a:p>
          <a:p>
            <a:r>
              <a:rPr lang="en-IE" b="1"/>
              <a:t>Business outcome:</a:t>
            </a:r>
            <a:r>
              <a:rPr lang="en-IE"/>
              <a:t> Reduced compliance overhead and improved audit readiness.</a:t>
            </a:r>
          </a:p>
          <a:p>
            <a:br>
              <a:rPr lang="en-IE"/>
            </a:br>
            <a:endParaRPr lang="en-IE"/>
          </a:p>
          <a:p>
            <a:r>
              <a:rPr lang="en-IE" b="1"/>
              <a:t>5. Improve User Experience Monitoring for Remote and Branch Users</a:t>
            </a:r>
          </a:p>
          <a:p>
            <a:r>
              <a:rPr lang="en-IE"/>
              <a:t>Track </a:t>
            </a:r>
            <a:r>
              <a:rPr lang="en-IE" b="1"/>
              <a:t>individual user performance</a:t>
            </a:r>
            <a:r>
              <a:rPr lang="en-IE"/>
              <a:t>, app access, and device posture from a unified dashboard.</a:t>
            </a:r>
          </a:p>
          <a:p>
            <a:r>
              <a:rPr lang="en-IE"/>
              <a:t>Quickly identify whether issues relate to user device, last-mile ISP, backbone, or application.</a:t>
            </a:r>
          </a:p>
          <a:p>
            <a:r>
              <a:rPr lang="en-IE" b="1"/>
              <a:t>Business outcome:</a:t>
            </a:r>
            <a:r>
              <a:rPr lang="en-IE"/>
              <a:t> Fewer helpdesk tickets and improved workforce productivity.</a:t>
            </a:r>
          </a:p>
          <a:p>
            <a:br>
              <a:rPr lang="en-IE"/>
            </a:br>
            <a:endParaRPr lang="en-IE"/>
          </a:p>
          <a:p>
            <a:r>
              <a:rPr lang="en-IE" b="1"/>
              <a:t>6. Gain Executive-Level Insight Into Network &amp; Security Health</a:t>
            </a:r>
          </a:p>
          <a:p>
            <a:r>
              <a:rPr lang="en-IE"/>
              <a:t>Present </a:t>
            </a:r>
            <a:r>
              <a:rPr lang="en-IE" b="1"/>
              <a:t>business-friendly dashboards</a:t>
            </a:r>
            <a:r>
              <a:rPr lang="en-IE"/>
              <a:t> that show usage trends, risk posture, SLA compliance, and cost impact.</a:t>
            </a:r>
          </a:p>
          <a:p>
            <a:r>
              <a:rPr lang="en-IE"/>
              <a:t>Support strategic decision-making with </a:t>
            </a:r>
            <a:r>
              <a:rPr lang="en-IE" b="1"/>
              <a:t>data-driven performance and threat analytics</a:t>
            </a:r>
            <a:r>
              <a:rPr lang="en-IE"/>
              <a:t>.</a:t>
            </a:r>
          </a:p>
          <a:p>
            <a:r>
              <a:rPr lang="en-IE" b="1"/>
              <a:t>Business outcome:</a:t>
            </a:r>
            <a:r>
              <a:rPr lang="en-IE"/>
              <a:t> Executive stakeholders can clearly measure ROI and progress toward transformation goals.</a:t>
            </a:r>
          </a:p>
          <a:p>
            <a:br>
              <a:rPr lang="en-IE"/>
            </a:br>
            <a:endParaRPr lang="en-IE"/>
          </a:p>
          <a:p>
            <a:r>
              <a:rPr lang="en-IE" b="1"/>
              <a:t>7. Enable Data-Driven Optimization and Capacity Planning</a:t>
            </a:r>
          </a:p>
          <a:p>
            <a:r>
              <a:rPr lang="en-IE"/>
              <a:t>Use visibility data to forecast </a:t>
            </a:r>
            <a:r>
              <a:rPr lang="en-IE" b="1"/>
              <a:t>bandwidth requirements</a:t>
            </a:r>
            <a:r>
              <a:rPr lang="en-IE"/>
              <a:t>, usage spikes, and peak traffic patterns.</a:t>
            </a:r>
          </a:p>
          <a:p>
            <a:r>
              <a:rPr lang="en-IE"/>
              <a:t>Optimize costs by reallocating capacity based on real utilization and application priorities.</a:t>
            </a:r>
          </a:p>
          <a:p>
            <a:r>
              <a:rPr lang="en-IE" b="1"/>
              <a:t>Business outcome:</a:t>
            </a:r>
            <a:r>
              <a:rPr lang="en-IE"/>
              <a:t> Better budget planning and elimination of over-provisioning.</a:t>
            </a:r>
          </a:p>
          <a:p>
            <a:br>
              <a:rPr lang="en-IE"/>
            </a:br>
            <a:endParaRPr lang="en-IE"/>
          </a:p>
          <a:p>
            <a:r>
              <a:rPr lang="en-IE" b="1"/>
              <a:t>8. Reduce Operational Complexity Through Centralized Observability</a:t>
            </a:r>
          </a:p>
          <a:p>
            <a:r>
              <a:rPr lang="en-IE"/>
              <a:t>Replace multiple monitoring tools with a </a:t>
            </a:r>
            <a:r>
              <a:rPr lang="en-IE" b="1"/>
              <a:t>single, cloud-native observability platform</a:t>
            </a:r>
            <a:r>
              <a:rPr lang="en-IE"/>
              <a:t>.</a:t>
            </a:r>
          </a:p>
          <a:p>
            <a:r>
              <a:rPr lang="en-IE"/>
              <a:t>Eliminate manual correlation across firewall logs, SD-WAN appliances, VPN logs, and cloud security tools.</a:t>
            </a:r>
          </a:p>
          <a:p>
            <a:r>
              <a:rPr lang="en-IE" b="1"/>
              <a:t>Business outcome:</a:t>
            </a:r>
            <a:r>
              <a:rPr lang="en-IE"/>
              <a:t> Simplified operations and lower operational expenditure (</a:t>
            </a:r>
            <a:r>
              <a:rPr lang="en-IE" err="1"/>
              <a:t>OpEx</a:t>
            </a:r>
            <a:r>
              <a:rPr lang="en-IE"/>
              <a:t>).</a:t>
            </a:r>
          </a:p>
        </p:txBody>
      </p:sp>
      <p:sp>
        <p:nvSpPr>
          <p:cNvPr id="4" name="Slide Number Placeholder 3"/>
          <p:cNvSpPr>
            <a:spLocks noGrp="1"/>
          </p:cNvSpPr>
          <p:nvPr>
            <p:ph type="sldNum" sz="quarter" idx="5"/>
          </p:nvPr>
        </p:nvSpPr>
        <p:spPr/>
        <p:txBody>
          <a:bodyPr/>
          <a:lstStyle/>
          <a:p>
            <a:fld id="{94ADEB05-5168-4175-A66F-2235235D7F1A}" type="slidenum">
              <a:rPr lang="en-US" smtClean="0"/>
              <a:t>7</a:t>
            </a:fld>
            <a:endParaRPr lang="en-US"/>
          </a:p>
        </p:txBody>
      </p:sp>
    </p:spTree>
    <p:extLst>
      <p:ext uri="{BB962C8B-B14F-4D97-AF65-F5344CB8AC3E}">
        <p14:creationId xmlns:p14="http://schemas.microsoft.com/office/powerpoint/2010/main" val="15928295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700"/>
              <a:t>So how do we move forward? Gartner says the solution is </a:t>
            </a:r>
            <a:r>
              <a:rPr lang="en-US" sz="1700" b="1"/>
              <a:t>convergence</a:t>
            </a:r>
            <a:r>
              <a:rPr lang="en-US" sz="1700"/>
              <a:t>. </a:t>
            </a:r>
          </a:p>
          <a:p>
            <a:r>
              <a:rPr lang="en-US" sz="1700"/>
              <a:t>Specifically, the convergence of networking and security into a single solution they call the Secure Access Service Edge (or SASE). </a:t>
            </a:r>
          </a:p>
          <a:p>
            <a:endParaRPr lang="en-US"/>
          </a:p>
          <a:p>
            <a:r>
              <a:rPr lang="en-US"/>
              <a:t>SASE is a new </a:t>
            </a:r>
            <a:r>
              <a:rPr lang="en-US" b="1"/>
              <a:t>architecture</a:t>
            </a:r>
            <a:r>
              <a:rPr lang="en-US"/>
              <a:t> that is built </a:t>
            </a:r>
          </a:p>
          <a:p>
            <a:pPr marL="171450" indent="-171450">
              <a:buFont typeface="Arial" panose="020B0604020202020204" pitchFamily="34" charset="0"/>
              <a:buChar char="•"/>
            </a:pPr>
            <a:r>
              <a:rPr lang="en-US"/>
              <a:t>to address today’s and tomorrow’s requirements </a:t>
            </a:r>
          </a:p>
          <a:p>
            <a:pPr marL="171450" indent="-171450">
              <a:buFont typeface="Arial" panose="020B0604020202020204" pitchFamily="34" charset="0"/>
              <a:buChar char="•"/>
            </a:pPr>
            <a:r>
              <a:rPr lang="en-US"/>
              <a:t>for optimal and secure </a:t>
            </a:r>
            <a:r>
              <a:rPr lang="en-US" b="1"/>
              <a:t>application access</a:t>
            </a:r>
            <a:r>
              <a:rPr lang="en-US"/>
              <a:t>;</a:t>
            </a:r>
          </a:p>
          <a:p>
            <a:pPr marL="171450" indent="-171450">
              <a:buFont typeface="Arial" panose="020B0604020202020204" pitchFamily="34" charset="0"/>
              <a:buChar char="•"/>
            </a:pPr>
            <a:r>
              <a:rPr lang="en-US"/>
              <a:t>to do it for </a:t>
            </a:r>
            <a:r>
              <a:rPr lang="en-US" b="1"/>
              <a:t>all users </a:t>
            </a:r>
            <a:r>
              <a:rPr lang="en-US"/>
              <a:t>and at </a:t>
            </a:r>
            <a:r>
              <a:rPr lang="en-US" b="1"/>
              <a:t>any location</a:t>
            </a:r>
            <a:r>
              <a:rPr lang="en-US"/>
              <a:t>. </a:t>
            </a:r>
          </a:p>
          <a:p>
            <a:endParaRPr lang="en-US"/>
          </a:p>
          <a:p>
            <a:endParaRPr lang="en-US"/>
          </a:p>
          <a:p>
            <a:endParaRPr lang="en-US" b="0" i="1">
              <a:solidFill>
                <a:srgbClr val="806000"/>
              </a:solidFill>
              <a:effectLst/>
              <a:latin typeface="Segoe UI Light" panose="020B0502040204020203" pitchFamily="34" charset="0"/>
            </a:endParaRPr>
          </a:p>
        </p:txBody>
      </p:sp>
      <p:sp>
        <p:nvSpPr>
          <p:cNvPr id="4" name="Slide Number Placeholder 3"/>
          <p:cNvSpPr>
            <a:spLocks noGrp="1"/>
          </p:cNvSpPr>
          <p:nvPr>
            <p:ph type="sldNum" sz="quarter" idx="5"/>
          </p:nvPr>
        </p:nvSpPr>
        <p:spPr/>
        <p:txBody>
          <a:bodyPr/>
          <a:lstStyle/>
          <a:p>
            <a:fld id="{94ADEB05-5168-4175-A66F-2235235D7F1A}" type="slidenum">
              <a:rPr lang="en-US" smtClean="0"/>
              <a:t>8</a:t>
            </a:fld>
            <a:endParaRPr lang="en-US"/>
          </a:p>
        </p:txBody>
      </p:sp>
    </p:spTree>
    <p:extLst>
      <p:ext uri="{BB962C8B-B14F-4D97-AF65-F5344CB8AC3E}">
        <p14:creationId xmlns:p14="http://schemas.microsoft.com/office/powerpoint/2010/main" val="1382232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1C118-39AB-D8B2-215F-846E55FED5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38AADA-C518-140D-FC56-FACA2ABA6AF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FF62002-C1F5-916C-7F67-7B9CEA7AA8A2}"/>
              </a:ext>
            </a:extLst>
          </p:cNvPr>
          <p:cNvSpPr>
            <a:spLocks noGrp="1"/>
          </p:cNvSpPr>
          <p:nvPr>
            <p:ph type="body" idx="1"/>
          </p:nvPr>
        </p:nvSpPr>
        <p:spPr/>
        <p:txBody>
          <a:bodyPr/>
          <a:lstStyle/>
          <a:p>
            <a:r>
              <a:rPr lang="en-US" sz="1700"/>
              <a:t>So how do we move forward? Gartner says the solution is </a:t>
            </a:r>
            <a:r>
              <a:rPr lang="en-US" sz="1700" b="1"/>
              <a:t>convergence</a:t>
            </a:r>
            <a:r>
              <a:rPr lang="en-US" sz="1700"/>
              <a:t>. </a:t>
            </a:r>
          </a:p>
          <a:p>
            <a:r>
              <a:rPr lang="en-US" sz="1700"/>
              <a:t>Specifically, the convergence of networking and security into a single solution they call the Secure Access Service Edge (or SASE). </a:t>
            </a:r>
          </a:p>
          <a:p>
            <a:endParaRPr lang="en-US"/>
          </a:p>
          <a:p>
            <a:r>
              <a:rPr lang="en-US"/>
              <a:t>SASE is a new </a:t>
            </a:r>
            <a:r>
              <a:rPr lang="en-US" b="1"/>
              <a:t>architecture</a:t>
            </a:r>
            <a:r>
              <a:rPr lang="en-US"/>
              <a:t> that is built </a:t>
            </a:r>
          </a:p>
          <a:p>
            <a:pPr marL="171450" indent="-171450">
              <a:buFont typeface="Arial" panose="020B0604020202020204" pitchFamily="34" charset="0"/>
              <a:buChar char="•"/>
            </a:pPr>
            <a:r>
              <a:rPr lang="en-US"/>
              <a:t>to address today’s and tomorrow’s requirements </a:t>
            </a:r>
          </a:p>
          <a:p>
            <a:pPr marL="171450" indent="-171450">
              <a:buFont typeface="Arial" panose="020B0604020202020204" pitchFamily="34" charset="0"/>
              <a:buChar char="•"/>
            </a:pPr>
            <a:r>
              <a:rPr lang="en-US"/>
              <a:t>for optimal and secure </a:t>
            </a:r>
            <a:r>
              <a:rPr lang="en-US" b="1"/>
              <a:t>application access</a:t>
            </a:r>
            <a:r>
              <a:rPr lang="en-US"/>
              <a:t>;</a:t>
            </a:r>
          </a:p>
          <a:p>
            <a:pPr marL="171450" indent="-171450">
              <a:buFont typeface="Arial" panose="020B0604020202020204" pitchFamily="34" charset="0"/>
              <a:buChar char="•"/>
            </a:pPr>
            <a:r>
              <a:rPr lang="en-US"/>
              <a:t>to do it for </a:t>
            </a:r>
            <a:r>
              <a:rPr lang="en-US" b="1"/>
              <a:t>all users </a:t>
            </a:r>
            <a:r>
              <a:rPr lang="en-US"/>
              <a:t>and at </a:t>
            </a:r>
            <a:r>
              <a:rPr lang="en-US" b="1"/>
              <a:t>any location</a:t>
            </a:r>
            <a:r>
              <a:rPr lang="en-US"/>
              <a:t>. </a:t>
            </a:r>
          </a:p>
          <a:p>
            <a:endParaRPr lang="en-US"/>
          </a:p>
          <a:p>
            <a:endParaRPr lang="en-US"/>
          </a:p>
          <a:p>
            <a:endParaRPr lang="en-US" b="0" i="1">
              <a:solidFill>
                <a:srgbClr val="806000"/>
              </a:solidFill>
              <a:effectLst/>
              <a:latin typeface="Segoe UI Light" panose="020B0502040204020203" pitchFamily="34" charset="0"/>
            </a:endParaRPr>
          </a:p>
        </p:txBody>
      </p:sp>
      <p:sp>
        <p:nvSpPr>
          <p:cNvPr id="4" name="Slide Number Placeholder 3">
            <a:extLst>
              <a:ext uri="{FF2B5EF4-FFF2-40B4-BE49-F238E27FC236}">
                <a16:creationId xmlns:a16="http://schemas.microsoft.com/office/drawing/2014/main" id="{CE96990A-4970-2BC6-67F5-51ABD38E7AE9}"/>
              </a:ext>
            </a:extLst>
          </p:cNvPr>
          <p:cNvSpPr>
            <a:spLocks noGrp="1"/>
          </p:cNvSpPr>
          <p:nvPr>
            <p:ph type="sldNum" sz="quarter" idx="5"/>
          </p:nvPr>
        </p:nvSpPr>
        <p:spPr/>
        <p:txBody>
          <a:bodyPr/>
          <a:lstStyle/>
          <a:p>
            <a:fld id="{94ADEB05-5168-4175-A66F-2235235D7F1A}" type="slidenum">
              <a:rPr lang="en-US" smtClean="0"/>
              <a:t>9</a:t>
            </a:fld>
            <a:endParaRPr lang="en-US"/>
          </a:p>
        </p:txBody>
      </p:sp>
    </p:spTree>
    <p:extLst>
      <p:ext uri="{BB962C8B-B14F-4D97-AF65-F5344CB8AC3E}">
        <p14:creationId xmlns:p14="http://schemas.microsoft.com/office/powerpoint/2010/main" val="13652961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2A2C1-A7DB-1053-52BE-14E2B5F028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8C8089-F4AE-B658-25FA-90233AAF4D2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AF97198-7FA1-98A1-1770-97DB29501853}"/>
              </a:ext>
            </a:extLst>
          </p:cNvPr>
          <p:cNvSpPr>
            <a:spLocks noGrp="1"/>
          </p:cNvSpPr>
          <p:nvPr>
            <p:ph type="body" idx="1"/>
          </p:nvPr>
        </p:nvSpPr>
        <p:spPr/>
        <p:txBody>
          <a:bodyPr/>
          <a:lstStyle/>
          <a:p>
            <a:r>
              <a:rPr lang="en-US" sz="1700"/>
              <a:t>So how do we move forward? Gartner says the solution is </a:t>
            </a:r>
            <a:r>
              <a:rPr lang="en-US" sz="1700" b="1"/>
              <a:t>convergence</a:t>
            </a:r>
            <a:r>
              <a:rPr lang="en-US" sz="1700"/>
              <a:t>. </a:t>
            </a:r>
          </a:p>
          <a:p>
            <a:r>
              <a:rPr lang="en-US" sz="1700"/>
              <a:t>Specifically, the convergence of networking and security into a single solution they call the Secure Access Service Edge (or SASE). </a:t>
            </a:r>
          </a:p>
          <a:p>
            <a:endParaRPr lang="en-US"/>
          </a:p>
          <a:p>
            <a:r>
              <a:rPr lang="en-US"/>
              <a:t>SASE is a new </a:t>
            </a:r>
            <a:r>
              <a:rPr lang="en-US" b="1"/>
              <a:t>architecture</a:t>
            </a:r>
            <a:r>
              <a:rPr lang="en-US"/>
              <a:t> that is built </a:t>
            </a:r>
          </a:p>
          <a:p>
            <a:pPr marL="171450" indent="-171450">
              <a:buFont typeface="Arial" panose="020B0604020202020204" pitchFamily="34" charset="0"/>
              <a:buChar char="•"/>
            </a:pPr>
            <a:r>
              <a:rPr lang="en-US"/>
              <a:t>to address today’s and tomorrow’s requirements </a:t>
            </a:r>
          </a:p>
          <a:p>
            <a:pPr marL="171450" indent="-171450">
              <a:buFont typeface="Arial" panose="020B0604020202020204" pitchFamily="34" charset="0"/>
              <a:buChar char="•"/>
            </a:pPr>
            <a:r>
              <a:rPr lang="en-US"/>
              <a:t>for optimal and secure </a:t>
            </a:r>
            <a:r>
              <a:rPr lang="en-US" b="1"/>
              <a:t>application access</a:t>
            </a:r>
            <a:r>
              <a:rPr lang="en-US"/>
              <a:t>;</a:t>
            </a:r>
          </a:p>
          <a:p>
            <a:pPr marL="171450" indent="-171450">
              <a:buFont typeface="Arial" panose="020B0604020202020204" pitchFamily="34" charset="0"/>
              <a:buChar char="•"/>
            </a:pPr>
            <a:r>
              <a:rPr lang="en-US"/>
              <a:t>to do it for </a:t>
            </a:r>
            <a:r>
              <a:rPr lang="en-US" b="1"/>
              <a:t>all users </a:t>
            </a:r>
            <a:r>
              <a:rPr lang="en-US"/>
              <a:t>and at </a:t>
            </a:r>
            <a:r>
              <a:rPr lang="en-US" b="1"/>
              <a:t>any location</a:t>
            </a:r>
            <a:r>
              <a:rPr lang="en-US"/>
              <a:t>. </a:t>
            </a:r>
          </a:p>
          <a:p>
            <a:endParaRPr lang="en-US"/>
          </a:p>
          <a:p>
            <a:endParaRPr lang="en-US"/>
          </a:p>
          <a:p>
            <a:endParaRPr lang="en-US" b="0" i="1">
              <a:solidFill>
                <a:srgbClr val="806000"/>
              </a:solidFill>
              <a:effectLst/>
              <a:latin typeface="Segoe UI Light" panose="020B0502040204020203" pitchFamily="34" charset="0"/>
            </a:endParaRPr>
          </a:p>
        </p:txBody>
      </p:sp>
      <p:sp>
        <p:nvSpPr>
          <p:cNvPr id="4" name="Slide Number Placeholder 3">
            <a:extLst>
              <a:ext uri="{FF2B5EF4-FFF2-40B4-BE49-F238E27FC236}">
                <a16:creationId xmlns:a16="http://schemas.microsoft.com/office/drawing/2014/main" id="{E2457607-EA5E-3DA9-AB7E-177247A5A22D}"/>
              </a:ext>
            </a:extLst>
          </p:cNvPr>
          <p:cNvSpPr>
            <a:spLocks noGrp="1"/>
          </p:cNvSpPr>
          <p:nvPr>
            <p:ph type="sldNum" sz="quarter" idx="5"/>
          </p:nvPr>
        </p:nvSpPr>
        <p:spPr/>
        <p:txBody>
          <a:bodyPr/>
          <a:lstStyle/>
          <a:p>
            <a:fld id="{94ADEB05-5168-4175-A66F-2235235D7F1A}" type="slidenum">
              <a:rPr lang="en-US" smtClean="0"/>
              <a:t>10</a:t>
            </a:fld>
            <a:endParaRPr lang="en-US"/>
          </a:p>
        </p:txBody>
      </p:sp>
    </p:spTree>
    <p:extLst>
      <p:ext uri="{BB962C8B-B14F-4D97-AF65-F5344CB8AC3E}">
        <p14:creationId xmlns:p14="http://schemas.microsoft.com/office/powerpoint/2010/main" val="29687295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160CB-6E10-941D-391B-42A8BA4B8B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01F8D8-94D0-6495-1508-8585F124F3F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63318B4-9B50-00AE-CB24-FDF6096D2E28}"/>
              </a:ext>
            </a:extLst>
          </p:cNvPr>
          <p:cNvSpPr>
            <a:spLocks noGrp="1"/>
          </p:cNvSpPr>
          <p:nvPr>
            <p:ph type="body" idx="1"/>
          </p:nvPr>
        </p:nvSpPr>
        <p:spPr/>
        <p:txBody>
          <a:bodyPr/>
          <a:lstStyle/>
          <a:p>
            <a:r>
              <a:rPr lang="en-US" sz="1700"/>
              <a:t>So how do we move forward? Gartner says the solution is </a:t>
            </a:r>
            <a:r>
              <a:rPr lang="en-US" sz="1700" b="1"/>
              <a:t>convergence</a:t>
            </a:r>
            <a:r>
              <a:rPr lang="en-US" sz="1700"/>
              <a:t>. </a:t>
            </a:r>
          </a:p>
          <a:p>
            <a:r>
              <a:rPr lang="en-US" sz="1700"/>
              <a:t>Specifically, the convergence of networking and security into a single solution they call the Secure Access Service Edge (or SASE). </a:t>
            </a:r>
          </a:p>
          <a:p>
            <a:endParaRPr lang="en-US"/>
          </a:p>
          <a:p>
            <a:r>
              <a:rPr lang="en-US"/>
              <a:t>SASE is a new </a:t>
            </a:r>
            <a:r>
              <a:rPr lang="en-US" b="1"/>
              <a:t>architecture</a:t>
            </a:r>
            <a:r>
              <a:rPr lang="en-US"/>
              <a:t> that is built </a:t>
            </a:r>
          </a:p>
          <a:p>
            <a:pPr marL="171450" indent="-171450">
              <a:buFont typeface="Arial" panose="020B0604020202020204" pitchFamily="34" charset="0"/>
              <a:buChar char="•"/>
            </a:pPr>
            <a:r>
              <a:rPr lang="en-US"/>
              <a:t>to address today’s and tomorrow’s requirements </a:t>
            </a:r>
          </a:p>
          <a:p>
            <a:pPr marL="171450" indent="-171450">
              <a:buFont typeface="Arial" panose="020B0604020202020204" pitchFamily="34" charset="0"/>
              <a:buChar char="•"/>
            </a:pPr>
            <a:r>
              <a:rPr lang="en-US"/>
              <a:t>for optimal and secure </a:t>
            </a:r>
            <a:r>
              <a:rPr lang="en-US" b="1"/>
              <a:t>application access</a:t>
            </a:r>
            <a:r>
              <a:rPr lang="en-US"/>
              <a:t>;</a:t>
            </a:r>
          </a:p>
          <a:p>
            <a:pPr marL="171450" indent="-171450">
              <a:buFont typeface="Arial" panose="020B0604020202020204" pitchFamily="34" charset="0"/>
              <a:buChar char="•"/>
            </a:pPr>
            <a:r>
              <a:rPr lang="en-US"/>
              <a:t>to do it for </a:t>
            </a:r>
            <a:r>
              <a:rPr lang="en-US" b="1"/>
              <a:t>all users </a:t>
            </a:r>
            <a:r>
              <a:rPr lang="en-US"/>
              <a:t>and at </a:t>
            </a:r>
            <a:r>
              <a:rPr lang="en-US" b="1"/>
              <a:t>any location</a:t>
            </a:r>
            <a:r>
              <a:rPr lang="en-US"/>
              <a:t>. </a:t>
            </a:r>
          </a:p>
          <a:p>
            <a:endParaRPr lang="en-US"/>
          </a:p>
          <a:p>
            <a:endParaRPr lang="en-US"/>
          </a:p>
          <a:p>
            <a:endParaRPr lang="en-US" b="0" i="1">
              <a:solidFill>
                <a:srgbClr val="806000"/>
              </a:solidFill>
              <a:effectLst/>
              <a:latin typeface="Segoe UI Light" panose="020B0502040204020203" pitchFamily="34" charset="0"/>
            </a:endParaRPr>
          </a:p>
        </p:txBody>
      </p:sp>
      <p:sp>
        <p:nvSpPr>
          <p:cNvPr id="4" name="Slide Number Placeholder 3">
            <a:extLst>
              <a:ext uri="{FF2B5EF4-FFF2-40B4-BE49-F238E27FC236}">
                <a16:creationId xmlns:a16="http://schemas.microsoft.com/office/drawing/2014/main" id="{E2003D1F-C7AC-EBFB-431A-364DD1D27D17}"/>
              </a:ext>
            </a:extLst>
          </p:cNvPr>
          <p:cNvSpPr>
            <a:spLocks noGrp="1"/>
          </p:cNvSpPr>
          <p:nvPr>
            <p:ph type="sldNum" sz="quarter" idx="5"/>
          </p:nvPr>
        </p:nvSpPr>
        <p:spPr/>
        <p:txBody>
          <a:bodyPr/>
          <a:lstStyle/>
          <a:p>
            <a:fld id="{94ADEB05-5168-4175-A66F-2235235D7F1A}" type="slidenum">
              <a:rPr lang="en-US" smtClean="0"/>
              <a:t>11</a:t>
            </a:fld>
            <a:endParaRPr lang="en-US"/>
          </a:p>
        </p:txBody>
      </p:sp>
    </p:spTree>
    <p:extLst>
      <p:ext uri="{BB962C8B-B14F-4D97-AF65-F5344CB8AC3E}">
        <p14:creationId xmlns:p14="http://schemas.microsoft.com/office/powerpoint/2010/main" val="14054315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FA4F7-71F3-D377-D518-F9E437B367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4A3BE-7CBC-086F-454F-D39798EA013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38BE7E8-68EE-E019-0415-2F428AF08A11}"/>
              </a:ext>
            </a:extLst>
          </p:cNvPr>
          <p:cNvSpPr>
            <a:spLocks noGrp="1"/>
          </p:cNvSpPr>
          <p:nvPr>
            <p:ph type="body" idx="1"/>
          </p:nvPr>
        </p:nvSpPr>
        <p:spPr/>
        <p:txBody>
          <a:bodyPr/>
          <a:lstStyle/>
          <a:p>
            <a:r>
              <a:rPr lang="en-US" sz="1700"/>
              <a:t>So how do we move forward? Gartner says the solution is </a:t>
            </a:r>
            <a:r>
              <a:rPr lang="en-US" sz="1700" b="1"/>
              <a:t>convergence</a:t>
            </a:r>
            <a:r>
              <a:rPr lang="en-US" sz="1700"/>
              <a:t>. </a:t>
            </a:r>
          </a:p>
          <a:p>
            <a:r>
              <a:rPr lang="en-US" sz="1700"/>
              <a:t>Specifically, the convergence of networking and security into a single solution they call the Secure Access Service Edge (or SASE). </a:t>
            </a:r>
          </a:p>
          <a:p>
            <a:endParaRPr lang="en-US"/>
          </a:p>
          <a:p>
            <a:r>
              <a:rPr lang="en-US"/>
              <a:t>SASE is a new </a:t>
            </a:r>
            <a:r>
              <a:rPr lang="en-US" b="1"/>
              <a:t>architecture</a:t>
            </a:r>
            <a:r>
              <a:rPr lang="en-US"/>
              <a:t> that is built </a:t>
            </a:r>
          </a:p>
          <a:p>
            <a:pPr marL="171450" indent="-171450">
              <a:buFont typeface="Arial" panose="020B0604020202020204" pitchFamily="34" charset="0"/>
              <a:buChar char="•"/>
            </a:pPr>
            <a:r>
              <a:rPr lang="en-US"/>
              <a:t>to address today’s and tomorrow’s requirements </a:t>
            </a:r>
          </a:p>
          <a:p>
            <a:pPr marL="171450" indent="-171450">
              <a:buFont typeface="Arial" panose="020B0604020202020204" pitchFamily="34" charset="0"/>
              <a:buChar char="•"/>
            </a:pPr>
            <a:r>
              <a:rPr lang="en-US"/>
              <a:t>for optimal and secure </a:t>
            </a:r>
            <a:r>
              <a:rPr lang="en-US" b="1"/>
              <a:t>application access</a:t>
            </a:r>
            <a:r>
              <a:rPr lang="en-US"/>
              <a:t>;</a:t>
            </a:r>
          </a:p>
          <a:p>
            <a:pPr marL="171450" indent="-171450">
              <a:buFont typeface="Arial" panose="020B0604020202020204" pitchFamily="34" charset="0"/>
              <a:buChar char="•"/>
            </a:pPr>
            <a:r>
              <a:rPr lang="en-US"/>
              <a:t>to do it for </a:t>
            </a:r>
            <a:r>
              <a:rPr lang="en-US" b="1"/>
              <a:t>all users </a:t>
            </a:r>
            <a:r>
              <a:rPr lang="en-US"/>
              <a:t>and at </a:t>
            </a:r>
            <a:r>
              <a:rPr lang="en-US" b="1"/>
              <a:t>any location</a:t>
            </a:r>
            <a:r>
              <a:rPr lang="en-US"/>
              <a:t>. </a:t>
            </a:r>
          </a:p>
          <a:p>
            <a:endParaRPr lang="en-US"/>
          </a:p>
          <a:p>
            <a:endParaRPr lang="en-US"/>
          </a:p>
          <a:p>
            <a:endParaRPr lang="en-US" b="0" i="1">
              <a:solidFill>
                <a:srgbClr val="806000"/>
              </a:solidFill>
              <a:effectLst/>
              <a:latin typeface="Segoe UI Light" panose="020B0502040204020203" pitchFamily="34" charset="0"/>
            </a:endParaRPr>
          </a:p>
        </p:txBody>
      </p:sp>
      <p:sp>
        <p:nvSpPr>
          <p:cNvPr id="4" name="Slide Number Placeholder 3">
            <a:extLst>
              <a:ext uri="{FF2B5EF4-FFF2-40B4-BE49-F238E27FC236}">
                <a16:creationId xmlns:a16="http://schemas.microsoft.com/office/drawing/2014/main" id="{B4E59B3E-6C38-3F87-E61D-A032CE7C973E}"/>
              </a:ext>
            </a:extLst>
          </p:cNvPr>
          <p:cNvSpPr>
            <a:spLocks noGrp="1"/>
          </p:cNvSpPr>
          <p:nvPr>
            <p:ph type="sldNum" sz="quarter" idx="5"/>
          </p:nvPr>
        </p:nvSpPr>
        <p:spPr/>
        <p:txBody>
          <a:bodyPr/>
          <a:lstStyle/>
          <a:p>
            <a:fld id="{94ADEB05-5168-4175-A66F-2235235D7F1A}" type="slidenum">
              <a:rPr lang="en-US" smtClean="0"/>
              <a:t>12</a:t>
            </a:fld>
            <a:endParaRPr lang="en-US"/>
          </a:p>
        </p:txBody>
      </p:sp>
    </p:spTree>
    <p:extLst>
      <p:ext uri="{BB962C8B-B14F-4D97-AF65-F5344CB8AC3E}">
        <p14:creationId xmlns:p14="http://schemas.microsoft.com/office/powerpoint/2010/main" val="36949756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B4F5A-C481-AC58-2740-3957BAFB6B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0EFCC7-2907-6043-5F89-A4D34FA0B69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64503B1-A121-F5FE-4781-BB70F6F1674C}"/>
              </a:ext>
            </a:extLst>
          </p:cNvPr>
          <p:cNvSpPr>
            <a:spLocks noGrp="1"/>
          </p:cNvSpPr>
          <p:nvPr>
            <p:ph type="body" idx="1"/>
          </p:nvPr>
        </p:nvSpPr>
        <p:spPr/>
        <p:txBody>
          <a:bodyPr/>
          <a:lstStyle/>
          <a:p>
            <a:r>
              <a:rPr lang="en-US" sz="1700"/>
              <a:t>So how do we move forward? Gartner says the solution is </a:t>
            </a:r>
            <a:r>
              <a:rPr lang="en-US" sz="1700" b="1"/>
              <a:t>convergence</a:t>
            </a:r>
            <a:r>
              <a:rPr lang="en-US" sz="1700"/>
              <a:t>. </a:t>
            </a:r>
          </a:p>
          <a:p>
            <a:r>
              <a:rPr lang="en-US" sz="1700"/>
              <a:t>Specifically, the convergence of networking and security into a single solution they call the Secure Access Service Edge (or SASE). </a:t>
            </a:r>
          </a:p>
          <a:p>
            <a:endParaRPr lang="en-US"/>
          </a:p>
          <a:p>
            <a:r>
              <a:rPr lang="en-US"/>
              <a:t>SASE is a new </a:t>
            </a:r>
            <a:r>
              <a:rPr lang="en-US" b="1"/>
              <a:t>architecture</a:t>
            </a:r>
            <a:r>
              <a:rPr lang="en-US"/>
              <a:t> that is built </a:t>
            </a:r>
          </a:p>
          <a:p>
            <a:pPr marL="171450" indent="-171450">
              <a:buFont typeface="Arial" panose="020B0604020202020204" pitchFamily="34" charset="0"/>
              <a:buChar char="•"/>
            </a:pPr>
            <a:r>
              <a:rPr lang="en-US"/>
              <a:t>to address today’s and tomorrow’s requirements </a:t>
            </a:r>
          </a:p>
          <a:p>
            <a:pPr marL="171450" indent="-171450">
              <a:buFont typeface="Arial" panose="020B0604020202020204" pitchFamily="34" charset="0"/>
              <a:buChar char="•"/>
            </a:pPr>
            <a:r>
              <a:rPr lang="en-US"/>
              <a:t>for optimal and secure </a:t>
            </a:r>
            <a:r>
              <a:rPr lang="en-US" b="1"/>
              <a:t>application access</a:t>
            </a:r>
            <a:r>
              <a:rPr lang="en-US"/>
              <a:t>;</a:t>
            </a:r>
          </a:p>
          <a:p>
            <a:pPr marL="171450" indent="-171450">
              <a:buFont typeface="Arial" panose="020B0604020202020204" pitchFamily="34" charset="0"/>
              <a:buChar char="•"/>
            </a:pPr>
            <a:r>
              <a:rPr lang="en-US"/>
              <a:t>to do it for </a:t>
            </a:r>
            <a:r>
              <a:rPr lang="en-US" b="1"/>
              <a:t>all users </a:t>
            </a:r>
            <a:r>
              <a:rPr lang="en-US"/>
              <a:t>and at </a:t>
            </a:r>
            <a:r>
              <a:rPr lang="en-US" b="1"/>
              <a:t>any location</a:t>
            </a:r>
            <a:r>
              <a:rPr lang="en-US"/>
              <a:t>. </a:t>
            </a:r>
          </a:p>
          <a:p>
            <a:endParaRPr lang="en-US"/>
          </a:p>
          <a:p>
            <a:endParaRPr lang="en-US"/>
          </a:p>
          <a:p>
            <a:endParaRPr lang="en-US" b="0" i="1">
              <a:solidFill>
                <a:srgbClr val="806000"/>
              </a:solidFill>
              <a:effectLst/>
              <a:latin typeface="Segoe UI Light" panose="020B0502040204020203" pitchFamily="34" charset="0"/>
            </a:endParaRPr>
          </a:p>
        </p:txBody>
      </p:sp>
      <p:sp>
        <p:nvSpPr>
          <p:cNvPr id="4" name="Slide Number Placeholder 3">
            <a:extLst>
              <a:ext uri="{FF2B5EF4-FFF2-40B4-BE49-F238E27FC236}">
                <a16:creationId xmlns:a16="http://schemas.microsoft.com/office/drawing/2014/main" id="{D6B3BCA4-D79E-F946-A186-AF3D539EACBB}"/>
              </a:ext>
            </a:extLst>
          </p:cNvPr>
          <p:cNvSpPr>
            <a:spLocks noGrp="1"/>
          </p:cNvSpPr>
          <p:nvPr>
            <p:ph type="sldNum" sz="quarter" idx="5"/>
          </p:nvPr>
        </p:nvSpPr>
        <p:spPr/>
        <p:txBody>
          <a:bodyPr/>
          <a:lstStyle/>
          <a:p>
            <a:fld id="{94ADEB05-5168-4175-A66F-2235235D7F1A}" type="slidenum">
              <a:rPr lang="en-US" smtClean="0"/>
              <a:t>13</a:t>
            </a:fld>
            <a:endParaRPr lang="en-US"/>
          </a:p>
        </p:txBody>
      </p:sp>
    </p:spTree>
    <p:extLst>
      <p:ext uri="{BB962C8B-B14F-4D97-AF65-F5344CB8AC3E}">
        <p14:creationId xmlns:p14="http://schemas.microsoft.com/office/powerpoint/2010/main" val="23667849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8D558-A0BB-3981-4263-8DF8AA0080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2346D8-A438-7475-D9E6-6BE6C3C50CA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95176FA-F2BD-3599-9C2C-E844730FA456}"/>
              </a:ext>
            </a:extLst>
          </p:cNvPr>
          <p:cNvSpPr>
            <a:spLocks noGrp="1"/>
          </p:cNvSpPr>
          <p:nvPr>
            <p:ph type="body" idx="1"/>
          </p:nvPr>
        </p:nvSpPr>
        <p:spPr/>
        <p:txBody>
          <a:bodyPr/>
          <a:lstStyle/>
          <a:p>
            <a:r>
              <a:rPr lang="en-US" sz="1700"/>
              <a:t>So how do we move forward? Gartner says the solution is </a:t>
            </a:r>
            <a:r>
              <a:rPr lang="en-US" sz="1700" b="1"/>
              <a:t>convergence</a:t>
            </a:r>
            <a:r>
              <a:rPr lang="en-US" sz="1700"/>
              <a:t>. </a:t>
            </a:r>
          </a:p>
          <a:p>
            <a:r>
              <a:rPr lang="en-US" sz="1700"/>
              <a:t>Specifically, the convergence of networking and security into a single solution they call the Secure Access Service Edge (or SASE). </a:t>
            </a:r>
          </a:p>
          <a:p>
            <a:endParaRPr lang="en-US"/>
          </a:p>
          <a:p>
            <a:r>
              <a:rPr lang="en-US"/>
              <a:t>SASE is a new </a:t>
            </a:r>
            <a:r>
              <a:rPr lang="en-US" b="1"/>
              <a:t>architecture</a:t>
            </a:r>
            <a:r>
              <a:rPr lang="en-US"/>
              <a:t> that is built </a:t>
            </a:r>
          </a:p>
          <a:p>
            <a:pPr marL="171450" indent="-171450">
              <a:buFont typeface="Arial" panose="020B0604020202020204" pitchFamily="34" charset="0"/>
              <a:buChar char="•"/>
            </a:pPr>
            <a:r>
              <a:rPr lang="en-US"/>
              <a:t>to address today’s and tomorrow’s requirements </a:t>
            </a:r>
          </a:p>
          <a:p>
            <a:pPr marL="171450" indent="-171450">
              <a:buFont typeface="Arial" panose="020B0604020202020204" pitchFamily="34" charset="0"/>
              <a:buChar char="•"/>
            </a:pPr>
            <a:r>
              <a:rPr lang="en-US"/>
              <a:t>for optimal and secure </a:t>
            </a:r>
            <a:r>
              <a:rPr lang="en-US" b="1"/>
              <a:t>application access</a:t>
            </a:r>
            <a:r>
              <a:rPr lang="en-US"/>
              <a:t>;</a:t>
            </a:r>
          </a:p>
          <a:p>
            <a:pPr marL="171450" indent="-171450">
              <a:buFont typeface="Arial" panose="020B0604020202020204" pitchFamily="34" charset="0"/>
              <a:buChar char="•"/>
            </a:pPr>
            <a:r>
              <a:rPr lang="en-US"/>
              <a:t>to do it for </a:t>
            </a:r>
            <a:r>
              <a:rPr lang="en-US" b="1"/>
              <a:t>all users </a:t>
            </a:r>
            <a:r>
              <a:rPr lang="en-US"/>
              <a:t>and at </a:t>
            </a:r>
            <a:r>
              <a:rPr lang="en-US" b="1"/>
              <a:t>any location</a:t>
            </a:r>
            <a:r>
              <a:rPr lang="en-US"/>
              <a:t>. </a:t>
            </a:r>
          </a:p>
          <a:p>
            <a:endParaRPr lang="en-US"/>
          </a:p>
          <a:p>
            <a:endParaRPr lang="en-US"/>
          </a:p>
          <a:p>
            <a:endParaRPr lang="en-US" b="0" i="1">
              <a:solidFill>
                <a:srgbClr val="806000"/>
              </a:solidFill>
              <a:effectLst/>
              <a:latin typeface="Segoe UI Light" panose="020B0502040204020203" pitchFamily="34" charset="0"/>
            </a:endParaRPr>
          </a:p>
        </p:txBody>
      </p:sp>
      <p:sp>
        <p:nvSpPr>
          <p:cNvPr id="4" name="Slide Number Placeholder 3">
            <a:extLst>
              <a:ext uri="{FF2B5EF4-FFF2-40B4-BE49-F238E27FC236}">
                <a16:creationId xmlns:a16="http://schemas.microsoft.com/office/drawing/2014/main" id="{3BBD9F9C-54FF-ED05-8A89-E7C58BFFCF84}"/>
              </a:ext>
            </a:extLst>
          </p:cNvPr>
          <p:cNvSpPr>
            <a:spLocks noGrp="1"/>
          </p:cNvSpPr>
          <p:nvPr>
            <p:ph type="sldNum" sz="quarter" idx="5"/>
          </p:nvPr>
        </p:nvSpPr>
        <p:spPr/>
        <p:txBody>
          <a:bodyPr/>
          <a:lstStyle/>
          <a:p>
            <a:fld id="{94ADEB05-5168-4175-A66F-2235235D7F1A}" type="slidenum">
              <a:rPr lang="en-US" smtClean="0"/>
              <a:t>14</a:t>
            </a:fld>
            <a:endParaRPr lang="en-US"/>
          </a:p>
        </p:txBody>
      </p:sp>
    </p:spTree>
    <p:extLst>
      <p:ext uri="{BB962C8B-B14F-4D97-AF65-F5344CB8AC3E}">
        <p14:creationId xmlns:p14="http://schemas.microsoft.com/office/powerpoint/2010/main" val="28394331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41781-115C-5C43-2239-08D1176ADA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7FA21-A9DF-8633-5711-2A0CCA38664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69F2498-CCEC-D9DD-6154-6BFECD9C58DF}"/>
              </a:ext>
            </a:extLst>
          </p:cNvPr>
          <p:cNvSpPr>
            <a:spLocks noGrp="1"/>
          </p:cNvSpPr>
          <p:nvPr>
            <p:ph type="body" idx="1"/>
          </p:nvPr>
        </p:nvSpPr>
        <p:spPr/>
        <p:txBody>
          <a:bodyPr/>
          <a:lstStyle/>
          <a:p>
            <a:r>
              <a:rPr lang="en-US" sz="1700"/>
              <a:t>So how do we move forward? Gartner says the solution is </a:t>
            </a:r>
            <a:r>
              <a:rPr lang="en-US" sz="1700" b="1"/>
              <a:t>convergence</a:t>
            </a:r>
            <a:r>
              <a:rPr lang="en-US" sz="1700"/>
              <a:t>. </a:t>
            </a:r>
          </a:p>
          <a:p>
            <a:r>
              <a:rPr lang="en-US" sz="1700"/>
              <a:t>Specifically, the convergence of networking and security into a single solution they call the Secure Access Service Edge (or SASE). </a:t>
            </a:r>
          </a:p>
          <a:p>
            <a:endParaRPr lang="en-US"/>
          </a:p>
          <a:p>
            <a:r>
              <a:rPr lang="en-US"/>
              <a:t>SASE is a new </a:t>
            </a:r>
            <a:r>
              <a:rPr lang="en-US" b="1"/>
              <a:t>architecture</a:t>
            </a:r>
            <a:r>
              <a:rPr lang="en-US"/>
              <a:t> that is built </a:t>
            </a:r>
          </a:p>
          <a:p>
            <a:pPr marL="171450" indent="-171450">
              <a:buFont typeface="Arial" panose="020B0604020202020204" pitchFamily="34" charset="0"/>
              <a:buChar char="•"/>
            </a:pPr>
            <a:r>
              <a:rPr lang="en-US"/>
              <a:t>to address today’s and tomorrow’s requirements </a:t>
            </a:r>
          </a:p>
          <a:p>
            <a:pPr marL="171450" indent="-171450">
              <a:buFont typeface="Arial" panose="020B0604020202020204" pitchFamily="34" charset="0"/>
              <a:buChar char="•"/>
            </a:pPr>
            <a:r>
              <a:rPr lang="en-US"/>
              <a:t>for optimal and secure </a:t>
            </a:r>
            <a:r>
              <a:rPr lang="en-US" b="1"/>
              <a:t>application access</a:t>
            </a:r>
            <a:r>
              <a:rPr lang="en-US"/>
              <a:t>;</a:t>
            </a:r>
          </a:p>
          <a:p>
            <a:pPr marL="171450" indent="-171450">
              <a:buFont typeface="Arial" panose="020B0604020202020204" pitchFamily="34" charset="0"/>
              <a:buChar char="•"/>
            </a:pPr>
            <a:r>
              <a:rPr lang="en-US"/>
              <a:t>to do it for </a:t>
            </a:r>
            <a:r>
              <a:rPr lang="en-US" b="1"/>
              <a:t>all users </a:t>
            </a:r>
            <a:r>
              <a:rPr lang="en-US"/>
              <a:t>and at </a:t>
            </a:r>
            <a:r>
              <a:rPr lang="en-US" b="1"/>
              <a:t>any location</a:t>
            </a:r>
            <a:r>
              <a:rPr lang="en-US"/>
              <a:t>. </a:t>
            </a:r>
          </a:p>
          <a:p>
            <a:endParaRPr lang="en-US"/>
          </a:p>
          <a:p>
            <a:endParaRPr lang="en-US"/>
          </a:p>
          <a:p>
            <a:endParaRPr lang="en-US" b="0" i="1">
              <a:solidFill>
                <a:srgbClr val="806000"/>
              </a:solidFill>
              <a:effectLst/>
              <a:latin typeface="Segoe UI Light" panose="020B0502040204020203" pitchFamily="34" charset="0"/>
            </a:endParaRPr>
          </a:p>
        </p:txBody>
      </p:sp>
      <p:sp>
        <p:nvSpPr>
          <p:cNvPr id="4" name="Slide Number Placeholder 3">
            <a:extLst>
              <a:ext uri="{FF2B5EF4-FFF2-40B4-BE49-F238E27FC236}">
                <a16:creationId xmlns:a16="http://schemas.microsoft.com/office/drawing/2014/main" id="{8F364C6D-526D-D388-A025-F3D68428C6D6}"/>
              </a:ext>
            </a:extLst>
          </p:cNvPr>
          <p:cNvSpPr>
            <a:spLocks noGrp="1"/>
          </p:cNvSpPr>
          <p:nvPr>
            <p:ph type="sldNum" sz="quarter" idx="5"/>
          </p:nvPr>
        </p:nvSpPr>
        <p:spPr/>
        <p:txBody>
          <a:bodyPr/>
          <a:lstStyle/>
          <a:p>
            <a:fld id="{94ADEB05-5168-4175-A66F-2235235D7F1A}" type="slidenum">
              <a:rPr lang="en-US" smtClean="0"/>
              <a:t>15</a:t>
            </a:fld>
            <a:endParaRPr lang="en-US"/>
          </a:p>
        </p:txBody>
      </p:sp>
    </p:spTree>
    <p:extLst>
      <p:ext uri="{BB962C8B-B14F-4D97-AF65-F5344CB8AC3E}">
        <p14:creationId xmlns:p14="http://schemas.microsoft.com/office/powerpoint/2010/main" val="38153093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effectLst/>
                <a:latin typeface="Calibri" panose="020F0502020204030204" pitchFamily="34" charset="0"/>
                <a:ea typeface="Calibri" panose="020F0502020204030204" pitchFamily="34" charset="0"/>
                <a:cs typeface="Arial" panose="020B0604020202020204" pitchFamily="34" charset="0"/>
              </a:rPr>
              <a:t>Let’s take a closer look at the Cato SASE Cloud Platform. </a:t>
            </a:r>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 </a:t>
            </a:r>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[Click1]</a:t>
            </a:r>
          </a:p>
          <a:p>
            <a:pPr>
              <a:defRPr/>
            </a:pPr>
            <a:r>
              <a:rPr lang="en-US" sz="1200" b="1"/>
              <a:t>[Global Opps] </a:t>
            </a:r>
            <a:r>
              <a:rPr lang="en-US" sz="1200"/>
              <a:t>At the core, we built a global private backbone of </a:t>
            </a:r>
            <a:r>
              <a:rPr lang="en-US" sz="1200" err="1"/>
              <a:t>PoPs</a:t>
            </a:r>
            <a:r>
              <a:rPr lang="en-US" sz="1200"/>
              <a:t> delivering our networking and security capabilities. The </a:t>
            </a:r>
            <a:r>
              <a:rPr lang="en-US" sz="1200" err="1"/>
              <a:t>PoPs</a:t>
            </a:r>
            <a:r>
              <a:rPr lang="en-US" sz="1200"/>
              <a:t> are interconnected with redundant Tier-1 providers that provide consistent and predictable long-haul latency, jitter, and packet loss. The </a:t>
            </a:r>
            <a:r>
              <a:rPr lang="en-US" sz="1200" err="1"/>
              <a:t>PoP</a:t>
            </a:r>
            <a:r>
              <a:rPr lang="en-US" sz="1200"/>
              <a:t> software selects the best route across providers, for maximum uptime and best end-to-end performance. This design offers an immediate improvement in network quality over the unpredictable Public internet, and a significant cost reduction over MPLS. </a:t>
            </a:r>
          </a:p>
          <a:p>
            <a:pPr>
              <a:defRPr/>
            </a:pPr>
            <a:r>
              <a:rPr lang="en-US" sz="1200" b="1"/>
              <a:t>[Regional Opps</a:t>
            </a:r>
            <a:r>
              <a:rPr lang="en-US" sz="1200"/>
              <a:t>] At the core of Cato there is a cloud-first delivering our networking and security capabilities. Our </a:t>
            </a:r>
            <a:r>
              <a:rPr lang="en-US" sz="1200" err="1"/>
              <a:t>PoPs</a:t>
            </a:r>
            <a:r>
              <a:rPr lang="en-US" sz="1200"/>
              <a:t> are located in Top-Tier datacenters with full redundancy to deliver all our capabilities to all locations and users. You never need to buy, install, size, scale or upgrade any appliances. We seamlessly scale the service and ensure maximum performance and optimal security posture no matter how much traffic you need to support. </a:t>
            </a:r>
          </a:p>
          <a:p>
            <a:endParaRPr lang="en-US"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[Click2]</a:t>
            </a:r>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The </a:t>
            </a:r>
            <a:r>
              <a:rPr lang="en-US" sz="1200" err="1">
                <a:effectLst/>
                <a:latin typeface="Calibri" panose="020F0502020204030204" pitchFamily="34" charset="0"/>
                <a:ea typeface="Calibri" panose="020F0502020204030204" pitchFamily="34" charset="0"/>
                <a:cs typeface="Arial" panose="020B0604020202020204" pitchFamily="34" charset="0"/>
              </a:rPr>
              <a:t>PoPs</a:t>
            </a:r>
            <a:r>
              <a:rPr lang="en-US" sz="1200">
                <a:effectLst/>
                <a:latin typeface="Calibri" panose="020F0502020204030204" pitchFamily="34" charset="0"/>
                <a:ea typeface="Calibri" panose="020F0502020204030204" pitchFamily="34" charset="0"/>
                <a:cs typeface="Arial" panose="020B0604020202020204" pitchFamily="34" charset="0"/>
              </a:rPr>
              <a:t> run a converged software stack, the Single Pass Cloud Engine software, or SPACE for short, that performs all networking and security processing in the cloud.</a:t>
            </a:r>
          </a:p>
          <a:p>
            <a:r>
              <a:rPr lang="en-US" sz="1200">
                <a:effectLst/>
                <a:latin typeface="Calibri" panose="020F0502020204030204" pitchFamily="34" charset="0"/>
                <a:ea typeface="Calibri" panose="020F0502020204030204" pitchFamily="34" charset="0"/>
                <a:cs typeface="Arial" panose="020B0604020202020204" pitchFamily="34" charset="0"/>
              </a:rPr>
              <a:t>The SPACE is built from 2 parts: The first is a high throughput packet processing engine and the second is a threat prevention and data protection engine. </a:t>
            </a:r>
          </a:p>
          <a:p>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[Click3]</a:t>
            </a:r>
          </a:p>
          <a:p>
            <a:pPr>
              <a:spcBef>
                <a:spcPts val="0"/>
              </a:spcBef>
              <a:spcAft>
                <a:spcPts val="0"/>
              </a:spcAft>
            </a:pPr>
            <a:endParaRPr lang="en-US">
              <a:effectLst/>
            </a:endParaRPr>
          </a:p>
          <a:p>
            <a:pPr marL="0" marR="0" lvl="0" indent="0">
              <a:lnSpc>
                <a:spcPct val="107000"/>
              </a:lnSpc>
              <a:spcBef>
                <a:spcPts val="0"/>
              </a:spcBef>
              <a:spcAft>
                <a:spcPts val="800"/>
              </a:spcAft>
              <a:buSzPts val="1000"/>
              <a:buFont typeface="Arial" panose="020B0604020202020204" pitchFamily="34" charset="0"/>
              <a:buNone/>
              <a:tabLst>
                <a:tab pos="9144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The SPACE is natively built to process multi-gig traffic flows from all enterprise edges including clouds, datacenters, branches, users and devices. It supports all ports and protocols across WAN, Internet, and Cloud traffic. </a:t>
            </a:r>
            <a:r>
              <a:rPr lang="en-US" sz="1100" b="1" kern="100">
                <a:effectLst/>
                <a:latin typeface="Aptos" panose="020B0004020202020204" pitchFamily="34" charset="0"/>
                <a:ea typeface="Aptos" panose="020B0004020202020204" pitchFamily="34" charset="0"/>
                <a:cs typeface="Times New Roman" panose="02020603050405020304" pitchFamily="18" charset="0"/>
              </a:rPr>
              <a:t>Digital Experience Monitoring, traffic acceleration and routing optimization help ensure performance and productivity</a:t>
            </a:r>
            <a:r>
              <a:rPr lang="en-US" sz="1100" kern="100">
                <a:effectLst/>
                <a:latin typeface="Aptos" panose="020B0004020202020204" pitchFamily="34" charset="0"/>
                <a:ea typeface="Aptos" panose="020B0004020202020204" pitchFamily="34" charset="0"/>
                <a:cs typeface="Times New Roman" panose="02020603050405020304" pitchFamily="18" charset="0"/>
              </a:rPr>
              <a:t>. Decryption is applied as needed without any impact on the user experience.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[Click4]</a:t>
            </a:r>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Multiple security policies are uniformly enforced through SPACE.  FWaaS provides end-to-end segmentation of traffic. SWG protects users against phishing and malicious web sites. IPS, DNS Security, NGAM and Sandbox stop advanced threats and provide deep visibility into advanced malware . ZTNA provides secure remote access. CASB/DLP control access to risky cloud applications and prevent sensitive data loss. Finally, Remote Browser Isolation (RBI) opens web pages remotely and streams safe content to the browser, so users can browse unknown sites safely. </a:t>
            </a:r>
            <a:r>
              <a:rPr lang="en-US" sz="1200" b="0" i="0">
                <a:effectLst/>
                <a:latin typeface="Calibri" panose="020F0502020204030204" pitchFamily="34" charset="0"/>
                <a:ea typeface="Calibri" panose="020F0502020204030204" pitchFamily="34" charset="0"/>
                <a:cs typeface="Arial" panose="020B0604020202020204" pitchFamily="34" charset="0"/>
              </a:rPr>
              <a:t>Finally, IoT/OT provides device discovery, classification, policy enforcement and threat prevention for critical IoT and OT devices.</a:t>
            </a:r>
          </a:p>
          <a:p>
            <a:endParaRPr lang="en-US" sz="1200" b="0" i="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All these capabilities run on all traffic at the same time to minimize security overhead and leverage the rich context extracted for every packet. </a:t>
            </a:r>
          </a:p>
          <a:p>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[Click5]</a:t>
            </a:r>
            <a:endParaRPr lang="en-IL" sz="1200">
              <a:effectLst/>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Customers connect all network edges to the cloud network using secure tunnels. Physical locations connect via Cato Socket Edge SD-WAN devices.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The Cato Socket manages multiple last mile connections in active/active mode. It steers traffic to the best last mile path based on underlying link behavior. The socket applies quality of service prioritization based on application and user awareness. And, it protects critical apps like voice, video, and remote desktops against packet loss. Cato Sockets also allow local firewalling for LAN segmentation.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Cato provides a broad set of policies out of the box that optimize traffic for the most common requirements, with the ability to configure highly granular policies for specific needs.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Cato Sockets also support site-to-site MPLS and Internet connections to accommodate customer-specific requirements.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Customers that already have other edge SD-WAN devices or don’t care for edge SD-WAN capabilities, can establish IPSec tunnels from existing devices to the nearest </a:t>
            </a:r>
            <a:r>
              <a:rPr lang="en-US" sz="1200" err="1"/>
              <a:t>PoP</a:t>
            </a:r>
            <a:r>
              <a:rPr lang="en-US" sz="1200"/>
              <a:t> and get the network and security benefits of the Cato Cloud with a zero on-site footprint.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[Click6]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ffectLst/>
                <a:latin typeface="Calibri" panose="020F0502020204030204" pitchFamily="34" charset="0"/>
                <a:ea typeface="Calibri" panose="020F0502020204030204" pitchFamily="34" charset="0"/>
                <a:cs typeface="Arial" panose="020B0604020202020204" pitchFamily="34" charset="0"/>
              </a:rPr>
              <a:t>Cato discovers, classifies, and enables secure access for IoT devices on the network. Access policies based on device attributes ensure IoT devices have a secure experience on the network. IoT devices also benefit from the threat prevention capabilities to enhance protection for these environments.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effectLst/>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ffectLst/>
                <a:latin typeface="Calibri" panose="020F0502020204030204" pitchFamily="34" charset="0"/>
                <a:ea typeface="Calibri" panose="020F0502020204030204" pitchFamily="34" charset="0"/>
                <a:cs typeface="Arial" panose="020B0604020202020204" pitchFamily="34" charset="0"/>
              </a:rPr>
              <a:t>[Click7]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ffectLst/>
                <a:latin typeface="Calibri" panose="020F0502020204030204" pitchFamily="34" charset="0"/>
                <a:ea typeface="Calibri" panose="020F0502020204030204" pitchFamily="34" charset="0"/>
                <a:cs typeface="Arial" panose="020B0604020202020204" pitchFamily="34" charset="0"/>
              </a:rPr>
              <a:t>Cato enables universal zero trust network for users working from remote and in the office.</a:t>
            </a:r>
          </a:p>
          <a:p>
            <a:pPr>
              <a:defRPr/>
            </a:pPr>
            <a:r>
              <a:rPr lang="en-US">
                <a:effectLst/>
              </a:rPr>
              <a:t>A remote user uses the Cato Client </a:t>
            </a:r>
            <a:r>
              <a:rPr lang="en-US"/>
              <a:t>, browser extension, </a:t>
            </a:r>
            <a:r>
              <a:rPr lang="en-US">
                <a:effectLst/>
              </a:rPr>
              <a:t>or </a:t>
            </a:r>
            <a:r>
              <a:rPr lang="en-US"/>
              <a:t>clientless web portal</a:t>
            </a:r>
            <a:r>
              <a:rPr lang="en-US">
                <a:effectLst/>
              </a:rPr>
              <a:t>, to </a:t>
            </a:r>
            <a:r>
              <a:rPr lang="en-US" sz="1200">
                <a:effectLst/>
                <a:latin typeface="+mn-lt"/>
                <a:ea typeface="Calibri"/>
                <a:cs typeface="Calibri"/>
              </a:rPr>
              <a:t>securely connect to any application, on premises or in the cloud, from laptops, tablets, and smartphones. </a:t>
            </a:r>
            <a:r>
              <a:rPr lang="en-US">
                <a:latin typeface="+mn-lt"/>
                <a:ea typeface="Calibri"/>
                <a:cs typeface="Calibri"/>
              </a:rPr>
              <a:t> </a:t>
            </a:r>
            <a:r>
              <a:rPr lang="en-US" sz="1200">
                <a:effectLst/>
                <a:latin typeface="+mn-lt"/>
                <a:ea typeface="Calibri"/>
                <a:cs typeface="Calibri"/>
              </a:rPr>
              <a:t>When remote, users dynamically connects to the nearest </a:t>
            </a:r>
            <a:r>
              <a:rPr lang="en-US" sz="1200" err="1">
                <a:effectLst/>
                <a:latin typeface="+mn-lt"/>
                <a:ea typeface="Calibri"/>
                <a:cs typeface="Calibri"/>
              </a:rPr>
              <a:t>PoP</a:t>
            </a:r>
            <a:r>
              <a:rPr lang="en-US" sz="1200">
                <a:effectLst/>
                <a:latin typeface="+mn-lt"/>
                <a:ea typeface="Calibri"/>
                <a:cs typeface="Calibri"/>
              </a:rPr>
              <a:t> as they move from place to place. Traffic is consistently optimized and secure wherever they go. </a:t>
            </a:r>
            <a:endParaRPr lang="en-IL" sz="1200">
              <a:effectLst/>
              <a:latin typeface="+mn-lt"/>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ffectLst/>
                <a:latin typeface="Calibri" panose="020F0502020204030204" pitchFamily="34" charset="0"/>
                <a:ea typeface="Calibri" panose="020F0502020204030204" pitchFamily="34" charset="0"/>
                <a:cs typeface="Arial" panose="020B0604020202020204" pitchFamily="34" charset="0"/>
              </a:rPr>
              <a:t>Endpoint protection capabilities provided by Cato help govern both network and endpoint security in a single SASE platform.</a:t>
            </a:r>
          </a:p>
          <a:p>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[Click8]</a:t>
            </a:r>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Cloud datacenters connect using virtual SD-WAN device (the “Cato </a:t>
            </a:r>
            <a:r>
              <a:rPr lang="en-US" sz="1200" err="1">
                <a:effectLst/>
                <a:latin typeface="Calibri" panose="020F0502020204030204" pitchFamily="34" charset="0"/>
                <a:ea typeface="Calibri" panose="020F0502020204030204" pitchFamily="34" charset="0"/>
                <a:cs typeface="Arial" panose="020B0604020202020204" pitchFamily="34" charset="0"/>
              </a:rPr>
              <a:t>vSocket</a:t>
            </a:r>
            <a:r>
              <a:rPr lang="en-US" sz="1200">
                <a:effectLst/>
                <a:latin typeface="Calibri" panose="020F0502020204030204" pitchFamily="34" charset="0"/>
                <a:ea typeface="Calibri" panose="020F0502020204030204" pitchFamily="34" charset="0"/>
                <a:cs typeface="Arial" panose="020B0604020202020204" pitchFamily="34" charset="0"/>
              </a:rPr>
              <a:t>”), a cloud interconnect, or over a standard IPsec tunnel. </a:t>
            </a:r>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The cloud datacenter becomes an integral part of the network, and its traffic is optimized and secured in the same way as all other traffic. </a:t>
            </a:r>
          </a:p>
          <a:p>
            <a:r>
              <a:rPr lang="en-US" sz="1200">
                <a:effectLst/>
                <a:latin typeface="Calibri" panose="020F0502020204030204" pitchFamily="34" charset="0"/>
                <a:ea typeface="Calibri" panose="020F0502020204030204" pitchFamily="34" charset="0"/>
                <a:cs typeface="Arial" panose="020B0604020202020204" pitchFamily="34" charset="0"/>
              </a:rPr>
              <a:t>There is no need to use premium cloud connection services like Azure ExpressRoute or AWS Direct Connect or virtual firewalls at the cloud edge.  Cato provides full visibility, optimization, and control over outgoing and incoming cloud DC traffic.</a:t>
            </a:r>
          </a:p>
          <a:p>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[Click9]</a:t>
            </a:r>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Optimization, inspection and policy enforcement are inherently applied for all cloud applications traffic. </a:t>
            </a:r>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Application-specific traffic from any edge is automatically detected. Traffic can be forwarded, based on a network rule, over the Cato global backbone to the </a:t>
            </a:r>
            <a:r>
              <a:rPr lang="en-US" sz="1200" err="1">
                <a:effectLst/>
                <a:latin typeface="Calibri" panose="020F0502020204030204" pitchFamily="34" charset="0"/>
                <a:ea typeface="Calibri" panose="020F0502020204030204" pitchFamily="34" charset="0"/>
                <a:cs typeface="Arial" panose="020B0604020202020204" pitchFamily="34" charset="0"/>
              </a:rPr>
              <a:t>PoP</a:t>
            </a:r>
            <a:r>
              <a:rPr lang="en-US" sz="1200">
                <a:effectLst/>
                <a:latin typeface="Calibri" panose="020F0502020204030204" pitchFamily="34" charset="0"/>
                <a:ea typeface="Calibri" panose="020F0502020204030204" pitchFamily="34" charset="0"/>
                <a:cs typeface="Arial" panose="020B0604020202020204" pitchFamily="34" charset="0"/>
              </a:rPr>
              <a:t> closest to the cloud instance serving the business. This smart egress capability optimizes the user experience. An optional dedicated IP supports restricting traffic to a corporate source for SaaS applications that support this capability. </a:t>
            </a:r>
          </a:p>
          <a:p>
            <a:endParaRPr lang="en-US"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[Click10]</a:t>
            </a:r>
          </a:p>
          <a:p>
            <a:r>
              <a:rPr lang="en-US" sz="1200" kern="1200">
                <a:solidFill>
                  <a:schemeClr val="tx1"/>
                </a:solidFill>
                <a:effectLst/>
                <a:latin typeface="+mn-lt"/>
                <a:ea typeface="+mn-ea"/>
                <a:cs typeface="+mn-cs"/>
              </a:rPr>
              <a:t>An AI layer, XOps, leverages AI and ML trained models to provide customers with the insights and actions they need to quickly detect and resolve network and security issues.</a:t>
            </a:r>
          </a:p>
          <a:p>
            <a:endParaRPr lang="en-GB"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XOps transforms millions of raw events into consumable incident stories—correlated across users, devices, and locations. These stories provide full context and are prioritized by risk, enabling security teams to act quickly, reduce alert fatigue, and respond with confidence. </a:t>
            </a:r>
          </a:p>
          <a:p>
            <a:endParaRPr lang="en-GB"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XOps provides Cato’s security (XDR) and network (AIOps) capabilities.  It automatically processes events from all licensed Cato products, add-ons, and connected third-party tools with no manual setup required.  </a:t>
            </a:r>
            <a:endParaRPr lang="en-GB" sz="1200" kern="1200">
              <a:solidFill>
                <a:schemeClr val="tx1"/>
              </a:solidFill>
              <a:effectLst/>
              <a:latin typeface="+mn-lt"/>
              <a:ea typeface="+mn-ea"/>
              <a:cs typeface="+mn-cs"/>
            </a:endParaRPr>
          </a:p>
          <a:p>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[Click11]</a:t>
            </a:r>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a:t>Finally, Cato offers full visibility and control via a flexible management model. </a:t>
            </a:r>
          </a:p>
          <a:p>
            <a:r>
              <a:rPr lang="en-US"/>
              <a:t>The Cato Management Applications supports granular access control, ability to configure all policies, and access to detailed analytics and event logs.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ffectLst/>
                <a:latin typeface="Calibri" panose="020F0502020204030204" pitchFamily="34" charset="0"/>
                <a:ea typeface="Calibri" panose="020F0502020204030204" pitchFamily="34" charset="0"/>
                <a:cs typeface="Arial" panose="020B0604020202020204" pitchFamily="34" charset="0"/>
              </a:rPr>
              <a:t>All of Cato’s software is fully maintained, enhanced, and secured by Cato and our Engineering, SOC and NOC teams, delivering an automated posture management to our customers.</a:t>
            </a:r>
          </a:p>
          <a:p>
            <a:r>
              <a:rPr lang="en-US"/>
              <a:t>The account can be self-managed by the enterprise, and Cato and its partners can deliver a fully managed service for customers who want it. </a:t>
            </a:r>
          </a:p>
          <a:p>
            <a:endParaRPr lang="en-US"/>
          </a:p>
          <a:p>
            <a:r>
              <a:rPr lang="en-US"/>
              <a:t>[closing]</a:t>
            </a:r>
          </a:p>
          <a:p>
            <a:r>
              <a:rPr lang="en-US"/>
              <a:t>The Cato SASE Cloud is a future proof platform for the digital business. As needed, Cato can be gradually deployed across use cases while coexisting with your current network and security infrastructure. </a:t>
            </a:r>
          </a:p>
          <a:p>
            <a:endParaRPr lang="en-US" sz="1200">
              <a:effectLst/>
              <a:latin typeface="Calibri" panose="020F0502020204030204" pitchFamily="34" charset="0"/>
              <a:cs typeface="Arial" panose="020B0604020202020204" pitchFamily="34" charset="0"/>
            </a:endParaRPr>
          </a:p>
          <a:p>
            <a:r>
              <a:rPr lang="en-US" sz="1200">
                <a:effectLst/>
                <a:latin typeface="Calibri" panose="020F0502020204030204" pitchFamily="34" charset="0"/>
                <a:cs typeface="Arial" panose="020B0604020202020204" pitchFamily="34" charset="0"/>
              </a:rPr>
              <a:t>Ultimately, customers often replace networking and security point solutions deployed in their infrastructure with Cato’s converged platform. They realize material benefits by optimizing spend, improving agility and responsiveness to the business, and enhancing security posture. </a:t>
            </a:r>
          </a:p>
          <a:p>
            <a:endParaRPr lang="en-US"/>
          </a:p>
          <a:p>
            <a:endParaRPr lang="en-US"/>
          </a:p>
        </p:txBody>
      </p:sp>
      <p:sp>
        <p:nvSpPr>
          <p:cNvPr id="4" name="Slide Number Placeholder 3"/>
          <p:cNvSpPr>
            <a:spLocks noGrp="1"/>
          </p:cNvSpPr>
          <p:nvPr>
            <p:ph type="sldNum" sz="quarter" idx="5"/>
          </p:nvPr>
        </p:nvSpPr>
        <p:spPr/>
        <p:txBody>
          <a:bodyPr/>
          <a:lstStyle/>
          <a:p>
            <a:fld id="{074F026F-5CEC-4793-872F-B7F99F4A2DB3}" type="slidenum">
              <a:rPr lang="en-US" smtClean="0"/>
              <a:t>16</a:t>
            </a:fld>
            <a:endParaRPr lang="en-US"/>
          </a:p>
        </p:txBody>
      </p:sp>
    </p:spTree>
    <p:extLst>
      <p:ext uri="{BB962C8B-B14F-4D97-AF65-F5344CB8AC3E}">
        <p14:creationId xmlns:p14="http://schemas.microsoft.com/office/powerpoint/2010/main" val="38550198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9681D-0BBD-AB8F-31E8-60B43CCF0B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A5164-B088-6D74-B018-6336D390C6A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09F0D9D-5CFE-B419-A97A-560F847E3B99}"/>
              </a:ext>
            </a:extLst>
          </p:cNvPr>
          <p:cNvSpPr>
            <a:spLocks noGrp="1"/>
          </p:cNvSpPr>
          <p:nvPr>
            <p:ph type="body" idx="1"/>
          </p:nvPr>
        </p:nvSpPr>
        <p:spPr/>
        <p:txBody>
          <a:bodyPr/>
          <a:lstStyle/>
          <a:p>
            <a:endParaRPr lang="en-IE"/>
          </a:p>
        </p:txBody>
      </p:sp>
      <p:sp>
        <p:nvSpPr>
          <p:cNvPr id="4" name="Slide Number Placeholder 3">
            <a:extLst>
              <a:ext uri="{FF2B5EF4-FFF2-40B4-BE49-F238E27FC236}">
                <a16:creationId xmlns:a16="http://schemas.microsoft.com/office/drawing/2014/main" id="{D46E1608-ECB9-1155-870B-258C8A8C78C6}"/>
              </a:ext>
            </a:extLst>
          </p:cNvPr>
          <p:cNvSpPr>
            <a:spLocks noGrp="1"/>
          </p:cNvSpPr>
          <p:nvPr>
            <p:ph type="sldNum" sz="quarter" idx="5"/>
          </p:nvPr>
        </p:nvSpPr>
        <p:spPr/>
        <p:txBody>
          <a:bodyPr/>
          <a:lstStyle/>
          <a:p>
            <a:fld id="{94ADEB05-5168-4175-A66F-2235235D7F1A}" type="slidenum">
              <a:rPr lang="en-US" smtClean="0"/>
              <a:t>17</a:t>
            </a:fld>
            <a:endParaRPr lang="en-US"/>
          </a:p>
        </p:txBody>
      </p:sp>
    </p:spTree>
    <p:extLst>
      <p:ext uri="{BB962C8B-B14F-4D97-AF65-F5344CB8AC3E}">
        <p14:creationId xmlns:p14="http://schemas.microsoft.com/office/powerpoint/2010/main" val="33155611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b="1"/>
              <a:t>Cato SASE – Visibility Capabilities Demo Sequence</a:t>
            </a:r>
          </a:p>
          <a:p>
            <a:br>
              <a:rPr lang="en-IE"/>
            </a:br>
            <a:endParaRPr lang="en-IE"/>
          </a:p>
          <a:p>
            <a:r>
              <a:rPr lang="en-IE" b="1"/>
              <a:t>1. Global Overview: Instant Unified Visibility</a:t>
            </a:r>
          </a:p>
          <a:p>
            <a:r>
              <a:rPr lang="en-IE"/>
              <a:t>Purpose: Show the “single pane of glass” foundation.</a:t>
            </a:r>
          </a:p>
          <a:p>
            <a:r>
              <a:rPr lang="en-IE" b="1"/>
              <a:t>Capabilities to Demo</a:t>
            </a:r>
          </a:p>
          <a:p>
            <a:r>
              <a:rPr lang="en-IE" b="1"/>
              <a:t>Global Backbone Map &amp; Real-Time Topology</a:t>
            </a:r>
            <a:endParaRPr lang="en-IE"/>
          </a:p>
          <a:p>
            <a:pPr lvl="1"/>
            <a:r>
              <a:rPr lang="en-IE"/>
              <a:t>All sites, remote users, and cloud </a:t>
            </a:r>
            <a:r>
              <a:rPr lang="en-IE" err="1"/>
              <a:t>datacenters</a:t>
            </a:r>
            <a:r>
              <a:rPr lang="en-IE"/>
              <a:t> on one real-time map.</a:t>
            </a:r>
          </a:p>
          <a:p>
            <a:pPr lvl="1"/>
            <a:r>
              <a:rPr lang="en-IE"/>
              <a:t>Real-time link quality, latency, packet loss, jitter.</a:t>
            </a:r>
          </a:p>
          <a:p>
            <a:r>
              <a:rPr lang="en-IE" b="1"/>
              <a:t>Unified Dashboard for Network + Security + Access</a:t>
            </a:r>
            <a:endParaRPr lang="en-IE"/>
          </a:p>
          <a:p>
            <a:pPr lvl="1"/>
            <a:r>
              <a:rPr lang="en-IE"/>
              <a:t>Single timeline for network events, security events, and connectivity.</a:t>
            </a:r>
          </a:p>
          <a:p>
            <a:pPr lvl="1"/>
            <a:r>
              <a:rPr lang="en-IE"/>
              <a:t>Combined health overview of sites, edges, SDP users, IPS/SWG events.</a:t>
            </a:r>
          </a:p>
          <a:p>
            <a:r>
              <a:rPr lang="en-IE" b="1"/>
              <a:t>Live Event Streams</a:t>
            </a:r>
            <a:endParaRPr lang="en-IE"/>
          </a:p>
          <a:p>
            <a:pPr lvl="1"/>
            <a:r>
              <a:rPr lang="en-IE"/>
              <a:t>All events feeding into one console, filterable by category.</a:t>
            </a:r>
          </a:p>
          <a:p>
            <a:pPr lvl="1"/>
            <a:r>
              <a:rPr lang="en-IE"/>
              <a:t>No pivoting to multiple products.</a:t>
            </a:r>
          </a:p>
          <a:p>
            <a:br>
              <a:rPr lang="en-IE"/>
            </a:br>
            <a:endParaRPr lang="en-IE"/>
          </a:p>
          <a:p>
            <a:r>
              <a:rPr lang="en-IE" b="1"/>
              <a:t>2. User &amp; Site Visibility: Identity-Driven Insights</a:t>
            </a:r>
          </a:p>
          <a:p>
            <a:r>
              <a:rPr lang="en-IE"/>
              <a:t>Purpose: Show how identity is the anchor for visibility.</a:t>
            </a:r>
          </a:p>
          <a:p>
            <a:r>
              <a:rPr lang="en-IE" b="1"/>
              <a:t>Capabilities</a:t>
            </a:r>
          </a:p>
          <a:p>
            <a:r>
              <a:rPr lang="en-IE" b="1"/>
              <a:t>User Directory &amp; Session Visibility</a:t>
            </a:r>
            <a:endParaRPr lang="en-IE"/>
          </a:p>
          <a:p>
            <a:pPr lvl="1"/>
            <a:r>
              <a:rPr lang="en-IE"/>
              <a:t>Real-time list of users, devices, active sessions, bandwidth usage.</a:t>
            </a:r>
          </a:p>
          <a:p>
            <a:pPr lvl="1"/>
            <a:r>
              <a:rPr lang="en-IE"/>
              <a:t>Identity-linked security events (URL filtering, IPS, malware).</a:t>
            </a:r>
          </a:p>
          <a:p>
            <a:r>
              <a:rPr lang="en-IE" b="1"/>
              <a:t>Site &amp; Edge Device Health</a:t>
            </a:r>
            <a:endParaRPr lang="en-IE"/>
          </a:p>
          <a:p>
            <a:pPr lvl="1"/>
            <a:r>
              <a:rPr lang="en-IE"/>
              <a:t>Tunnel status, performance trends, throughput charts.</a:t>
            </a:r>
          </a:p>
          <a:p>
            <a:pPr lvl="1"/>
            <a:r>
              <a:rPr lang="en-IE"/>
              <a:t>SLA metrics directly tied to Cato’s backbone.</a:t>
            </a:r>
          </a:p>
          <a:p>
            <a:r>
              <a:rPr lang="en-IE" b="1"/>
              <a:t>Geographic Distribution of Access</a:t>
            </a:r>
            <a:endParaRPr lang="en-IE"/>
          </a:p>
          <a:p>
            <a:pPr lvl="1"/>
            <a:r>
              <a:rPr lang="en-IE"/>
              <a:t>User login heatmaps + anomaly detection (impossible travel).</a:t>
            </a:r>
          </a:p>
          <a:p>
            <a:br>
              <a:rPr lang="en-IE"/>
            </a:br>
            <a:endParaRPr lang="en-IE"/>
          </a:p>
          <a:p>
            <a:r>
              <a:rPr lang="en-IE" b="1"/>
              <a:t>3. Application &amp; Traffic Visibility: Layer-7 Context</a:t>
            </a:r>
          </a:p>
          <a:p>
            <a:r>
              <a:rPr lang="en-IE"/>
              <a:t>Purpose: Show deep visibility without tapping multiple tools.</a:t>
            </a:r>
          </a:p>
          <a:p>
            <a:r>
              <a:rPr lang="en-IE" b="1"/>
              <a:t>Capabilities</a:t>
            </a:r>
          </a:p>
          <a:p>
            <a:r>
              <a:rPr lang="en-IE" b="1"/>
              <a:t>Application Analytics</a:t>
            </a:r>
            <a:endParaRPr lang="en-IE"/>
          </a:p>
          <a:p>
            <a:pPr lvl="1"/>
            <a:r>
              <a:rPr lang="en-IE"/>
              <a:t>Top apps by usage, performance, risk level.</a:t>
            </a:r>
          </a:p>
          <a:p>
            <a:pPr lvl="1"/>
            <a:r>
              <a:rPr lang="en-IE"/>
              <a:t>Business vs shadow IT visibility.</a:t>
            </a:r>
          </a:p>
          <a:p>
            <a:pPr lvl="1"/>
            <a:r>
              <a:rPr lang="en-IE"/>
              <a:t>Application dependency charts.</a:t>
            </a:r>
          </a:p>
          <a:p>
            <a:r>
              <a:rPr lang="en-IE" b="1"/>
              <a:t>Traffic Flow Analytics</a:t>
            </a:r>
            <a:endParaRPr lang="en-IE"/>
          </a:p>
          <a:p>
            <a:pPr lvl="1"/>
            <a:r>
              <a:rPr lang="en-IE"/>
              <a:t>Live flows with identity + device + app + security policy context.</a:t>
            </a:r>
          </a:p>
          <a:p>
            <a:pPr lvl="1"/>
            <a:r>
              <a:rPr lang="en-IE"/>
              <a:t>Cross-filter by user → site → app → security event instantly.</a:t>
            </a:r>
          </a:p>
          <a:p>
            <a:r>
              <a:rPr lang="en-IE" b="1"/>
              <a:t>QoS/Class of Service Observability</a:t>
            </a:r>
            <a:endParaRPr lang="en-IE"/>
          </a:p>
          <a:p>
            <a:pPr lvl="1"/>
            <a:r>
              <a:rPr lang="en-IE"/>
              <a:t>Visibility into priority queues, congestion, and shaping.</a:t>
            </a:r>
          </a:p>
          <a:p>
            <a:br>
              <a:rPr lang="en-IE"/>
            </a:br>
            <a:endParaRPr lang="en-IE"/>
          </a:p>
          <a:p>
            <a:r>
              <a:rPr lang="en-IE" b="1"/>
              <a:t>4. Security Visibility: Threat Detection in Context</a:t>
            </a:r>
          </a:p>
          <a:p>
            <a:r>
              <a:rPr lang="en-IE"/>
              <a:t>Purpose: Highlight consolidation of SWG, CASB, NGFW, IPS, and ZTNA.</a:t>
            </a:r>
          </a:p>
          <a:p>
            <a:r>
              <a:rPr lang="en-IE" b="1"/>
              <a:t>Capabilities</a:t>
            </a:r>
          </a:p>
          <a:p>
            <a:r>
              <a:rPr lang="en-IE" b="1"/>
              <a:t>Security Event Timeline</a:t>
            </a:r>
            <a:endParaRPr lang="en-IE"/>
          </a:p>
          <a:p>
            <a:pPr lvl="1"/>
            <a:r>
              <a:rPr lang="en-IE"/>
              <a:t>IPS, DNS security, SWG, CASB anomalies all in one timeline.</a:t>
            </a:r>
          </a:p>
          <a:p>
            <a:r>
              <a:rPr lang="en-IE" b="1"/>
              <a:t>Threat Dashboard</a:t>
            </a:r>
            <a:endParaRPr lang="en-IE"/>
          </a:p>
          <a:p>
            <a:pPr lvl="1"/>
            <a:r>
              <a:rPr lang="en-IE"/>
              <a:t>Threat actors, top attackers, GEO heatmap, MITRE mapping.</a:t>
            </a:r>
          </a:p>
          <a:p>
            <a:pPr lvl="1"/>
            <a:r>
              <a:rPr lang="en-IE"/>
              <a:t>Attack campaigns correlated across sites/users.</a:t>
            </a:r>
          </a:p>
          <a:p>
            <a:r>
              <a:rPr lang="en-IE" b="1"/>
              <a:t>Policy Hit Visualization</a:t>
            </a:r>
            <a:endParaRPr lang="en-IE"/>
          </a:p>
          <a:p>
            <a:pPr lvl="1"/>
            <a:r>
              <a:rPr lang="en-IE"/>
              <a:t>Policy match tracking for FWaaS, SWG, CASB, ZTNA.</a:t>
            </a:r>
          </a:p>
          <a:p>
            <a:pPr lvl="1"/>
            <a:r>
              <a:rPr lang="en-IE"/>
              <a:t>Visibility into </a:t>
            </a:r>
            <a:r>
              <a:rPr lang="en-IE" i="1"/>
              <a:t>why</a:t>
            </a:r>
            <a:r>
              <a:rPr lang="en-IE"/>
              <a:t> traffic was allowed/blocked.</a:t>
            </a:r>
          </a:p>
          <a:p>
            <a:br>
              <a:rPr lang="en-IE"/>
            </a:br>
            <a:endParaRPr lang="en-IE"/>
          </a:p>
          <a:p>
            <a:r>
              <a:rPr lang="en-IE" b="1"/>
              <a:t>5. Policy Visibility &amp; Configuration Consistency</a:t>
            </a:r>
          </a:p>
          <a:p>
            <a:r>
              <a:rPr lang="en-IE"/>
              <a:t>Purpose: Demonstrate </a:t>
            </a:r>
            <a:r>
              <a:rPr lang="en-IE" i="1"/>
              <a:t>the power of a single policy engine</a:t>
            </a:r>
            <a:r>
              <a:rPr lang="en-IE"/>
              <a:t>.</a:t>
            </a:r>
          </a:p>
          <a:p>
            <a:r>
              <a:rPr lang="en-IE" b="1"/>
              <a:t>Capabilities</a:t>
            </a:r>
          </a:p>
          <a:p>
            <a:r>
              <a:rPr lang="en-IE" b="1"/>
              <a:t>Unified Policy Framework</a:t>
            </a:r>
            <a:endParaRPr lang="en-IE"/>
          </a:p>
          <a:p>
            <a:pPr lvl="1"/>
            <a:r>
              <a:rPr lang="en-IE"/>
              <a:t>One interface for FWaaS, SWG, CASB, ZTNA, QoS, routing.</a:t>
            </a:r>
          </a:p>
          <a:p>
            <a:pPr lvl="1"/>
            <a:r>
              <a:rPr lang="en-IE"/>
              <a:t>Consistent rule structure across security and network.</a:t>
            </a:r>
          </a:p>
          <a:p>
            <a:r>
              <a:rPr lang="en-IE" b="1"/>
              <a:t>Policy Impact View</a:t>
            </a:r>
            <a:endParaRPr lang="en-IE"/>
          </a:p>
          <a:p>
            <a:pPr lvl="1"/>
            <a:r>
              <a:rPr lang="en-IE"/>
              <a:t>Real-time identification of what rules apply to a user/site/app.</a:t>
            </a:r>
          </a:p>
          <a:p>
            <a:pPr lvl="1"/>
            <a:r>
              <a:rPr lang="en-IE"/>
              <a:t>“Explain this decision” visibility without jumping to other tools.</a:t>
            </a:r>
          </a:p>
          <a:p>
            <a:r>
              <a:rPr lang="en-IE" b="1"/>
              <a:t>Change Management &amp; Revision History</a:t>
            </a:r>
            <a:endParaRPr lang="en-IE"/>
          </a:p>
          <a:p>
            <a:pPr lvl="1"/>
            <a:r>
              <a:rPr lang="en-IE"/>
              <a:t>Timeline of all policy changes across modules.</a:t>
            </a:r>
          </a:p>
          <a:p>
            <a:pPr lvl="1"/>
            <a:r>
              <a:rPr lang="en-IE"/>
              <a:t>One-click diff and rollback.</a:t>
            </a:r>
          </a:p>
          <a:p>
            <a:br>
              <a:rPr lang="en-IE"/>
            </a:br>
            <a:endParaRPr lang="en-IE"/>
          </a:p>
          <a:p>
            <a:r>
              <a:rPr lang="en-IE" b="1"/>
              <a:t>6. Analytics: Deep Reporting Without Context Switching</a:t>
            </a:r>
          </a:p>
          <a:p>
            <a:r>
              <a:rPr lang="en-IE"/>
              <a:t>Purpose: Prove that analytics are integrated—not spread across products.</a:t>
            </a:r>
          </a:p>
          <a:p>
            <a:r>
              <a:rPr lang="en-IE" b="1"/>
              <a:t>Capabilities</a:t>
            </a:r>
          </a:p>
          <a:p>
            <a:r>
              <a:rPr lang="en-IE" b="1"/>
              <a:t>Network Analytics</a:t>
            </a:r>
            <a:endParaRPr lang="en-IE"/>
          </a:p>
          <a:p>
            <a:pPr lvl="1"/>
            <a:r>
              <a:rPr lang="en-IE"/>
              <a:t>End-to-end path metrics: LAN → Edge → </a:t>
            </a:r>
            <a:r>
              <a:rPr lang="en-IE" err="1"/>
              <a:t>PoP</a:t>
            </a:r>
            <a:r>
              <a:rPr lang="en-IE"/>
              <a:t> → Destination.</a:t>
            </a:r>
          </a:p>
          <a:p>
            <a:pPr lvl="1"/>
            <a:r>
              <a:rPr lang="en-IE"/>
              <a:t>SLA compliance and historical performance trends.</a:t>
            </a:r>
          </a:p>
          <a:p>
            <a:r>
              <a:rPr lang="en-IE" b="1"/>
              <a:t>Security Analytics</a:t>
            </a:r>
            <a:endParaRPr lang="en-IE"/>
          </a:p>
          <a:p>
            <a:pPr lvl="1"/>
            <a:r>
              <a:rPr lang="en-IE"/>
              <a:t>Threat trends, malware types, app misuse analytics.</a:t>
            </a:r>
          </a:p>
          <a:p>
            <a:pPr lvl="1"/>
            <a:r>
              <a:rPr lang="en-IE" err="1"/>
              <a:t>Behavioral</a:t>
            </a:r>
            <a:r>
              <a:rPr lang="en-IE"/>
              <a:t> anomalies across users and devices.</a:t>
            </a:r>
          </a:p>
          <a:p>
            <a:r>
              <a:rPr lang="en-IE" b="1"/>
              <a:t>Access Analytics</a:t>
            </a:r>
            <a:endParaRPr lang="en-IE"/>
          </a:p>
          <a:p>
            <a:pPr lvl="1"/>
            <a:r>
              <a:rPr lang="en-IE"/>
              <a:t>ZTNA session logs + failure reasons in a unified drill-down.</a:t>
            </a:r>
          </a:p>
          <a:p>
            <a:br>
              <a:rPr lang="en-IE"/>
            </a:br>
            <a:endParaRPr lang="en-IE"/>
          </a:p>
          <a:p>
            <a:r>
              <a:rPr lang="en-IE" b="1"/>
              <a:t>7. Troubleshooting Workflows: Click-Through Investigation</a:t>
            </a:r>
          </a:p>
          <a:p>
            <a:r>
              <a:rPr lang="en-IE"/>
              <a:t>Purpose: Show how Cato reduces MTTD/MTTR via unified context.</a:t>
            </a:r>
          </a:p>
          <a:p>
            <a:r>
              <a:rPr lang="en-IE" b="1"/>
              <a:t>Capabilities</a:t>
            </a:r>
          </a:p>
          <a:p>
            <a:r>
              <a:rPr lang="en-IE" b="1"/>
              <a:t>Drill-Down from Alert → User → Traffic → Device</a:t>
            </a:r>
            <a:endParaRPr lang="en-IE"/>
          </a:p>
          <a:p>
            <a:pPr lvl="1"/>
            <a:r>
              <a:rPr lang="en-IE"/>
              <a:t>One-click pivot from an IPS event into user session details, device info, application flows, and connectivity.</a:t>
            </a:r>
          </a:p>
          <a:p>
            <a:r>
              <a:rPr lang="en-IE" b="1"/>
              <a:t>Route &amp; Performance Tracing</a:t>
            </a:r>
            <a:endParaRPr lang="en-IE"/>
          </a:p>
          <a:p>
            <a:pPr lvl="1"/>
            <a:r>
              <a:rPr lang="en-IE"/>
              <a:t>Cato traceroute with backbone visibility.</a:t>
            </a:r>
          </a:p>
          <a:p>
            <a:pPr lvl="1"/>
            <a:r>
              <a:rPr lang="en-IE"/>
              <a:t>Historical quality for every segment of the path.</a:t>
            </a:r>
          </a:p>
          <a:p>
            <a:r>
              <a:rPr lang="en-IE" b="1"/>
              <a:t>Event Correlation Engine</a:t>
            </a:r>
            <a:endParaRPr lang="en-IE"/>
          </a:p>
          <a:p>
            <a:pPr lvl="1"/>
            <a:r>
              <a:rPr lang="en-IE"/>
              <a:t>Automatic grouping of events across modules (network + security + access).</a:t>
            </a:r>
          </a:p>
          <a:p>
            <a:pPr lvl="1"/>
            <a:r>
              <a:rPr lang="en-IE"/>
              <a:t>No need to correlate manually or use SIEM.</a:t>
            </a:r>
          </a:p>
          <a:p>
            <a:r>
              <a:rPr lang="en-IE" b="1"/>
              <a:t>Packet Capture from the Cloud</a:t>
            </a:r>
            <a:endParaRPr lang="en-IE"/>
          </a:p>
          <a:p>
            <a:pPr lvl="1"/>
            <a:r>
              <a:rPr lang="en-IE"/>
              <a:t>On-demand PCAP directly from the </a:t>
            </a:r>
            <a:r>
              <a:rPr lang="en-IE" err="1"/>
              <a:t>PoP</a:t>
            </a:r>
            <a:r>
              <a:rPr lang="en-IE"/>
              <a:t> or tunnel.</a:t>
            </a:r>
          </a:p>
          <a:p>
            <a:br>
              <a:rPr lang="en-IE"/>
            </a:br>
            <a:endParaRPr lang="en-IE"/>
          </a:p>
          <a:p>
            <a:r>
              <a:rPr lang="en-IE" b="1"/>
              <a:t>8. Incident Response: Integrated Case Workflow</a:t>
            </a:r>
          </a:p>
          <a:p>
            <a:r>
              <a:rPr lang="en-IE"/>
              <a:t>Purpose: Show platform consolidation replacing SIEM/SOAR pivoting.</a:t>
            </a:r>
          </a:p>
          <a:p>
            <a:r>
              <a:rPr lang="en-IE" b="1"/>
              <a:t>Capabilities</a:t>
            </a:r>
          </a:p>
          <a:p>
            <a:r>
              <a:rPr lang="en-IE" b="1"/>
              <a:t>Incident view with all related signals</a:t>
            </a:r>
            <a:endParaRPr lang="en-IE"/>
          </a:p>
          <a:p>
            <a:pPr lvl="1"/>
            <a:r>
              <a:rPr lang="en-IE"/>
              <a:t>IPS hits, malware alerts, access failures, anomalies in one correlated incident.</a:t>
            </a:r>
          </a:p>
          <a:p>
            <a:r>
              <a:rPr lang="en-IE" b="1"/>
              <a:t>Automated MITRE ATT&amp;CK mapping</a:t>
            </a:r>
            <a:endParaRPr lang="en-IE"/>
          </a:p>
          <a:p>
            <a:pPr lvl="1"/>
            <a:r>
              <a:rPr lang="en-IE"/>
              <a:t>Understand attack type without external tools.</a:t>
            </a:r>
          </a:p>
          <a:p>
            <a:r>
              <a:rPr lang="en-IE" b="1"/>
              <a:t>Built-in remediation</a:t>
            </a:r>
            <a:endParaRPr lang="en-IE"/>
          </a:p>
          <a:p>
            <a:pPr lvl="1"/>
            <a:r>
              <a:rPr lang="en-IE"/>
              <a:t>Block user, isolate device, update policy—all instantly.</a:t>
            </a:r>
          </a:p>
          <a:p>
            <a:r>
              <a:rPr lang="en-IE" b="1"/>
              <a:t>Evidence timeline</a:t>
            </a:r>
            <a:endParaRPr lang="en-IE"/>
          </a:p>
          <a:p>
            <a:pPr lvl="1"/>
            <a:r>
              <a:rPr lang="en-IE"/>
              <a:t>Ties together network performance events + security events.</a:t>
            </a:r>
          </a:p>
          <a:p>
            <a:br>
              <a:rPr lang="en-IE"/>
            </a:br>
            <a:endParaRPr lang="en-IE"/>
          </a:p>
          <a:p>
            <a:r>
              <a:rPr lang="en-IE" b="1"/>
              <a:t>9. Operational Efficiency: Proving Reduced MTTD / MTTR</a:t>
            </a:r>
          </a:p>
          <a:p>
            <a:r>
              <a:rPr lang="en-IE"/>
              <a:t>Purpose: Show measurable impact of consolidation.</a:t>
            </a:r>
          </a:p>
          <a:p>
            <a:r>
              <a:rPr lang="en-IE" b="1"/>
              <a:t>Talking Points + Demo Moments</a:t>
            </a:r>
          </a:p>
          <a:p>
            <a:r>
              <a:rPr lang="en-IE" b="1"/>
              <a:t>Zero context switching</a:t>
            </a:r>
            <a:endParaRPr lang="en-IE"/>
          </a:p>
          <a:p>
            <a:pPr lvl="1"/>
            <a:r>
              <a:rPr lang="en-IE"/>
              <a:t>No separate consoles for SD-WAN, ZTNA, CASB, FWaaS, IPS, DLP, monitoring, or troubleshooting.</a:t>
            </a:r>
          </a:p>
          <a:p>
            <a:r>
              <a:rPr lang="en-IE" b="1"/>
              <a:t>Correlation reduces MTTD</a:t>
            </a:r>
            <a:endParaRPr lang="en-IE"/>
          </a:p>
          <a:p>
            <a:pPr lvl="1"/>
            <a:r>
              <a:rPr lang="en-IE"/>
              <a:t>The platform surfaces incidents without manual investigation.</a:t>
            </a:r>
          </a:p>
          <a:p>
            <a:r>
              <a:rPr lang="en-IE" b="1"/>
              <a:t>Integrated tools reduce MTTR</a:t>
            </a:r>
            <a:endParaRPr lang="en-IE"/>
          </a:p>
          <a:p>
            <a:pPr lvl="1"/>
            <a:r>
              <a:rPr lang="en-IE"/>
              <a:t>Troubleshoot → capture → fix in one place.</a:t>
            </a:r>
          </a:p>
          <a:p>
            <a:r>
              <a:rPr lang="en-IE" b="1"/>
              <a:t>Consistent policy reduces errors</a:t>
            </a:r>
            <a:endParaRPr lang="en-IE"/>
          </a:p>
          <a:p>
            <a:pPr lvl="1"/>
            <a:r>
              <a:rPr lang="en-IE"/>
              <a:t>No duplicate rule bases or cross-product sync issues.</a:t>
            </a:r>
          </a:p>
          <a:p>
            <a:br>
              <a:rPr lang="en-IE"/>
            </a:br>
            <a:endParaRPr lang="en-IE"/>
          </a:p>
          <a:p>
            <a:r>
              <a:rPr lang="en-IE" b="1"/>
              <a:t>Summary: Demo Flow in One Sentence</a:t>
            </a:r>
          </a:p>
          <a:p>
            <a:r>
              <a:rPr lang="en-IE" b="1"/>
              <a:t>Start with global visibility → drill down by identity (user/site/app) → show unified policies → </a:t>
            </a:r>
            <a:r>
              <a:rPr lang="en-IE" b="1" err="1"/>
              <a:t>analyze</a:t>
            </a:r>
            <a:r>
              <a:rPr lang="en-IE" b="1"/>
              <a:t> traffic and threats → troubleshoot in-context → resolve incidents—all within one platform.</a:t>
            </a:r>
            <a:endParaRPr lang="en-IE"/>
          </a:p>
          <a:p>
            <a:endParaRPr lang="en-IE"/>
          </a:p>
        </p:txBody>
      </p:sp>
      <p:sp>
        <p:nvSpPr>
          <p:cNvPr id="4" name="Slide Number Placeholder 3"/>
          <p:cNvSpPr>
            <a:spLocks noGrp="1"/>
          </p:cNvSpPr>
          <p:nvPr>
            <p:ph type="sldNum" sz="quarter" idx="5"/>
          </p:nvPr>
        </p:nvSpPr>
        <p:spPr/>
        <p:txBody>
          <a:bodyPr/>
          <a:lstStyle/>
          <a:p>
            <a:fld id="{94ADEB05-5168-4175-A66F-2235235D7F1A}" type="slidenum">
              <a:rPr lang="en-US" smtClean="0"/>
              <a:t>18</a:t>
            </a:fld>
            <a:endParaRPr lang="en-US"/>
          </a:p>
        </p:txBody>
      </p:sp>
    </p:spTree>
    <p:extLst>
      <p:ext uri="{BB962C8B-B14F-4D97-AF65-F5344CB8AC3E}">
        <p14:creationId xmlns:p14="http://schemas.microsoft.com/office/powerpoint/2010/main" val="15928295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FBE44-0AAD-CB8A-03FF-E1418C1BE8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7641E2-0863-5CB2-3CDD-4F79D50D7F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59D63B-EF6D-5B0F-D326-74ADFBC5516A}"/>
              </a:ext>
            </a:extLst>
          </p:cNvPr>
          <p:cNvSpPr>
            <a:spLocks noGrp="1"/>
          </p:cNvSpPr>
          <p:nvPr>
            <p:ph type="body" idx="1"/>
          </p:nvPr>
        </p:nvSpPr>
        <p:spPr/>
        <p:txBody>
          <a:bodyPr/>
          <a:lstStyle/>
          <a:p>
            <a:r>
              <a:rPr lang="en-IE" b="1"/>
              <a:t>Cato SASE – Visibility Capabilities Demo Sequence</a:t>
            </a:r>
          </a:p>
          <a:p>
            <a:br>
              <a:rPr lang="en-IE"/>
            </a:br>
            <a:endParaRPr lang="en-IE"/>
          </a:p>
          <a:p>
            <a:r>
              <a:rPr lang="en-IE" b="1"/>
              <a:t>1. Global Overview: Instant Unified Visibility</a:t>
            </a:r>
          </a:p>
          <a:p>
            <a:r>
              <a:rPr lang="en-IE"/>
              <a:t>Purpose: Show the “single pane of glass” foundation.</a:t>
            </a:r>
          </a:p>
          <a:p>
            <a:r>
              <a:rPr lang="en-IE" b="1"/>
              <a:t>Capabilities to Demo</a:t>
            </a:r>
          </a:p>
          <a:p>
            <a:r>
              <a:rPr lang="en-IE" b="1"/>
              <a:t>Global Backbone Map &amp; Real-Time Topology</a:t>
            </a:r>
            <a:endParaRPr lang="en-IE"/>
          </a:p>
          <a:p>
            <a:pPr lvl="1"/>
            <a:r>
              <a:rPr lang="en-IE"/>
              <a:t>All sites, remote users, and cloud </a:t>
            </a:r>
            <a:r>
              <a:rPr lang="en-IE" err="1"/>
              <a:t>datacenters</a:t>
            </a:r>
            <a:r>
              <a:rPr lang="en-IE"/>
              <a:t> on one real-time map.</a:t>
            </a:r>
          </a:p>
          <a:p>
            <a:pPr lvl="1"/>
            <a:r>
              <a:rPr lang="en-IE"/>
              <a:t>Real-time link quality, latency, packet loss, jitter.</a:t>
            </a:r>
          </a:p>
          <a:p>
            <a:r>
              <a:rPr lang="en-IE" b="1"/>
              <a:t>Unified Dashboard for Network + Security + Access</a:t>
            </a:r>
            <a:endParaRPr lang="en-IE"/>
          </a:p>
          <a:p>
            <a:pPr lvl="1"/>
            <a:r>
              <a:rPr lang="en-IE"/>
              <a:t>Single timeline for network events, security events, and connectivity.</a:t>
            </a:r>
          </a:p>
          <a:p>
            <a:pPr lvl="1"/>
            <a:r>
              <a:rPr lang="en-IE"/>
              <a:t>Combined health overview of sites, edges, SDP users, IPS/SWG events.</a:t>
            </a:r>
          </a:p>
          <a:p>
            <a:r>
              <a:rPr lang="en-IE" b="1"/>
              <a:t>Live Event Streams</a:t>
            </a:r>
            <a:endParaRPr lang="en-IE"/>
          </a:p>
          <a:p>
            <a:pPr lvl="1"/>
            <a:r>
              <a:rPr lang="en-IE"/>
              <a:t>All events feeding into one console, filterable by category.</a:t>
            </a:r>
          </a:p>
          <a:p>
            <a:pPr lvl="1"/>
            <a:r>
              <a:rPr lang="en-IE"/>
              <a:t>No pivoting to multiple products.</a:t>
            </a:r>
          </a:p>
          <a:p>
            <a:br>
              <a:rPr lang="en-IE"/>
            </a:br>
            <a:endParaRPr lang="en-IE"/>
          </a:p>
          <a:p>
            <a:r>
              <a:rPr lang="en-IE" b="1"/>
              <a:t>2. User &amp; Site Visibility: Identity-Driven Insights</a:t>
            </a:r>
          </a:p>
          <a:p>
            <a:r>
              <a:rPr lang="en-IE"/>
              <a:t>Purpose: Show how identity is the anchor for visibility.</a:t>
            </a:r>
          </a:p>
          <a:p>
            <a:r>
              <a:rPr lang="en-IE" b="1"/>
              <a:t>Capabilities</a:t>
            </a:r>
          </a:p>
          <a:p>
            <a:r>
              <a:rPr lang="en-IE" b="1"/>
              <a:t>User Directory &amp; Session Visibility</a:t>
            </a:r>
            <a:endParaRPr lang="en-IE"/>
          </a:p>
          <a:p>
            <a:pPr lvl="1"/>
            <a:r>
              <a:rPr lang="en-IE"/>
              <a:t>Real-time list of users, devices, active sessions, bandwidth usage.</a:t>
            </a:r>
          </a:p>
          <a:p>
            <a:pPr lvl="1"/>
            <a:r>
              <a:rPr lang="en-IE"/>
              <a:t>Identity-linked security events (URL filtering, IPS, malware).</a:t>
            </a:r>
          </a:p>
          <a:p>
            <a:r>
              <a:rPr lang="en-IE" b="1"/>
              <a:t>Site &amp; Edge Device Health</a:t>
            </a:r>
            <a:endParaRPr lang="en-IE"/>
          </a:p>
          <a:p>
            <a:pPr lvl="1"/>
            <a:r>
              <a:rPr lang="en-IE"/>
              <a:t>Tunnel status, performance trends, throughput charts.</a:t>
            </a:r>
          </a:p>
          <a:p>
            <a:pPr lvl="1"/>
            <a:r>
              <a:rPr lang="en-IE"/>
              <a:t>SLA metrics directly tied to Cato’s backbone.</a:t>
            </a:r>
          </a:p>
          <a:p>
            <a:r>
              <a:rPr lang="en-IE" b="1"/>
              <a:t>Geographic Distribution of Access</a:t>
            </a:r>
            <a:endParaRPr lang="en-IE"/>
          </a:p>
          <a:p>
            <a:pPr lvl="1"/>
            <a:r>
              <a:rPr lang="en-IE"/>
              <a:t>User login heatmaps + anomaly detection (impossible travel).</a:t>
            </a:r>
          </a:p>
          <a:p>
            <a:br>
              <a:rPr lang="en-IE"/>
            </a:br>
            <a:endParaRPr lang="en-IE"/>
          </a:p>
          <a:p>
            <a:r>
              <a:rPr lang="en-IE" b="1"/>
              <a:t>3. Application &amp; Traffic Visibility: Layer-7 Context</a:t>
            </a:r>
          </a:p>
          <a:p>
            <a:r>
              <a:rPr lang="en-IE"/>
              <a:t>Purpose: Show deep visibility without tapping multiple tools.</a:t>
            </a:r>
          </a:p>
          <a:p>
            <a:r>
              <a:rPr lang="en-IE" b="1"/>
              <a:t>Capabilities</a:t>
            </a:r>
          </a:p>
          <a:p>
            <a:r>
              <a:rPr lang="en-IE" b="1"/>
              <a:t>Application Analytics</a:t>
            </a:r>
            <a:endParaRPr lang="en-IE"/>
          </a:p>
          <a:p>
            <a:pPr lvl="1"/>
            <a:r>
              <a:rPr lang="en-IE"/>
              <a:t>Top apps by usage, performance, risk level.</a:t>
            </a:r>
          </a:p>
          <a:p>
            <a:pPr lvl="1"/>
            <a:r>
              <a:rPr lang="en-IE"/>
              <a:t>Business vs shadow IT visibility.</a:t>
            </a:r>
          </a:p>
          <a:p>
            <a:pPr lvl="1"/>
            <a:r>
              <a:rPr lang="en-IE"/>
              <a:t>Application dependency charts.</a:t>
            </a:r>
          </a:p>
          <a:p>
            <a:r>
              <a:rPr lang="en-IE" b="1"/>
              <a:t>Traffic Flow Analytics</a:t>
            </a:r>
            <a:endParaRPr lang="en-IE"/>
          </a:p>
          <a:p>
            <a:pPr lvl="1"/>
            <a:r>
              <a:rPr lang="en-IE"/>
              <a:t>Live flows with identity + device + app + security policy context.</a:t>
            </a:r>
          </a:p>
          <a:p>
            <a:pPr lvl="1"/>
            <a:r>
              <a:rPr lang="en-IE"/>
              <a:t>Cross-filter by user → site → app → security event instantly.</a:t>
            </a:r>
          </a:p>
          <a:p>
            <a:r>
              <a:rPr lang="en-IE" b="1"/>
              <a:t>QoS/Class of Service Observability</a:t>
            </a:r>
            <a:endParaRPr lang="en-IE"/>
          </a:p>
          <a:p>
            <a:pPr lvl="1"/>
            <a:r>
              <a:rPr lang="en-IE"/>
              <a:t>Visibility into priority queues, congestion, and shaping.</a:t>
            </a:r>
          </a:p>
          <a:p>
            <a:br>
              <a:rPr lang="en-IE"/>
            </a:br>
            <a:endParaRPr lang="en-IE"/>
          </a:p>
          <a:p>
            <a:r>
              <a:rPr lang="en-IE" b="1"/>
              <a:t>4. Security Visibility: Threat Detection in Context</a:t>
            </a:r>
          </a:p>
          <a:p>
            <a:r>
              <a:rPr lang="en-IE"/>
              <a:t>Purpose: Highlight consolidation of SWG, CASB, NGFW, IPS, and ZTNA.</a:t>
            </a:r>
          </a:p>
          <a:p>
            <a:r>
              <a:rPr lang="en-IE" b="1"/>
              <a:t>Capabilities</a:t>
            </a:r>
          </a:p>
          <a:p>
            <a:r>
              <a:rPr lang="en-IE" b="1"/>
              <a:t>Security Event Timeline</a:t>
            </a:r>
            <a:endParaRPr lang="en-IE"/>
          </a:p>
          <a:p>
            <a:pPr lvl="1"/>
            <a:r>
              <a:rPr lang="en-IE"/>
              <a:t>IPS, DNS security, SWG, CASB anomalies all in one timeline.</a:t>
            </a:r>
          </a:p>
          <a:p>
            <a:r>
              <a:rPr lang="en-IE" b="1"/>
              <a:t>Threat Dashboard</a:t>
            </a:r>
            <a:endParaRPr lang="en-IE"/>
          </a:p>
          <a:p>
            <a:pPr lvl="1"/>
            <a:r>
              <a:rPr lang="en-IE"/>
              <a:t>Threat actors, top attackers, GEO heatmap, MITRE mapping.</a:t>
            </a:r>
          </a:p>
          <a:p>
            <a:pPr lvl="1"/>
            <a:r>
              <a:rPr lang="en-IE"/>
              <a:t>Attack campaigns correlated across sites/users.</a:t>
            </a:r>
          </a:p>
          <a:p>
            <a:r>
              <a:rPr lang="en-IE" b="1"/>
              <a:t>Policy Hit Visualization</a:t>
            </a:r>
            <a:endParaRPr lang="en-IE"/>
          </a:p>
          <a:p>
            <a:pPr lvl="1"/>
            <a:r>
              <a:rPr lang="en-IE"/>
              <a:t>Policy match tracking for FWaaS, SWG, CASB, ZTNA.</a:t>
            </a:r>
          </a:p>
          <a:p>
            <a:pPr lvl="1"/>
            <a:r>
              <a:rPr lang="en-IE"/>
              <a:t>Visibility into </a:t>
            </a:r>
            <a:r>
              <a:rPr lang="en-IE" i="1"/>
              <a:t>why</a:t>
            </a:r>
            <a:r>
              <a:rPr lang="en-IE"/>
              <a:t> traffic was allowed/blocked.</a:t>
            </a:r>
          </a:p>
          <a:p>
            <a:br>
              <a:rPr lang="en-IE"/>
            </a:br>
            <a:endParaRPr lang="en-IE"/>
          </a:p>
          <a:p>
            <a:r>
              <a:rPr lang="en-IE" b="1"/>
              <a:t>5. Policy Visibility &amp; Configuration Consistency</a:t>
            </a:r>
          </a:p>
          <a:p>
            <a:r>
              <a:rPr lang="en-IE"/>
              <a:t>Purpose: Demonstrate </a:t>
            </a:r>
            <a:r>
              <a:rPr lang="en-IE" i="1"/>
              <a:t>the power of a single policy engine</a:t>
            </a:r>
            <a:r>
              <a:rPr lang="en-IE"/>
              <a:t>.</a:t>
            </a:r>
          </a:p>
          <a:p>
            <a:r>
              <a:rPr lang="en-IE" b="1"/>
              <a:t>Capabilities</a:t>
            </a:r>
          </a:p>
          <a:p>
            <a:r>
              <a:rPr lang="en-IE" b="1"/>
              <a:t>Unified Policy Framework</a:t>
            </a:r>
            <a:endParaRPr lang="en-IE"/>
          </a:p>
          <a:p>
            <a:pPr lvl="1"/>
            <a:r>
              <a:rPr lang="en-IE"/>
              <a:t>One interface for FWaaS, SWG, CASB, ZTNA, QoS, routing.</a:t>
            </a:r>
          </a:p>
          <a:p>
            <a:pPr lvl="1"/>
            <a:r>
              <a:rPr lang="en-IE"/>
              <a:t>Consistent rule structure across security and network.</a:t>
            </a:r>
          </a:p>
          <a:p>
            <a:r>
              <a:rPr lang="en-IE" b="1"/>
              <a:t>Policy Impact View</a:t>
            </a:r>
            <a:endParaRPr lang="en-IE"/>
          </a:p>
          <a:p>
            <a:pPr lvl="1"/>
            <a:r>
              <a:rPr lang="en-IE"/>
              <a:t>Real-time identification of what rules apply to a user/site/app.</a:t>
            </a:r>
          </a:p>
          <a:p>
            <a:pPr lvl="1"/>
            <a:r>
              <a:rPr lang="en-IE"/>
              <a:t>“Explain this decision” visibility without jumping to other tools.</a:t>
            </a:r>
          </a:p>
          <a:p>
            <a:r>
              <a:rPr lang="en-IE" b="1"/>
              <a:t>Change Management &amp; Revision History</a:t>
            </a:r>
            <a:endParaRPr lang="en-IE"/>
          </a:p>
          <a:p>
            <a:pPr lvl="1"/>
            <a:r>
              <a:rPr lang="en-IE"/>
              <a:t>Timeline of all policy changes across modules.</a:t>
            </a:r>
          </a:p>
          <a:p>
            <a:pPr lvl="1"/>
            <a:r>
              <a:rPr lang="en-IE"/>
              <a:t>One-click diff and rollback.</a:t>
            </a:r>
          </a:p>
          <a:p>
            <a:br>
              <a:rPr lang="en-IE"/>
            </a:br>
            <a:endParaRPr lang="en-IE"/>
          </a:p>
          <a:p>
            <a:r>
              <a:rPr lang="en-IE" b="1"/>
              <a:t>6. Analytics: Deep Reporting Without Context Switching</a:t>
            </a:r>
          </a:p>
          <a:p>
            <a:r>
              <a:rPr lang="en-IE"/>
              <a:t>Purpose: Prove that analytics are integrated—not spread across products.</a:t>
            </a:r>
          </a:p>
          <a:p>
            <a:r>
              <a:rPr lang="en-IE" b="1"/>
              <a:t>Capabilities</a:t>
            </a:r>
          </a:p>
          <a:p>
            <a:r>
              <a:rPr lang="en-IE" b="1"/>
              <a:t>Network Analytics</a:t>
            </a:r>
            <a:endParaRPr lang="en-IE"/>
          </a:p>
          <a:p>
            <a:pPr lvl="1"/>
            <a:r>
              <a:rPr lang="en-IE"/>
              <a:t>End-to-end path metrics: LAN → Edge → </a:t>
            </a:r>
            <a:r>
              <a:rPr lang="en-IE" err="1"/>
              <a:t>PoP</a:t>
            </a:r>
            <a:r>
              <a:rPr lang="en-IE"/>
              <a:t> → Destination.</a:t>
            </a:r>
          </a:p>
          <a:p>
            <a:pPr lvl="1"/>
            <a:r>
              <a:rPr lang="en-IE"/>
              <a:t>SLA compliance and historical performance trends.</a:t>
            </a:r>
          </a:p>
          <a:p>
            <a:r>
              <a:rPr lang="en-IE" b="1"/>
              <a:t>Security Analytics</a:t>
            </a:r>
            <a:endParaRPr lang="en-IE"/>
          </a:p>
          <a:p>
            <a:pPr lvl="1"/>
            <a:r>
              <a:rPr lang="en-IE"/>
              <a:t>Threat trends, malware types, app misuse analytics.</a:t>
            </a:r>
          </a:p>
          <a:p>
            <a:pPr lvl="1"/>
            <a:r>
              <a:rPr lang="en-IE" err="1"/>
              <a:t>Behavioral</a:t>
            </a:r>
            <a:r>
              <a:rPr lang="en-IE"/>
              <a:t> anomalies across users and devices.</a:t>
            </a:r>
          </a:p>
          <a:p>
            <a:r>
              <a:rPr lang="en-IE" b="1"/>
              <a:t>Access Analytics</a:t>
            </a:r>
            <a:endParaRPr lang="en-IE"/>
          </a:p>
          <a:p>
            <a:pPr lvl="1"/>
            <a:r>
              <a:rPr lang="en-IE"/>
              <a:t>ZTNA session logs + failure reasons in a unified drill-down.</a:t>
            </a:r>
          </a:p>
          <a:p>
            <a:br>
              <a:rPr lang="en-IE"/>
            </a:br>
            <a:endParaRPr lang="en-IE"/>
          </a:p>
          <a:p>
            <a:r>
              <a:rPr lang="en-IE" b="1"/>
              <a:t>7. Troubleshooting Workflows: Click-Through Investigation</a:t>
            </a:r>
          </a:p>
          <a:p>
            <a:r>
              <a:rPr lang="en-IE"/>
              <a:t>Purpose: Show how Cato reduces MTTD/MTTR via unified context.</a:t>
            </a:r>
          </a:p>
          <a:p>
            <a:r>
              <a:rPr lang="en-IE" b="1"/>
              <a:t>Capabilities</a:t>
            </a:r>
          </a:p>
          <a:p>
            <a:r>
              <a:rPr lang="en-IE" b="1"/>
              <a:t>Drill-Down from Alert → User → Traffic → Device</a:t>
            </a:r>
            <a:endParaRPr lang="en-IE"/>
          </a:p>
          <a:p>
            <a:pPr lvl="1"/>
            <a:r>
              <a:rPr lang="en-IE"/>
              <a:t>One-click pivot from an IPS event into user session details, device info, application flows, and connectivity.</a:t>
            </a:r>
          </a:p>
          <a:p>
            <a:r>
              <a:rPr lang="en-IE" b="1"/>
              <a:t>Route &amp; Performance Tracing</a:t>
            </a:r>
            <a:endParaRPr lang="en-IE"/>
          </a:p>
          <a:p>
            <a:pPr lvl="1"/>
            <a:r>
              <a:rPr lang="en-IE"/>
              <a:t>Cato traceroute with backbone visibility.</a:t>
            </a:r>
          </a:p>
          <a:p>
            <a:pPr lvl="1"/>
            <a:r>
              <a:rPr lang="en-IE"/>
              <a:t>Historical quality for every segment of the path.</a:t>
            </a:r>
          </a:p>
          <a:p>
            <a:r>
              <a:rPr lang="en-IE" b="1"/>
              <a:t>Event Correlation Engine</a:t>
            </a:r>
            <a:endParaRPr lang="en-IE"/>
          </a:p>
          <a:p>
            <a:pPr lvl="1"/>
            <a:r>
              <a:rPr lang="en-IE"/>
              <a:t>Automatic grouping of events across modules (network + security + access).</a:t>
            </a:r>
          </a:p>
          <a:p>
            <a:pPr lvl="1"/>
            <a:r>
              <a:rPr lang="en-IE"/>
              <a:t>No need to correlate manually or use SIEM.</a:t>
            </a:r>
          </a:p>
          <a:p>
            <a:r>
              <a:rPr lang="en-IE" b="1"/>
              <a:t>Packet Capture from the Cloud</a:t>
            </a:r>
            <a:endParaRPr lang="en-IE"/>
          </a:p>
          <a:p>
            <a:pPr lvl="1"/>
            <a:r>
              <a:rPr lang="en-IE"/>
              <a:t>On-demand PCAP directly from the </a:t>
            </a:r>
            <a:r>
              <a:rPr lang="en-IE" err="1"/>
              <a:t>PoP</a:t>
            </a:r>
            <a:r>
              <a:rPr lang="en-IE"/>
              <a:t> or tunnel.</a:t>
            </a:r>
          </a:p>
          <a:p>
            <a:br>
              <a:rPr lang="en-IE"/>
            </a:br>
            <a:endParaRPr lang="en-IE"/>
          </a:p>
          <a:p>
            <a:r>
              <a:rPr lang="en-IE" b="1"/>
              <a:t>8. Incident Response: Integrated Case Workflow</a:t>
            </a:r>
          </a:p>
          <a:p>
            <a:r>
              <a:rPr lang="en-IE"/>
              <a:t>Purpose: Show platform consolidation replacing SIEM/SOAR pivoting.</a:t>
            </a:r>
          </a:p>
          <a:p>
            <a:r>
              <a:rPr lang="en-IE" b="1"/>
              <a:t>Capabilities</a:t>
            </a:r>
          </a:p>
          <a:p>
            <a:r>
              <a:rPr lang="en-IE" b="1"/>
              <a:t>Incident view with all related signals</a:t>
            </a:r>
            <a:endParaRPr lang="en-IE"/>
          </a:p>
          <a:p>
            <a:pPr lvl="1"/>
            <a:r>
              <a:rPr lang="en-IE"/>
              <a:t>IPS hits, malware alerts, access failures, anomalies in one correlated incident.</a:t>
            </a:r>
          </a:p>
          <a:p>
            <a:r>
              <a:rPr lang="en-IE" b="1"/>
              <a:t>Automated MITRE ATT&amp;CK mapping</a:t>
            </a:r>
            <a:endParaRPr lang="en-IE"/>
          </a:p>
          <a:p>
            <a:pPr lvl="1"/>
            <a:r>
              <a:rPr lang="en-IE"/>
              <a:t>Understand attack type without external tools.</a:t>
            </a:r>
          </a:p>
          <a:p>
            <a:r>
              <a:rPr lang="en-IE" b="1"/>
              <a:t>Built-in remediation</a:t>
            </a:r>
            <a:endParaRPr lang="en-IE"/>
          </a:p>
          <a:p>
            <a:pPr lvl="1"/>
            <a:r>
              <a:rPr lang="en-IE"/>
              <a:t>Block user, isolate device, update policy—all instantly.</a:t>
            </a:r>
          </a:p>
          <a:p>
            <a:r>
              <a:rPr lang="en-IE" b="1"/>
              <a:t>Evidence timeline</a:t>
            </a:r>
            <a:endParaRPr lang="en-IE"/>
          </a:p>
          <a:p>
            <a:pPr lvl="1"/>
            <a:r>
              <a:rPr lang="en-IE"/>
              <a:t>Ties together network performance events + security events.</a:t>
            </a:r>
          </a:p>
          <a:p>
            <a:br>
              <a:rPr lang="en-IE"/>
            </a:br>
            <a:endParaRPr lang="en-IE"/>
          </a:p>
          <a:p>
            <a:r>
              <a:rPr lang="en-IE" b="1"/>
              <a:t>9. Operational Efficiency: Proving Reduced MTTD / MTTR</a:t>
            </a:r>
          </a:p>
          <a:p>
            <a:r>
              <a:rPr lang="en-IE"/>
              <a:t>Purpose: Show measurable impact of consolidation.</a:t>
            </a:r>
          </a:p>
          <a:p>
            <a:r>
              <a:rPr lang="en-IE" b="1"/>
              <a:t>Talking Points + Demo Moments</a:t>
            </a:r>
          </a:p>
          <a:p>
            <a:r>
              <a:rPr lang="en-IE" b="1"/>
              <a:t>Zero context switching</a:t>
            </a:r>
            <a:endParaRPr lang="en-IE"/>
          </a:p>
          <a:p>
            <a:pPr lvl="1"/>
            <a:r>
              <a:rPr lang="en-IE"/>
              <a:t>No separate consoles for SD-WAN, ZTNA, CASB, FWaaS, IPS, DLP, monitoring, or troubleshooting.</a:t>
            </a:r>
          </a:p>
          <a:p>
            <a:r>
              <a:rPr lang="en-IE" b="1"/>
              <a:t>Correlation reduces MTTD</a:t>
            </a:r>
            <a:endParaRPr lang="en-IE"/>
          </a:p>
          <a:p>
            <a:pPr lvl="1"/>
            <a:r>
              <a:rPr lang="en-IE"/>
              <a:t>The platform surfaces incidents without manual investigation.</a:t>
            </a:r>
          </a:p>
          <a:p>
            <a:r>
              <a:rPr lang="en-IE" b="1"/>
              <a:t>Integrated tools reduce MTTR</a:t>
            </a:r>
            <a:endParaRPr lang="en-IE"/>
          </a:p>
          <a:p>
            <a:pPr lvl="1"/>
            <a:r>
              <a:rPr lang="en-IE"/>
              <a:t>Troubleshoot → capture → fix in one place.</a:t>
            </a:r>
          </a:p>
          <a:p>
            <a:r>
              <a:rPr lang="en-IE" b="1"/>
              <a:t>Consistent policy reduces errors</a:t>
            </a:r>
            <a:endParaRPr lang="en-IE"/>
          </a:p>
          <a:p>
            <a:pPr lvl="1"/>
            <a:r>
              <a:rPr lang="en-IE"/>
              <a:t>No duplicate rule bases or cross-product sync issues.</a:t>
            </a:r>
          </a:p>
          <a:p>
            <a:br>
              <a:rPr lang="en-IE"/>
            </a:br>
            <a:endParaRPr lang="en-IE"/>
          </a:p>
          <a:p>
            <a:r>
              <a:rPr lang="en-IE" b="1"/>
              <a:t>Summary: Demo Flow in One Sentence</a:t>
            </a:r>
          </a:p>
          <a:p>
            <a:r>
              <a:rPr lang="en-IE" b="1"/>
              <a:t>Start with global visibility → drill down by identity (user/site/app) → show unified policies → </a:t>
            </a:r>
            <a:r>
              <a:rPr lang="en-IE" b="1" err="1"/>
              <a:t>analyze</a:t>
            </a:r>
            <a:r>
              <a:rPr lang="en-IE" b="1"/>
              <a:t> traffic and threats → troubleshoot in-context → resolve incidents—all within one platform.</a:t>
            </a:r>
            <a:endParaRPr lang="en-IE"/>
          </a:p>
          <a:p>
            <a:endParaRPr lang="en-IE"/>
          </a:p>
        </p:txBody>
      </p:sp>
      <p:sp>
        <p:nvSpPr>
          <p:cNvPr id="4" name="Slide Number Placeholder 3">
            <a:extLst>
              <a:ext uri="{FF2B5EF4-FFF2-40B4-BE49-F238E27FC236}">
                <a16:creationId xmlns:a16="http://schemas.microsoft.com/office/drawing/2014/main" id="{5FADACE3-CFCC-9E00-425F-D0252B455DB0}"/>
              </a:ext>
            </a:extLst>
          </p:cNvPr>
          <p:cNvSpPr>
            <a:spLocks noGrp="1"/>
          </p:cNvSpPr>
          <p:nvPr>
            <p:ph type="sldNum" sz="quarter" idx="5"/>
          </p:nvPr>
        </p:nvSpPr>
        <p:spPr/>
        <p:txBody>
          <a:bodyPr/>
          <a:lstStyle/>
          <a:p>
            <a:fld id="{94ADEB05-5168-4175-A66F-2235235D7F1A}" type="slidenum">
              <a:rPr lang="en-US" smtClean="0"/>
              <a:t>19</a:t>
            </a:fld>
            <a:endParaRPr lang="en-US"/>
          </a:p>
        </p:txBody>
      </p:sp>
    </p:spTree>
    <p:extLst>
      <p:ext uri="{BB962C8B-B14F-4D97-AF65-F5344CB8AC3E}">
        <p14:creationId xmlns:p14="http://schemas.microsoft.com/office/powerpoint/2010/main" val="15612959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A70D9-8435-4BB4-511A-B3434CE28B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6965C-F91F-7AEA-AD92-A50195F2BE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B961B2-6FCF-7F09-C2D7-AB1ED54F8EE5}"/>
              </a:ext>
            </a:extLst>
          </p:cNvPr>
          <p:cNvSpPr>
            <a:spLocks noGrp="1"/>
          </p:cNvSpPr>
          <p:nvPr>
            <p:ph type="body" idx="1"/>
          </p:nvPr>
        </p:nvSpPr>
        <p:spPr/>
        <p:txBody>
          <a:bodyPr/>
          <a:lstStyle/>
          <a:p>
            <a:r>
              <a:rPr lang="en-US"/>
              <a:t>Beyond convergence, you need a global footprint of </a:t>
            </a:r>
            <a:r>
              <a:rPr lang="en-US" err="1"/>
              <a:t>PoPs</a:t>
            </a:r>
            <a:r>
              <a:rPr lang="en-US"/>
              <a:t> (points of presence) to deliver converged network and security capabilities everywhere. </a:t>
            </a:r>
          </a:p>
          <a:p>
            <a:endParaRPr lang="en-US"/>
          </a:p>
          <a:p>
            <a:r>
              <a:rPr lang="en-US"/>
              <a:t>Cato has deployed </a:t>
            </a:r>
            <a:r>
              <a:rPr lang="en-US" err="1"/>
              <a:t>PoPs</a:t>
            </a:r>
            <a:r>
              <a:rPr lang="en-US"/>
              <a:t> in over 85 locations globally and is adding several </a:t>
            </a:r>
            <a:r>
              <a:rPr lang="en-US" err="1"/>
              <a:t>PoPs</a:t>
            </a:r>
            <a:r>
              <a:rPr lang="en-US"/>
              <a:t> every quarter.  The Cato SASE Cloud covers every major business location including the Americas, Europe, the Middle East, APAC and China. </a:t>
            </a:r>
            <a:endParaRPr lang="en-US">
              <a:ea typeface="Calibri"/>
              <a:cs typeface="Calibri"/>
            </a:endParaRPr>
          </a:p>
          <a:p>
            <a:endParaRPr lang="en-GB"/>
          </a:p>
          <a:p>
            <a:r>
              <a:rPr lang="en-GB" b="1"/>
              <a:t>Note to Sales:</a:t>
            </a:r>
            <a:endParaRPr lang="en-GB" b="1">
              <a:ea typeface="Calibri"/>
              <a:cs typeface="Calibri"/>
            </a:endParaRPr>
          </a:p>
          <a:p>
            <a:endParaRPr lang="en-GB"/>
          </a:p>
          <a:p>
            <a:r>
              <a:rPr lang="en-GB"/>
              <a:t>This map shows </a:t>
            </a:r>
            <a:r>
              <a:rPr lang="en-GB" err="1"/>
              <a:t>PoPs</a:t>
            </a:r>
            <a:r>
              <a:rPr lang="en-GB"/>
              <a:t> that are live now or by the end of 2025.</a:t>
            </a:r>
            <a:endParaRPr lang="en-GB">
              <a:ea typeface="Calibri"/>
              <a:cs typeface="Calibri"/>
            </a:endParaRPr>
          </a:p>
          <a:p>
            <a:r>
              <a:rPr lang="en-GB" err="1"/>
              <a:t>PoPs</a:t>
            </a:r>
            <a:r>
              <a:rPr lang="en-GB"/>
              <a:t> that are coming soon, are marked by an asterisk*</a:t>
            </a:r>
            <a:endParaRPr lang="en-GB">
              <a:ea typeface="Calibri"/>
              <a:cs typeface="Calibri"/>
            </a:endParaRPr>
          </a:p>
          <a:p>
            <a:endParaRPr lang="en-GB"/>
          </a:p>
          <a:p>
            <a:pPr marL="171450" indent="-171450" fontAlgn="base">
              <a:lnSpc>
                <a:spcPts val="1650"/>
              </a:lnSpc>
              <a:buFont typeface="Arial" panose="020B0604020202020204" pitchFamily="34" charset="0"/>
              <a:buChar char="•"/>
            </a:pPr>
            <a:r>
              <a:rPr lang="en-GB">
                <a:solidFill>
                  <a:srgbClr val="1E1F21"/>
                </a:solidFill>
                <a:latin typeface="-apple-system"/>
              </a:rPr>
              <a:t>Anchorage, Alaska</a:t>
            </a:r>
          </a:p>
          <a:p>
            <a:pPr marL="171450" indent="-171450">
              <a:lnSpc>
                <a:spcPts val="1650"/>
              </a:lnSpc>
              <a:buFont typeface="Arial" panose="020B0604020202020204" pitchFamily="34" charset="0"/>
              <a:buChar char="•"/>
            </a:pPr>
            <a:r>
              <a:rPr lang="en-GB">
                <a:solidFill>
                  <a:srgbClr val="1E1F21"/>
                </a:solidFill>
                <a:latin typeface="-apple-system"/>
              </a:rPr>
              <a:t>Cape Town, South Africa</a:t>
            </a:r>
            <a:endParaRPr lang="en-GB">
              <a:solidFill>
                <a:srgbClr val="000000"/>
              </a:solidFill>
              <a:latin typeface="Calibri" panose="020F0502020204030204"/>
              <a:ea typeface="Calibri" panose="020F0502020204030204"/>
              <a:cs typeface="Calibri" panose="020F0502020204030204"/>
            </a:endParaRPr>
          </a:p>
          <a:p>
            <a:pPr marL="171450" indent="-171450">
              <a:lnSpc>
                <a:spcPts val="1650"/>
              </a:lnSpc>
              <a:buFont typeface="Arial" panose="020B0604020202020204" pitchFamily="34" charset="0"/>
              <a:buChar char="•"/>
            </a:pPr>
            <a:r>
              <a:rPr lang="en-GB">
                <a:solidFill>
                  <a:srgbClr val="1E1F21"/>
                </a:solidFill>
                <a:latin typeface="-apple-system"/>
              </a:rPr>
              <a:t>Brisbane</a:t>
            </a:r>
            <a:r>
              <a:rPr lang="en-GB" b="0" i="0">
                <a:solidFill>
                  <a:srgbClr val="1E1F21"/>
                </a:solidFill>
                <a:effectLst/>
                <a:latin typeface="-apple-system"/>
              </a:rPr>
              <a:t>, Australia</a:t>
            </a:r>
            <a:endParaRPr lang="en-GB">
              <a:ea typeface="Calibri"/>
              <a:cs typeface="Calibri"/>
            </a:endParaRPr>
          </a:p>
          <a:p>
            <a:pPr marL="171450" indent="-171450" algn="l" fontAlgn="base">
              <a:lnSpc>
                <a:spcPts val="1650"/>
              </a:lnSpc>
              <a:buFont typeface="Arial" panose="020B0604020202020204" pitchFamily="34" charset="0"/>
              <a:buChar char="•"/>
            </a:pPr>
            <a:r>
              <a:rPr lang="en-GB" b="0" i="0">
                <a:solidFill>
                  <a:srgbClr val="1E1F21"/>
                </a:solidFill>
                <a:effectLst/>
                <a:latin typeface="-apple-system"/>
              </a:rPr>
              <a:t>Italy, Rome</a:t>
            </a:r>
          </a:p>
          <a:p>
            <a:pPr marL="171450" indent="-171450" algn="l" fontAlgn="base">
              <a:lnSpc>
                <a:spcPts val="1650"/>
              </a:lnSpc>
              <a:buFont typeface="Arial" panose="020B0604020202020204" pitchFamily="34" charset="0"/>
              <a:buChar char="•"/>
            </a:pPr>
            <a:r>
              <a:rPr lang="en-GB" b="0" i="0">
                <a:solidFill>
                  <a:srgbClr val="1E1F21"/>
                </a:solidFill>
                <a:effectLst/>
                <a:latin typeface="-apple-system"/>
              </a:rPr>
              <a:t>China, </a:t>
            </a:r>
            <a:r>
              <a:rPr lang="en-GB" b="0" i="0" err="1">
                <a:solidFill>
                  <a:srgbClr val="1E1F21"/>
                </a:solidFill>
                <a:effectLst/>
                <a:latin typeface="-apple-system"/>
              </a:rPr>
              <a:t>Urumqui</a:t>
            </a:r>
            <a:endParaRPr lang="en-GB" b="0" i="0">
              <a:solidFill>
                <a:srgbClr val="1E1F21"/>
              </a:solidFill>
              <a:effectLst/>
              <a:latin typeface="-apple-system"/>
            </a:endParaRPr>
          </a:p>
          <a:p>
            <a:pPr marL="171450" indent="-171450" algn="l" fontAlgn="base">
              <a:lnSpc>
                <a:spcPts val="1650"/>
              </a:lnSpc>
              <a:buFont typeface="Arial" panose="020B0604020202020204" pitchFamily="34" charset="0"/>
              <a:buChar char="•"/>
            </a:pPr>
            <a:r>
              <a:rPr lang="en-GB" b="0" i="0">
                <a:solidFill>
                  <a:srgbClr val="1E1F21"/>
                </a:solidFill>
                <a:effectLst/>
                <a:latin typeface="-apple-system"/>
              </a:rPr>
              <a:t>India, New Delhi</a:t>
            </a:r>
          </a:p>
          <a:p>
            <a:pPr marL="171450" indent="-171450" fontAlgn="base">
              <a:lnSpc>
                <a:spcPts val="1650"/>
              </a:lnSpc>
              <a:buFont typeface="Arial" panose="020B0604020202020204" pitchFamily="34" charset="0"/>
              <a:buChar char="•"/>
            </a:pPr>
            <a:endParaRPr lang="en-GB">
              <a:solidFill>
                <a:srgbClr val="1E1F21"/>
              </a:solidFill>
              <a:latin typeface="-apple-system"/>
              <a:ea typeface="Calibri"/>
              <a:cs typeface="Calibri"/>
            </a:endParaRPr>
          </a:p>
          <a:p>
            <a:pPr marL="0" indent="0" algn="l" fontAlgn="base">
              <a:lnSpc>
                <a:spcPts val="1650"/>
              </a:lnSpc>
              <a:buFont typeface="Arial" panose="020B0604020202020204" pitchFamily="34" charset="0"/>
              <a:buNone/>
            </a:pPr>
            <a:r>
              <a:rPr lang="en-GB" b="0" i="0">
                <a:solidFill>
                  <a:srgbClr val="1E1F21"/>
                </a:solidFill>
                <a:effectLst/>
                <a:latin typeface="-apple-system"/>
              </a:rPr>
              <a:t>The use of asterisks to highlight ‘Coming soon’ </a:t>
            </a:r>
            <a:r>
              <a:rPr lang="en-GB" b="0" i="0" err="1">
                <a:solidFill>
                  <a:srgbClr val="1E1F21"/>
                </a:solidFill>
                <a:effectLst/>
                <a:latin typeface="-apple-system"/>
              </a:rPr>
              <a:t>PoPs</a:t>
            </a:r>
            <a:r>
              <a:rPr lang="en-GB" b="0" i="0">
                <a:solidFill>
                  <a:srgbClr val="1E1F21"/>
                </a:solidFill>
                <a:effectLst/>
                <a:latin typeface="-apple-system"/>
              </a:rPr>
              <a:t> is only used in the Corporate Deck.  In Other places, ‘coming soon’ </a:t>
            </a:r>
            <a:r>
              <a:rPr lang="en-GB" b="0" i="0" err="1">
                <a:solidFill>
                  <a:srgbClr val="1E1F21"/>
                </a:solidFill>
                <a:effectLst/>
                <a:latin typeface="-apple-system"/>
              </a:rPr>
              <a:t>PoPs</a:t>
            </a:r>
            <a:r>
              <a:rPr lang="en-GB" b="0" i="0">
                <a:solidFill>
                  <a:srgbClr val="1E1F21"/>
                </a:solidFill>
                <a:effectLst/>
                <a:latin typeface="-apple-system"/>
              </a:rPr>
              <a:t> are not distinguished visually, and the map/list should be interpreted as including all </a:t>
            </a:r>
            <a:r>
              <a:rPr lang="en-GB" b="0" i="0" err="1">
                <a:solidFill>
                  <a:srgbClr val="1E1F21"/>
                </a:solidFill>
                <a:effectLst/>
                <a:latin typeface="-apple-system"/>
              </a:rPr>
              <a:t>PoPS</a:t>
            </a:r>
            <a:r>
              <a:rPr lang="en-GB" b="0" i="0">
                <a:solidFill>
                  <a:srgbClr val="1E1F21"/>
                </a:solidFill>
                <a:effectLst/>
                <a:latin typeface="-apple-system"/>
              </a:rPr>
              <a:t> that are GA now or by the end of 2025.  </a:t>
            </a:r>
          </a:p>
          <a:p>
            <a:endParaRPr lang="en-IL"/>
          </a:p>
        </p:txBody>
      </p:sp>
      <p:sp>
        <p:nvSpPr>
          <p:cNvPr id="4" name="Slide Number Placeholder 3">
            <a:extLst>
              <a:ext uri="{FF2B5EF4-FFF2-40B4-BE49-F238E27FC236}">
                <a16:creationId xmlns:a16="http://schemas.microsoft.com/office/drawing/2014/main" id="{5698817B-FAC6-9143-39E7-F24C025005C6}"/>
              </a:ext>
            </a:extLst>
          </p:cNvPr>
          <p:cNvSpPr>
            <a:spLocks noGrp="1"/>
          </p:cNvSpPr>
          <p:nvPr>
            <p:ph type="sldNum" sz="quarter" idx="5"/>
          </p:nvPr>
        </p:nvSpPr>
        <p:spPr/>
        <p:txBody>
          <a:bodyPr/>
          <a:lstStyle/>
          <a:p>
            <a:fld id="{94ADEB05-5168-4175-A66F-2235235D7F1A}" type="slidenum">
              <a:rPr lang="en-US" smtClean="0"/>
              <a:t>20</a:t>
            </a:fld>
            <a:endParaRPr lang="en-US"/>
          </a:p>
        </p:txBody>
      </p:sp>
    </p:spTree>
    <p:extLst>
      <p:ext uri="{BB962C8B-B14F-4D97-AF65-F5344CB8AC3E}">
        <p14:creationId xmlns:p14="http://schemas.microsoft.com/office/powerpoint/2010/main" val="9122288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3" Type="http://schemas.openxmlformats.org/officeDocument/2006/relationships/image" Target="../media/image7.emf"/><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 Type="http://schemas.openxmlformats.org/officeDocument/2006/relationships/image" Target="../media/image6.emf"/><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19" Type="http://schemas.openxmlformats.org/officeDocument/2006/relationships/image" Target="../media/image23.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hyperlink" Target="https://www.facebook.com/CatoNetworks/" TargetMode="External"/><Relationship Id="rId7" Type="http://schemas.openxmlformats.org/officeDocument/2006/relationships/hyperlink" Target="https://twitter.com/CatoNetworks" TargetMode="External"/><Relationship Id="rId2" Type="http://schemas.openxmlformats.org/officeDocument/2006/relationships/image" Target="../media/image29.png"/><Relationship Id="rId1" Type="http://schemas.openxmlformats.org/officeDocument/2006/relationships/slideMaster" Target="../slideMasters/slideMaster1.xml"/><Relationship Id="rId6" Type="http://schemas.openxmlformats.org/officeDocument/2006/relationships/image" Target="../media/image31.emf"/><Relationship Id="rId5" Type="http://schemas.openxmlformats.org/officeDocument/2006/relationships/hyperlink" Target="https://www.linkedin.com/company/cato-networks/" TargetMode="External"/><Relationship Id="rId4" Type="http://schemas.openxmlformats.org/officeDocument/2006/relationships/image" Target="../media/image30.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3.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EC0BC0D-94C3-40D0-9E20-4DAC94B139A8}"/>
              </a:ext>
            </a:extLst>
          </p:cNvPr>
          <p:cNvSpPr>
            <a:spLocks noGrp="1"/>
          </p:cNvSpPr>
          <p:nvPr>
            <p:ph type="dt" sz="half" idx="10"/>
          </p:nvPr>
        </p:nvSpPr>
        <p:spPr/>
        <p:txBody>
          <a:bodyPr/>
          <a:lstStyle/>
          <a:p>
            <a:fld id="{8744D272-7787-42F5-8E85-5772E5920C77}" type="datetimeFigureOut">
              <a:rPr lang="en-US" smtClean="0"/>
              <a:t>12/4/2025</a:t>
            </a:fld>
            <a:endParaRPr lang="en-US"/>
          </a:p>
        </p:txBody>
      </p:sp>
      <p:pic>
        <p:nvPicPr>
          <p:cNvPr id="7" name="Picture 6">
            <a:extLst>
              <a:ext uri="{FF2B5EF4-FFF2-40B4-BE49-F238E27FC236}">
                <a16:creationId xmlns:a16="http://schemas.microsoft.com/office/drawing/2014/main" id="{EB6395E8-8E25-4945-9EE5-D8B4D541F31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1999" cy="6857999"/>
          </a:xfrm>
          <a:prstGeom prst="rect">
            <a:avLst/>
          </a:prstGeom>
        </p:spPr>
      </p:pic>
      <p:pic>
        <p:nvPicPr>
          <p:cNvPr id="8" name="Graphic 7">
            <a:extLst>
              <a:ext uri="{FF2B5EF4-FFF2-40B4-BE49-F238E27FC236}">
                <a16:creationId xmlns:a16="http://schemas.microsoft.com/office/drawing/2014/main" id="{75747591-AC59-42CB-980E-33E4403291E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5760" y="365760"/>
            <a:ext cx="1290196" cy="643089"/>
          </a:xfrm>
          <a:prstGeom prst="rect">
            <a:avLst/>
          </a:prstGeom>
        </p:spPr>
      </p:pic>
      <p:sp>
        <p:nvSpPr>
          <p:cNvPr id="2" name="Title 1">
            <a:extLst>
              <a:ext uri="{FF2B5EF4-FFF2-40B4-BE49-F238E27FC236}">
                <a16:creationId xmlns:a16="http://schemas.microsoft.com/office/drawing/2014/main" id="{2C6E0CF3-E19D-4C66-B453-5E0745350EC8}"/>
              </a:ext>
            </a:extLst>
          </p:cNvPr>
          <p:cNvSpPr>
            <a:spLocks noGrp="1"/>
          </p:cNvSpPr>
          <p:nvPr>
            <p:ph type="ctrTitle"/>
          </p:nvPr>
        </p:nvSpPr>
        <p:spPr>
          <a:xfrm>
            <a:off x="1066800" y="1831533"/>
            <a:ext cx="9144000" cy="840230"/>
          </a:xfrm>
        </p:spPr>
        <p:txBody>
          <a:bodyPr anchor="b"/>
          <a:lstStyle>
            <a:lvl1pPr algn="l">
              <a:defRPr sz="5400" b="1"/>
            </a:lvl1pPr>
          </a:lstStyle>
          <a:p>
            <a:r>
              <a:rPr lang="en-GB"/>
              <a:t>Click to edit Master title style</a:t>
            </a:r>
            <a:endParaRPr lang="en-US"/>
          </a:p>
        </p:txBody>
      </p:sp>
      <p:sp>
        <p:nvSpPr>
          <p:cNvPr id="5" name="Footer Placeholder 4">
            <a:extLst>
              <a:ext uri="{FF2B5EF4-FFF2-40B4-BE49-F238E27FC236}">
                <a16:creationId xmlns:a16="http://schemas.microsoft.com/office/drawing/2014/main" id="{1275A7E2-CF45-41D8-8207-D721E22890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FF9BFF-2202-4316-A54D-EEEA13FD5135}"/>
              </a:ext>
            </a:extLst>
          </p:cNvPr>
          <p:cNvSpPr>
            <a:spLocks noGrp="1"/>
          </p:cNvSpPr>
          <p:nvPr>
            <p:ph type="sldNum" sz="quarter" idx="12"/>
          </p:nvPr>
        </p:nvSpPr>
        <p:spPr/>
        <p:txBody>
          <a:bodyPr/>
          <a:lstStyle/>
          <a:p>
            <a:fld id="{37527A84-62A5-40F8-9ABB-C2EE3BC8218F}" type="slidenum">
              <a:rPr lang="en-US" smtClean="0"/>
              <a:t>‹#›</a:t>
            </a:fld>
            <a:endParaRPr lang="en-US"/>
          </a:p>
        </p:txBody>
      </p:sp>
      <p:sp>
        <p:nvSpPr>
          <p:cNvPr id="3" name="Subtitle 2">
            <a:extLst>
              <a:ext uri="{FF2B5EF4-FFF2-40B4-BE49-F238E27FC236}">
                <a16:creationId xmlns:a16="http://schemas.microsoft.com/office/drawing/2014/main" id="{BF306307-D548-4EC6-A4B3-D564B330A806}"/>
              </a:ext>
            </a:extLst>
          </p:cNvPr>
          <p:cNvSpPr>
            <a:spLocks noGrp="1"/>
          </p:cNvSpPr>
          <p:nvPr>
            <p:ph type="subTitle" idx="1"/>
          </p:nvPr>
        </p:nvSpPr>
        <p:spPr>
          <a:xfrm>
            <a:off x="1066800" y="3037674"/>
            <a:ext cx="9144000" cy="1655762"/>
          </a:xfrm>
        </p:spPr>
        <p:txBody>
          <a:bodyPr>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210911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AA7C3-FC47-4BCB-B69A-CE0BC45A9E3E}"/>
              </a:ext>
            </a:extLst>
          </p:cNvPr>
          <p:cNvSpPr>
            <a:spLocks noGrp="1"/>
          </p:cNvSpPr>
          <p:nvPr>
            <p:ph type="title"/>
          </p:nvPr>
        </p:nvSpPr>
        <p:spPr>
          <a:xfrm>
            <a:off x="831850" y="1278898"/>
            <a:ext cx="8626475" cy="1588127"/>
          </a:xfrm>
        </p:spPr>
        <p:txBody>
          <a:bodyPr anchor="b"/>
          <a:lstStyle>
            <a:lvl1pPr>
              <a:defRPr sz="54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B5D9269-4020-4E58-8F2C-41611893D596}"/>
              </a:ext>
            </a:extLst>
          </p:cNvPr>
          <p:cNvSpPr>
            <a:spLocks noGrp="1"/>
          </p:cNvSpPr>
          <p:nvPr>
            <p:ph type="body" idx="1"/>
          </p:nvPr>
        </p:nvSpPr>
        <p:spPr>
          <a:xfrm>
            <a:off x="831850" y="289401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510BE1E-A2C1-4029-AD84-B27BB3A9BC12}"/>
              </a:ext>
            </a:extLst>
          </p:cNvPr>
          <p:cNvSpPr>
            <a:spLocks noGrp="1"/>
          </p:cNvSpPr>
          <p:nvPr>
            <p:ph type="dt" sz="half" idx="10"/>
          </p:nvPr>
        </p:nvSpPr>
        <p:spPr/>
        <p:txBody>
          <a:bodyPr/>
          <a:lstStyle/>
          <a:p>
            <a:fld id="{8744D272-7787-42F5-8E85-5772E5920C77}" type="datetimeFigureOut">
              <a:rPr lang="en-US" smtClean="0"/>
              <a:t>12/4/2025</a:t>
            </a:fld>
            <a:endParaRPr lang="en-US"/>
          </a:p>
        </p:txBody>
      </p:sp>
      <p:sp>
        <p:nvSpPr>
          <p:cNvPr id="5" name="Footer Placeholder 4">
            <a:extLst>
              <a:ext uri="{FF2B5EF4-FFF2-40B4-BE49-F238E27FC236}">
                <a16:creationId xmlns:a16="http://schemas.microsoft.com/office/drawing/2014/main" id="{9BEE92F3-9A58-4CAD-B7AD-FBE2801F7C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49D194-10F0-45C8-BC3A-1F67F39B996F}"/>
              </a:ext>
            </a:extLst>
          </p:cNvPr>
          <p:cNvSpPr>
            <a:spLocks noGrp="1"/>
          </p:cNvSpPr>
          <p:nvPr>
            <p:ph type="sldNum" sz="quarter" idx="12"/>
          </p:nvPr>
        </p:nvSpPr>
        <p:spPr/>
        <p:txBody>
          <a:bodyPr/>
          <a:lstStyle/>
          <a:p>
            <a:fld id="{37527A84-62A5-40F8-9ABB-C2EE3BC8218F}" type="slidenum">
              <a:rPr lang="en-US" smtClean="0"/>
              <a:t>‹#›</a:t>
            </a:fld>
            <a:endParaRPr lang="en-US"/>
          </a:p>
        </p:txBody>
      </p:sp>
    </p:spTree>
    <p:extLst>
      <p:ext uri="{BB962C8B-B14F-4D97-AF65-F5344CB8AC3E}">
        <p14:creationId xmlns:p14="http://schemas.microsoft.com/office/powerpoint/2010/main" val="1729618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D601E-79A4-4C4A-BCE9-118BAB20A50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7146724-E269-4C09-9307-64D5607F673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0D04CB8-485A-46FF-AC30-BDF406EEA118}"/>
              </a:ext>
            </a:extLst>
          </p:cNvPr>
          <p:cNvSpPr>
            <a:spLocks noGrp="1"/>
          </p:cNvSpPr>
          <p:nvPr>
            <p:ph type="dt" sz="half" idx="10"/>
          </p:nvPr>
        </p:nvSpPr>
        <p:spPr/>
        <p:txBody>
          <a:bodyPr/>
          <a:lstStyle/>
          <a:p>
            <a:fld id="{8744D272-7787-42F5-8E85-5772E5920C77}" type="datetimeFigureOut">
              <a:rPr lang="en-US" smtClean="0"/>
              <a:t>12/4/2025</a:t>
            </a:fld>
            <a:endParaRPr lang="en-US"/>
          </a:p>
        </p:txBody>
      </p:sp>
      <p:sp>
        <p:nvSpPr>
          <p:cNvPr id="5" name="Footer Placeholder 4">
            <a:extLst>
              <a:ext uri="{FF2B5EF4-FFF2-40B4-BE49-F238E27FC236}">
                <a16:creationId xmlns:a16="http://schemas.microsoft.com/office/drawing/2014/main" id="{245F36A8-BAF9-4FD8-A836-D12878DEA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6267A-62F2-48A8-BAA4-576130486E0F}"/>
              </a:ext>
            </a:extLst>
          </p:cNvPr>
          <p:cNvSpPr>
            <a:spLocks noGrp="1"/>
          </p:cNvSpPr>
          <p:nvPr>
            <p:ph type="sldNum" sz="quarter" idx="12"/>
          </p:nvPr>
        </p:nvSpPr>
        <p:spPr/>
        <p:txBody>
          <a:bodyPr/>
          <a:lstStyle/>
          <a:p>
            <a:fld id="{37527A84-62A5-40F8-9ABB-C2EE3BC8218F}" type="slidenum">
              <a:rPr lang="en-US" smtClean="0"/>
              <a:t>‹#›</a:t>
            </a:fld>
            <a:endParaRPr lang="en-US"/>
          </a:p>
        </p:txBody>
      </p:sp>
      <p:sp>
        <p:nvSpPr>
          <p:cNvPr id="8" name="Text Placeholder 7">
            <a:extLst>
              <a:ext uri="{FF2B5EF4-FFF2-40B4-BE49-F238E27FC236}">
                <a16:creationId xmlns:a16="http://schemas.microsoft.com/office/drawing/2014/main" id="{E8D0FBCD-EE24-4372-BC98-BF8E948DD284}"/>
              </a:ext>
            </a:extLst>
          </p:cNvPr>
          <p:cNvSpPr>
            <a:spLocks noGrp="1"/>
          </p:cNvSpPr>
          <p:nvPr>
            <p:ph type="body" sz="quarter" idx="13"/>
          </p:nvPr>
        </p:nvSpPr>
        <p:spPr>
          <a:xfrm>
            <a:off x="183220" y="558913"/>
            <a:ext cx="11561104" cy="714375"/>
          </a:xfrm>
        </p:spPr>
        <p:txBody>
          <a:bodyPr lIns="0" rIns="0"/>
          <a:lstStyle>
            <a:lvl1pPr marL="0" indent="0">
              <a:buFontTx/>
              <a:buNone/>
              <a:defRPr/>
            </a:lvl1pPr>
            <a:lvl2pPr marL="228600" indent="0">
              <a:buNone/>
              <a:defRPr/>
            </a:lvl2pPr>
          </a:lstStyle>
          <a:p>
            <a:pPr lvl="0"/>
            <a:r>
              <a:rPr lang="en-GB"/>
              <a:t>Click to edit Master text styles</a:t>
            </a:r>
          </a:p>
        </p:txBody>
      </p:sp>
    </p:spTree>
    <p:extLst>
      <p:ext uri="{BB962C8B-B14F-4D97-AF65-F5344CB8AC3E}">
        <p14:creationId xmlns:p14="http://schemas.microsoft.com/office/powerpoint/2010/main" val="3798703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D601E-79A4-4C4A-BCE9-118BAB20A50F}"/>
              </a:ext>
            </a:extLst>
          </p:cNvPr>
          <p:cNvSpPr>
            <a:spLocks noGrp="1"/>
          </p:cNvSpPr>
          <p:nvPr>
            <p:ph type="title"/>
          </p:nvPr>
        </p:nvSpPr>
        <p:spPr/>
        <p:txBody>
          <a:bodyPr/>
          <a:lstStyle/>
          <a:p>
            <a:r>
              <a:rPr lang="en-GB"/>
              <a:t>Click to edit Master title style</a:t>
            </a:r>
            <a:endParaRPr lang="en-US"/>
          </a:p>
        </p:txBody>
      </p:sp>
      <p:sp>
        <p:nvSpPr>
          <p:cNvPr id="4" name="Date Placeholder 3">
            <a:extLst>
              <a:ext uri="{FF2B5EF4-FFF2-40B4-BE49-F238E27FC236}">
                <a16:creationId xmlns:a16="http://schemas.microsoft.com/office/drawing/2014/main" id="{60D04CB8-485A-46FF-AC30-BDF406EEA118}"/>
              </a:ext>
            </a:extLst>
          </p:cNvPr>
          <p:cNvSpPr>
            <a:spLocks noGrp="1"/>
          </p:cNvSpPr>
          <p:nvPr>
            <p:ph type="dt" sz="half" idx="10"/>
          </p:nvPr>
        </p:nvSpPr>
        <p:spPr/>
        <p:txBody>
          <a:bodyPr/>
          <a:lstStyle/>
          <a:p>
            <a:fld id="{8744D272-7787-42F5-8E85-5772E5920C77}" type="datetimeFigureOut">
              <a:rPr lang="en-US" smtClean="0"/>
              <a:t>12/4/2025</a:t>
            </a:fld>
            <a:endParaRPr lang="en-US"/>
          </a:p>
        </p:txBody>
      </p:sp>
      <p:sp>
        <p:nvSpPr>
          <p:cNvPr id="5" name="Footer Placeholder 4">
            <a:extLst>
              <a:ext uri="{FF2B5EF4-FFF2-40B4-BE49-F238E27FC236}">
                <a16:creationId xmlns:a16="http://schemas.microsoft.com/office/drawing/2014/main" id="{245F36A8-BAF9-4FD8-A836-D12878DEA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6267A-62F2-48A8-BAA4-576130486E0F}"/>
              </a:ext>
            </a:extLst>
          </p:cNvPr>
          <p:cNvSpPr>
            <a:spLocks noGrp="1"/>
          </p:cNvSpPr>
          <p:nvPr>
            <p:ph type="sldNum" sz="quarter" idx="12"/>
          </p:nvPr>
        </p:nvSpPr>
        <p:spPr/>
        <p:txBody>
          <a:bodyPr/>
          <a:lstStyle/>
          <a:p>
            <a:fld id="{37527A84-62A5-40F8-9ABB-C2EE3BC8218F}" type="slidenum">
              <a:rPr lang="en-US" smtClean="0"/>
              <a:t>‹#›</a:t>
            </a:fld>
            <a:endParaRPr lang="en-US"/>
          </a:p>
        </p:txBody>
      </p:sp>
      <p:sp>
        <p:nvSpPr>
          <p:cNvPr id="8" name="Text Placeholder 7">
            <a:extLst>
              <a:ext uri="{FF2B5EF4-FFF2-40B4-BE49-F238E27FC236}">
                <a16:creationId xmlns:a16="http://schemas.microsoft.com/office/drawing/2014/main" id="{E8D0FBCD-EE24-4372-BC98-BF8E948DD284}"/>
              </a:ext>
            </a:extLst>
          </p:cNvPr>
          <p:cNvSpPr>
            <a:spLocks noGrp="1"/>
          </p:cNvSpPr>
          <p:nvPr>
            <p:ph type="body" sz="quarter" idx="13"/>
          </p:nvPr>
        </p:nvSpPr>
        <p:spPr>
          <a:xfrm>
            <a:off x="183220" y="558913"/>
            <a:ext cx="11561104" cy="714375"/>
          </a:xfrm>
        </p:spPr>
        <p:txBody>
          <a:bodyPr lIns="0" rIns="0"/>
          <a:lstStyle>
            <a:lvl1pPr marL="0" indent="0">
              <a:buFontTx/>
              <a:buNone/>
              <a:defRPr/>
            </a:lvl1pPr>
            <a:lvl2pPr marL="228600" indent="0">
              <a:buNone/>
              <a:defRPr/>
            </a:lvl2pPr>
          </a:lstStyle>
          <a:p>
            <a:pPr lvl="0"/>
            <a:r>
              <a:rPr lang="en-GB"/>
              <a:t>Click to edit Master text styles</a:t>
            </a:r>
          </a:p>
        </p:txBody>
      </p:sp>
    </p:spTree>
    <p:extLst>
      <p:ext uri="{BB962C8B-B14F-4D97-AF65-F5344CB8AC3E}">
        <p14:creationId xmlns:p14="http://schemas.microsoft.com/office/powerpoint/2010/main" val="3434208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1FBE3-E447-4593-9D29-D23F9A0352E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431F121-D797-47D5-BB5B-C41FCD77BF4C}"/>
              </a:ext>
            </a:extLst>
          </p:cNvPr>
          <p:cNvSpPr>
            <a:spLocks noGrp="1"/>
          </p:cNvSpPr>
          <p:nvPr>
            <p:ph sz="half" idx="1"/>
          </p:nvPr>
        </p:nvSpPr>
        <p:spPr>
          <a:xfrm>
            <a:off x="183219" y="1294662"/>
            <a:ext cx="5648324"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4CCE33C-15E7-463B-A719-8F944C6C7248}"/>
              </a:ext>
            </a:extLst>
          </p:cNvPr>
          <p:cNvSpPr>
            <a:spLocks noGrp="1"/>
          </p:cNvSpPr>
          <p:nvPr>
            <p:ph sz="half" idx="2"/>
          </p:nvPr>
        </p:nvSpPr>
        <p:spPr>
          <a:xfrm>
            <a:off x="6096000" y="1294662"/>
            <a:ext cx="5648324"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D0F29A0-F316-43B3-80F3-F7D94E2CA74F}"/>
              </a:ext>
            </a:extLst>
          </p:cNvPr>
          <p:cNvSpPr>
            <a:spLocks noGrp="1"/>
          </p:cNvSpPr>
          <p:nvPr>
            <p:ph type="dt" sz="half" idx="10"/>
          </p:nvPr>
        </p:nvSpPr>
        <p:spPr/>
        <p:txBody>
          <a:bodyPr/>
          <a:lstStyle/>
          <a:p>
            <a:fld id="{8744D272-7787-42F5-8E85-5772E5920C77}" type="datetimeFigureOut">
              <a:rPr lang="en-US" smtClean="0"/>
              <a:t>12/4/2025</a:t>
            </a:fld>
            <a:endParaRPr lang="en-US"/>
          </a:p>
        </p:txBody>
      </p:sp>
      <p:sp>
        <p:nvSpPr>
          <p:cNvPr id="6" name="Footer Placeholder 5">
            <a:extLst>
              <a:ext uri="{FF2B5EF4-FFF2-40B4-BE49-F238E27FC236}">
                <a16:creationId xmlns:a16="http://schemas.microsoft.com/office/drawing/2014/main" id="{92BDE97A-4292-4901-A47C-4EE328B10C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063935-AEC7-41F5-8E50-FD4AAC1FAACC}"/>
              </a:ext>
            </a:extLst>
          </p:cNvPr>
          <p:cNvSpPr>
            <a:spLocks noGrp="1"/>
          </p:cNvSpPr>
          <p:nvPr>
            <p:ph type="sldNum" sz="quarter" idx="12"/>
          </p:nvPr>
        </p:nvSpPr>
        <p:spPr/>
        <p:txBody>
          <a:bodyPr/>
          <a:lstStyle/>
          <a:p>
            <a:fld id="{37527A84-62A5-40F8-9ABB-C2EE3BC8218F}" type="slidenum">
              <a:rPr lang="en-US" smtClean="0"/>
              <a:t>‹#›</a:t>
            </a:fld>
            <a:endParaRPr lang="en-US"/>
          </a:p>
        </p:txBody>
      </p:sp>
    </p:spTree>
    <p:extLst>
      <p:ext uri="{BB962C8B-B14F-4D97-AF65-F5344CB8AC3E}">
        <p14:creationId xmlns:p14="http://schemas.microsoft.com/office/powerpoint/2010/main" val="3129892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B7E0835-8031-4C40-B644-960ED469D8DD}"/>
              </a:ext>
            </a:extLst>
          </p:cNvPr>
          <p:cNvGrpSpPr/>
          <p:nvPr userDrawn="1"/>
        </p:nvGrpSpPr>
        <p:grpSpPr>
          <a:xfrm>
            <a:off x="9994965" y="1461676"/>
            <a:ext cx="1790875" cy="1548151"/>
            <a:chOff x="9994965" y="1461676"/>
            <a:chExt cx="1790875" cy="1548151"/>
          </a:xfrm>
        </p:grpSpPr>
        <p:pic>
          <p:nvPicPr>
            <p:cNvPr id="11" name="Picture 10">
              <a:extLst>
                <a:ext uri="{FF2B5EF4-FFF2-40B4-BE49-F238E27FC236}">
                  <a16:creationId xmlns:a16="http://schemas.microsoft.com/office/drawing/2014/main" id="{4C6116BF-2E29-406D-A91D-3290ACCD032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225051" y="1461676"/>
              <a:ext cx="1112760" cy="546264"/>
            </a:xfrm>
            <a:prstGeom prst="rect">
              <a:avLst/>
            </a:prstGeom>
          </p:spPr>
        </p:pic>
        <p:sp>
          <p:nvSpPr>
            <p:cNvPr id="12" name="TextBox 11">
              <a:extLst>
                <a:ext uri="{FF2B5EF4-FFF2-40B4-BE49-F238E27FC236}">
                  <a16:creationId xmlns:a16="http://schemas.microsoft.com/office/drawing/2014/main" id="{5916D192-6281-462B-B727-03EA6907AE5D}"/>
                </a:ext>
              </a:extLst>
            </p:cNvPr>
            <p:cNvSpPr txBox="1"/>
            <p:nvPr/>
          </p:nvSpPr>
          <p:spPr>
            <a:xfrm>
              <a:off x="9994965" y="2071108"/>
              <a:ext cx="1790875" cy="9387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600"/>
                </a:spcAft>
                <a:buClr>
                  <a:srgbClr val="127958"/>
                </a:buClr>
                <a:buSzTx/>
                <a:buFontTx/>
                <a:buNone/>
                <a:tabLst/>
                <a:defRPr/>
              </a:pPr>
              <a:r>
                <a:rPr kumimoji="0" lang="en-US" sz="1400" b="1" i="0" u="none" strike="noStrike" kern="1200" cap="none" spc="0" normalizeH="0" baseline="0" noProof="0">
                  <a:ln>
                    <a:noFill/>
                  </a:ln>
                  <a:solidFill>
                    <a:srgbClr val="127958"/>
                  </a:solidFill>
                  <a:effectLst/>
                  <a:uLnTx/>
                  <a:uFillTx/>
                  <a:latin typeface="Calibri" panose="020F0502020204030204"/>
                  <a:ea typeface="+mn-ea"/>
                  <a:cs typeface="+mn-cs"/>
                </a:rPr>
                <a:t>Flexible Management</a:t>
              </a:r>
            </a:p>
            <a:p>
              <a:pPr marL="117475" marR="0" lvl="0" indent="-117475" algn="l" defTabSz="914400" rtl="0" eaLnBrk="1" fontAlgn="auto" latinLnBrk="0" hangingPunct="1">
                <a:lnSpc>
                  <a:spcPct val="100000"/>
                </a:lnSpc>
                <a:spcBef>
                  <a:spcPts val="0"/>
                </a:spcBef>
                <a:spcAft>
                  <a:spcPts val="0"/>
                </a:spcAft>
                <a:buClr>
                  <a:srgbClr val="222C33">
                    <a:lumMod val="25000"/>
                    <a:lumOff val="75000"/>
                  </a:srgbClr>
                </a:buClr>
                <a:buSzTx/>
                <a:buFont typeface="Arial" panose="020B0604020202020204" pitchFamily="34" charset="0"/>
                <a:buChar char="•"/>
                <a:tabLst/>
                <a:defRPr/>
              </a:pPr>
              <a:r>
                <a:rPr kumimoji="0" lang="en-US" sz="1200" b="0" i="0" u="none" strike="noStrike" kern="1200" cap="none" spc="0" normalizeH="0" baseline="0" noProof="0">
                  <a:ln>
                    <a:noFill/>
                  </a:ln>
                  <a:solidFill>
                    <a:srgbClr val="222C33"/>
                  </a:solidFill>
                  <a:effectLst/>
                  <a:uLnTx/>
                  <a:uFillTx/>
                  <a:latin typeface="Calibri" panose="020F0502020204030204"/>
                  <a:ea typeface="+mn-ea"/>
                  <a:cs typeface="+mn-cs"/>
                </a:rPr>
                <a:t>Self-service</a:t>
              </a:r>
            </a:p>
            <a:p>
              <a:pPr marL="117475" marR="0" lvl="0" indent="-117475" algn="l" defTabSz="914400" rtl="0" eaLnBrk="1" fontAlgn="auto" latinLnBrk="0" hangingPunct="1">
                <a:lnSpc>
                  <a:spcPct val="100000"/>
                </a:lnSpc>
                <a:spcBef>
                  <a:spcPts val="0"/>
                </a:spcBef>
                <a:spcAft>
                  <a:spcPts val="0"/>
                </a:spcAft>
                <a:buClr>
                  <a:srgbClr val="222C33">
                    <a:lumMod val="25000"/>
                    <a:lumOff val="75000"/>
                  </a:srgbClr>
                </a:buClr>
                <a:buSzTx/>
                <a:buFont typeface="Arial" panose="020B0604020202020204" pitchFamily="34" charset="0"/>
                <a:buChar char="•"/>
                <a:tabLst/>
                <a:defRPr/>
              </a:pPr>
              <a:r>
                <a:rPr kumimoji="0" lang="en-US" sz="1200" b="0" i="0" u="none" strike="noStrike" kern="1200" cap="none" spc="0" normalizeH="0" baseline="0" noProof="0">
                  <a:ln>
                    <a:noFill/>
                  </a:ln>
                  <a:solidFill>
                    <a:srgbClr val="222C33"/>
                  </a:solidFill>
                  <a:effectLst/>
                  <a:uLnTx/>
                  <a:uFillTx/>
                  <a:latin typeface="Calibri" panose="020F0502020204030204"/>
                  <a:ea typeface="+mn-ea"/>
                  <a:cs typeface="+mn-cs"/>
                </a:rPr>
                <a:t>Co-managed</a:t>
              </a:r>
            </a:p>
            <a:p>
              <a:pPr marL="117475" marR="0" lvl="0" indent="-117475" algn="l" defTabSz="914400" rtl="0" eaLnBrk="1" fontAlgn="auto" latinLnBrk="0" hangingPunct="1">
                <a:lnSpc>
                  <a:spcPct val="100000"/>
                </a:lnSpc>
                <a:spcBef>
                  <a:spcPts val="0"/>
                </a:spcBef>
                <a:spcAft>
                  <a:spcPts val="0"/>
                </a:spcAft>
                <a:buClr>
                  <a:srgbClr val="222C33">
                    <a:lumMod val="25000"/>
                    <a:lumOff val="75000"/>
                  </a:srgbClr>
                </a:buClr>
                <a:buSzTx/>
                <a:buFont typeface="Arial" panose="020B0604020202020204" pitchFamily="34" charset="0"/>
                <a:buChar char="•"/>
                <a:tabLst/>
                <a:defRPr/>
              </a:pPr>
              <a:r>
                <a:rPr kumimoji="0" lang="en-US" sz="1200" b="0" i="0" u="none" strike="noStrike" kern="1200" cap="none" spc="0" normalizeH="0" baseline="0" noProof="0">
                  <a:ln>
                    <a:noFill/>
                  </a:ln>
                  <a:solidFill>
                    <a:srgbClr val="222C33"/>
                  </a:solidFill>
                  <a:effectLst/>
                  <a:uLnTx/>
                  <a:uFillTx/>
                  <a:latin typeface="Calibri" panose="020F0502020204030204"/>
                  <a:ea typeface="+mn-ea"/>
                  <a:cs typeface="+mn-cs"/>
                </a:rPr>
                <a:t>Fully managed</a:t>
              </a:r>
            </a:p>
          </p:txBody>
        </p:sp>
      </p:grpSp>
      <p:sp>
        <p:nvSpPr>
          <p:cNvPr id="13" name="Slide Number Placeholder 22">
            <a:extLst>
              <a:ext uri="{FF2B5EF4-FFF2-40B4-BE49-F238E27FC236}">
                <a16:creationId xmlns:a16="http://schemas.microsoft.com/office/drawing/2014/main" id="{9C95DEF5-A558-43EB-94D4-E325E1CB5DE2}"/>
              </a:ext>
            </a:extLst>
          </p:cNvPr>
          <p:cNvSpPr txBox="1">
            <a:spLocks/>
          </p:cNvSpPr>
          <p:nvPr userDrawn="1"/>
        </p:nvSpPr>
        <p:spPr>
          <a:xfrm>
            <a:off x="11720468" y="6518553"/>
            <a:ext cx="408632" cy="244661"/>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88EE3E-AEEC-954C-BC2F-BB88D43739C2}" type="slidenum">
              <a:rPr lang="en-IL" smtClean="0"/>
              <a:pPr/>
              <a:t>‹#›</a:t>
            </a:fld>
            <a:endParaRPr lang="en-IL"/>
          </a:p>
        </p:txBody>
      </p:sp>
      <p:grpSp>
        <p:nvGrpSpPr>
          <p:cNvPr id="14" name="Group 13">
            <a:extLst>
              <a:ext uri="{FF2B5EF4-FFF2-40B4-BE49-F238E27FC236}">
                <a16:creationId xmlns:a16="http://schemas.microsoft.com/office/drawing/2014/main" id="{AB5C4FA2-CF25-4C5B-B790-A37E65684E54}"/>
              </a:ext>
            </a:extLst>
          </p:cNvPr>
          <p:cNvGrpSpPr/>
          <p:nvPr userDrawn="1"/>
        </p:nvGrpSpPr>
        <p:grpSpPr>
          <a:xfrm>
            <a:off x="6144482" y="1408394"/>
            <a:ext cx="2649460" cy="1585140"/>
            <a:chOff x="5328375" y="1408394"/>
            <a:chExt cx="2649460" cy="1585140"/>
          </a:xfrm>
        </p:grpSpPr>
        <p:pic>
          <p:nvPicPr>
            <p:cNvPr id="15" name="Picture 14">
              <a:extLst>
                <a:ext uri="{FF2B5EF4-FFF2-40B4-BE49-F238E27FC236}">
                  <a16:creationId xmlns:a16="http://schemas.microsoft.com/office/drawing/2014/main" id="{E1E07D88-863E-41D5-B2D0-E0766BEF8BE2}"/>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r="49806"/>
            <a:stretch/>
          </p:blipFill>
          <p:spPr>
            <a:xfrm flipH="1">
              <a:off x="5328375" y="1554246"/>
              <a:ext cx="783699" cy="1439288"/>
            </a:xfrm>
            <a:prstGeom prst="rect">
              <a:avLst/>
            </a:prstGeom>
          </p:spPr>
        </p:pic>
        <p:grpSp>
          <p:nvGrpSpPr>
            <p:cNvPr id="16" name="Group 15">
              <a:extLst>
                <a:ext uri="{FF2B5EF4-FFF2-40B4-BE49-F238E27FC236}">
                  <a16:creationId xmlns:a16="http://schemas.microsoft.com/office/drawing/2014/main" id="{FB577DC2-85F9-439D-8DE9-DA8FBBBC7409}"/>
                </a:ext>
              </a:extLst>
            </p:cNvPr>
            <p:cNvGrpSpPr/>
            <p:nvPr/>
          </p:nvGrpSpPr>
          <p:grpSpPr>
            <a:xfrm>
              <a:off x="6058720" y="1408394"/>
              <a:ext cx="1919115" cy="963318"/>
              <a:chOff x="5942039" y="1446816"/>
              <a:chExt cx="1919115" cy="963318"/>
            </a:xfrm>
          </p:grpSpPr>
          <p:sp>
            <p:nvSpPr>
              <p:cNvPr id="17" name="Rectangle 16">
                <a:extLst>
                  <a:ext uri="{FF2B5EF4-FFF2-40B4-BE49-F238E27FC236}">
                    <a16:creationId xmlns:a16="http://schemas.microsoft.com/office/drawing/2014/main" id="{34F8EDE0-6194-4DFE-BA35-0BADF5A23707}"/>
                  </a:ext>
                </a:extLst>
              </p:cNvPr>
              <p:cNvSpPr/>
              <p:nvPr/>
            </p:nvSpPr>
            <p:spPr>
              <a:xfrm>
                <a:off x="5942039" y="1446816"/>
                <a:ext cx="864339" cy="273858"/>
              </a:xfrm>
              <a:prstGeom prst="rect">
                <a:avLst/>
              </a:prstGeom>
            </p:spPr>
            <p:txBody>
              <a:bodyPr wrap="none">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NG Firewall</a:t>
                </a:r>
              </a:p>
            </p:txBody>
          </p:sp>
          <p:sp>
            <p:nvSpPr>
              <p:cNvPr id="18" name="Rectangle 17">
                <a:extLst>
                  <a:ext uri="{FF2B5EF4-FFF2-40B4-BE49-F238E27FC236}">
                    <a16:creationId xmlns:a16="http://schemas.microsoft.com/office/drawing/2014/main" id="{23FEBEA4-A290-4E1F-B15F-01FCD9D072A0}"/>
                  </a:ext>
                </a:extLst>
              </p:cNvPr>
              <p:cNvSpPr/>
              <p:nvPr/>
            </p:nvSpPr>
            <p:spPr>
              <a:xfrm>
                <a:off x="5942039" y="1663884"/>
                <a:ext cx="1468672" cy="273858"/>
              </a:xfrm>
              <a:prstGeom prst="rect">
                <a:avLst/>
              </a:prstGeom>
            </p:spPr>
            <p:txBody>
              <a:bodyPr wrap="none">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Secure Web Gateway </a:t>
                </a:r>
              </a:p>
            </p:txBody>
          </p:sp>
          <p:sp>
            <p:nvSpPr>
              <p:cNvPr id="19" name="Rectangle 18">
                <a:extLst>
                  <a:ext uri="{FF2B5EF4-FFF2-40B4-BE49-F238E27FC236}">
                    <a16:creationId xmlns:a16="http://schemas.microsoft.com/office/drawing/2014/main" id="{5AC0677C-6501-402E-8743-5216F26791D2}"/>
                  </a:ext>
                </a:extLst>
              </p:cNvPr>
              <p:cNvSpPr/>
              <p:nvPr/>
            </p:nvSpPr>
            <p:spPr>
              <a:xfrm>
                <a:off x="5942039" y="1911367"/>
                <a:ext cx="1919115" cy="273858"/>
              </a:xfrm>
              <a:prstGeom prst="rect">
                <a:avLst/>
              </a:prstGeom>
            </p:spPr>
            <p:txBody>
              <a:bodyPr wrap="none">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Advanced Threat Prevention  </a:t>
                </a:r>
              </a:p>
            </p:txBody>
          </p:sp>
          <p:sp>
            <p:nvSpPr>
              <p:cNvPr id="20" name="Rectangle 19">
                <a:extLst>
                  <a:ext uri="{FF2B5EF4-FFF2-40B4-BE49-F238E27FC236}">
                    <a16:creationId xmlns:a16="http://schemas.microsoft.com/office/drawing/2014/main" id="{1458A31F-BAD3-446B-9F98-881F167E169B}"/>
                  </a:ext>
                </a:extLst>
              </p:cNvPr>
              <p:cNvSpPr/>
              <p:nvPr/>
            </p:nvSpPr>
            <p:spPr>
              <a:xfrm>
                <a:off x="5942039" y="2136276"/>
                <a:ext cx="1726755" cy="273858"/>
              </a:xfrm>
              <a:prstGeom prst="rect">
                <a:avLst/>
              </a:prstGeom>
            </p:spPr>
            <p:txBody>
              <a:bodyPr wrap="none">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Cloud and Mobile Security</a:t>
                </a:r>
              </a:p>
            </p:txBody>
          </p:sp>
        </p:grpSp>
      </p:grpSp>
      <p:grpSp>
        <p:nvGrpSpPr>
          <p:cNvPr id="21" name="Group 20">
            <a:extLst>
              <a:ext uri="{FF2B5EF4-FFF2-40B4-BE49-F238E27FC236}">
                <a16:creationId xmlns:a16="http://schemas.microsoft.com/office/drawing/2014/main" id="{C359527F-F9D2-44F8-954C-11137634E415}"/>
              </a:ext>
            </a:extLst>
          </p:cNvPr>
          <p:cNvGrpSpPr/>
          <p:nvPr userDrawn="1"/>
        </p:nvGrpSpPr>
        <p:grpSpPr>
          <a:xfrm>
            <a:off x="3659831" y="1408394"/>
            <a:ext cx="2464573" cy="1585140"/>
            <a:chOff x="2843724" y="1408394"/>
            <a:chExt cx="2464573" cy="1585140"/>
          </a:xfrm>
        </p:grpSpPr>
        <p:pic>
          <p:nvPicPr>
            <p:cNvPr id="22" name="Picture 21">
              <a:extLst>
                <a:ext uri="{FF2B5EF4-FFF2-40B4-BE49-F238E27FC236}">
                  <a16:creationId xmlns:a16="http://schemas.microsoft.com/office/drawing/2014/main" id="{1D68E4D2-81C4-43FC-8BB1-AC87C1BBEAB8}"/>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r="49806"/>
            <a:stretch/>
          </p:blipFill>
          <p:spPr>
            <a:xfrm>
              <a:off x="4524598" y="1554246"/>
              <a:ext cx="783699" cy="1439288"/>
            </a:xfrm>
            <a:prstGeom prst="rect">
              <a:avLst/>
            </a:prstGeom>
          </p:spPr>
        </p:pic>
        <p:grpSp>
          <p:nvGrpSpPr>
            <p:cNvPr id="23" name="Group 22">
              <a:extLst>
                <a:ext uri="{FF2B5EF4-FFF2-40B4-BE49-F238E27FC236}">
                  <a16:creationId xmlns:a16="http://schemas.microsoft.com/office/drawing/2014/main" id="{00D75136-6A4F-41ED-8CC5-5FCFC92498DF}"/>
                </a:ext>
              </a:extLst>
            </p:cNvPr>
            <p:cNvGrpSpPr/>
            <p:nvPr/>
          </p:nvGrpSpPr>
          <p:grpSpPr>
            <a:xfrm>
              <a:off x="2843724" y="1408394"/>
              <a:ext cx="1747594" cy="963318"/>
              <a:chOff x="2640072" y="1434290"/>
              <a:chExt cx="1747594" cy="963318"/>
            </a:xfrm>
          </p:grpSpPr>
          <p:sp>
            <p:nvSpPr>
              <p:cNvPr id="24" name="Rectangle 23">
                <a:extLst>
                  <a:ext uri="{FF2B5EF4-FFF2-40B4-BE49-F238E27FC236}">
                    <a16:creationId xmlns:a16="http://schemas.microsoft.com/office/drawing/2014/main" id="{286F1819-A363-4938-9651-91C834CD94C8}"/>
                  </a:ext>
                </a:extLst>
              </p:cNvPr>
              <p:cNvSpPr/>
              <p:nvPr/>
            </p:nvSpPr>
            <p:spPr>
              <a:xfrm>
                <a:off x="3066470" y="1434290"/>
                <a:ext cx="1321196" cy="273858"/>
              </a:xfrm>
              <a:prstGeom prst="rect">
                <a:avLst/>
              </a:prstGeom>
            </p:spPr>
            <p:txBody>
              <a:bodyPr wrap="none">
                <a:spAutoFit/>
              </a:bodyPr>
              <a:lstStyle/>
              <a:p>
                <a:pPr marL="0" marR="0" lvl="0" indent="0" algn="r" defTabSz="914400" rtl="0" eaLnBrk="1" fontAlgn="auto" latinLnBrk="0" hangingPunct="1">
                  <a:lnSpc>
                    <a:spcPts val="15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Cloud Optimization</a:t>
                </a:r>
              </a:p>
            </p:txBody>
          </p:sp>
          <p:sp>
            <p:nvSpPr>
              <p:cNvPr id="25" name="Rectangle 24">
                <a:extLst>
                  <a:ext uri="{FF2B5EF4-FFF2-40B4-BE49-F238E27FC236}">
                    <a16:creationId xmlns:a16="http://schemas.microsoft.com/office/drawing/2014/main" id="{500F7753-7FA0-4EC3-84DB-F37A2A8ACD7E}"/>
                  </a:ext>
                </a:extLst>
              </p:cNvPr>
              <p:cNvSpPr/>
              <p:nvPr/>
            </p:nvSpPr>
            <p:spPr>
              <a:xfrm>
                <a:off x="3096928" y="1651358"/>
                <a:ext cx="1290738" cy="273858"/>
              </a:xfrm>
              <a:prstGeom prst="rect">
                <a:avLst/>
              </a:prstGeom>
            </p:spPr>
            <p:txBody>
              <a:bodyPr wrap="none">
                <a:spAutoFit/>
              </a:bodyPr>
              <a:lstStyle/>
              <a:p>
                <a:pPr marL="0" marR="0" lvl="0" indent="0" algn="r" defTabSz="914400" rtl="0" eaLnBrk="1" fontAlgn="auto" latinLnBrk="0" hangingPunct="1">
                  <a:lnSpc>
                    <a:spcPts val="15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WAN Optimization</a:t>
                </a:r>
              </a:p>
            </p:txBody>
          </p:sp>
          <p:sp>
            <p:nvSpPr>
              <p:cNvPr id="26" name="Rectangle 25">
                <a:extLst>
                  <a:ext uri="{FF2B5EF4-FFF2-40B4-BE49-F238E27FC236}">
                    <a16:creationId xmlns:a16="http://schemas.microsoft.com/office/drawing/2014/main" id="{369D292F-BA87-4BD0-864E-A321B92DE6A0}"/>
                  </a:ext>
                </a:extLst>
              </p:cNvPr>
              <p:cNvSpPr/>
              <p:nvPr/>
            </p:nvSpPr>
            <p:spPr>
              <a:xfrm>
                <a:off x="2640072" y="1898841"/>
                <a:ext cx="1747594" cy="273858"/>
              </a:xfrm>
              <a:prstGeom prst="rect">
                <a:avLst/>
              </a:prstGeom>
            </p:spPr>
            <p:txBody>
              <a:bodyPr wrap="none">
                <a:spAutoFit/>
              </a:bodyPr>
              <a:lstStyle/>
              <a:p>
                <a:pPr marL="0" marR="0" lvl="0" indent="0" algn="r" defTabSz="914400" rtl="0" eaLnBrk="1" fontAlgn="auto" latinLnBrk="0" hangingPunct="1">
                  <a:lnSpc>
                    <a:spcPts val="15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Global Route Optimization</a:t>
                </a:r>
              </a:p>
            </p:txBody>
          </p:sp>
          <p:sp>
            <p:nvSpPr>
              <p:cNvPr id="27" name="Rectangle 26">
                <a:extLst>
                  <a:ext uri="{FF2B5EF4-FFF2-40B4-BE49-F238E27FC236}">
                    <a16:creationId xmlns:a16="http://schemas.microsoft.com/office/drawing/2014/main" id="{D7FCAE52-A4B2-4BB3-B7C6-C4C66C5A4C76}"/>
                  </a:ext>
                </a:extLst>
              </p:cNvPr>
              <p:cNvSpPr/>
              <p:nvPr/>
            </p:nvSpPr>
            <p:spPr>
              <a:xfrm>
                <a:off x="2752283" y="2123750"/>
                <a:ext cx="1635383" cy="273858"/>
              </a:xfrm>
              <a:prstGeom prst="rect">
                <a:avLst/>
              </a:prstGeom>
            </p:spPr>
            <p:txBody>
              <a:bodyPr wrap="none">
                <a:spAutoFit/>
              </a:bodyPr>
              <a:lstStyle/>
              <a:p>
                <a:pPr marL="0" marR="0" lvl="0" indent="0" algn="r" defTabSz="914400" rtl="0" eaLnBrk="1" fontAlgn="auto" latinLnBrk="0" hangingPunct="1">
                  <a:lnSpc>
                    <a:spcPts val="15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Self-healing Architecture</a:t>
                </a:r>
              </a:p>
            </p:txBody>
          </p:sp>
        </p:grpSp>
      </p:grpSp>
      <p:pic>
        <p:nvPicPr>
          <p:cNvPr id="28" name="Picture 27">
            <a:extLst>
              <a:ext uri="{FF2B5EF4-FFF2-40B4-BE49-F238E27FC236}">
                <a16:creationId xmlns:a16="http://schemas.microsoft.com/office/drawing/2014/main" id="{0D43E9A2-20C8-4031-B969-EFBA0E6C4B87}"/>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111510" y="3083940"/>
            <a:ext cx="6045866" cy="1022462"/>
          </a:xfrm>
          <a:prstGeom prst="rect">
            <a:avLst/>
          </a:prstGeom>
        </p:spPr>
      </p:pic>
      <p:grpSp>
        <p:nvGrpSpPr>
          <p:cNvPr id="29" name="Group 28">
            <a:extLst>
              <a:ext uri="{FF2B5EF4-FFF2-40B4-BE49-F238E27FC236}">
                <a16:creationId xmlns:a16="http://schemas.microsoft.com/office/drawing/2014/main" id="{B46D4916-A549-45D5-90FE-E35F46D5FEB3}"/>
              </a:ext>
            </a:extLst>
          </p:cNvPr>
          <p:cNvGrpSpPr/>
          <p:nvPr userDrawn="1"/>
        </p:nvGrpSpPr>
        <p:grpSpPr>
          <a:xfrm>
            <a:off x="1453471" y="2069038"/>
            <a:ext cx="2336333" cy="1811732"/>
            <a:chOff x="2285868" y="3762352"/>
            <a:chExt cx="1885286" cy="1461963"/>
          </a:xfrm>
        </p:grpSpPr>
        <p:cxnSp>
          <p:nvCxnSpPr>
            <p:cNvPr id="30" name="Straight Connector 29">
              <a:extLst>
                <a:ext uri="{FF2B5EF4-FFF2-40B4-BE49-F238E27FC236}">
                  <a16:creationId xmlns:a16="http://schemas.microsoft.com/office/drawing/2014/main" id="{1BA8495D-B394-4B9B-AD2C-2C27E3E3DE96}"/>
                </a:ext>
              </a:extLst>
            </p:cNvPr>
            <p:cNvCxnSpPr>
              <a:cxnSpLocks/>
            </p:cNvCxnSpPr>
            <p:nvPr/>
          </p:nvCxnSpPr>
          <p:spPr>
            <a:xfrm>
              <a:off x="3123368" y="4546943"/>
              <a:ext cx="462556" cy="316356"/>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D0E61C5-6FF5-40BE-8FAC-45DE3F69C6C8}"/>
                </a:ext>
              </a:extLst>
            </p:cNvPr>
            <p:cNvCxnSpPr>
              <a:cxnSpLocks/>
            </p:cNvCxnSpPr>
            <p:nvPr/>
          </p:nvCxnSpPr>
          <p:spPr>
            <a:xfrm>
              <a:off x="2685008" y="4467929"/>
              <a:ext cx="923980" cy="442685"/>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pic>
          <p:nvPicPr>
            <p:cNvPr id="32" name="Picture 31">
              <a:extLst>
                <a:ext uri="{FF2B5EF4-FFF2-40B4-BE49-F238E27FC236}">
                  <a16:creationId xmlns:a16="http://schemas.microsoft.com/office/drawing/2014/main" id="{019B2C3A-C0D0-4E44-8C2D-2F7D48A7FFD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907072" y="4303678"/>
              <a:ext cx="409034" cy="256090"/>
            </a:xfrm>
            <a:prstGeom prst="rect">
              <a:avLst/>
            </a:prstGeom>
          </p:spPr>
        </p:pic>
        <p:cxnSp>
          <p:nvCxnSpPr>
            <p:cNvPr id="33" name="Straight Connector 32">
              <a:extLst>
                <a:ext uri="{FF2B5EF4-FFF2-40B4-BE49-F238E27FC236}">
                  <a16:creationId xmlns:a16="http://schemas.microsoft.com/office/drawing/2014/main" id="{66997227-5BCC-46C6-B532-74516A38929D}"/>
                </a:ext>
              </a:extLst>
            </p:cNvPr>
            <p:cNvCxnSpPr/>
            <p:nvPr/>
          </p:nvCxnSpPr>
          <p:spPr>
            <a:xfrm flipH="1">
              <a:off x="3750602" y="4546943"/>
              <a:ext cx="190681" cy="286021"/>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1AE1DD8-F717-4B3E-B160-DFC024D4D4C8}"/>
                </a:ext>
              </a:extLst>
            </p:cNvPr>
            <p:cNvCxnSpPr/>
            <p:nvPr/>
          </p:nvCxnSpPr>
          <p:spPr>
            <a:xfrm>
              <a:off x="3690606" y="4178339"/>
              <a:ext cx="0" cy="684960"/>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A378109-B75F-4C57-95D0-BD7C1A6C9BAF}"/>
                </a:ext>
              </a:extLst>
            </p:cNvPr>
            <p:cNvCxnSpPr/>
            <p:nvPr/>
          </p:nvCxnSpPr>
          <p:spPr>
            <a:xfrm>
              <a:off x="3460923" y="4000903"/>
              <a:ext cx="207340" cy="879731"/>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83C1737-B062-4C09-B85E-DF3364358B7D}"/>
                </a:ext>
              </a:extLst>
            </p:cNvPr>
            <p:cNvCxnSpPr>
              <a:cxnSpLocks/>
            </p:cNvCxnSpPr>
            <p:nvPr/>
          </p:nvCxnSpPr>
          <p:spPr>
            <a:xfrm>
              <a:off x="3080194" y="4068225"/>
              <a:ext cx="566401" cy="799408"/>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8F5F7F0-8796-4CBF-8136-76927590A288}"/>
                </a:ext>
              </a:extLst>
            </p:cNvPr>
            <p:cNvCxnSpPr/>
            <p:nvPr/>
          </p:nvCxnSpPr>
          <p:spPr>
            <a:xfrm>
              <a:off x="2948876" y="4766983"/>
              <a:ext cx="645715" cy="161321"/>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6002816-B12B-4C98-9097-348318F06B46}"/>
                </a:ext>
              </a:extLst>
            </p:cNvPr>
            <p:cNvCxnSpPr/>
            <p:nvPr/>
          </p:nvCxnSpPr>
          <p:spPr>
            <a:xfrm flipV="1">
              <a:off x="3235573" y="4954306"/>
              <a:ext cx="341683" cy="82882"/>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pic>
          <p:nvPicPr>
            <p:cNvPr id="39" name="Picture 38">
              <a:extLst>
                <a:ext uri="{FF2B5EF4-FFF2-40B4-BE49-F238E27FC236}">
                  <a16:creationId xmlns:a16="http://schemas.microsoft.com/office/drawing/2014/main" id="{513E5A94-F649-4324-B080-F739A32EC544}"/>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520243" y="3965009"/>
              <a:ext cx="439090" cy="291395"/>
            </a:xfrm>
            <a:prstGeom prst="rect">
              <a:avLst/>
            </a:prstGeom>
          </p:spPr>
        </p:pic>
        <p:pic>
          <p:nvPicPr>
            <p:cNvPr id="40" name="Picture 39">
              <a:extLst>
                <a:ext uri="{FF2B5EF4-FFF2-40B4-BE49-F238E27FC236}">
                  <a16:creationId xmlns:a16="http://schemas.microsoft.com/office/drawing/2014/main" id="{CF8263A5-5F0F-4BE3-B074-98192039841A}"/>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3747511" y="4345864"/>
              <a:ext cx="423643" cy="265236"/>
            </a:xfrm>
            <a:prstGeom prst="rect">
              <a:avLst/>
            </a:prstGeom>
          </p:spPr>
        </p:pic>
        <p:pic>
          <p:nvPicPr>
            <p:cNvPr id="41" name="Picture 40">
              <a:extLst>
                <a:ext uri="{FF2B5EF4-FFF2-40B4-BE49-F238E27FC236}">
                  <a16:creationId xmlns:a16="http://schemas.microsoft.com/office/drawing/2014/main" id="{9F32977F-0D9C-4F91-B5D9-98EB5987431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606052" y="3762352"/>
              <a:ext cx="596783" cy="375752"/>
            </a:xfrm>
            <a:prstGeom prst="rect">
              <a:avLst/>
            </a:prstGeom>
          </p:spPr>
        </p:pic>
        <p:pic>
          <p:nvPicPr>
            <p:cNvPr id="42" name="Picture 41">
              <a:extLst>
                <a:ext uri="{FF2B5EF4-FFF2-40B4-BE49-F238E27FC236}">
                  <a16:creationId xmlns:a16="http://schemas.microsoft.com/office/drawing/2014/main" id="{9AABE23A-79C4-4ABE-BF83-B7E260097F17}"/>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2362961" y="4586038"/>
              <a:ext cx="648357" cy="254185"/>
            </a:xfrm>
            <a:prstGeom prst="rect">
              <a:avLst/>
            </a:prstGeom>
          </p:spPr>
        </p:pic>
        <p:pic>
          <p:nvPicPr>
            <p:cNvPr id="43" name="Picture 42">
              <a:extLst>
                <a:ext uri="{FF2B5EF4-FFF2-40B4-BE49-F238E27FC236}">
                  <a16:creationId xmlns:a16="http://schemas.microsoft.com/office/drawing/2014/main" id="{23CD6DAC-F1A0-40FD-B91F-8A8924D6BD0D}"/>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2758803" y="4863299"/>
              <a:ext cx="515738" cy="361016"/>
            </a:xfrm>
            <a:prstGeom prst="rect">
              <a:avLst/>
            </a:prstGeom>
          </p:spPr>
        </p:pic>
        <p:pic>
          <p:nvPicPr>
            <p:cNvPr id="44" name="Picture 43">
              <a:extLst>
                <a:ext uri="{FF2B5EF4-FFF2-40B4-BE49-F238E27FC236}">
                  <a16:creationId xmlns:a16="http://schemas.microsoft.com/office/drawing/2014/main" id="{1F36D387-1BFC-4229-A7CD-F005BE83A54D}"/>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3250940" y="3814611"/>
              <a:ext cx="364701" cy="232082"/>
            </a:xfrm>
            <a:prstGeom prst="rect">
              <a:avLst/>
            </a:prstGeom>
          </p:spPr>
        </p:pic>
        <p:pic>
          <p:nvPicPr>
            <p:cNvPr id="45" name="Picture 44">
              <a:extLst>
                <a:ext uri="{FF2B5EF4-FFF2-40B4-BE49-F238E27FC236}">
                  <a16:creationId xmlns:a16="http://schemas.microsoft.com/office/drawing/2014/main" id="{5CBBB2CB-1950-4371-82C1-4BAA08E94258}"/>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2285868" y="4155913"/>
              <a:ext cx="519742" cy="325992"/>
            </a:xfrm>
            <a:prstGeom prst="rect">
              <a:avLst/>
            </a:prstGeom>
          </p:spPr>
        </p:pic>
      </p:grpSp>
      <p:grpSp>
        <p:nvGrpSpPr>
          <p:cNvPr id="46" name="Group 45">
            <a:extLst>
              <a:ext uri="{FF2B5EF4-FFF2-40B4-BE49-F238E27FC236}">
                <a16:creationId xmlns:a16="http://schemas.microsoft.com/office/drawing/2014/main" id="{79C39A0E-4BCE-4E3E-A11D-B411C2177141}"/>
              </a:ext>
            </a:extLst>
          </p:cNvPr>
          <p:cNvGrpSpPr/>
          <p:nvPr userDrawn="1"/>
        </p:nvGrpSpPr>
        <p:grpSpPr>
          <a:xfrm>
            <a:off x="1444938" y="3599432"/>
            <a:ext cx="5416190" cy="2052950"/>
            <a:chOff x="628831" y="3599432"/>
            <a:chExt cx="5416190" cy="2052950"/>
          </a:xfrm>
        </p:grpSpPr>
        <p:grpSp>
          <p:nvGrpSpPr>
            <p:cNvPr id="47" name="Group 46">
              <a:extLst>
                <a:ext uri="{FF2B5EF4-FFF2-40B4-BE49-F238E27FC236}">
                  <a16:creationId xmlns:a16="http://schemas.microsoft.com/office/drawing/2014/main" id="{C058DF4D-A6CC-4994-8F97-D36C2DB64797}"/>
                </a:ext>
              </a:extLst>
            </p:cNvPr>
            <p:cNvGrpSpPr/>
            <p:nvPr/>
          </p:nvGrpSpPr>
          <p:grpSpPr>
            <a:xfrm>
              <a:off x="628831" y="3599432"/>
              <a:ext cx="5160945" cy="2052950"/>
              <a:chOff x="2341995" y="4494588"/>
              <a:chExt cx="4164579" cy="1656610"/>
            </a:xfrm>
          </p:grpSpPr>
          <p:grpSp>
            <p:nvGrpSpPr>
              <p:cNvPr id="59" name="Group 58">
                <a:extLst>
                  <a:ext uri="{FF2B5EF4-FFF2-40B4-BE49-F238E27FC236}">
                    <a16:creationId xmlns:a16="http://schemas.microsoft.com/office/drawing/2014/main" id="{9AC816E0-4084-4403-B54D-14F777C64975}"/>
                  </a:ext>
                </a:extLst>
              </p:cNvPr>
              <p:cNvGrpSpPr/>
              <p:nvPr/>
            </p:nvGrpSpPr>
            <p:grpSpPr>
              <a:xfrm>
                <a:off x="2341995" y="4494588"/>
                <a:ext cx="4164579" cy="1656610"/>
                <a:chOff x="2341995" y="4494588"/>
                <a:chExt cx="4164579" cy="1656610"/>
              </a:xfrm>
            </p:grpSpPr>
            <p:cxnSp>
              <p:nvCxnSpPr>
                <p:cNvPr id="61" name="Straight Connector 60">
                  <a:extLst>
                    <a:ext uri="{FF2B5EF4-FFF2-40B4-BE49-F238E27FC236}">
                      <a16:creationId xmlns:a16="http://schemas.microsoft.com/office/drawing/2014/main" id="{564F05D9-C16C-4EDA-BAB3-B2FEA0F61437}"/>
                    </a:ext>
                  </a:extLst>
                </p:cNvPr>
                <p:cNvCxnSpPr/>
                <p:nvPr/>
              </p:nvCxnSpPr>
              <p:spPr>
                <a:xfrm>
                  <a:off x="6018415" y="4691857"/>
                  <a:ext cx="0" cy="1076631"/>
                </a:xfrm>
                <a:prstGeom prst="line">
                  <a:avLst/>
                </a:prstGeom>
                <a:ln w="28575">
                  <a:solidFill>
                    <a:schemeClr val="tx2"/>
                  </a:solidFill>
                  <a:prstDash val="soli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0AB86A45-2D58-45E4-94DD-F3FABE3706A2}"/>
                    </a:ext>
                  </a:extLst>
                </p:cNvPr>
                <p:cNvCxnSpPr/>
                <p:nvPr/>
              </p:nvCxnSpPr>
              <p:spPr>
                <a:xfrm>
                  <a:off x="5964382" y="4691857"/>
                  <a:ext cx="0" cy="1076631"/>
                </a:xfrm>
                <a:prstGeom prst="line">
                  <a:avLst/>
                </a:prstGeom>
                <a:ln w="28575">
                  <a:solidFill>
                    <a:schemeClr val="tx2"/>
                  </a:solidFill>
                  <a:prstDash val="soli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44982D4-26EF-4689-9836-5C21CFAADD1A}"/>
                    </a:ext>
                  </a:extLst>
                </p:cNvPr>
                <p:cNvCxnSpPr>
                  <a:cxnSpLocks/>
                </p:cNvCxnSpPr>
                <p:nvPr/>
              </p:nvCxnSpPr>
              <p:spPr>
                <a:xfrm flipH="1">
                  <a:off x="2581102" y="4494588"/>
                  <a:ext cx="1151313" cy="1205345"/>
                </a:xfrm>
                <a:prstGeom prst="line">
                  <a:avLst/>
                </a:prstGeom>
                <a:ln w="28575">
                  <a:solidFill>
                    <a:schemeClr val="tx2"/>
                  </a:solidFill>
                  <a:prstDash val="soli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E81B59E-2A69-4D75-9196-CECB0CB8C0B6}"/>
                    </a:ext>
                  </a:extLst>
                </p:cNvPr>
                <p:cNvCxnSpPr>
                  <a:cxnSpLocks/>
                </p:cNvCxnSpPr>
                <p:nvPr/>
              </p:nvCxnSpPr>
              <p:spPr>
                <a:xfrm flipH="1">
                  <a:off x="2660073" y="4494588"/>
                  <a:ext cx="1151313" cy="1205345"/>
                </a:xfrm>
                <a:prstGeom prst="line">
                  <a:avLst/>
                </a:prstGeom>
                <a:ln w="28575">
                  <a:solidFill>
                    <a:schemeClr val="tx2"/>
                  </a:solidFill>
                  <a:prstDash val="solid"/>
                </a:ln>
              </p:spPr>
              <p:style>
                <a:lnRef idx="1">
                  <a:schemeClr val="accent1"/>
                </a:lnRef>
                <a:fillRef idx="0">
                  <a:schemeClr val="accent1"/>
                </a:fillRef>
                <a:effectRef idx="0">
                  <a:schemeClr val="accent1"/>
                </a:effectRef>
                <a:fontRef idx="minor">
                  <a:schemeClr val="tx1"/>
                </a:fontRef>
              </p:style>
            </p:cxnSp>
            <p:pic>
              <p:nvPicPr>
                <p:cNvPr id="65" name="Picture 64">
                  <a:extLst>
                    <a:ext uri="{FF2B5EF4-FFF2-40B4-BE49-F238E27FC236}">
                      <a16:creationId xmlns:a16="http://schemas.microsoft.com/office/drawing/2014/main" id="{B1D61435-8977-4818-A1D4-B336B124B5DF}"/>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2425972" y="5539528"/>
                  <a:ext cx="386803" cy="386803"/>
                </a:xfrm>
                <a:prstGeom prst="rect">
                  <a:avLst/>
                </a:prstGeom>
              </p:spPr>
            </p:pic>
            <p:sp>
              <p:nvSpPr>
                <p:cNvPr id="66" name="TextBox 65">
                  <a:extLst>
                    <a:ext uri="{FF2B5EF4-FFF2-40B4-BE49-F238E27FC236}">
                      <a16:creationId xmlns:a16="http://schemas.microsoft.com/office/drawing/2014/main" id="{6E8384B4-8B54-421C-8F43-7E3BB4C220C7}"/>
                    </a:ext>
                  </a:extLst>
                </p:cNvPr>
                <p:cNvSpPr txBox="1"/>
                <p:nvPr/>
              </p:nvSpPr>
              <p:spPr>
                <a:xfrm>
                  <a:off x="2341995" y="5902840"/>
                  <a:ext cx="558701" cy="24835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2222">
                          <a:lumMod val="75000"/>
                          <a:lumOff val="25000"/>
                        </a:srgbClr>
                      </a:solidFill>
                      <a:effectLst/>
                      <a:uLnTx/>
                      <a:uFillTx/>
                      <a:latin typeface="Calibri" panose="020F0502020204030204"/>
                      <a:ea typeface="+mn-ea"/>
                      <a:cs typeface="+mn-cs"/>
                    </a:rPr>
                    <a:t>Branch</a:t>
                  </a:r>
                </a:p>
              </p:txBody>
            </p:sp>
            <p:sp>
              <p:nvSpPr>
                <p:cNvPr id="67" name="TextBox 66">
                  <a:extLst>
                    <a:ext uri="{FF2B5EF4-FFF2-40B4-BE49-F238E27FC236}">
                      <a16:creationId xmlns:a16="http://schemas.microsoft.com/office/drawing/2014/main" id="{BDA958BE-C6C2-4408-90C7-ACC88A4BC70B}"/>
                    </a:ext>
                  </a:extLst>
                </p:cNvPr>
                <p:cNvSpPr txBox="1"/>
                <p:nvPr/>
              </p:nvSpPr>
              <p:spPr>
                <a:xfrm rot="18900000">
                  <a:off x="2906463" y="4800777"/>
                  <a:ext cx="627829" cy="24835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2222"/>
                      </a:solidFill>
                      <a:effectLst/>
                      <a:uLnTx/>
                      <a:uFillTx/>
                      <a:latin typeface="Calibri" panose="020F0502020204030204"/>
                      <a:ea typeface="+mn-ea"/>
                      <a:cs typeface="+mn-cs"/>
                    </a:rPr>
                    <a:t>Internet</a:t>
                  </a:r>
                </a:p>
              </p:txBody>
            </p:sp>
            <p:sp>
              <p:nvSpPr>
                <p:cNvPr id="68" name="TextBox 67">
                  <a:extLst>
                    <a:ext uri="{FF2B5EF4-FFF2-40B4-BE49-F238E27FC236}">
                      <a16:creationId xmlns:a16="http://schemas.microsoft.com/office/drawing/2014/main" id="{9A6D93F8-6CB3-4384-9D3E-AA47CB4F2280}"/>
                    </a:ext>
                  </a:extLst>
                </p:cNvPr>
                <p:cNvSpPr txBox="1"/>
                <p:nvPr/>
              </p:nvSpPr>
              <p:spPr>
                <a:xfrm>
                  <a:off x="5703862" y="5902840"/>
                  <a:ext cx="802712" cy="24835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2222">
                          <a:lumMod val="75000"/>
                          <a:lumOff val="25000"/>
                        </a:srgbClr>
                      </a:solidFill>
                      <a:effectLst/>
                      <a:uLnTx/>
                      <a:uFillTx/>
                      <a:latin typeface="Calibri" panose="020F0502020204030204"/>
                      <a:ea typeface="+mn-ea"/>
                      <a:cs typeface="+mn-cs"/>
                    </a:rPr>
                    <a:t>Datacenter</a:t>
                  </a:r>
                </a:p>
              </p:txBody>
            </p:sp>
            <p:pic>
              <p:nvPicPr>
                <p:cNvPr id="69" name="Picture 68">
                  <a:extLst>
                    <a:ext uri="{FF2B5EF4-FFF2-40B4-BE49-F238E27FC236}">
                      <a16:creationId xmlns:a16="http://schemas.microsoft.com/office/drawing/2014/main" id="{0AB60BBF-0970-4DE8-8C1A-4E70D5D92CC7}"/>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5909005" y="5539528"/>
                  <a:ext cx="386803" cy="386803"/>
                </a:xfrm>
                <a:prstGeom prst="rect">
                  <a:avLst/>
                </a:prstGeom>
              </p:spPr>
            </p:pic>
            <p:pic>
              <p:nvPicPr>
                <p:cNvPr id="70" name="Picture 69">
                  <a:extLst>
                    <a:ext uri="{FF2B5EF4-FFF2-40B4-BE49-F238E27FC236}">
                      <a16:creationId xmlns:a16="http://schemas.microsoft.com/office/drawing/2014/main" id="{1E9FBCE4-3F3A-443F-A8F3-AB6D10AC3787}"/>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2686637" y="5257377"/>
                  <a:ext cx="504052" cy="232082"/>
                </a:xfrm>
                <a:prstGeom prst="rect">
                  <a:avLst/>
                </a:prstGeom>
              </p:spPr>
            </p:pic>
            <p:pic>
              <p:nvPicPr>
                <p:cNvPr id="71" name="Picture 70">
                  <a:extLst>
                    <a:ext uri="{FF2B5EF4-FFF2-40B4-BE49-F238E27FC236}">
                      <a16:creationId xmlns:a16="http://schemas.microsoft.com/office/drawing/2014/main" id="{691102DE-4793-49F8-9F4A-E1BE85C1FB39}"/>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5571153" y="5257377"/>
                  <a:ext cx="504052" cy="232082"/>
                </a:xfrm>
                <a:prstGeom prst="rect">
                  <a:avLst/>
                </a:prstGeom>
              </p:spPr>
            </p:pic>
          </p:grpSp>
          <p:sp>
            <p:nvSpPr>
              <p:cNvPr id="60" name="TextBox 59">
                <a:extLst>
                  <a:ext uri="{FF2B5EF4-FFF2-40B4-BE49-F238E27FC236}">
                    <a16:creationId xmlns:a16="http://schemas.microsoft.com/office/drawing/2014/main" id="{5EA6B87B-1EC6-4579-B591-BEE9103EBDDE}"/>
                  </a:ext>
                </a:extLst>
              </p:cNvPr>
              <p:cNvSpPr txBox="1"/>
              <p:nvPr/>
            </p:nvSpPr>
            <p:spPr>
              <a:xfrm>
                <a:off x="3149296" y="5472835"/>
                <a:ext cx="149067" cy="24835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222222"/>
                  </a:solidFill>
                  <a:effectLst/>
                  <a:uLnTx/>
                  <a:uFillTx/>
                  <a:latin typeface="Calibri" panose="020F0502020204030204"/>
                  <a:ea typeface="+mn-ea"/>
                  <a:cs typeface="+mn-cs"/>
                </a:endParaRPr>
              </a:p>
            </p:txBody>
          </p:sp>
        </p:grpSp>
        <p:grpSp>
          <p:nvGrpSpPr>
            <p:cNvPr id="48" name="Group 47">
              <a:extLst>
                <a:ext uri="{FF2B5EF4-FFF2-40B4-BE49-F238E27FC236}">
                  <a16:creationId xmlns:a16="http://schemas.microsoft.com/office/drawing/2014/main" id="{73606AB8-DE73-4D03-A34B-1DACEDFD2C4A}"/>
                </a:ext>
              </a:extLst>
            </p:cNvPr>
            <p:cNvGrpSpPr/>
            <p:nvPr/>
          </p:nvGrpSpPr>
          <p:grpSpPr>
            <a:xfrm>
              <a:off x="1685531" y="3843892"/>
              <a:ext cx="4359490" cy="1334211"/>
              <a:chOff x="2396017" y="3843570"/>
              <a:chExt cx="2638394" cy="807473"/>
            </a:xfrm>
          </p:grpSpPr>
          <p:grpSp>
            <p:nvGrpSpPr>
              <p:cNvPr id="49" name="Group 48">
                <a:extLst>
                  <a:ext uri="{FF2B5EF4-FFF2-40B4-BE49-F238E27FC236}">
                    <a16:creationId xmlns:a16="http://schemas.microsoft.com/office/drawing/2014/main" id="{F7FD70F8-9CBB-4A9D-86B9-62203CC4B9D3}"/>
                  </a:ext>
                </a:extLst>
              </p:cNvPr>
              <p:cNvGrpSpPr/>
              <p:nvPr/>
            </p:nvGrpSpPr>
            <p:grpSpPr>
              <a:xfrm>
                <a:off x="4599950" y="3843570"/>
                <a:ext cx="434461" cy="807473"/>
                <a:chOff x="6133238" y="4691857"/>
                <a:chExt cx="579279" cy="1076631"/>
              </a:xfrm>
            </p:grpSpPr>
            <p:cxnSp>
              <p:nvCxnSpPr>
                <p:cNvPr id="56" name="Straight Connector 55">
                  <a:extLst>
                    <a:ext uri="{FF2B5EF4-FFF2-40B4-BE49-F238E27FC236}">
                      <a16:creationId xmlns:a16="http://schemas.microsoft.com/office/drawing/2014/main" id="{E9FA0D9D-78EC-439D-A5D1-8059D6E283DB}"/>
                    </a:ext>
                  </a:extLst>
                </p:cNvPr>
                <p:cNvCxnSpPr/>
                <p:nvPr/>
              </p:nvCxnSpPr>
              <p:spPr>
                <a:xfrm>
                  <a:off x="6213764" y="4691857"/>
                  <a:ext cx="0" cy="1076631"/>
                </a:xfrm>
                <a:prstGeom prst="line">
                  <a:avLst/>
                </a:prstGeom>
                <a:ln w="12700">
                  <a:solidFill>
                    <a:schemeClr val="tx2"/>
                  </a:solidFill>
                  <a:prstDash val="solid"/>
                </a:ln>
              </p:spPr>
              <p:style>
                <a:lnRef idx="1">
                  <a:schemeClr val="accent1"/>
                </a:lnRef>
                <a:fillRef idx="0">
                  <a:schemeClr val="accent1"/>
                </a:fillRef>
                <a:effectRef idx="0">
                  <a:schemeClr val="accent1"/>
                </a:effectRef>
                <a:fontRef idx="minor">
                  <a:schemeClr val="tx1"/>
                </a:fontRef>
              </p:style>
            </p:cxnSp>
            <p:pic>
              <p:nvPicPr>
                <p:cNvPr id="57" name="Picture 56">
                  <a:extLst>
                    <a:ext uri="{FF2B5EF4-FFF2-40B4-BE49-F238E27FC236}">
                      <a16:creationId xmlns:a16="http://schemas.microsoft.com/office/drawing/2014/main" id="{5352871A-4B20-4D54-81C2-59E3AE55EBD7}"/>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6133238" y="5278232"/>
                  <a:ext cx="165773" cy="165773"/>
                </a:xfrm>
                <a:prstGeom prst="rect">
                  <a:avLst/>
                </a:prstGeom>
              </p:spPr>
            </p:pic>
            <p:sp>
              <p:nvSpPr>
                <p:cNvPr id="58" name="TextBox 57">
                  <a:extLst>
                    <a:ext uri="{FF2B5EF4-FFF2-40B4-BE49-F238E27FC236}">
                      <a16:creationId xmlns:a16="http://schemas.microsoft.com/office/drawing/2014/main" id="{B04CD08D-D845-440E-BC1C-22973FACD378}"/>
                    </a:ext>
                  </a:extLst>
                </p:cNvPr>
                <p:cNvSpPr txBox="1"/>
                <p:nvPr/>
              </p:nvSpPr>
              <p:spPr>
                <a:xfrm>
                  <a:off x="6251735" y="5240441"/>
                  <a:ext cx="460782" cy="24712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2222">
                          <a:lumMod val="75000"/>
                          <a:lumOff val="25000"/>
                        </a:srgbClr>
                      </a:solidFill>
                      <a:effectLst/>
                      <a:uLnTx/>
                      <a:uFillTx/>
                      <a:latin typeface="Calibri" panose="020F0502020204030204"/>
                      <a:ea typeface="+mn-ea"/>
                      <a:cs typeface="+mn-cs"/>
                    </a:rPr>
                    <a:t>IPSec</a:t>
                  </a:r>
                </a:p>
              </p:txBody>
            </p:sp>
          </p:grpSp>
          <p:grpSp>
            <p:nvGrpSpPr>
              <p:cNvPr id="50" name="Group 49">
                <a:extLst>
                  <a:ext uri="{FF2B5EF4-FFF2-40B4-BE49-F238E27FC236}">
                    <a16:creationId xmlns:a16="http://schemas.microsoft.com/office/drawing/2014/main" id="{0FC0B286-A8C8-466B-9485-4EAE107F1B50}"/>
                  </a:ext>
                </a:extLst>
              </p:cNvPr>
              <p:cNvGrpSpPr/>
              <p:nvPr/>
            </p:nvGrpSpPr>
            <p:grpSpPr>
              <a:xfrm>
                <a:off x="2396017" y="4155935"/>
                <a:ext cx="1779347" cy="380912"/>
                <a:chOff x="3194690" y="5108339"/>
                <a:chExt cx="2372462" cy="507882"/>
              </a:xfrm>
            </p:grpSpPr>
            <p:cxnSp>
              <p:nvCxnSpPr>
                <p:cNvPr id="51" name="Straight Connector 50">
                  <a:extLst>
                    <a:ext uri="{FF2B5EF4-FFF2-40B4-BE49-F238E27FC236}">
                      <a16:creationId xmlns:a16="http://schemas.microsoft.com/office/drawing/2014/main" id="{8F97E215-44BC-45A4-8DE5-C2B822155655}"/>
                    </a:ext>
                  </a:extLst>
                </p:cNvPr>
                <p:cNvCxnSpPr>
                  <a:cxnSpLocks/>
                </p:cNvCxnSpPr>
                <p:nvPr/>
              </p:nvCxnSpPr>
              <p:spPr>
                <a:xfrm>
                  <a:off x="3194690" y="5311073"/>
                  <a:ext cx="2372462" cy="0"/>
                </a:xfrm>
                <a:prstGeom prst="line">
                  <a:avLst/>
                </a:prstGeom>
                <a:ln w="12700">
                  <a:solidFill>
                    <a:schemeClr val="tx2">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7E4DE64-2A8E-481B-A828-D51D8E0D0A5D}"/>
                    </a:ext>
                  </a:extLst>
                </p:cNvPr>
                <p:cNvCxnSpPr>
                  <a:cxnSpLocks/>
                </p:cNvCxnSpPr>
                <p:nvPr/>
              </p:nvCxnSpPr>
              <p:spPr>
                <a:xfrm>
                  <a:off x="3194690" y="5344324"/>
                  <a:ext cx="2372462" cy="0"/>
                </a:xfrm>
                <a:prstGeom prst="line">
                  <a:avLst/>
                </a:prstGeom>
                <a:ln w="12700">
                  <a:solidFill>
                    <a:schemeClr val="tx2">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DE01010B-EB1C-4D22-856D-BB4C3B9EC8CD}"/>
                    </a:ext>
                  </a:extLst>
                </p:cNvPr>
                <p:cNvSpPr txBox="1"/>
                <p:nvPr/>
              </p:nvSpPr>
              <p:spPr>
                <a:xfrm>
                  <a:off x="4055159" y="5108339"/>
                  <a:ext cx="627830" cy="24835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2222">
                          <a:lumMod val="50000"/>
                          <a:lumOff val="50000"/>
                        </a:srgbClr>
                      </a:solidFill>
                      <a:effectLst/>
                      <a:uLnTx/>
                      <a:uFillTx/>
                      <a:latin typeface="Calibri" panose="020F0502020204030204"/>
                      <a:ea typeface="+mn-ea"/>
                      <a:cs typeface="+mn-cs"/>
                    </a:rPr>
                    <a:t>Internet</a:t>
                  </a:r>
                </a:p>
              </p:txBody>
            </p:sp>
            <p:cxnSp>
              <p:nvCxnSpPr>
                <p:cNvPr id="54" name="Straight Connector 53">
                  <a:extLst>
                    <a:ext uri="{FF2B5EF4-FFF2-40B4-BE49-F238E27FC236}">
                      <a16:creationId xmlns:a16="http://schemas.microsoft.com/office/drawing/2014/main" id="{526D9871-F0BA-4838-AF60-B86BA69DA527}"/>
                    </a:ext>
                  </a:extLst>
                </p:cNvPr>
                <p:cNvCxnSpPr>
                  <a:cxnSpLocks/>
                </p:cNvCxnSpPr>
                <p:nvPr/>
              </p:nvCxnSpPr>
              <p:spPr>
                <a:xfrm>
                  <a:off x="3194690" y="5406670"/>
                  <a:ext cx="2372462" cy="0"/>
                </a:xfrm>
                <a:prstGeom prst="line">
                  <a:avLst/>
                </a:prstGeom>
                <a:ln w="12700">
                  <a:solidFill>
                    <a:schemeClr val="tx2">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0FFB6332-E207-450C-BED3-C6D1F6958287}"/>
                    </a:ext>
                  </a:extLst>
                </p:cNvPr>
                <p:cNvSpPr txBox="1"/>
                <p:nvPr/>
              </p:nvSpPr>
              <p:spPr>
                <a:xfrm>
                  <a:off x="4132245" y="5369098"/>
                  <a:ext cx="473654" cy="24712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2222">
                          <a:lumMod val="50000"/>
                          <a:lumOff val="50000"/>
                        </a:srgbClr>
                      </a:solidFill>
                      <a:effectLst/>
                      <a:uLnTx/>
                      <a:uFillTx/>
                      <a:latin typeface="Calibri" panose="020F0502020204030204"/>
                      <a:ea typeface="+mn-ea"/>
                      <a:cs typeface="+mn-cs"/>
                    </a:rPr>
                    <a:t>MPLS</a:t>
                  </a:r>
                </a:p>
              </p:txBody>
            </p:sp>
          </p:grpSp>
        </p:grpSp>
      </p:grpSp>
      <p:grpSp>
        <p:nvGrpSpPr>
          <p:cNvPr id="72" name="Group 71">
            <a:extLst>
              <a:ext uri="{FF2B5EF4-FFF2-40B4-BE49-F238E27FC236}">
                <a16:creationId xmlns:a16="http://schemas.microsoft.com/office/drawing/2014/main" id="{CB537592-4924-4167-AE35-E41488CBE0F6}"/>
              </a:ext>
            </a:extLst>
          </p:cNvPr>
          <p:cNvGrpSpPr/>
          <p:nvPr userDrawn="1"/>
        </p:nvGrpSpPr>
        <p:grpSpPr>
          <a:xfrm>
            <a:off x="8374446" y="2534521"/>
            <a:ext cx="2549849" cy="1260980"/>
            <a:chOff x="7933691" y="3635269"/>
            <a:chExt cx="2057578" cy="1017537"/>
          </a:xfrm>
        </p:grpSpPr>
        <p:cxnSp>
          <p:nvCxnSpPr>
            <p:cNvPr id="73" name="Straight Connector 72">
              <a:extLst>
                <a:ext uri="{FF2B5EF4-FFF2-40B4-BE49-F238E27FC236}">
                  <a16:creationId xmlns:a16="http://schemas.microsoft.com/office/drawing/2014/main" id="{613186F5-70D5-4CDD-8047-6C27B58E308E}"/>
                </a:ext>
              </a:extLst>
            </p:cNvPr>
            <p:cNvCxnSpPr>
              <a:cxnSpLocks/>
            </p:cNvCxnSpPr>
            <p:nvPr/>
          </p:nvCxnSpPr>
          <p:spPr>
            <a:xfrm flipV="1">
              <a:off x="8546632" y="4084273"/>
              <a:ext cx="632706" cy="351943"/>
            </a:xfrm>
            <a:prstGeom prst="line">
              <a:avLst/>
            </a:prstGeom>
            <a:ln w="28575">
              <a:solidFill>
                <a:schemeClr val="tx2"/>
              </a:solidFill>
              <a:prstDash val="soli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8440997-A3CC-4BF2-9D22-75CBD20B571F}"/>
                </a:ext>
              </a:extLst>
            </p:cNvPr>
            <p:cNvCxnSpPr>
              <a:cxnSpLocks/>
            </p:cNvCxnSpPr>
            <p:nvPr/>
          </p:nvCxnSpPr>
          <p:spPr>
            <a:xfrm flipH="1">
              <a:off x="8548653" y="3792252"/>
              <a:ext cx="315764" cy="499960"/>
            </a:xfrm>
            <a:prstGeom prst="line">
              <a:avLst/>
            </a:prstGeom>
            <a:ln w="28575">
              <a:solidFill>
                <a:schemeClr val="tx2"/>
              </a:solidFill>
              <a:prstDash val="solid"/>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48D25B4C-0364-4D0C-B5E9-8DBAABAB652F}"/>
                </a:ext>
              </a:extLst>
            </p:cNvPr>
            <p:cNvSpPr txBox="1"/>
            <p:nvPr/>
          </p:nvSpPr>
          <p:spPr>
            <a:xfrm>
              <a:off x="8703949" y="4404448"/>
              <a:ext cx="1287320" cy="24835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2222">
                      <a:lumMod val="75000"/>
                      <a:lumOff val="25000"/>
                    </a:srgbClr>
                  </a:solidFill>
                  <a:effectLst/>
                  <a:uLnTx/>
                  <a:uFillTx/>
                  <a:latin typeface="Calibri" panose="020F0502020204030204"/>
                  <a:ea typeface="+mn-ea"/>
                  <a:cs typeface="+mn-cs"/>
                </a:rPr>
                <a:t>Hybrid/Multi Cloud</a:t>
              </a:r>
            </a:p>
          </p:txBody>
        </p:sp>
        <p:cxnSp>
          <p:nvCxnSpPr>
            <p:cNvPr id="76" name="Straight Connector 75">
              <a:extLst>
                <a:ext uri="{FF2B5EF4-FFF2-40B4-BE49-F238E27FC236}">
                  <a16:creationId xmlns:a16="http://schemas.microsoft.com/office/drawing/2014/main" id="{3144AE58-932F-491C-886D-88E6FF91EDCF}"/>
                </a:ext>
              </a:extLst>
            </p:cNvPr>
            <p:cNvCxnSpPr>
              <a:cxnSpLocks/>
            </p:cNvCxnSpPr>
            <p:nvPr/>
          </p:nvCxnSpPr>
          <p:spPr>
            <a:xfrm flipH="1">
              <a:off x="8486158" y="3792252"/>
              <a:ext cx="315764" cy="499960"/>
            </a:xfrm>
            <a:prstGeom prst="line">
              <a:avLst/>
            </a:prstGeom>
            <a:ln w="28575">
              <a:solidFill>
                <a:schemeClr val="tx2"/>
              </a:solidFill>
              <a:prstDash val="solid"/>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61F2E688-E77C-4AC5-82D7-08E98A99FB69}"/>
                </a:ext>
              </a:extLst>
            </p:cNvPr>
            <p:cNvSpPr txBox="1"/>
            <p:nvPr/>
          </p:nvSpPr>
          <p:spPr>
            <a:xfrm>
              <a:off x="7933691" y="3885274"/>
              <a:ext cx="728206" cy="24835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58864"/>
                  </a:solidFill>
                  <a:effectLst/>
                  <a:uLnTx/>
                  <a:uFillTx/>
                  <a:latin typeface="Calibri" panose="020F0502020204030204"/>
                  <a:ea typeface="+mn-ea"/>
                  <a:cs typeface="+mn-cs"/>
                </a:rPr>
                <a:t>Agentless</a:t>
              </a:r>
            </a:p>
          </p:txBody>
        </p:sp>
        <p:pic>
          <p:nvPicPr>
            <p:cNvPr id="78" name="Picture 77">
              <a:extLst>
                <a:ext uri="{FF2B5EF4-FFF2-40B4-BE49-F238E27FC236}">
                  <a16:creationId xmlns:a16="http://schemas.microsoft.com/office/drawing/2014/main" id="{E8969B40-1FF2-4EA9-B217-15AFAEDC67FE}"/>
                </a:ext>
              </a:extLst>
            </p:cNvPr>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8581176" y="3635269"/>
              <a:ext cx="408906" cy="268920"/>
            </a:xfrm>
            <a:prstGeom prst="rect">
              <a:avLst/>
            </a:prstGeom>
          </p:spPr>
        </p:pic>
        <p:cxnSp>
          <p:nvCxnSpPr>
            <p:cNvPr id="79" name="Straight Connector 78">
              <a:extLst>
                <a:ext uri="{FF2B5EF4-FFF2-40B4-BE49-F238E27FC236}">
                  <a16:creationId xmlns:a16="http://schemas.microsoft.com/office/drawing/2014/main" id="{508C7B82-C580-4B83-89CA-F4F008052BE8}"/>
                </a:ext>
              </a:extLst>
            </p:cNvPr>
            <p:cNvCxnSpPr>
              <a:cxnSpLocks/>
            </p:cNvCxnSpPr>
            <p:nvPr/>
          </p:nvCxnSpPr>
          <p:spPr>
            <a:xfrm flipV="1">
              <a:off x="8546632" y="4150057"/>
              <a:ext cx="632706" cy="351943"/>
            </a:xfrm>
            <a:prstGeom prst="line">
              <a:avLst/>
            </a:prstGeom>
            <a:ln w="28575">
              <a:solidFill>
                <a:schemeClr val="tx2"/>
              </a:solidFill>
              <a:prstDash val="solid"/>
            </a:ln>
          </p:spPr>
          <p:style>
            <a:lnRef idx="1">
              <a:schemeClr val="accent1"/>
            </a:lnRef>
            <a:fillRef idx="0">
              <a:schemeClr val="accent1"/>
            </a:fillRef>
            <a:effectRef idx="0">
              <a:schemeClr val="accent1"/>
            </a:effectRef>
            <a:fontRef idx="minor">
              <a:schemeClr val="tx1"/>
            </a:fontRef>
          </p:style>
        </p:cxnSp>
        <p:pic>
          <p:nvPicPr>
            <p:cNvPr id="80" name="Picture 79">
              <a:extLst>
                <a:ext uri="{FF2B5EF4-FFF2-40B4-BE49-F238E27FC236}">
                  <a16:creationId xmlns:a16="http://schemas.microsoft.com/office/drawing/2014/main" id="{90BFE486-1AEF-468F-AF11-D7D8E81DB095}"/>
                </a:ext>
              </a:extLst>
            </p:cNvPr>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a:xfrm>
              <a:off x="8911182" y="4000364"/>
              <a:ext cx="405222" cy="268920"/>
            </a:xfrm>
            <a:prstGeom prst="rect">
              <a:avLst/>
            </a:prstGeom>
          </p:spPr>
        </p:pic>
      </p:grpSp>
      <p:pic>
        <p:nvPicPr>
          <p:cNvPr id="81" name="Picture 80">
            <a:extLst>
              <a:ext uri="{FF2B5EF4-FFF2-40B4-BE49-F238E27FC236}">
                <a16:creationId xmlns:a16="http://schemas.microsoft.com/office/drawing/2014/main" id="{F5033CFE-9B8E-410C-B417-4CB613FB800D}"/>
              </a:ext>
            </a:extLst>
          </p:cNvPr>
          <p:cNvPicPr>
            <a:picLocks noChangeAspect="1"/>
          </p:cNvPicPr>
          <p:nvPr userDrawn="1"/>
        </p:nvPicPr>
        <p:blipFill>
          <a:blip r:embed="rId19" cstate="screen">
            <a:extLst>
              <a:ext uri="{28A0092B-C50C-407E-A947-70E740481C1C}">
                <a14:useLocalDpi xmlns:a14="http://schemas.microsoft.com/office/drawing/2010/main"/>
              </a:ext>
            </a:extLst>
          </a:blip>
          <a:stretch>
            <a:fillRect/>
          </a:stretch>
        </p:blipFill>
        <p:spPr>
          <a:xfrm>
            <a:off x="8727801" y="3256830"/>
            <a:ext cx="553156" cy="617158"/>
          </a:xfrm>
          <a:prstGeom prst="rect">
            <a:avLst/>
          </a:prstGeom>
          <a:effectLst>
            <a:outerShdw blurRad="63500" sx="102000" sy="102000" algn="ctr" rotWithShape="0">
              <a:prstClr val="black">
                <a:alpha val="40000"/>
              </a:prstClr>
            </a:outerShdw>
          </a:effectLst>
        </p:spPr>
      </p:pic>
      <p:grpSp>
        <p:nvGrpSpPr>
          <p:cNvPr id="82" name="Group 81">
            <a:extLst>
              <a:ext uri="{FF2B5EF4-FFF2-40B4-BE49-F238E27FC236}">
                <a16:creationId xmlns:a16="http://schemas.microsoft.com/office/drawing/2014/main" id="{95457DCE-0417-4047-97DD-48FA029E66F7}"/>
              </a:ext>
            </a:extLst>
          </p:cNvPr>
          <p:cNvGrpSpPr/>
          <p:nvPr userDrawn="1"/>
        </p:nvGrpSpPr>
        <p:grpSpPr>
          <a:xfrm>
            <a:off x="8739024" y="3730813"/>
            <a:ext cx="2020784" cy="1921561"/>
            <a:chOff x="8227895" y="4600609"/>
            <a:chExt cx="1630654" cy="1550589"/>
          </a:xfrm>
        </p:grpSpPr>
        <p:cxnSp>
          <p:nvCxnSpPr>
            <p:cNvPr id="83" name="Straight Connector 82">
              <a:extLst>
                <a:ext uri="{FF2B5EF4-FFF2-40B4-BE49-F238E27FC236}">
                  <a16:creationId xmlns:a16="http://schemas.microsoft.com/office/drawing/2014/main" id="{4B6569F7-8952-4279-A944-3225908E89BD}"/>
                </a:ext>
              </a:extLst>
            </p:cNvPr>
            <p:cNvCxnSpPr>
              <a:cxnSpLocks/>
            </p:cNvCxnSpPr>
            <p:nvPr/>
          </p:nvCxnSpPr>
          <p:spPr>
            <a:xfrm flipH="1" flipV="1">
              <a:off x="8589891" y="4600609"/>
              <a:ext cx="890775" cy="1036980"/>
            </a:xfrm>
            <a:prstGeom prst="line">
              <a:avLst/>
            </a:prstGeom>
            <a:ln w="12700">
              <a:solidFill>
                <a:schemeClr val="tx2"/>
              </a:solidFill>
              <a:prstDash val="solid"/>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28E0890A-9042-4D6C-879B-87DA8816E80A}"/>
                </a:ext>
              </a:extLst>
            </p:cNvPr>
            <p:cNvSpPr txBox="1"/>
            <p:nvPr/>
          </p:nvSpPr>
          <p:spPr>
            <a:xfrm>
              <a:off x="9293016" y="5902840"/>
              <a:ext cx="565533" cy="24835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2222">
                      <a:lumMod val="75000"/>
                      <a:lumOff val="25000"/>
                    </a:srgbClr>
                  </a:solidFill>
                  <a:effectLst/>
                  <a:uLnTx/>
                  <a:uFillTx/>
                  <a:latin typeface="Calibri" panose="020F0502020204030204"/>
                  <a:ea typeface="+mn-ea"/>
                  <a:cs typeface="+mn-cs"/>
                </a:rPr>
                <a:t>Mobile</a:t>
              </a:r>
            </a:p>
          </p:txBody>
        </p:sp>
        <p:pic>
          <p:nvPicPr>
            <p:cNvPr id="85" name="Picture 84">
              <a:extLst>
                <a:ext uri="{FF2B5EF4-FFF2-40B4-BE49-F238E27FC236}">
                  <a16:creationId xmlns:a16="http://schemas.microsoft.com/office/drawing/2014/main" id="{D8CD6965-F9D0-40F8-BB5B-E6D8517732FF}"/>
                </a:ext>
              </a:extLst>
            </p:cNvPr>
            <p:cNvPicPr>
              <a:picLocks noChangeAspect="1"/>
            </p:cNvPicPr>
            <p:nvPr/>
          </p:nvPicPr>
          <p:blipFill>
            <a:blip r:embed="rId20" cstate="screen">
              <a:extLst>
                <a:ext uri="{28A0092B-C50C-407E-A947-70E740481C1C}">
                  <a14:useLocalDpi xmlns:a14="http://schemas.microsoft.com/office/drawing/2010/main"/>
                </a:ext>
              </a:extLst>
            </a:blip>
            <a:stretch>
              <a:fillRect/>
            </a:stretch>
          </p:blipFill>
          <p:spPr>
            <a:xfrm>
              <a:off x="9379569" y="5539528"/>
              <a:ext cx="386803" cy="386803"/>
            </a:xfrm>
            <a:prstGeom prst="rect">
              <a:avLst/>
            </a:prstGeom>
          </p:spPr>
        </p:pic>
        <p:pic>
          <p:nvPicPr>
            <p:cNvPr id="86" name="Picture 85">
              <a:extLst>
                <a:ext uri="{FF2B5EF4-FFF2-40B4-BE49-F238E27FC236}">
                  <a16:creationId xmlns:a16="http://schemas.microsoft.com/office/drawing/2014/main" id="{82AD8B31-6CFD-4DB9-9FE3-EBBB412453C2}"/>
                </a:ext>
              </a:extLst>
            </p:cNvPr>
            <p:cNvPicPr>
              <a:picLocks noChangeAspect="1"/>
            </p:cNvPicPr>
            <p:nvPr/>
          </p:nvPicPr>
          <p:blipFill>
            <a:blip r:embed="rId21" cstate="screen">
              <a:extLst>
                <a:ext uri="{28A0092B-C50C-407E-A947-70E740481C1C}">
                  <a14:useLocalDpi xmlns:a14="http://schemas.microsoft.com/office/drawing/2010/main"/>
                </a:ext>
              </a:extLst>
            </a:blip>
            <a:stretch>
              <a:fillRect/>
            </a:stretch>
          </p:blipFill>
          <p:spPr>
            <a:xfrm>
              <a:off x="9315862" y="5467413"/>
              <a:ext cx="121567" cy="121567"/>
            </a:xfrm>
            <a:prstGeom prst="rect">
              <a:avLst/>
            </a:prstGeom>
          </p:spPr>
        </p:pic>
        <p:sp>
          <p:nvSpPr>
            <p:cNvPr id="87" name="TextBox 86">
              <a:extLst>
                <a:ext uri="{FF2B5EF4-FFF2-40B4-BE49-F238E27FC236}">
                  <a16:creationId xmlns:a16="http://schemas.microsoft.com/office/drawing/2014/main" id="{1694C39C-6649-4AA1-B8EA-EDCE0C0CF5AB}"/>
                </a:ext>
              </a:extLst>
            </p:cNvPr>
            <p:cNvSpPr txBox="1"/>
            <p:nvPr/>
          </p:nvSpPr>
          <p:spPr>
            <a:xfrm>
              <a:off x="8227895" y="5395827"/>
              <a:ext cx="1131994" cy="42220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58864"/>
                  </a:solidFill>
                  <a:effectLst/>
                  <a:uLnTx/>
                  <a:uFillTx/>
                  <a:latin typeface="Calibri" panose="020F0502020204030204"/>
                  <a:ea typeface="+mn-ea"/>
                  <a:cs typeface="+mn-cs"/>
                </a:rPr>
                <a:t>Client/Clientless</a:t>
              </a:r>
              <a:br>
                <a:rPr kumimoji="0" lang="en-US" sz="1400" b="1" i="0" u="none" strike="noStrike" kern="1200" cap="none" spc="0" normalizeH="0" baseline="0" noProof="0">
                  <a:ln>
                    <a:noFill/>
                  </a:ln>
                  <a:solidFill>
                    <a:srgbClr val="158864"/>
                  </a:solidFill>
                  <a:effectLst/>
                  <a:uLnTx/>
                  <a:uFillTx/>
                  <a:latin typeface="Calibri" panose="020F0502020204030204"/>
                  <a:ea typeface="+mn-ea"/>
                  <a:cs typeface="+mn-cs"/>
                </a:rPr>
              </a:br>
              <a:r>
                <a:rPr kumimoji="0" lang="en-US" sz="1400" b="1" i="0" u="none" strike="noStrike" kern="1200" cap="none" spc="0" normalizeH="0" baseline="0" noProof="0">
                  <a:ln>
                    <a:noFill/>
                  </a:ln>
                  <a:solidFill>
                    <a:srgbClr val="158864"/>
                  </a:solidFill>
                  <a:effectLst/>
                  <a:uLnTx/>
                  <a:uFillTx/>
                  <a:latin typeface="Calibri" panose="020F0502020204030204"/>
                  <a:ea typeface="+mn-ea"/>
                  <a:cs typeface="+mn-cs"/>
                </a:rPr>
                <a:t>SDP</a:t>
              </a:r>
            </a:p>
          </p:txBody>
        </p:sp>
      </p:grpSp>
      <p:pic>
        <p:nvPicPr>
          <p:cNvPr id="88" name="Picture 87">
            <a:extLst>
              <a:ext uri="{FF2B5EF4-FFF2-40B4-BE49-F238E27FC236}">
                <a16:creationId xmlns:a16="http://schemas.microsoft.com/office/drawing/2014/main" id="{C618EBB4-E3B9-4F20-8FA5-CC2095C71B4B}"/>
              </a:ext>
            </a:extLst>
          </p:cNvPr>
          <p:cNvPicPr>
            <a:picLocks noChangeAspect="1"/>
          </p:cNvPicPr>
          <p:nvPr userDrawn="1"/>
        </p:nvPicPr>
        <p:blipFill>
          <a:blip r:embed="rId19" cstate="screen">
            <a:extLst>
              <a:ext uri="{28A0092B-C50C-407E-A947-70E740481C1C}">
                <a14:useLocalDpi xmlns:a14="http://schemas.microsoft.com/office/drawing/2010/main"/>
              </a:ext>
            </a:extLst>
          </a:blip>
          <a:stretch>
            <a:fillRect/>
          </a:stretch>
        </p:blipFill>
        <p:spPr>
          <a:xfrm>
            <a:off x="2909652" y="3256830"/>
            <a:ext cx="553156" cy="617158"/>
          </a:xfrm>
          <a:prstGeom prst="rect">
            <a:avLst/>
          </a:prstGeom>
          <a:effectLst>
            <a:outerShdw blurRad="63500" sx="102000" sy="102000" algn="ctr" rotWithShape="0">
              <a:prstClr val="black">
                <a:alpha val="40000"/>
              </a:prstClr>
            </a:outerShdw>
          </a:effectLst>
        </p:spPr>
      </p:pic>
      <p:sp>
        <p:nvSpPr>
          <p:cNvPr id="89" name="TextBox 88">
            <a:extLst>
              <a:ext uri="{FF2B5EF4-FFF2-40B4-BE49-F238E27FC236}">
                <a16:creationId xmlns:a16="http://schemas.microsoft.com/office/drawing/2014/main" id="{A49BC104-E956-4355-B8AA-08570F0DCC71}"/>
              </a:ext>
            </a:extLst>
          </p:cNvPr>
          <p:cNvSpPr txBox="1"/>
          <p:nvPr userDrawn="1"/>
        </p:nvSpPr>
        <p:spPr>
          <a:xfrm>
            <a:off x="8791426" y="3422022"/>
            <a:ext cx="423642"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222C33"/>
                </a:solidFill>
                <a:effectLst/>
                <a:uLnTx/>
                <a:uFillTx/>
                <a:latin typeface="Calibri" panose="020F0502020204030204"/>
                <a:ea typeface="+mn-ea"/>
                <a:cs typeface="+mn-cs"/>
              </a:rPr>
              <a:t>PoP</a:t>
            </a:r>
          </a:p>
        </p:txBody>
      </p:sp>
      <p:pic>
        <p:nvPicPr>
          <p:cNvPr id="90" name="Picture 89">
            <a:extLst>
              <a:ext uri="{FF2B5EF4-FFF2-40B4-BE49-F238E27FC236}">
                <a16:creationId xmlns:a16="http://schemas.microsoft.com/office/drawing/2014/main" id="{951EF95D-18E8-4B1D-B614-3AC39BF5FC22}"/>
              </a:ext>
            </a:extLst>
          </p:cNvPr>
          <p:cNvPicPr>
            <a:picLocks noChangeAspect="1"/>
          </p:cNvPicPr>
          <p:nvPr userDrawn="1"/>
        </p:nvPicPr>
        <p:blipFill>
          <a:blip r:embed="rId22" cstate="screen">
            <a:extLst>
              <a:ext uri="{28A0092B-C50C-407E-A947-70E740481C1C}">
                <a14:useLocalDpi xmlns:a14="http://schemas.microsoft.com/office/drawing/2010/main"/>
              </a:ext>
            </a:extLst>
          </a:blip>
          <a:stretch>
            <a:fillRect/>
          </a:stretch>
        </p:blipFill>
        <p:spPr>
          <a:xfrm>
            <a:off x="5069494" y="2448090"/>
            <a:ext cx="2095148" cy="2279779"/>
          </a:xfrm>
          <a:prstGeom prst="rect">
            <a:avLst/>
          </a:prstGeom>
        </p:spPr>
      </p:pic>
      <p:sp>
        <p:nvSpPr>
          <p:cNvPr id="91" name="TextBox 90">
            <a:extLst>
              <a:ext uri="{FF2B5EF4-FFF2-40B4-BE49-F238E27FC236}">
                <a16:creationId xmlns:a16="http://schemas.microsoft.com/office/drawing/2014/main" id="{3E24F8E3-EF1A-4D74-8D2C-5B22B4E866F1}"/>
              </a:ext>
            </a:extLst>
          </p:cNvPr>
          <p:cNvSpPr txBox="1"/>
          <p:nvPr userDrawn="1"/>
        </p:nvSpPr>
        <p:spPr>
          <a:xfrm>
            <a:off x="5661841" y="3181223"/>
            <a:ext cx="913775"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58864"/>
                </a:solidFill>
                <a:effectLst/>
                <a:uLnTx/>
                <a:uFillTx/>
                <a:latin typeface="Calibri" panose="020F0502020204030204"/>
                <a:ea typeface="+mn-ea"/>
                <a:cs typeface="+mn-cs"/>
              </a:rPr>
              <a:t>Converged Network &amp; Security </a:t>
            </a:r>
          </a:p>
        </p:txBody>
      </p:sp>
      <p:sp>
        <p:nvSpPr>
          <p:cNvPr id="92" name="Rectangle 91">
            <a:extLst>
              <a:ext uri="{FF2B5EF4-FFF2-40B4-BE49-F238E27FC236}">
                <a16:creationId xmlns:a16="http://schemas.microsoft.com/office/drawing/2014/main" id="{BCCFB2DF-E815-4E59-8B20-43532D017B3F}"/>
              </a:ext>
            </a:extLst>
          </p:cNvPr>
          <p:cNvSpPr/>
          <p:nvPr userDrawn="1"/>
        </p:nvSpPr>
        <p:spPr>
          <a:xfrm>
            <a:off x="0" y="1143000"/>
            <a:ext cx="12192000" cy="5005137"/>
          </a:xfrm>
          <a:prstGeom prst="rect">
            <a:avLst/>
          </a:prstGeom>
          <a:solidFill>
            <a:srgbClr val="FFFFFF">
              <a:alpha val="90000"/>
            </a:srgbClr>
          </a:solidFill>
          <a:ln w="9525">
            <a:no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Title 1">
            <a:extLst>
              <a:ext uri="{FF2B5EF4-FFF2-40B4-BE49-F238E27FC236}">
                <a16:creationId xmlns:a16="http://schemas.microsoft.com/office/drawing/2014/main" id="{EB1D601E-79A4-4C4A-BCE9-118BAB20A50F}"/>
              </a:ext>
            </a:extLst>
          </p:cNvPr>
          <p:cNvSpPr>
            <a:spLocks noGrp="1"/>
          </p:cNvSpPr>
          <p:nvPr>
            <p:ph type="title"/>
          </p:nvPr>
        </p:nvSpPr>
        <p:spPr/>
        <p:txBody>
          <a:bodyPr/>
          <a:lstStyle/>
          <a:p>
            <a:r>
              <a:rPr lang="en-GB"/>
              <a:t>Click to edit Master title style</a:t>
            </a:r>
            <a:endParaRPr lang="en-US"/>
          </a:p>
        </p:txBody>
      </p:sp>
      <p:sp>
        <p:nvSpPr>
          <p:cNvPr id="4" name="Date Placeholder 3">
            <a:extLst>
              <a:ext uri="{FF2B5EF4-FFF2-40B4-BE49-F238E27FC236}">
                <a16:creationId xmlns:a16="http://schemas.microsoft.com/office/drawing/2014/main" id="{60D04CB8-485A-46FF-AC30-BDF406EEA118}"/>
              </a:ext>
            </a:extLst>
          </p:cNvPr>
          <p:cNvSpPr>
            <a:spLocks noGrp="1"/>
          </p:cNvSpPr>
          <p:nvPr>
            <p:ph type="dt" sz="half" idx="10"/>
          </p:nvPr>
        </p:nvSpPr>
        <p:spPr/>
        <p:txBody>
          <a:bodyPr/>
          <a:lstStyle/>
          <a:p>
            <a:fld id="{8744D272-7787-42F5-8E85-5772E5920C77}" type="datetimeFigureOut">
              <a:rPr lang="en-US" smtClean="0"/>
              <a:t>12/4/2025</a:t>
            </a:fld>
            <a:endParaRPr lang="en-US"/>
          </a:p>
        </p:txBody>
      </p:sp>
      <p:sp>
        <p:nvSpPr>
          <p:cNvPr id="5" name="Footer Placeholder 4">
            <a:extLst>
              <a:ext uri="{FF2B5EF4-FFF2-40B4-BE49-F238E27FC236}">
                <a16:creationId xmlns:a16="http://schemas.microsoft.com/office/drawing/2014/main" id="{245F36A8-BAF9-4FD8-A836-D12878DEA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6267A-62F2-48A8-BAA4-576130486E0F}"/>
              </a:ext>
            </a:extLst>
          </p:cNvPr>
          <p:cNvSpPr>
            <a:spLocks noGrp="1"/>
          </p:cNvSpPr>
          <p:nvPr>
            <p:ph type="sldNum" sz="quarter" idx="12"/>
          </p:nvPr>
        </p:nvSpPr>
        <p:spPr/>
        <p:txBody>
          <a:bodyPr/>
          <a:lstStyle/>
          <a:p>
            <a:fld id="{37527A84-62A5-40F8-9ABB-C2EE3BC8218F}" type="slidenum">
              <a:rPr lang="en-US" smtClean="0"/>
              <a:t>‹#›</a:t>
            </a:fld>
            <a:endParaRPr lang="en-US"/>
          </a:p>
        </p:txBody>
      </p:sp>
      <p:sp>
        <p:nvSpPr>
          <p:cNvPr id="8" name="Text Placeholder 7">
            <a:extLst>
              <a:ext uri="{FF2B5EF4-FFF2-40B4-BE49-F238E27FC236}">
                <a16:creationId xmlns:a16="http://schemas.microsoft.com/office/drawing/2014/main" id="{E8D0FBCD-EE24-4372-BC98-BF8E948DD284}"/>
              </a:ext>
            </a:extLst>
          </p:cNvPr>
          <p:cNvSpPr>
            <a:spLocks noGrp="1"/>
          </p:cNvSpPr>
          <p:nvPr>
            <p:ph type="body" sz="quarter" idx="13"/>
          </p:nvPr>
        </p:nvSpPr>
        <p:spPr>
          <a:xfrm>
            <a:off x="183220" y="558913"/>
            <a:ext cx="11561104" cy="714375"/>
          </a:xfrm>
        </p:spPr>
        <p:txBody>
          <a:bodyPr lIns="0" rIns="0"/>
          <a:lstStyle>
            <a:lvl1pPr marL="0" indent="0">
              <a:buFontTx/>
              <a:buNone/>
              <a:defRPr/>
            </a:lvl1pPr>
            <a:lvl2pPr marL="228600" indent="0">
              <a:buNone/>
              <a:defRPr/>
            </a:lvl2pPr>
          </a:lstStyle>
          <a:p>
            <a:pPr lvl="0"/>
            <a:r>
              <a:rPr lang="en-GB"/>
              <a:t>Click to edit Master text styles</a:t>
            </a:r>
          </a:p>
        </p:txBody>
      </p:sp>
    </p:spTree>
    <p:extLst>
      <p:ext uri="{BB962C8B-B14F-4D97-AF65-F5344CB8AC3E}">
        <p14:creationId xmlns:p14="http://schemas.microsoft.com/office/powerpoint/2010/main" val="2340273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13" name="Slide Number Placeholder 22">
            <a:extLst>
              <a:ext uri="{FF2B5EF4-FFF2-40B4-BE49-F238E27FC236}">
                <a16:creationId xmlns:a16="http://schemas.microsoft.com/office/drawing/2014/main" id="{9C95DEF5-A558-43EB-94D4-E325E1CB5DE2}"/>
              </a:ext>
            </a:extLst>
          </p:cNvPr>
          <p:cNvSpPr txBox="1">
            <a:spLocks/>
          </p:cNvSpPr>
          <p:nvPr userDrawn="1"/>
        </p:nvSpPr>
        <p:spPr>
          <a:xfrm>
            <a:off x="11720468" y="6518553"/>
            <a:ext cx="408632" cy="244661"/>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88EE3E-AEEC-954C-BC2F-BB88D43739C2}" type="slidenum">
              <a:rPr lang="en-IL" smtClean="0"/>
              <a:pPr/>
              <a:t>‹#›</a:t>
            </a:fld>
            <a:endParaRPr lang="en-IL"/>
          </a:p>
        </p:txBody>
      </p:sp>
      <p:sp>
        <p:nvSpPr>
          <p:cNvPr id="2" name="Title 1">
            <a:extLst>
              <a:ext uri="{FF2B5EF4-FFF2-40B4-BE49-F238E27FC236}">
                <a16:creationId xmlns:a16="http://schemas.microsoft.com/office/drawing/2014/main" id="{EB1D601E-79A4-4C4A-BCE9-118BAB20A50F}"/>
              </a:ext>
            </a:extLst>
          </p:cNvPr>
          <p:cNvSpPr>
            <a:spLocks noGrp="1"/>
          </p:cNvSpPr>
          <p:nvPr>
            <p:ph type="title"/>
          </p:nvPr>
        </p:nvSpPr>
        <p:spPr/>
        <p:txBody>
          <a:bodyPr/>
          <a:lstStyle/>
          <a:p>
            <a:r>
              <a:rPr lang="en-GB"/>
              <a:t>Click to edit Master title style</a:t>
            </a:r>
            <a:endParaRPr lang="en-US"/>
          </a:p>
        </p:txBody>
      </p:sp>
      <p:sp>
        <p:nvSpPr>
          <p:cNvPr id="4" name="Date Placeholder 3">
            <a:extLst>
              <a:ext uri="{FF2B5EF4-FFF2-40B4-BE49-F238E27FC236}">
                <a16:creationId xmlns:a16="http://schemas.microsoft.com/office/drawing/2014/main" id="{60D04CB8-485A-46FF-AC30-BDF406EEA118}"/>
              </a:ext>
            </a:extLst>
          </p:cNvPr>
          <p:cNvSpPr>
            <a:spLocks noGrp="1"/>
          </p:cNvSpPr>
          <p:nvPr>
            <p:ph type="dt" sz="half" idx="10"/>
          </p:nvPr>
        </p:nvSpPr>
        <p:spPr/>
        <p:txBody>
          <a:bodyPr/>
          <a:lstStyle/>
          <a:p>
            <a:fld id="{8744D272-7787-42F5-8E85-5772E5920C77}" type="datetimeFigureOut">
              <a:rPr lang="en-US" smtClean="0"/>
              <a:t>12/4/2025</a:t>
            </a:fld>
            <a:endParaRPr lang="en-US"/>
          </a:p>
        </p:txBody>
      </p:sp>
      <p:sp>
        <p:nvSpPr>
          <p:cNvPr id="5" name="Footer Placeholder 4">
            <a:extLst>
              <a:ext uri="{FF2B5EF4-FFF2-40B4-BE49-F238E27FC236}">
                <a16:creationId xmlns:a16="http://schemas.microsoft.com/office/drawing/2014/main" id="{245F36A8-BAF9-4FD8-A836-D12878DEA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6267A-62F2-48A8-BAA4-576130486E0F}"/>
              </a:ext>
            </a:extLst>
          </p:cNvPr>
          <p:cNvSpPr>
            <a:spLocks noGrp="1"/>
          </p:cNvSpPr>
          <p:nvPr>
            <p:ph type="sldNum" sz="quarter" idx="12"/>
          </p:nvPr>
        </p:nvSpPr>
        <p:spPr/>
        <p:txBody>
          <a:bodyPr/>
          <a:lstStyle/>
          <a:p>
            <a:fld id="{37527A84-62A5-40F8-9ABB-C2EE3BC8218F}" type="slidenum">
              <a:rPr lang="en-US" smtClean="0"/>
              <a:t>‹#›</a:t>
            </a:fld>
            <a:endParaRPr lang="en-US"/>
          </a:p>
        </p:txBody>
      </p:sp>
      <p:sp>
        <p:nvSpPr>
          <p:cNvPr id="8" name="Text Placeholder 7">
            <a:extLst>
              <a:ext uri="{FF2B5EF4-FFF2-40B4-BE49-F238E27FC236}">
                <a16:creationId xmlns:a16="http://schemas.microsoft.com/office/drawing/2014/main" id="{E8D0FBCD-EE24-4372-BC98-BF8E948DD284}"/>
              </a:ext>
            </a:extLst>
          </p:cNvPr>
          <p:cNvSpPr>
            <a:spLocks noGrp="1"/>
          </p:cNvSpPr>
          <p:nvPr>
            <p:ph type="body" sz="quarter" idx="13"/>
          </p:nvPr>
        </p:nvSpPr>
        <p:spPr>
          <a:xfrm>
            <a:off x="183220" y="558913"/>
            <a:ext cx="11561104" cy="714375"/>
          </a:xfrm>
        </p:spPr>
        <p:txBody>
          <a:bodyPr lIns="0" rIns="0"/>
          <a:lstStyle>
            <a:lvl1pPr marL="0" indent="0">
              <a:buFontTx/>
              <a:buNone/>
              <a:defRPr/>
            </a:lvl1pPr>
            <a:lvl2pPr marL="228600" indent="0">
              <a:buNone/>
              <a:defRPr/>
            </a:lvl2pPr>
          </a:lstStyle>
          <a:p>
            <a:pPr lvl="0"/>
            <a:r>
              <a:rPr lang="en-GB"/>
              <a:t>Click to edit Master text styles</a:t>
            </a:r>
          </a:p>
        </p:txBody>
      </p:sp>
      <p:pic>
        <p:nvPicPr>
          <p:cNvPr id="93" name="תמונה 39">
            <a:extLst>
              <a:ext uri="{FF2B5EF4-FFF2-40B4-BE49-F238E27FC236}">
                <a16:creationId xmlns:a16="http://schemas.microsoft.com/office/drawing/2014/main" id="{17FB6B68-B667-44AC-BCC1-D2C4CE522F64}"/>
              </a:ext>
            </a:extLst>
          </p:cNvPr>
          <p:cNvPicPr>
            <a:picLocks noChangeAspect="1"/>
          </p:cNvPicPr>
          <p:nvPr userDrawn="1"/>
        </p:nvPicPr>
        <p:blipFill>
          <a:blip r:embed="rId2">
            <a:alphaModFix amt="10000"/>
            <a:extLst>
              <a:ext uri="{BEBA8EAE-BF5A-486C-A8C5-ECC9F3942E4B}">
                <a14:imgProps xmlns:a14="http://schemas.microsoft.com/office/drawing/2010/main">
                  <a14:imgLayer r:embed="rId3">
                    <a14:imgEffect>
                      <a14:saturation sat="83000"/>
                    </a14:imgEffect>
                  </a14:imgLayer>
                </a14:imgProps>
              </a:ext>
              <a:ext uri="{28A0092B-C50C-407E-A947-70E740481C1C}">
                <a14:useLocalDpi xmlns:a14="http://schemas.microsoft.com/office/drawing/2010/main" val="0"/>
              </a:ext>
            </a:extLst>
          </a:blip>
          <a:stretch>
            <a:fillRect/>
          </a:stretch>
        </p:blipFill>
        <p:spPr>
          <a:xfrm>
            <a:off x="243979" y="1115012"/>
            <a:ext cx="11642757" cy="5648202"/>
          </a:xfrm>
          <a:prstGeom prst="rect">
            <a:avLst/>
          </a:prstGeom>
        </p:spPr>
      </p:pic>
    </p:spTree>
    <p:extLst>
      <p:ext uri="{BB962C8B-B14F-4D97-AF65-F5344CB8AC3E}">
        <p14:creationId xmlns:p14="http://schemas.microsoft.com/office/powerpoint/2010/main" val="22834464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13" name="Slide Number Placeholder 22">
            <a:extLst>
              <a:ext uri="{FF2B5EF4-FFF2-40B4-BE49-F238E27FC236}">
                <a16:creationId xmlns:a16="http://schemas.microsoft.com/office/drawing/2014/main" id="{9C95DEF5-A558-43EB-94D4-E325E1CB5DE2}"/>
              </a:ext>
            </a:extLst>
          </p:cNvPr>
          <p:cNvSpPr txBox="1">
            <a:spLocks/>
          </p:cNvSpPr>
          <p:nvPr userDrawn="1"/>
        </p:nvSpPr>
        <p:spPr>
          <a:xfrm>
            <a:off x="11720468" y="6518553"/>
            <a:ext cx="408632" cy="244661"/>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88EE3E-AEEC-954C-BC2F-BB88D43739C2}" type="slidenum">
              <a:rPr lang="en-IL" smtClean="0"/>
              <a:pPr/>
              <a:t>‹#›</a:t>
            </a:fld>
            <a:endParaRPr lang="en-IL"/>
          </a:p>
        </p:txBody>
      </p:sp>
      <p:sp>
        <p:nvSpPr>
          <p:cNvPr id="2" name="Title 1">
            <a:extLst>
              <a:ext uri="{FF2B5EF4-FFF2-40B4-BE49-F238E27FC236}">
                <a16:creationId xmlns:a16="http://schemas.microsoft.com/office/drawing/2014/main" id="{EB1D601E-79A4-4C4A-BCE9-118BAB20A50F}"/>
              </a:ext>
            </a:extLst>
          </p:cNvPr>
          <p:cNvSpPr>
            <a:spLocks noGrp="1"/>
          </p:cNvSpPr>
          <p:nvPr>
            <p:ph type="title"/>
          </p:nvPr>
        </p:nvSpPr>
        <p:spPr>
          <a:xfrm>
            <a:off x="1952624" y="134181"/>
            <a:ext cx="9791700" cy="424732"/>
          </a:xfrm>
        </p:spPr>
        <p:txBody>
          <a:bodyPr/>
          <a:lstStyle/>
          <a:p>
            <a:r>
              <a:rPr lang="en-GB"/>
              <a:t>Click to edit Master title style</a:t>
            </a:r>
            <a:endParaRPr lang="en-US"/>
          </a:p>
        </p:txBody>
      </p:sp>
      <p:sp>
        <p:nvSpPr>
          <p:cNvPr id="4" name="Date Placeholder 3">
            <a:extLst>
              <a:ext uri="{FF2B5EF4-FFF2-40B4-BE49-F238E27FC236}">
                <a16:creationId xmlns:a16="http://schemas.microsoft.com/office/drawing/2014/main" id="{60D04CB8-485A-46FF-AC30-BDF406EEA118}"/>
              </a:ext>
            </a:extLst>
          </p:cNvPr>
          <p:cNvSpPr>
            <a:spLocks noGrp="1"/>
          </p:cNvSpPr>
          <p:nvPr>
            <p:ph type="dt" sz="half" idx="10"/>
          </p:nvPr>
        </p:nvSpPr>
        <p:spPr/>
        <p:txBody>
          <a:bodyPr/>
          <a:lstStyle/>
          <a:p>
            <a:fld id="{8744D272-7787-42F5-8E85-5772E5920C77}" type="datetimeFigureOut">
              <a:rPr lang="en-US" smtClean="0"/>
              <a:t>12/4/2025</a:t>
            </a:fld>
            <a:endParaRPr lang="en-US"/>
          </a:p>
        </p:txBody>
      </p:sp>
      <p:sp>
        <p:nvSpPr>
          <p:cNvPr id="5" name="Footer Placeholder 4">
            <a:extLst>
              <a:ext uri="{FF2B5EF4-FFF2-40B4-BE49-F238E27FC236}">
                <a16:creationId xmlns:a16="http://schemas.microsoft.com/office/drawing/2014/main" id="{245F36A8-BAF9-4FD8-A836-D12878DEA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6267A-62F2-48A8-BAA4-576130486E0F}"/>
              </a:ext>
            </a:extLst>
          </p:cNvPr>
          <p:cNvSpPr>
            <a:spLocks noGrp="1"/>
          </p:cNvSpPr>
          <p:nvPr>
            <p:ph type="sldNum" sz="quarter" idx="12"/>
          </p:nvPr>
        </p:nvSpPr>
        <p:spPr/>
        <p:txBody>
          <a:bodyPr/>
          <a:lstStyle/>
          <a:p>
            <a:fld id="{37527A84-62A5-40F8-9ABB-C2EE3BC8218F}" type="slidenum">
              <a:rPr lang="en-US" smtClean="0"/>
              <a:t>‹#›</a:t>
            </a:fld>
            <a:endParaRPr lang="en-US"/>
          </a:p>
        </p:txBody>
      </p:sp>
      <p:sp>
        <p:nvSpPr>
          <p:cNvPr id="8" name="Text Placeholder 7">
            <a:extLst>
              <a:ext uri="{FF2B5EF4-FFF2-40B4-BE49-F238E27FC236}">
                <a16:creationId xmlns:a16="http://schemas.microsoft.com/office/drawing/2014/main" id="{E8D0FBCD-EE24-4372-BC98-BF8E948DD284}"/>
              </a:ext>
            </a:extLst>
          </p:cNvPr>
          <p:cNvSpPr>
            <a:spLocks noGrp="1"/>
          </p:cNvSpPr>
          <p:nvPr>
            <p:ph type="body" sz="quarter" idx="13"/>
          </p:nvPr>
        </p:nvSpPr>
        <p:spPr>
          <a:xfrm>
            <a:off x="1952624" y="558913"/>
            <a:ext cx="9791699" cy="714375"/>
          </a:xfrm>
        </p:spPr>
        <p:txBody>
          <a:bodyPr lIns="0" rIns="0"/>
          <a:lstStyle>
            <a:lvl1pPr marL="0" indent="0">
              <a:buFontTx/>
              <a:buNone/>
              <a:defRPr/>
            </a:lvl1pPr>
            <a:lvl2pPr marL="228600" indent="0">
              <a:buNone/>
              <a:defRPr/>
            </a:lvl2pPr>
          </a:lstStyle>
          <a:p>
            <a:pPr lvl="0"/>
            <a:r>
              <a:rPr lang="en-GB"/>
              <a:t>Click to edit Master text styles</a:t>
            </a:r>
          </a:p>
        </p:txBody>
      </p:sp>
      <p:cxnSp>
        <p:nvCxnSpPr>
          <p:cNvPr id="9" name="Straight Connector 8">
            <a:extLst>
              <a:ext uri="{FF2B5EF4-FFF2-40B4-BE49-F238E27FC236}">
                <a16:creationId xmlns:a16="http://schemas.microsoft.com/office/drawing/2014/main" id="{145E9378-966F-47B6-8719-5A2437B5A700}"/>
              </a:ext>
            </a:extLst>
          </p:cNvPr>
          <p:cNvCxnSpPr>
            <a:cxnSpLocks/>
          </p:cNvCxnSpPr>
          <p:nvPr userDrawn="1"/>
        </p:nvCxnSpPr>
        <p:spPr>
          <a:xfrm>
            <a:off x="1719618" y="0"/>
            <a:ext cx="0" cy="1173707"/>
          </a:xfrm>
          <a:prstGeom prst="line">
            <a:avLst/>
          </a:prstGeom>
          <a:ln w="6350" cmpd="sng">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1303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D601E-79A4-4C4A-BCE9-118BAB20A50F}"/>
              </a:ext>
            </a:extLst>
          </p:cNvPr>
          <p:cNvSpPr>
            <a:spLocks noGrp="1"/>
          </p:cNvSpPr>
          <p:nvPr>
            <p:ph type="title"/>
          </p:nvPr>
        </p:nvSpPr>
        <p:spPr>
          <a:xfrm>
            <a:off x="4259920" y="1753277"/>
            <a:ext cx="7331806" cy="424732"/>
          </a:xfrm>
        </p:spPr>
        <p:txBody>
          <a:bodyPr/>
          <a:lstStyle>
            <a:lvl1pPr>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7146724-E269-4C09-9307-64D5607F6737}"/>
              </a:ext>
            </a:extLst>
          </p:cNvPr>
          <p:cNvSpPr>
            <a:spLocks noGrp="1"/>
          </p:cNvSpPr>
          <p:nvPr>
            <p:ph idx="1"/>
          </p:nvPr>
        </p:nvSpPr>
        <p:spPr>
          <a:xfrm>
            <a:off x="4257675" y="2349459"/>
            <a:ext cx="7334250" cy="3535383"/>
          </a:xfrm>
        </p:spPr>
        <p:txBody>
          <a:bodyPr/>
          <a:lstStyle>
            <a:lvl1pPr marL="457200" indent="-457200">
              <a:buFont typeface="+mj-lt"/>
              <a:buAutoNum type="arabicPeriod"/>
              <a:defRPr>
                <a:solidFill>
                  <a:schemeClr val="bg1"/>
                </a:solidFill>
              </a:defRPr>
            </a:lvl1pPr>
            <a:lvl2pPr marL="571500" indent="-342900">
              <a:buFont typeface="+mj-lt"/>
              <a:buAutoNum type="arabicPeriod"/>
              <a:defRPr>
                <a:solidFill>
                  <a:schemeClr val="bg1"/>
                </a:solidFill>
              </a:defRPr>
            </a:lvl2pPr>
            <a:lvl3pPr marL="800100" indent="-342900">
              <a:buFont typeface="+mj-lt"/>
              <a:buAutoNum type="arabicPeriod"/>
              <a:defRPr>
                <a:solidFill>
                  <a:schemeClr val="bg1"/>
                </a:solidFill>
              </a:defRPr>
            </a:lvl3pPr>
            <a:lvl4pPr marL="1028700" indent="-342900">
              <a:buFont typeface="+mj-lt"/>
              <a:buAutoNum type="arabicPeriod"/>
              <a:defRPr>
                <a:solidFill>
                  <a:schemeClr val="bg1"/>
                </a:solidFill>
              </a:defRPr>
            </a:lvl4pPr>
            <a:lvl5pPr>
              <a:buFont typeface="+mj-lt"/>
              <a:buAutoNum type="arabicPeriod"/>
              <a:defRPr>
                <a:solidFill>
                  <a:schemeClr val="bg1"/>
                </a:solidFill>
              </a:defRPr>
            </a:lvl5pPr>
          </a:lstStyle>
          <a:p>
            <a:pPr lvl="0"/>
            <a:r>
              <a:rPr lang="en-GB"/>
              <a:t>Click to edit Master text styles</a:t>
            </a:r>
          </a:p>
        </p:txBody>
      </p:sp>
      <p:sp>
        <p:nvSpPr>
          <p:cNvPr id="4" name="Date Placeholder 3">
            <a:extLst>
              <a:ext uri="{FF2B5EF4-FFF2-40B4-BE49-F238E27FC236}">
                <a16:creationId xmlns:a16="http://schemas.microsoft.com/office/drawing/2014/main" id="{60D04CB8-485A-46FF-AC30-BDF406EEA118}"/>
              </a:ext>
            </a:extLst>
          </p:cNvPr>
          <p:cNvSpPr>
            <a:spLocks noGrp="1"/>
          </p:cNvSpPr>
          <p:nvPr>
            <p:ph type="dt" sz="half" idx="10"/>
          </p:nvPr>
        </p:nvSpPr>
        <p:spPr/>
        <p:txBody>
          <a:bodyPr/>
          <a:lstStyle/>
          <a:p>
            <a:fld id="{8744D272-7787-42F5-8E85-5772E5920C77}" type="datetimeFigureOut">
              <a:rPr lang="en-US" smtClean="0"/>
              <a:t>12/4/2025</a:t>
            </a:fld>
            <a:endParaRPr lang="en-US"/>
          </a:p>
        </p:txBody>
      </p:sp>
      <p:sp>
        <p:nvSpPr>
          <p:cNvPr id="5" name="Footer Placeholder 4">
            <a:extLst>
              <a:ext uri="{FF2B5EF4-FFF2-40B4-BE49-F238E27FC236}">
                <a16:creationId xmlns:a16="http://schemas.microsoft.com/office/drawing/2014/main" id="{245F36A8-BAF9-4FD8-A836-D12878DEA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6267A-62F2-48A8-BAA4-576130486E0F}"/>
              </a:ext>
            </a:extLst>
          </p:cNvPr>
          <p:cNvSpPr>
            <a:spLocks noGrp="1"/>
          </p:cNvSpPr>
          <p:nvPr>
            <p:ph type="sldNum" sz="quarter" idx="12"/>
          </p:nvPr>
        </p:nvSpPr>
        <p:spPr/>
        <p:txBody>
          <a:bodyPr/>
          <a:lstStyle/>
          <a:p>
            <a:fld id="{37527A84-62A5-40F8-9ABB-C2EE3BC8218F}" type="slidenum">
              <a:rPr lang="en-US" smtClean="0"/>
              <a:t>‹#›</a:t>
            </a:fld>
            <a:endParaRPr lang="en-US"/>
          </a:p>
        </p:txBody>
      </p:sp>
    </p:spTree>
    <p:extLst>
      <p:ext uri="{BB962C8B-B14F-4D97-AF65-F5344CB8AC3E}">
        <p14:creationId xmlns:p14="http://schemas.microsoft.com/office/powerpoint/2010/main" val="4129877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7254A-0B81-4DFB-9926-D523EAF978A2}"/>
              </a:ext>
            </a:extLst>
          </p:cNvPr>
          <p:cNvSpPr>
            <a:spLocks noGrp="1"/>
          </p:cNvSpPr>
          <p:nvPr>
            <p:ph type="title"/>
          </p:nvPr>
        </p:nvSpPr>
        <p:spPr>
          <a:xfrm>
            <a:off x="315448" y="2676272"/>
            <a:ext cx="11561105" cy="480131"/>
          </a:xfrm>
        </p:spPr>
        <p:txBody>
          <a:bodyPr/>
          <a:lstStyle>
            <a:lvl1pPr algn="ctr">
              <a:defRPr sz="2800" b="0">
                <a:solidFill>
                  <a:schemeClr val="bg1"/>
                </a:solidFill>
              </a:defRPr>
            </a:lvl1pPr>
          </a:lstStyle>
          <a:p>
            <a:r>
              <a:rPr lang="en-GB"/>
              <a:t>Click to edit Master title style</a:t>
            </a:r>
            <a:endParaRPr lang="en-US"/>
          </a:p>
        </p:txBody>
      </p:sp>
      <p:pic>
        <p:nvPicPr>
          <p:cNvPr id="6" name="Picture 5">
            <a:extLst>
              <a:ext uri="{FF2B5EF4-FFF2-40B4-BE49-F238E27FC236}">
                <a16:creationId xmlns:a16="http://schemas.microsoft.com/office/drawing/2014/main" id="{94302C2B-9D94-41E6-8C08-4727B385E09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414839" y="996387"/>
            <a:ext cx="1362328" cy="565494"/>
          </a:xfrm>
          <a:prstGeom prst="rect">
            <a:avLst/>
          </a:prstGeom>
        </p:spPr>
      </p:pic>
      <p:pic>
        <p:nvPicPr>
          <p:cNvPr id="7" name="Picture 6">
            <a:hlinkClick r:id="rId3"/>
            <a:extLst>
              <a:ext uri="{FF2B5EF4-FFF2-40B4-BE49-F238E27FC236}">
                <a16:creationId xmlns:a16="http://schemas.microsoft.com/office/drawing/2014/main" id="{1F85FB81-12EA-4F6B-A72A-4B3C8E0D4DBF}"/>
              </a:ext>
            </a:extLst>
          </p:cNvPr>
          <p:cNvPicPr>
            <a:picLocks noChangeAspect="1"/>
          </p:cNvPicPr>
          <p:nvPr userDrawn="1"/>
        </p:nvPicPr>
        <p:blipFill>
          <a:blip r:embed="rId4"/>
          <a:stretch>
            <a:fillRect/>
          </a:stretch>
        </p:blipFill>
        <p:spPr>
          <a:xfrm>
            <a:off x="5249482" y="3862252"/>
            <a:ext cx="324000" cy="324000"/>
          </a:xfrm>
          <a:prstGeom prst="rect">
            <a:avLst/>
          </a:prstGeom>
        </p:spPr>
      </p:pic>
      <p:pic>
        <p:nvPicPr>
          <p:cNvPr id="8" name="Picture 7">
            <a:hlinkClick r:id="rId5"/>
            <a:extLst>
              <a:ext uri="{FF2B5EF4-FFF2-40B4-BE49-F238E27FC236}">
                <a16:creationId xmlns:a16="http://schemas.microsoft.com/office/drawing/2014/main" id="{936E5ED6-C61A-4AC2-8AC5-49000EE11679}"/>
              </a:ext>
            </a:extLst>
          </p:cNvPr>
          <p:cNvPicPr>
            <a:picLocks noChangeAspect="1"/>
          </p:cNvPicPr>
          <p:nvPr userDrawn="1"/>
        </p:nvPicPr>
        <p:blipFill>
          <a:blip r:embed="rId6"/>
          <a:stretch>
            <a:fillRect/>
          </a:stretch>
        </p:blipFill>
        <p:spPr>
          <a:xfrm>
            <a:off x="5937792" y="3862252"/>
            <a:ext cx="324000" cy="324000"/>
          </a:xfrm>
          <a:prstGeom prst="rect">
            <a:avLst/>
          </a:prstGeom>
        </p:spPr>
      </p:pic>
      <p:pic>
        <p:nvPicPr>
          <p:cNvPr id="9" name="Picture 8">
            <a:hlinkClick r:id="rId7"/>
            <a:extLst>
              <a:ext uri="{FF2B5EF4-FFF2-40B4-BE49-F238E27FC236}">
                <a16:creationId xmlns:a16="http://schemas.microsoft.com/office/drawing/2014/main" id="{A3598CEF-0330-4423-84C1-B585F37B5582}"/>
              </a:ext>
            </a:extLst>
          </p:cNvPr>
          <p:cNvPicPr>
            <a:picLocks noChangeAspect="1"/>
          </p:cNvPicPr>
          <p:nvPr userDrawn="1"/>
        </p:nvPicPr>
        <p:blipFill>
          <a:blip r:embed="rId8"/>
          <a:stretch>
            <a:fillRect/>
          </a:stretch>
        </p:blipFill>
        <p:spPr>
          <a:xfrm>
            <a:off x="6626103" y="3871296"/>
            <a:ext cx="324000" cy="324000"/>
          </a:xfrm>
          <a:prstGeom prst="rect">
            <a:avLst/>
          </a:prstGeom>
        </p:spPr>
      </p:pic>
      <p:sp>
        <p:nvSpPr>
          <p:cNvPr id="10" name="TextBox 9">
            <a:extLst>
              <a:ext uri="{FF2B5EF4-FFF2-40B4-BE49-F238E27FC236}">
                <a16:creationId xmlns:a16="http://schemas.microsoft.com/office/drawing/2014/main" id="{1A442F28-7EEE-498B-9360-086D79CA9199}"/>
              </a:ext>
            </a:extLst>
          </p:cNvPr>
          <p:cNvSpPr txBox="1"/>
          <p:nvPr userDrawn="1"/>
        </p:nvSpPr>
        <p:spPr>
          <a:xfrm>
            <a:off x="4564372" y="1815649"/>
            <a:ext cx="3394840" cy="338554"/>
          </a:xfrm>
          <a:prstGeom prst="rect">
            <a:avLst/>
          </a:prstGeom>
          <a:noFill/>
        </p:spPr>
        <p:txBody>
          <a:bodyPr wrap="none" rtlCol="0">
            <a:spAutoFit/>
          </a:bodyPr>
          <a:lstStyle/>
          <a:p>
            <a:r>
              <a:rPr lang="en-US" sz="1600">
                <a:solidFill>
                  <a:schemeClr val="bg1"/>
                </a:solidFill>
              </a:rPr>
              <a:t>Cato SASE. Ready for Whatever’s Next.</a:t>
            </a:r>
          </a:p>
        </p:txBody>
      </p:sp>
    </p:spTree>
    <p:extLst>
      <p:ext uri="{BB962C8B-B14F-4D97-AF65-F5344CB8AC3E}">
        <p14:creationId xmlns:p14="http://schemas.microsoft.com/office/powerpoint/2010/main" val="1791653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_sub 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9E45DD1-FD64-0540-9527-100B5BAAD148}"/>
              </a:ext>
            </a:extLst>
          </p:cNvPr>
          <p:cNvSpPr>
            <a:spLocks noGrp="1"/>
          </p:cNvSpPr>
          <p:nvPr>
            <p:ph type="title"/>
          </p:nvPr>
        </p:nvSpPr>
        <p:spPr>
          <a:xfrm>
            <a:off x="314138" y="186990"/>
            <a:ext cx="11245946" cy="428588"/>
          </a:xfrm>
          <a:prstGeom prst="rect">
            <a:avLst/>
          </a:prstGeom>
        </p:spPr>
        <p:txBody>
          <a:bodyPr lIns="0"/>
          <a:lstStyle>
            <a:lvl1pPr algn="l">
              <a:defRPr sz="2400" b="1">
                <a:solidFill>
                  <a:schemeClr val="accent1"/>
                </a:solidFill>
              </a:defRPr>
            </a:lvl1pPr>
          </a:lstStyle>
          <a:p>
            <a:r>
              <a:rPr lang="en-US"/>
              <a:t>Click to edit Master title style</a:t>
            </a:r>
          </a:p>
        </p:txBody>
      </p:sp>
      <p:sp>
        <p:nvSpPr>
          <p:cNvPr id="7" name="Text Placeholder 9">
            <a:extLst>
              <a:ext uri="{FF2B5EF4-FFF2-40B4-BE49-F238E27FC236}">
                <a16:creationId xmlns:a16="http://schemas.microsoft.com/office/drawing/2014/main" id="{EFF29200-DFCC-A144-AAAE-5D0C7E5464D9}"/>
              </a:ext>
            </a:extLst>
          </p:cNvPr>
          <p:cNvSpPr>
            <a:spLocks noGrp="1"/>
          </p:cNvSpPr>
          <p:nvPr>
            <p:ph type="body" sz="quarter" idx="12"/>
          </p:nvPr>
        </p:nvSpPr>
        <p:spPr>
          <a:xfrm>
            <a:off x="314138" y="615577"/>
            <a:ext cx="9063038" cy="385213"/>
          </a:xfrm>
          <a:prstGeom prst="rect">
            <a:avLst/>
          </a:prstGeom>
        </p:spPr>
        <p:txBody>
          <a:bodyPr lIns="0" rIns="0" anchor="t" anchorCtr="0">
            <a:noAutofit/>
          </a:bodyPr>
          <a:lstStyle>
            <a:lvl1pPr marL="285750" indent="-285750">
              <a:buFontTx/>
              <a:buNone/>
              <a:defRPr lang="en-US" sz="2000" smtClean="0">
                <a:solidFill>
                  <a:schemeClr val="tx1"/>
                </a:solidFill>
              </a:defRPr>
            </a:lvl1pPr>
            <a:lvl2pPr>
              <a:defRPr lang="en-US" smtClean="0"/>
            </a:lvl2pPr>
            <a:lvl3pPr>
              <a:defRPr lang="en-US" smtClean="0"/>
            </a:lvl3pPr>
            <a:lvl4pPr>
              <a:defRPr lang="en-US" smtClean="0"/>
            </a:lvl4pPr>
            <a:lvl5pPr>
              <a:defRPr lang="en-US"/>
            </a:lvl5pPr>
          </a:lstStyle>
          <a:p>
            <a:pPr marL="0" lvl="0" indent="0" defTabSz="914377" latinLnBrk="0"/>
            <a:r>
              <a:rPr lang="en-US"/>
              <a:t>Click to edit Master text styles</a:t>
            </a:r>
          </a:p>
        </p:txBody>
      </p:sp>
      <p:sp>
        <p:nvSpPr>
          <p:cNvPr id="5" name="Slide Number Placeholder 22">
            <a:extLst>
              <a:ext uri="{FF2B5EF4-FFF2-40B4-BE49-F238E27FC236}">
                <a16:creationId xmlns:a16="http://schemas.microsoft.com/office/drawing/2014/main" id="{FFD90C3E-6227-4944-868A-EB9526CF0841}"/>
              </a:ext>
            </a:extLst>
          </p:cNvPr>
          <p:cNvSpPr>
            <a:spLocks noGrp="1"/>
          </p:cNvSpPr>
          <p:nvPr>
            <p:ph type="sldNum" sz="quarter" idx="4"/>
          </p:nvPr>
        </p:nvSpPr>
        <p:spPr>
          <a:xfrm>
            <a:off x="11720468" y="6518553"/>
            <a:ext cx="408632" cy="244661"/>
          </a:xfrm>
          <a:prstGeom prst="rect">
            <a:avLst/>
          </a:prstGeom>
        </p:spPr>
        <p:txBody>
          <a:bodyPr/>
          <a:lstStyle>
            <a:lvl1pPr>
              <a:defRPr sz="900">
                <a:solidFill>
                  <a:schemeClr val="bg1">
                    <a:lumMod val="75000"/>
                  </a:schemeClr>
                </a:solidFill>
              </a:defRPr>
            </a:lvl1pPr>
          </a:lstStyle>
          <a:p>
            <a:r>
              <a:rPr lang="en-US"/>
              <a:t>| </a:t>
            </a:r>
            <a:fld id="{FEC5E14B-9965-442C-8683-0E66DD8427DC}" type="slidenum">
              <a:rPr lang="en-US" smtClean="0"/>
              <a:pPr/>
              <a:t>‹#›</a:t>
            </a:fld>
            <a:endParaRPr lang="en-US"/>
          </a:p>
        </p:txBody>
      </p:sp>
    </p:spTree>
    <p:extLst>
      <p:ext uri="{BB962C8B-B14F-4D97-AF65-F5344CB8AC3E}">
        <p14:creationId xmlns:p14="http://schemas.microsoft.com/office/powerpoint/2010/main" val="34367198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_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7A937F7-52E3-43B7-915D-52084F5941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67" y="0"/>
            <a:ext cx="12187065" cy="6858000"/>
          </a:xfrm>
          <a:prstGeom prst="rect">
            <a:avLst/>
          </a:prstGeom>
        </p:spPr>
      </p:pic>
      <p:sp>
        <p:nvSpPr>
          <p:cNvPr id="12" name="Text Placeholder 12">
            <a:extLst>
              <a:ext uri="{FF2B5EF4-FFF2-40B4-BE49-F238E27FC236}">
                <a16:creationId xmlns:a16="http://schemas.microsoft.com/office/drawing/2014/main" id="{6CE2BC32-FCF6-425A-BD47-556C3C40B5A9}"/>
              </a:ext>
            </a:extLst>
          </p:cNvPr>
          <p:cNvSpPr>
            <a:spLocks noGrp="1"/>
          </p:cNvSpPr>
          <p:nvPr>
            <p:ph type="body" sz="quarter" idx="10"/>
          </p:nvPr>
        </p:nvSpPr>
        <p:spPr>
          <a:xfrm>
            <a:off x="365760" y="1785980"/>
            <a:ext cx="7731938" cy="1105232"/>
          </a:xfrm>
          <a:prstGeom prst="rect">
            <a:avLst/>
          </a:prstGeom>
        </p:spPr>
        <p:txBody>
          <a:bodyPr lIns="0"/>
          <a:lstStyle>
            <a:lvl1pPr marL="0" indent="0">
              <a:buFontTx/>
              <a:buNone/>
              <a:defRPr lang="en-US" sz="4400">
                <a:solidFill>
                  <a:schemeClr val="bg1"/>
                </a:solidFill>
              </a:defRPr>
            </a:lvl1pPr>
          </a:lstStyle>
          <a:p>
            <a:pPr marL="228600" lvl="0" indent="-228600"/>
            <a:r>
              <a:rPr lang="en-US"/>
              <a:t>Click to edit Master text styles</a:t>
            </a:r>
          </a:p>
        </p:txBody>
      </p:sp>
      <p:sp>
        <p:nvSpPr>
          <p:cNvPr id="18" name="Text Placeholder 12">
            <a:extLst>
              <a:ext uri="{FF2B5EF4-FFF2-40B4-BE49-F238E27FC236}">
                <a16:creationId xmlns:a16="http://schemas.microsoft.com/office/drawing/2014/main" id="{2C9E4533-1E93-482A-802D-5480BCE4168A}"/>
              </a:ext>
            </a:extLst>
          </p:cNvPr>
          <p:cNvSpPr>
            <a:spLocks noGrp="1"/>
          </p:cNvSpPr>
          <p:nvPr>
            <p:ph type="body" sz="quarter" idx="11"/>
          </p:nvPr>
        </p:nvSpPr>
        <p:spPr>
          <a:xfrm>
            <a:off x="365761" y="2647676"/>
            <a:ext cx="5356522" cy="1105232"/>
          </a:xfrm>
          <a:prstGeom prst="rect">
            <a:avLst/>
          </a:prstGeom>
        </p:spPr>
        <p:txBody>
          <a:bodyPr lIns="0"/>
          <a:lstStyle>
            <a:lvl1pPr marL="0" indent="0">
              <a:buFontTx/>
              <a:buNone/>
              <a:defRPr lang="en-US" sz="2000">
                <a:solidFill>
                  <a:schemeClr val="bg1"/>
                </a:solidFill>
              </a:defRPr>
            </a:lvl1pPr>
          </a:lstStyle>
          <a:p>
            <a:pPr marL="228600" lvl="0" indent="-228600"/>
            <a:r>
              <a:rPr lang="en-US"/>
              <a:t>Click to edit Master text styles</a:t>
            </a:r>
          </a:p>
        </p:txBody>
      </p:sp>
      <p:sp>
        <p:nvSpPr>
          <p:cNvPr id="19" name="Text Placeholder 12">
            <a:extLst>
              <a:ext uri="{FF2B5EF4-FFF2-40B4-BE49-F238E27FC236}">
                <a16:creationId xmlns:a16="http://schemas.microsoft.com/office/drawing/2014/main" id="{EB3F6468-49BB-483D-B488-70AFF33D87E7}"/>
              </a:ext>
            </a:extLst>
          </p:cNvPr>
          <p:cNvSpPr>
            <a:spLocks noGrp="1"/>
          </p:cNvSpPr>
          <p:nvPr>
            <p:ph type="body" sz="quarter" idx="12"/>
          </p:nvPr>
        </p:nvSpPr>
        <p:spPr>
          <a:xfrm>
            <a:off x="1484877" y="4578077"/>
            <a:ext cx="5356522" cy="312996"/>
          </a:xfrm>
          <a:prstGeom prst="rect">
            <a:avLst/>
          </a:prstGeom>
        </p:spPr>
        <p:txBody>
          <a:bodyPr lIns="0"/>
          <a:lstStyle>
            <a:lvl1pPr marL="0" indent="0">
              <a:buFontTx/>
              <a:buNone/>
              <a:defRPr lang="en-US" sz="2000">
                <a:solidFill>
                  <a:srgbClr val="D9D9D9"/>
                </a:solidFill>
              </a:defRPr>
            </a:lvl1pPr>
          </a:lstStyle>
          <a:p>
            <a:pPr marL="228600" lvl="0" indent="-228600"/>
            <a:endParaRPr lang="en-US"/>
          </a:p>
        </p:txBody>
      </p:sp>
      <p:sp>
        <p:nvSpPr>
          <p:cNvPr id="20" name="Text Placeholder 12">
            <a:extLst>
              <a:ext uri="{FF2B5EF4-FFF2-40B4-BE49-F238E27FC236}">
                <a16:creationId xmlns:a16="http://schemas.microsoft.com/office/drawing/2014/main" id="{F14155AC-D6BC-4D92-B098-B489EDDA81A1}"/>
              </a:ext>
            </a:extLst>
          </p:cNvPr>
          <p:cNvSpPr>
            <a:spLocks noGrp="1"/>
          </p:cNvSpPr>
          <p:nvPr>
            <p:ph type="body" sz="quarter" idx="13"/>
          </p:nvPr>
        </p:nvSpPr>
        <p:spPr>
          <a:xfrm>
            <a:off x="1484877" y="4891073"/>
            <a:ext cx="5356522" cy="312996"/>
          </a:xfrm>
          <a:prstGeom prst="rect">
            <a:avLst/>
          </a:prstGeom>
        </p:spPr>
        <p:txBody>
          <a:bodyPr lIns="0"/>
          <a:lstStyle>
            <a:lvl1pPr marL="0" indent="0">
              <a:buFontTx/>
              <a:buNone/>
              <a:defRPr lang="en-US" sz="1400">
                <a:solidFill>
                  <a:srgbClr val="D9D9D9"/>
                </a:solidFill>
              </a:defRPr>
            </a:lvl1pPr>
          </a:lstStyle>
          <a:p>
            <a:pPr marL="228600" lvl="0" indent="-228600"/>
            <a:endParaRPr lang="en-US"/>
          </a:p>
        </p:txBody>
      </p:sp>
      <p:pic>
        <p:nvPicPr>
          <p:cNvPr id="21" name="Graphic 20">
            <a:extLst>
              <a:ext uri="{FF2B5EF4-FFF2-40B4-BE49-F238E27FC236}">
                <a16:creationId xmlns:a16="http://schemas.microsoft.com/office/drawing/2014/main" id="{BED16E2C-2B60-40B3-8BA3-1649346F298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5760" y="365760"/>
            <a:ext cx="1465286" cy="730361"/>
          </a:xfrm>
          <a:prstGeom prst="rect">
            <a:avLst/>
          </a:prstGeom>
        </p:spPr>
      </p:pic>
    </p:spTree>
    <p:extLst>
      <p:ext uri="{BB962C8B-B14F-4D97-AF65-F5344CB8AC3E}">
        <p14:creationId xmlns:p14="http://schemas.microsoft.com/office/powerpoint/2010/main" val="18278305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just titi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2900">
                <a:solidFill>
                  <a:schemeClr val="accent1"/>
                </a:solidFill>
              </a:defRPr>
            </a:lvl1pPr>
          </a:lstStyle>
          <a:p>
            <a:r>
              <a:rPr lang="en-US"/>
              <a:t>Click to edit Master title style</a:t>
            </a:r>
          </a:p>
        </p:txBody>
      </p:sp>
      <p:sp>
        <p:nvSpPr>
          <p:cNvPr id="4" name="Slide Number Placeholder 22">
            <a:extLst>
              <a:ext uri="{FF2B5EF4-FFF2-40B4-BE49-F238E27FC236}">
                <a16:creationId xmlns:a16="http://schemas.microsoft.com/office/drawing/2014/main" id="{4C6F9D11-5032-004A-8800-EF38AE1715A2}"/>
              </a:ext>
            </a:extLst>
          </p:cNvPr>
          <p:cNvSpPr>
            <a:spLocks noGrp="1"/>
          </p:cNvSpPr>
          <p:nvPr>
            <p:ph type="sldNum" sz="quarter" idx="4"/>
          </p:nvPr>
        </p:nvSpPr>
        <p:spPr>
          <a:xfrm>
            <a:off x="11546005" y="6492875"/>
            <a:ext cx="539977" cy="365125"/>
          </a:xfrm>
          <a:prstGeom prst="rect">
            <a:avLst/>
          </a:prstGeom>
        </p:spPr>
        <p:txBody>
          <a:bodyPr/>
          <a:lstStyle>
            <a:lvl1pPr>
              <a:defRPr sz="900">
                <a:solidFill>
                  <a:schemeClr val="bg1">
                    <a:lumMod val="75000"/>
                  </a:schemeClr>
                </a:solidFill>
              </a:defRPr>
            </a:lvl1pPr>
          </a:lstStyle>
          <a:p>
            <a:r>
              <a:rPr lang="en-US"/>
              <a:t>| </a:t>
            </a:r>
            <a:fld id="{FEC5E14B-9965-442C-8683-0E66DD8427DC}" type="slidenum">
              <a:rPr lang="en-US" smtClean="0"/>
              <a:pPr/>
              <a:t>‹#›</a:t>
            </a:fld>
            <a:endParaRPr lang="en-US"/>
          </a:p>
        </p:txBody>
      </p:sp>
    </p:spTree>
    <p:extLst>
      <p:ext uri="{BB962C8B-B14F-4D97-AF65-F5344CB8AC3E}">
        <p14:creationId xmlns:p14="http://schemas.microsoft.com/office/powerpoint/2010/main" val="17082824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5D9EC1-DBD1-4F05-ACC4-BC5F8A7712C9}"/>
              </a:ext>
            </a:extLst>
          </p:cNvPr>
          <p:cNvSpPr>
            <a:spLocks noGrp="1"/>
          </p:cNvSpPr>
          <p:nvPr>
            <p:ph idx="1"/>
          </p:nvPr>
        </p:nvSpPr>
        <p:spPr>
          <a:xfrm>
            <a:off x="314138" y="1112225"/>
            <a:ext cx="8312504" cy="5130198"/>
          </a:xfrm>
          <a:prstGeom prst="rect">
            <a:avLst/>
          </a:prstGeom>
        </p:spPr>
        <p:txBody>
          <a:bodyPr lIns="0">
            <a:noAutofit/>
          </a:bodyPr>
          <a:lstStyle>
            <a:lvl1pPr marL="228600" indent="-228600">
              <a:buClr>
                <a:schemeClr val="bg2">
                  <a:lumMod val="75000"/>
                </a:schemeClr>
              </a:buClr>
              <a:buFont typeface="Arial" panose="020B0604020202020204" pitchFamily="34" charset="0"/>
              <a:buChar char="•"/>
              <a:defRPr sz="2400" b="1">
                <a:solidFill>
                  <a:schemeClr val="tx1">
                    <a:lumMod val="90000"/>
                    <a:lumOff val="10000"/>
                  </a:schemeClr>
                </a:solidFill>
                <a:latin typeface="+mn-lt"/>
              </a:defRPr>
            </a:lvl1pPr>
            <a:lvl2pPr marL="457200" indent="-223838">
              <a:buClr>
                <a:schemeClr val="bg2">
                  <a:lumMod val="75000"/>
                </a:schemeClr>
              </a:buClr>
              <a:buFont typeface="Arial" panose="020B0604020202020204" pitchFamily="34" charset="0"/>
              <a:buChar char="•"/>
              <a:defRPr sz="2000">
                <a:solidFill>
                  <a:schemeClr val="tx1">
                    <a:lumMod val="90000"/>
                    <a:lumOff val="10000"/>
                  </a:schemeClr>
                </a:solidFill>
                <a:latin typeface="+mn-lt"/>
              </a:defRPr>
            </a:lvl2pPr>
            <a:lvl3pPr marL="690563" indent="-233363">
              <a:buClr>
                <a:schemeClr val="bg2">
                  <a:lumMod val="75000"/>
                </a:schemeClr>
              </a:buClr>
              <a:buFont typeface="Arial" panose="020B0604020202020204" pitchFamily="34" charset="0"/>
              <a:buChar char="•"/>
              <a:defRPr sz="1800">
                <a:solidFill>
                  <a:schemeClr val="tx1">
                    <a:lumMod val="90000"/>
                    <a:lumOff val="10000"/>
                  </a:schemeClr>
                </a:solidFill>
                <a:latin typeface="+mn-lt"/>
              </a:defRPr>
            </a:lvl3pPr>
            <a:lvl4pPr marL="914400" indent="-223838">
              <a:buClr>
                <a:schemeClr val="accent1"/>
              </a:buClr>
              <a:buFont typeface="Wingdings" pitchFamily="2" charset="2"/>
              <a:buChar char="§"/>
              <a:defRPr sz="1600">
                <a:latin typeface="+mn-lt"/>
              </a:defRPr>
            </a:lvl4pPr>
            <a:lvl5pPr marL="862013" indent="-234950">
              <a:buClr>
                <a:schemeClr val="accent1"/>
              </a:buClr>
              <a:buFont typeface="Wingdings" pitchFamily="2" charset="2"/>
              <a:buChar char="§"/>
              <a:defRPr sz="1600">
                <a:latin typeface="+mn-lt"/>
              </a:defRPr>
            </a:lvl5pPr>
          </a:lstStyle>
          <a:p>
            <a:pPr lvl="0"/>
            <a:r>
              <a:rPr lang="en-US"/>
              <a:t>Click to edit Master text styles</a:t>
            </a:r>
          </a:p>
          <a:p>
            <a:pPr lvl="1"/>
            <a:r>
              <a:rPr lang="en-US"/>
              <a:t>Second level</a:t>
            </a:r>
          </a:p>
          <a:p>
            <a:pPr lvl="2"/>
            <a:r>
              <a:rPr lang="en-US"/>
              <a:t>Third level</a:t>
            </a:r>
          </a:p>
        </p:txBody>
      </p:sp>
      <p:sp>
        <p:nvSpPr>
          <p:cNvPr id="9" name="Title 1">
            <a:extLst>
              <a:ext uri="{FF2B5EF4-FFF2-40B4-BE49-F238E27FC236}">
                <a16:creationId xmlns:a16="http://schemas.microsoft.com/office/drawing/2014/main" id="{4DA47E04-FD8A-054A-862B-2C2DD3EF39C9}"/>
              </a:ext>
            </a:extLst>
          </p:cNvPr>
          <p:cNvSpPr>
            <a:spLocks noGrp="1"/>
          </p:cNvSpPr>
          <p:nvPr>
            <p:ph type="title"/>
          </p:nvPr>
        </p:nvSpPr>
        <p:spPr>
          <a:xfrm>
            <a:off x="314138" y="186989"/>
            <a:ext cx="11245946" cy="428588"/>
          </a:xfrm>
          <a:prstGeom prst="rect">
            <a:avLst/>
          </a:prstGeom>
        </p:spPr>
        <p:txBody>
          <a:bodyPr lIns="0"/>
          <a:lstStyle>
            <a:lvl1pPr algn="l">
              <a:defRPr sz="2400" b="1">
                <a:solidFill>
                  <a:schemeClr val="accent1"/>
                </a:solidFill>
              </a:defRPr>
            </a:lvl1pPr>
          </a:lstStyle>
          <a:p>
            <a:r>
              <a:rPr lang="en-US"/>
              <a:t>Click to edit Master title style</a:t>
            </a:r>
          </a:p>
        </p:txBody>
      </p:sp>
      <p:sp>
        <p:nvSpPr>
          <p:cNvPr id="10" name="Text Placeholder 9">
            <a:extLst>
              <a:ext uri="{FF2B5EF4-FFF2-40B4-BE49-F238E27FC236}">
                <a16:creationId xmlns:a16="http://schemas.microsoft.com/office/drawing/2014/main" id="{F732F1AE-B816-1147-9322-4D2C599000A9}"/>
              </a:ext>
            </a:extLst>
          </p:cNvPr>
          <p:cNvSpPr>
            <a:spLocks noGrp="1"/>
          </p:cNvSpPr>
          <p:nvPr>
            <p:ph type="body" sz="quarter" idx="12"/>
          </p:nvPr>
        </p:nvSpPr>
        <p:spPr>
          <a:xfrm>
            <a:off x="314138" y="615577"/>
            <a:ext cx="9063038" cy="385213"/>
          </a:xfrm>
          <a:prstGeom prst="rect">
            <a:avLst/>
          </a:prstGeom>
        </p:spPr>
        <p:txBody>
          <a:bodyPr lIns="0" rIns="0" anchor="t" anchorCtr="0">
            <a:noAutofit/>
          </a:bodyPr>
          <a:lstStyle>
            <a:lvl1pPr marL="285750" indent="-285750">
              <a:buFontTx/>
              <a:buNone/>
              <a:defRPr lang="en-US" sz="2000" smtClean="0">
                <a:solidFill>
                  <a:schemeClr val="tx1">
                    <a:lumMod val="90000"/>
                    <a:lumOff val="10000"/>
                  </a:schemeClr>
                </a:solidFill>
              </a:defRPr>
            </a:lvl1pPr>
            <a:lvl2pPr>
              <a:defRPr lang="en-US" smtClean="0"/>
            </a:lvl2pPr>
            <a:lvl3pPr>
              <a:defRPr lang="en-US" smtClean="0"/>
            </a:lvl3pPr>
            <a:lvl4pPr>
              <a:defRPr lang="en-US" smtClean="0"/>
            </a:lvl4pPr>
            <a:lvl5pPr>
              <a:defRPr lang="en-US"/>
            </a:lvl5pPr>
          </a:lstStyle>
          <a:p>
            <a:pPr marL="0" lvl="0" indent="0" defTabSz="914377" latinLnBrk="0"/>
            <a:r>
              <a:rPr lang="en-US"/>
              <a:t>Click to edit Master text styles</a:t>
            </a:r>
          </a:p>
        </p:txBody>
      </p:sp>
      <p:sp>
        <p:nvSpPr>
          <p:cNvPr id="8" name="Slide Number Placeholder 22">
            <a:extLst>
              <a:ext uri="{FF2B5EF4-FFF2-40B4-BE49-F238E27FC236}">
                <a16:creationId xmlns:a16="http://schemas.microsoft.com/office/drawing/2014/main" id="{5C077322-21BD-9F4D-9657-A07645EA72F3}"/>
              </a:ext>
            </a:extLst>
          </p:cNvPr>
          <p:cNvSpPr>
            <a:spLocks noGrp="1"/>
          </p:cNvSpPr>
          <p:nvPr>
            <p:ph type="sldNum" sz="quarter" idx="4"/>
          </p:nvPr>
        </p:nvSpPr>
        <p:spPr>
          <a:xfrm>
            <a:off x="11670236" y="6524128"/>
            <a:ext cx="498378" cy="244661"/>
          </a:xfrm>
          <a:prstGeom prst="rect">
            <a:avLst/>
          </a:prstGeom>
        </p:spPr>
        <p:txBody>
          <a:bodyPr/>
          <a:lstStyle>
            <a:lvl1pPr>
              <a:defRPr sz="900">
                <a:solidFill>
                  <a:schemeClr val="bg1">
                    <a:lumMod val="75000"/>
                  </a:schemeClr>
                </a:solidFill>
              </a:defRPr>
            </a:lvl1pPr>
          </a:lstStyle>
          <a:p>
            <a:r>
              <a:rPr lang="en-US"/>
              <a:t>| </a:t>
            </a:r>
            <a:fld id="{FEC5E14B-9965-442C-8683-0E66DD8427DC}" type="slidenum">
              <a:rPr lang="en-US" smtClean="0"/>
              <a:pPr/>
              <a:t>‹#›</a:t>
            </a:fld>
            <a:endParaRPr lang="en-US"/>
          </a:p>
        </p:txBody>
      </p:sp>
    </p:spTree>
    <p:extLst>
      <p:ext uri="{BB962C8B-B14F-4D97-AF65-F5344CB8AC3E}">
        <p14:creationId xmlns:p14="http://schemas.microsoft.com/office/powerpoint/2010/main" val="37286146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9E45DD1-FD64-0540-9527-100B5BAAD148}"/>
              </a:ext>
            </a:extLst>
          </p:cNvPr>
          <p:cNvSpPr>
            <a:spLocks noGrp="1"/>
          </p:cNvSpPr>
          <p:nvPr>
            <p:ph type="title"/>
          </p:nvPr>
        </p:nvSpPr>
        <p:spPr>
          <a:xfrm>
            <a:off x="314138" y="186990"/>
            <a:ext cx="11245946" cy="428588"/>
          </a:xfrm>
          <a:prstGeom prst="rect">
            <a:avLst/>
          </a:prstGeom>
        </p:spPr>
        <p:txBody>
          <a:bodyPr lIns="0"/>
          <a:lstStyle>
            <a:lvl1pPr algn="l">
              <a:defRPr sz="2400" b="1">
                <a:solidFill>
                  <a:schemeClr val="accent1"/>
                </a:solidFill>
              </a:defRPr>
            </a:lvl1pPr>
          </a:lstStyle>
          <a:p>
            <a:r>
              <a:rPr lang="en-US"/>
              <a:t>Click to edit Master title style</a:t>
            </a:r>
          </a:p>
        </p:txBody>
      </p:sp>
      <p:sp>
        <p:nvSpPr>
          <p:cNvPr id="7" name="Text Placeholder 9">
            <a:extLst>
              <a:ext uri="{FF2B5EF4-FFF2-40B4-BE49-F238E27FC236}">
                <a16:creationId xmlns:a16="http://schemas.microsoft.com/office/drawing/2014/main" id="{EFF29200-DFCC-A144-AAAE-5D0C7E5464D9}"/>
              </a:ext>
            </a:extLst>
          </p:cNvPr>
          <p:cNvSpPr>
            <a:spLocks noGrp="1"/>
          </p:cNvSpPr>
          <p:nvPr>
            <p:ph type="body" sz="quarter" idx="12"/>
          </p:nvPr>
        </p:nvSpPr>
        <p:spPr>
          <a:xfrm>
            <a:off x="314138" y="615577"/>
            <a:ext cx="9063038" cy="385213"/>
          </a:xfrm>
          <a:prstGeom prst="rect">
            <a:avLst/>
          </a:prstGeom>
        </p:spPr>
        <p:txBody>
          <a:bodyPr lIns="0" rIns="0" anchor="t" anchorCtr="0">
            <a:noAutofit/>
          </a:bodyPr>
          <a:lstStyle>
            <a:lvl1pPr marL="285750" indent="-285750">
              <a:buFontTx/>
              <a:buNone/>
              <a:defRPr lang="en-US" sz="2000" smtClean="0">
                <a:solidFill>
                  <a:schemeClr val="tx1"/>
                </a:solidFill>
              </a:defRPr>
            </a:lvl1pPr>
            <a:lvl2pPr>
              <a:defRPr lang="en-US" smtClean="0"/>
            </a:lvl2pPr>
            <a:lvl3pPr>
              <a:defRPr lang="en-US" smtClean="0"/>
            </a:lvl3pPr>
            <a:lvl4pPr>
              <a:defRPr lang="en-US" smtClean="0"/>
            </a:lvl4pPr>
            <a:lvl5pPr>
              <a:defRPr lang="en-US"/>
            </a:lvl5pPr>
          </a:lstStyle>
          <a:p>
            <a:pPr marL="0" lvl="0" indent="0" defTabSz="914377" latinLnBrk="0"/>
            <a:r>
              <a:rPr lang="en-US"/>
              <a:t>Click to edit Master text styles</a:t>
            </a:r>
          </a:p>
        </p:txBody>
      </p:sp>
      <p:sp>
        <p:nvSpPr>
          <p:cNvPr id="8" name="Slide Number Placeholder 22">
            <a:extLst>
              <a:ext uri="{FF2B5EF4-FFF2-40B4-BE49-F238E27FC236}">
                <a16:creationId xmlns:a16="http://schemas.microsoft.com/office/drawing/2014/main" id="{5C6AF8A3-0F37-4849-AD55-40871E12F30B}"/>
              </a:ext>
            </a:extLst>
          </p:cNvPr>
          <p:cNvSpPr>
            <a:spLocks noGrp="1"/>
          </p:cNvSpPr>
          <p:nvPr>
            <p:ph type="sldNum" sz="quarter" idx="4"/>
          </p:nvPr>
        </p:nvSpPr>
        <p:spPr>
          <a:xfrm>
            <a:off x="11670236" y="6524128"/>
            <a:ext cx="498378" cy="244661"/>
          </a:xfrm>
          <a:prstGeom prst="rect">
            <a:avLst/>
          </a:prstGeom>
        </p:spPr>
        <p:txBody>
          <a:bodyPr/>
          <a:lstStyle>
            <a:lvl1pPr>
              <a:defRPr sz="900">
                <a:solidFill>
                  <a:schemeClr val="bg1">
                    <a:lumMod val="75000"/>
                  </a:schemeClr>
                </a:solidFill>
              </a:defRPr>
            </a:lvl1pPr>
          </a:lstStyle>
          <a:p>
            <a:r>
              <a:rPr lang="en-US"/>
              <a:t>| </a:t>
            </a:r>
            <a:fld id="{FEC5E14B-9965-442C-8683-0E66DD8427DC}" type="slidenum">
              <a:rPr lang="en-US" smtClean="0"/>
              <a:pPr/>
              <a:t>‹#›</a:t>
            </a:fld>
            <a:endParaRPr lang="en-US"/>
          </a:p>
        </p:txBody>
      </p:sp>
    </p:spTree>
    <p:extLst>
      <p:ext uri="{BB962C8B-B14F-4D97-AF65-F5344CB8AC3E}">
        <p14:creationId xmlns:p14="http://schemas.microsoft.com/office/powerpoint/2010/main" val="1767781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4342BA-C0C7-4B92-A3B0-28D958E430E2}"/>
              </a:ext>
            </a:extLst>
          </p:cNvPr>
          <p:cNvSpPr>
            <a:spLocks noGrp="1"/>
          </p:cNvSpPr>
          <p:nvPr>
            <p:ph type="title"/>
          </p:nvPr>
        </p:nvSpPr>
        <p:spPr>
          <a:xfrm>
            <a:off x="183219" y="134181"/>
            <a:ext cx="11561105" cy="424732"/>
          </a:xfrm>
          <a:prstGeom prst="rect">
            <a:avLst/>
          </a:prstGeom>
        </p:spPr>
        <p:txBody>
          <a:bodyPr vert="horz" wrap="square" lIns="0" tIns="45720" rIns="0" bIns="45720" rtlCol="0" anchor="t" anchorCtr="0">
            <a:sp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DD79E5E-3ABE-4681-8D48-1BC683D90115}"/>
              </a:ext>
            </a:extLst>
          </p:cNvPr>
          <p:cNvSpPr>
            <a:spLocks noGrp="1"/>
          </p:cNvSpPr>
          <p:nvPr>
            <p:ph type="body" idx="1"/>
          </p:nvPr>
        </p:nvSpPr>
        <p:spPr>
          <a:xfrm>
            <a:off x="183220" y="1294662"/>
            <a:ext cx="11561104"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27E0323-8A40-4138-9D5E-5EAB16992FEA}"/>
              </a:ext>
            </a:extLst>
          </p:cNvPr>
          <p:cNvSpPr>
            <a:spLocks noGrp="1"/>
          </p:cNvSpPr>
          <p:nvPr>
            <p:ph type="dt" sz="half" idx="2"/>
          </p:nvPr>
        </p:nvSpPr>
        <p:spPr>
          <a:xfrm>
            <a:off x="1295400" y="6356350"/>
            <a:ext cx="2743200" cy="365125"/>
          </a:xfrm>
          <a:prstGeom prst="rect">
            <a:avLst/>
          </a:prstGeom>
        </p:spPr>
        <p:txBody>
          <a:bodyPr vert="horz" lIns="91440" tIns="45720" rIns="91440" bIns="45720" rtlCol="0" anchor="ctr"/>
          <a:lstStyle>
            <a:lvl1pPr algn="l">
              <a:defRPr sz="800">
                <a:solidFill>
                  <a:schemeClr val="bg1">
                    <a:lumMod val="65000"/>
                  </a:schemeClr>
                </a:solidFill>
              </a:defRPr>
            </a:lvl1pPr>
          </a:lstStyle>
          <a:p>
            <a:fld id="{8744D272-7787-42F5-8E85-5772E5920C77}" type="datetimeFigureOut">
              <a:rPr lang="en-US" smtClean="0"/>
              <a:pPr/>
              <a:t>12/4/2025</a:t>
            </a:fld>
            <a:endParaRPr lang="en-US"/>
          </a:p>
        </p:txBody>
      </p:sp>
      <p:sp>
        <p:nvSpPr>
          <p:cNvPr id="5" name="Footer Placeholder 4">
            <a:extLst>
              <a:ext uri="{FF2B5EF4-FFF2-40B4-BE49-F238E27FC236}">
                <a16:creationId xmlns:a16="http://schemas.microsoft.com/office/drawing/2014/main" id="{11E65438-486D-49FD-96B6-77EDEC541D86}"/>
              </a:ext>
            </a:extLst>
          </p:cNvPr>
          <p:cNvSpPr>
            <a:spLocks noGrp="1"/>
          </p:cNvSpPr>
          <p:nvPr>
            <p:ph type="ftr" sz="quarter" idx="3"/>
          </p:nvPr>
        </p:nvSpPr>
        <p:spPr>
          <a:xfrm>
            <a:off x="7362914" y="6356350"/>
            <a:ext cx="4114800" cy="365125"/>
          </a:xfrm>
          <a:prstGeom prst="rect">
            <a:avLst/>
          </a:prstGeom>
        </p:spPr>
        <p:txBody>
          <a:bodyPr vert="horz" lIns="91440" tIns="45720" rIns="91440" bIns="45720" rtlCol="0" anchor="ctr"/>
          <a:lstStyle>
            <a:lvl1pPr algn="r">
              <a:defRPr sz="800">
                <a:solidFill>
                  <a:schemeClr val="bg1">
                    <a:lumMod val="65000"/>
                  </a:schemeClr>
                </a:solidFill>
              </a:defRPr>
            </a:lvl1pPr>
          </a:lstStyle>
          <a:p>
            <a:endParaRPr lang="en-US"/>
          </a:p>
        </p:txBody>
      </p:sp>
      <p:sp>
        <p:nvSpPr>
          <p:cNvPr id="6" name="Slide Number Placeholder 5">
            <a:extLst>
              <a:ext uri="{FF2B5EF4-FFF2-40B4-BE49-F238E27FC236}">
                <a16:creationId xmlns:a16="http://schemas.microsoft.com/office/drawing/2014/main" id="{8BE18855-E68B-41AB-A58C-334AEAA41064}"/>
              </a:ext>
            </a:extLst>
          </p:cNvPr>
          <p:cNvSpPr>
            <a:spLocks noGrp="1"/>
          </p:cNvSpPr>
          <p:nvPr>
            <p:ph type="sldNum" sz="quarter" idx="4"/>
          </p:nvPr>
        </p:nvSpPr>
        <p:spPr>
          <a:xfrm>
            <a:off x="11639372" y="6356350"/>
            <a:ext cx="429230" cy="365125"/>
          </a:xfrm>
          <a:prstGeom prst="rect">
            <a:avLst/>
          </a:prstGeom>
        </p:spPr>
        <p:txBody>
          <a:bodyPr vert="horz" lIns="91440" tIns="45720" rIns="91440" bIns="45720" rtlCol="0" anchor="ctr"/>
          <a:lstStyle>
            <a:lvl1pPr algn="r">
              <a:defRPr sz="800">
                <a:solidFill>
                  <a:schemeClr val="bg1">
                    <a:lumMod val="65000"/>
                  </a:schemeClr>
                </a:solidFill>
              </a:defRPr>
            </a:lvl1pPr>
          </a:lstStyle>
          <a:p>
            <a:fld id="{37527A84-62A5-40F8-9ABB-C2EE3BC8218F}" type="slidenum">
              <a:rPr lang="en-US" smtClean="0"/>
              <a:pPr/>
              <a:t>‹#›</a:t>
            </a:fld>
            <a:endParaRPr lang="en-US"/>
          </a:p>
        </p:txBody>
      </p:sp>
      <p:pic>
        <p:nvPicPr>
          <p:cNvPr id="7" name="Picture 6">
            <a:extLst>
              <a:ext uri="{FF2B5EF4-FFF2-40B4-BE49-F238E27FC236}">
                <a16:creationId xmlns:a16="http://schemas.microsoft.com/office/drawing/2014/main" id="{AB4C70CE-EB63-40B3-A208-4E959621EA0E}"/>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183220" y="6304547"/>
            <a:ext cx="918763" cy="458667"/>
          </a:xfrm>
          <a:prstGeom prst="rect">
            <a:avLst/>
          </a:prstGeom>
        </p:spPr>
      </p:pic>
    </p:spTree>
    <p:extLst>
      <p:ext uri="{BB962C8B-B14F-4D97-AF65-F5344CB8AC3E}">
        <p14:creationId xmlns:p14="http://schemas.microsoft.com/office/powerpoint/2010/main" val="688934115"/>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2" r:id="rId4"/>
    <p:sldLayoutId id="2147483652" r:id="rId5"/>
    <p:sldLayoutId id="2147483663" r:id="rId6"/>
    <p:sldLayoutId id="2147483664" r:id="rId7"/>
    <p:sldLayoutId id="2147483665" r:id="rId8"/>
    <p:sldLayoutId id="2147483668" r:id="rId9"/>
    <p:sldLayoutId id="2147483666" r:id="rId10"/>
    <p:sldLayoutId id="2147483669" r:id="rId11"/>
    <p:sldLayoutId id="2147483670" r:id="rId12"/>
    <p:sldLayoutId id="2147483671" r:id="rId13"/>
    <p:sldLayoutId id="2147483672" r:id="rId14"/>
    <p:sldLayoutId id="2147483673" r:id="rId15"/>
  </p:sldLayoutIdLst>
  <p:txStyles>
    <p:titleStyle>
      <a:lvl1pPr algn="l" defTabSz="914400" rtl="0" eaLnBrk="1" latinLnBrk="0" hangingPunct="1">
        <a:lnSpc>
          <a:spcPct val="90000"/>
        </a:lnSpc>
        <a:spcBef>
          <a:spcPct val="0"/>
        </a:spcBef>
        <a:buNone/>
        <a:defRPr sz="2400" b="1" kern="1200">
          <a:solidFill>
            <a:schemeClr val="accent1"/>
          </a:solidFill>
          <a:latin typeface="+mn-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microsoft.com/office/2007/relationships/hdphoto" Target="../media/hdphoto2.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36.tiff"/><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38.svg"/><Relationship Id="rId4" Type="http://schemas.openxmlformats.org/officeDocument/2006/relationships/image" Target="../media/image37.png"/></Relationships>
</file>

<file path=ppt/slides/_rels/slide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xml"/><Relationship Id="rId1" Type="http://schemas.openxmlformats.org/officeDocument/2006/relationships/slideLayout" Target="../slideLayouts/slideLayout11.xml"/><Relationship Id="rId5" Type="http://schemas.openxmlformats.org/officeDocument/2006/relationships/image" Target="../media/image41.png"/><Relationship Id="rId4" Type="http://schemas.openxmlformats.org/officeDocument/2006/relationships/image" Target="../media/image40.svg"/></Relationships>
</file>

<file path=ppt/slides/_rels/slide6.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18" Type="http://schemas.openxmlformats.org/officeDocument/2006/relationships/image" Target="../media/image57.svg"/><Relationship Id="rId3" Type="http://schemas.openxmlformats.org/officeDocument/2006/relationships/image" Target="../media/image42.png"/><Relationship Id="rId21" Type="http://schemas.openxmlformats.org/officeDocument/2006/relationships/image" Target="../media/image60.png"/><Relationship Id="rId7" Type="http://schemas.openxmlformats.org/officeDocument/2006/relationships/image" Target="../media/image46.png"/><Relationship Id="rId12" Type="http://schemas.openxmlformats.org/officeDocument/2006/relationships/image" Target="../media/image51.png"/><Relationship Id="rId17" Type="http://schemas.openxmlformats.org/officeDocument/2006/relationships/image" Target="../media/image56.png"/><Relationship Id="rId2" Type="http://schemas.openxmlformats.org/officeDocument/2006/relationships/notesSlide" Target="../notesSlides/notesSlide6.xml"/><Relationship Id="rId16" Type="http://schemas.openxmlformats.org/officeDocument/2006/relationships/image" Target="../media/image55.svg"/><Relationship Id="rId20" Type="http://schemas.openxmlformats.org/officeDocument/2006/relationships/image" Target="../media/image59.png"/><Relationship Id="rId1" Type="http://schemas.openxmlformats.org/officeDocument/2006/relationships/slideLayout" Target="../slideLayouts/slideLayout11.xml"/><Relationship Id="rId6" Type="http://schemas.openxmlformats.org/officeDocument/2006/relationships/image" Target="../media/image45.png"/><Relationship Id="rId11" Type="http://schemas.openxmlformats.org/officeDocument/2006/relationships/image" Target="../media/image50.svg"/><Relationship Id="rId5" Type="http://schemas.openxmlformats.org/officeDocument/2006/relationships/image" Target="../media/image44.png"/><Relationship Id="rId15" Type="http://schemas.openxmlformats.org/officeDocument/2006/relationships/image" Target="../media/image54.png"/><Relationship Id="rId10" Type="http://schemas.openxmlformats.org/officeDocument/2006/relationships/image" Target="../media/image49.png"/><Relationship Id="rId19" Type="http://schemas.openxmlformats.org/officeDocument/2006/relationships/image" Target="../media/image58.png"/><Relationship Id="rId4" Type="http://schemas.openxmlformats.org/officeDocument/2006/relationships/image" Target="../media/image43.svg"/><Relationship Id="rId9" Type="http://schemas.openxmlformats.org/officeDocument/2006/relationships/image" Target="../media/image48.svg"/><Relationship Id="rId14" Type="http://schemas.openxmlformats.org/officeDocument/2006/relationships/image" Target="../media/image53.svg"/></Relationships>
</file>

<file path=ppt/slides/_rels/slide7.xml.rels><?xml version="1.0" encoding="UTF-8" standalone="yes"?>
<Relationships xmlns="http://schemas.openxmlformats.org/package/2006/relationships"><Relationship Id="rId8" Type="http://schemas.openxmlformats.org/officeDocument/2006/relationships/image" Target="../media/image66.svg"/><Relationship Id="rId13" Type="http://schemas.openxmlformats.org/officeDocument/2006/relationships/image" Target="../media/image71.png"/><Relationship Id="rId18" Type="http://schemas.openxmlformats.org/officeDocument/2006/relationships/image" Target="../media/image76.sv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svg"/><Relationship Id="rId17" Type="http://schemas.openxmlformats.org/officeDocument/2006/relationships/image" Target="../media/image75.png"/><Relationship Id="rId2" Type="http://schemas.openxmlformats.org/officeDocument/2006/relationships/notesSlide" Target="../notesSlides/notesSlide7.xml"/><Relationship Id="rId16" Type="http://schemas.openxmlformats.org/officeDocument/2006/relationships/image" Target="../media/image74.svg"/><Relationship Id="rId20" Type="http://schemas.openxmlformats.org/officeDocument/2006/relationships/image" Target="../media/image78.svg"/><Relationship Id="rId1" Type="http://schemas.openxmlformats.org/officeDocument/2006/relationships/slideLayout" Target="../slideLayouts/slideLayout3.xml"/><Relationship Id="rId6" Type="http://schemas.openxmlformats.org/officeDocument/2006/relationships/image" Target="../media/image64.sv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3.png"/><Relationship Id="rId10" Type="http://schemas.openxmlformats.org/officeDocument/2006/relationships/image" Target="../media/image68.svg"/><Relationship Id="rId19" Type="http://schemas.openxmlformats.org/officeDocument/2006/relationships/image" Target="../media/image77.png"/><Relationship Id="rId4" Type="http://schemas.openxmlformats.org/officeDocument/2006/relationships/image" Target="../media/image62.svg"/><Relationship Id="rId9" Type="http://schemas.openxmlformats.org/officeDocument/2006/relationships/image" Target="../media/image67.png"/><Relationship Id="rId14" Type="http://schemas.openxmlformats.org/officeDocument/2006/relationships/image" Target="../media/image72.svg"/></Relationships>
</file>

<file path=ppt/slides/_rels/slide8.xml.rels><?xml version="1.0" encoding="UTF-8" standalone="yes"?>
<Relationships xmlns="http://schemas.openxmlformats.org/package/2006/relationships"><Relationship Id="rId8" Type="http://schemas.openxmlformats.org/officeDocument/2006/relationships/image" Target="../media/image84.svg"/><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80.svg"/></Relationships>
</file>

<file path=ppt/slides/_rels/slide9.xml.rels><?xml version="1.0" encoding="UTF-8" standalone="yes"?>
<Relationships xmlns="http://schemas.openxmlformats.org/package/2006/relationships"><Relationship Id="rId8" Type="http://schemas.openxmlformats.org/officeDocument/2006/relationships/image" Target="../media/image84.svg"/><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80.svg"/></Relationships>
</file>

<file path=ppt/slides/_rels/slide10.xml.rels><?xml version="1.0" encoding="UTF-8" standalone="yes"?>
<Relationships xmlns="http://schemas.openxmlformats.org/package/2006/relationships"><Relationship Id="rId8" Type="http://schemas.openxmlformats.org/officeDocument/2006/relationships/image" Target="../media/image84.svg"/><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80.svg"/></Relationships>
</file>

<file path=ppt/slides/_rels/slide11.xml.rels><?xml version="1.0" encoding="UTF-8" standalone="yes"?>
<Relationships xmlns="http://schemas.openxmlformats.org/package/2006/relationships"><Relationship Id="rId8" Type="http://schemas.openxmlformats.org/officeDocument/2006/relationships/image" Target="../media/image84.svg"/><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80.svg"/></Relationships>
</file>

<file path=ppt/slides/_rels/slide12.xml.rels><?xml version="1.0" encoding="UTF-8" standalone="yes"?>
<Relationships xmlns="http://schemas.openxmlformats.org/package/2006/relationships"><Relationship Id="rId8" Type="http://schemas.openxmlformats.org/officeDocument/2006/relationships/image" Target="../media/image84.svg"/><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80.svg"/></Relationships>
</file>

<file path=ppt/slides/_rels/slide13.xml.rels><?xml version="1.0" encoding="UTF-8" standalone="yes"?>
<Relationships xmlns="http://schemas.openxmlformats.org/package/2006/relationships"><Relationship Id="rId8" Type="http://schemas.openxmlformats.org/officeDocument/2006/relationships/image" Target="../media/image84.svg"/><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80.svg"/></Relationships>
</file>

<file path=ppt/slides/_rels/slide14.xml.rels><?xml version="1.0" encoding="UTF-8" standalone="yes"?>
<Relationships xmlns="http://schemas.openxmlformats.org/package/2006/relationships"><Relationship Id="rId8" Type="http://schemas.openxmlformats.org/officeDocument/2006/relationships/image" Target="../media/image84.svg"/><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80.svg"/></Relationships>
</file>

<file path=ppt/slides/_rels/slide15.xml.rels><?xml version="1.0" encoding="UTF-8" standalone="yes"?>
<Relationships xmlns="http://schemas.openxmlformats.org/package/2006/relationships"><Relationship Id="rId8" Type="http://schemas.openxmlformats.org/officeDocument/2006/relationships/image" Target="../media/image84.svg"/><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80.svg"/></Relationships>
</file>

<file path=ppt/slides/_rels/slide16.xml.rels><?xml version="1.0" encoding="UTF-8" standalone="yes"?>
<Relationships xmlns="http://schemas.openxmlformats.org/package/2006/relationships"><Relationship Id="rId13" Type="http://schemas.openxmlformats.org/officeDocument/2006/relationships/image" Target="../media/image91.png"/><Relationship Id="rId18" Type="http://schemas.openxmlformats.org/officeDocument/2006/relationships/image" Target="../media/image50.svg"/><Relationship Id="rId26" Type="http://schemas.openxmlformats.org/officeDocument/2006/relationships/image" Target="../media/image59.png"/><Relationship Id="rId3" Type="http://schemas.openxmlformats.org/officeDocument/2006/relationships/image" Target="../media/image45.png"/><Relationship Id="rId21" Type="http://schemas.openxmlformats.org/officeDocument/2006/relationships/image" Target="../media/image94.svg"/><Relationship Id="rId7" Type="http://schemas.openxmlformats.org/officeDocument/2006/relationships/image" Target="../media/image87.png"/><Relationship Id="rId12" Type="http://schemas.openxmlformats.org/officeDocument/2006/relationships/image" Target="../media/image90.png"/><Relationship Id="rId17" Type="http://schemas.openxmlformats.org/officeDocument/2006/relationships/image" Target="../media/image49.png"/><Relationship Id="rId25" Type="http://schemas.openxmlformats.org/officeDocument/2006/relationships/image" Target="../media/image53.svg"/><Relationship Id="rId33" Type="http://schemas.openxmlformats.org/officeDocument/2006/relationships/image" Target="../media/image101.svg"/><Relationship Id="rId2" Type="http://schemas.openxmlformats.org/officeDocument/2006/relationships/notesSlide" Target="../notesSlides/notesSlide16.xml"/><Relationship Id="rId16" Type="http://schemas.openxmlformats.org/officeDocument/2006/relationships/image" Target="../media/image46.png"/><Relationship Id="rId20" Type="http://schemas.openxmlformats.org/officeDocument/2006/relationships/image" Target="../media/image93.png"/><Relationship Id="rId29" Type="http://schemas.openxmlformats.org/officeDocument/2006/relationships/image" Target="../media/image97.svg"/><Relationship Id="rId1" Type="http://schemas.openxmlformats.org/officeDocument/2006/relationships/slideLayout" Target="../slideLayouts/slideLayout3.xml"/><Relationship Id="rId6" Type="http://schemas.openxmlformats.org/officeDocument/2006/relationships/image" Target="../media/image86.svg"/><Relationship Id="rId11" Type="http://schemas.openxmlformats.org/officeDocument/2006/relationships/image" Target="../media/image89.svg"/><Relationship Id="rId24" Type="http://schemas.openxmlformats.org/officeDocument/2006/relationships/image" Target="../media/image52.png"/><Relationship Id="rId32" Type="http://schemas.openxmlformats.org/officeDocument/2006/relationships/image" Target="../media/image100.png"/><Relationship Id="rId5" Type="http://schemas.openxmlformats.org/officeDocument/2006/relationships/image" Target="../media/image85.png"/><Relationship Id="rId15" Type="http://schemas.openxmlformats.org/officeDocument/2006/relationships/image" Target="../media/image51.png"/><Relationship Id="rId23" Type="http://schemas.openxmlformats.org/officeDocument/2006/relationships/image" Target="../media/image95.svg"/><Relationship Id="rId28" Type="http://schemas.openxmlformats.org/officeDocument/2006/relationships/image" Target="../media/image96.png"/><Relationship Id="rId10" Type="http://schemas.openxmlformats.org/officeDocument/2006/relationships/image" Target="../media/image88.png"/><Relationship Id="rId19" Type="http://schemas.openxmlformats.org/officeDocument/2006/relationships/image" Target="../media/image58.png"/><Relationship Id="rId31" Type="http://schemas.openxmlformats.org/officeDocument/2006/relationships/image" Target="../media/image99.svg"/><Relationship Id="rId4" Type="http://schemas.openxmlformats.org/officeDocument/2006/relationships/image" Target="../media/image44.png"/><Relationship Id="rId9" Type="http://schemas.openxmlformats.org/officeDocument/2006/relationships/image" Target="../media/image43.svg"/><Relationship Id="rId14" Type="http://schemas.openxmlformats.org/officeDocument/2006/relationships/image" Target="../media/image92.svg"/><Relationship Id="rId22" Type="http://schemas.openxmlformats.org/officeDocument/2006/relationships/image" Target="../media/image47.png"/><Relationship Id="rId27" Type="http://schemas.openxmlformats.org/officeDocument/2006/relationships/image" Target="../media/image60.png"/><Relationship Id="rId30" Type="http://schemas.openxmlformats.org/officeDocument/2006/relationships/image" Target="../media/image98.svg"/><Relationship Id="rId8" Type="http://schemas.openxmlformats.org/officeDocument/2006/relationships/image" Target="../media/image4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8" Type="http://schemas.openxmlformats.org/officeDocument/2006/relationships/image" Target="../media/image107.svg"/><Relationship Id="rId3" Type="http://schemas.openxmlformats.org/officeDocument/2006/relationships/image" Target="../media/image102.png"/><Relationship Id="rId7" Type="http://schemas.openxmlformats.org/officeDocument/2006/relationships/image" Target="../media/image106.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105.svg"/><Relationship Id="rId5" Type="http://schemas.openxmlformats.org/officeDocument/2006/relationships/image" Target="../media/image104.png"/><Relationship Id="rId10" Type="http://schemas.openxmlformats.org/officeDocument/2006/relationships/image" Target="../media/image109.svg"/><Relationship Id="rId4" Type="http://schemas.openxmlformats.org/officeDocument/2006/relationships/image" Target="../media/image103.svg"/><Relationship Id="rId9" Type="http://schemas.openxmlformats.org/officeDocument/2006/relationships/image" Target="../media/image108.png"/></Relationships>
</file>

<file path=ppt/slides/_rels/slide19.xml.rels><?xml version="1.0" encoding="UTF-8" standalone="yes"?>
<Relationships xmlns="http://schemas.openxmlformats.org/package/2006/relationships"><Relationship Id="rId8" Type="http://schemas.openxmlformats.org/officeDocument/2006/relationships/image" Target="../media/image107.svg"/><Relationship Id="rId3" Type="http://schemas.openxmlformats.org/officeDocument/2006/relationships/image" Target="../media/image102.png"/><Relationship Id="rId7" Type="http://schemas.openxmlformats.org/officeDocument/2006/relationships/image" Target="../media/image106.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105.svg"/><Relationship Id="rId5" Type="http://schemas.openxmlformats.org/officeDocument/2006/relationships/image" Target="../media/image104.png"/><Relationship Id="rId10" Type="http://schemas.openxmlformats.org/officeDocument/2006/relationships/image" Target="../media/image109.svg"/><Relationship Id="rId4" Type="http://schemas.openxmlformats.org/officeDocument/2006/relationships/image" Target="../media/image103.svg"/><Relationship Id="rId9" Type="http://schemas.openxmlformats.org/officeDocument/2006/relationships/image" Target="../media/image108.png"/></Relationships>
</file>

<file path=ppt/slides/_rels/slide20.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79A85B0-C328-4E9F-A6C2-0BC0F1A52FD6}"/>
              </a:ext>
            </a:extLst>
          </p:cNvPr>
          <p:cNvSpPr>
            <a:spLocks noGrp="1"/>
          </p:cNvSpPr>
          <p:nvPr>
            <p:ph type="body" sz="quarter" idx="10"/>
          </p:nvPr>
        </p:nvSpPr>
        <p:spPr>
          <a:xfrm>
            <a:off x="333448" y="1743156"/>
            <a:ext cx="6549133" cy="2160250"/>
          </a:xfrm>
        </p:spPr>
        <p:txBody>
          <a:bodyPr>
            <a:normAutofit fontScale="40000" lnSpcReduction="20000"/>
          </a:bodyPr>
          <a:lstStyle/>
          <a:p>
            <a:r>
              <a:rPr lang="en-US" sz="11200" b="1">
                <a:solidFill>
                  <a:schemeClr val="accent1"/>
                </a:solidFill>
              </a:rPr>
              <a:t>Cato SASE Cloud Platform</a:t>
            </a:r>
          </a:p>
          <a:p>
            <a:r>
              <a:rPr lang="en-US" sz="7000" b="1"/>
              <a:t>Translating Unified Visibility into Business Outcomes</a:t>
            </a:r>
          </a:p>
          <a:p>
            <a:r>
              <a:rPr lang="en-IE" sz="4500" b="1" i="1">
                <a:solidFill>
                  <a:schemeClr val="accent1"/>
                </a:solidFill>
              </a:rPr>
              <a:t>4</a:t>
            </a:r>
            <a:r>
              <a:rPr lang="en-IE" sz="4500" b="1" i="1" baseline="30000">
                <a:solidFill>
                  <a:schemeClr val="accent1"/>
                </a:solidFill>
              </a:rPr>
              <a:t>th</a:t>
            </a:r>
            <a:r>
              <a:rPr lang="en-IE" sz="4500" b="1" i="1">
                <a:solidFill>
                  <a:schemeClr val="accent1"/>
                </a:solidFill>
              </a:rPr>
              <a:t> December 2025</a:t>
            </a:r>
            <a:endParaRPr lang="en-IL" sz="4500" b="1" i="1">
              <a:solidFill>
                <a:schemeClr val="accent1"/>
              </a:solidFill>
            </a:endParaRPr>
          </a:p>
        </p:txBody>
      </p:sp>
      <p:sp>
        <p:nvSpPr>
          <p:cNvPr id="2" name="Rectangle 1">
            <a:hlinkClick r:id="" action="ppaction://noaction"/>
            <a:extLst>
              <a:ext uri="{FF2B5EF4-FFF2-40B4-BE49-F238E27FC236}">
                <a16:creationId xmlns:a16="http://schemas.microsoft.com/office/drawing/2014/main" id="{0CABC851-259F-4EC4-88AB-F126926C9D51}"/>
              </a:ext>
            </a:extLst>
          </p:cNvPr>
          <p:cNvSpPr/>
          <p:nvPr/>
        </p:nvSpPr>
        <p:spPr>
          <a:xfrm rot="19917072">
            <a:off x="7191376" y="1767072"/>
            <a:ext cx="972998" cy="323850"/>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7" name="Rectangle 6">
            <a:hlinkClick r:id="" action="ppaction://noaction"/>
            <a:extLst>
              <a:ext uri="{FF2B5EF4-FFF2-40B4-BE49-F238E27FC236}">
                <a16:creationId xmlns:a16="http://schemas.microsoft.com/office/drawing/2014/main" id="{8DFDA06B-DACB-4962-93E5-E59D29210926}"/>
              </a:ext>
            </a:extLst>
          </p:cNvPr>
          <p:cNvSpPr/>
          <p:nvPr/>
        </p:nvSpPr>
        <p:spPr>
          <a:xfrm rot="327340">
            <a:off x="8196997" y="2034273"/>
            <a:ext cx="782233" cy="323850"/>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 name="Text Placeholder 7">
            <a:extLst>
              <a:ext uri="{FF2B5EF4-FFF2-40B4-BE49-F238E27FC236}">
                <a16:creationId xmlns:a16="http://schemas.microsoft.com/office/drawing/2014/main" id="{26F8A9CF-D6A6-17C3-7606-25AD8D0F4E20}"/>
              </a:ext>
            </a:extLst>
          </p:cNvPr>
          <p:cNvSpPr>
            <a:spLocks noGrp="1"/>
          </p:cNvSpPr>
          <p:nvPr>
            <p:ph type="body" sz="quarter" idx="12"/>
          </p:nvPr>
        </p:nvSpPr>
        <p:spPr>
          <a:xfrm>
            <a:off x="640080" y="4654926"/>
            <a:ext cx="5356522" cy="312996"/>
          </a:xfrm>
        </p:spPr>
        <p:txBody>
          <a:bodyPr>
            <a:noAutofit/>
          </a:bodyPr>
          <a:lstStyle/>
          <a:p>
            <a:r>
              <a:rPr lang="en-IE" sz="2800" b="1"/>
              <a:t>Eoin Thornton</a:t>
            </a:r>
            <a:endParaRPr lang="en-IL" sz="2800" b="1"/>
          </a:p>
        </p:txBody>
      </p:sp>
      <p:sp>
        <p:nvSpPr>
          <p:cNvPr id="10" name="Text Placeholder 9">
            <a:extLst>
              <a:ext uri="{FF2B5EF4-FFF2-40B4-BE49-F238E27FC236}">
                <a16:creationId xmlns:a16="http://schemas.microsoft.com/office/drawing/2014/main" id="{CA2D412E-ED51-E5BE-FCD9-B5C71BFA35C1}"/>
              </a:ext>
            </a:extLst>
          </p:cNvPr>
          <p:cNvSpPr>
            <a:spLocks noGrp="1"/>
          </p:cNvSpPr>
          <p:nvPr>
            <p:ph type="body" sz="quarter" idx="13"/>
          </p:nvPr>
        </p:nvSpPr>
        <p:spPr>
          <a:xfrm>
            <a:off x="640080" y="5053808"/>
            <a:ext cx="5356522" cy="312996"/>
          </a:xfrm>
        </p:spPr>
        <p:txBody>
          <a:bodyPr/>
          <a:lstStyle/>
          <a:p>
            <a:r>
              <a:rPr lang="en-IE" b="1">
                <a:solidFill>
                  <a:schemeClr val="accent1"/>
                </a:solidFill>
              </a:rPr>
              <a:t>Sales Engineer</a:t>
            </a:r>
            <a:endParaRPr lang="en-IL" b="1">
              <a:solidFill>
                <a:schemeClr val="accent1"/>
              </a:solidFill>
            </a:endParaRPr>
          </a:p>
        </p:txBody>
      </p:sp>
      <p:pic>
        <p:nvPicPr>
          <p:cNvPr id="1026" name="Picture 2">
            <a:extLst>
              <a:ext uri="{FF2B5EF4-FFF2-40B4-BE49-F238E27FC236}">
                <a16:creationId xmlns:a16="http://schemas.microsoft.com/office/drawing/2014/main" id="{B7009B15-CEF5-530C-3854-32D88297CF9B}"/>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l="3147" r="7579"/>
          <a:stretch>
            <a:fillRect/>
          </a:stretch>
        </p:blipFill>
        <p:spPr bwMode="auto">
          <a:xfrm>
            <a:off x="640080" y="5366804"/>
            <a:ext cx="466276" cy="522293"/>
          </a:xfrm>
          <a:prstGeom prst="rect">
            <a:avLst/>
          </a:prstGeom>
          <a:ln w="57150">
            <a:solidFill>
              <a:schemeClr val="tx1"/>
            </a:solidFill>
          </a:ln>
          <a:effectLst>
            <a:outerShdw blurRad="190500" algn="tl" rotWithShape="0">
              <a:srgbClr val="000000">
                <a:alpha val="70000"/>
              </a:srgbClr>
            </a:outerShdw>
            <a:softEdge rad="381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1889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1000"/>
                                        <p:tgtEl>
                                          <p:spTgt spid="1026"/>
                                        </p:tgtEl>
                                      </p:cBhvr>
                                    </p:animEffect>
                                    <p:anim calcmode="lin" valueType="num">
                                      <p:cBhvr>
                                        <p:cTn id="8" dur="1000" fill="hold"/>
                                        <p:tgtEl>
                                          <p:spTgt spid="1026"/>
                                        </p:tgtEl>
                                        <p:attrNameLst>
                                          <p:attrName>ppt_x</p:attrName>
                                        </p:attrNameLst>
                                      </p:cBhvr>
                                      <p:tavLst>
                                        <p:tav tm="0">
                                          <p:val>
                                            <p:strVal val="#ppt_x"/>
                                          </p:val>
                                        </p:tav>
                                        <p:tav tm="100000">
                                          <p:val>
                                            <p:strVal val="#ppt_x"/>
                                          </p:val>
                                        </p:tav>
                                      </p:tavLst>
                                    </p:anim>
                                    <p:anim calcmode="lin" valueType="num">
                                      <p:cBhvr>
                                        <p:cTn id="9" dur="1000" fill="hold"/>
                                        <p:tgtEl>
                                          <p:spTgt spid="102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1000"/>
                                        <p:tgtEl>
                                          <p:spTgt spid="10">
                                            <p:txEl>
                                              <p:pRg st="0" end="0"/>
                                            </p:txEl>
                                          </p:spTgt>
                                        </p:tgtEl>
                                      </p:cBhvr>
                                    </p:animEffect>
                                    <p:anim calcmode="lin" valueType="num">
                                      <p:cBhvr>
                                        <p:cTn id="13"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0">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fade">
                                      <p:cBhvr>
                                        <p:cTn id="17" dur="1000"/>
                                        <p:tgtEl>
                                          <p:spTgt spid="8">
                                            <p:txEl>
                                              <p:pRg st="0" end="0"/>
                                            </p:txEl>
                                          </p:spTgt>
                                        </p:tgtEl>
                                      </p:cBhvr>
                                    </p:animEffect>
                                    <p:anim calcmode="lin" valueType="num">
                                      <p:cBhvr>
                                        <p:cTn id="1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0"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F5FC4-A5E5-4E95-9516-B40FAD068E5F}"/>
              </a:ext>
            </a:extLst>
          </p:cNvPr>
          <p:cNvSpPr>
            <a:spLocks noGrp="1"/>
          </p:cNvSpPr>
          <p:nvPr>
            <p:ph type="title"/>
          </p:nvPr>
        </p:nvSpPr>
        <p:spPr/>
        <p:txBody>
          <a:bodyPr/>
          <a:lstStyle/>
          <a:p>
            <a:r>
              <a:rPr lang="en-US"/>
              <a:t>Things We Keep Hearing From IT Leaders We Meet</a:t>
            </a:r>
          </a:p>
        </p:txBody>
      </p:sp>
      <p:sp>
        <p:nvSpPr>
          <p:cNvPr id="4" name="Slide Number Placeholder 3">
            <a:extLst>
              <a:ext uri="{FF2B5EF4-FFF2-40B4-BE49-F238E27FC236}">
                <a16:creationId xmlns:a16="http://schemas.microsoft.com/office/drawing/2014/main" id="{006D76DD-C3ED-4653-9941-AD644BBDB814}"/>
              </a:ext>
            </a:extLst>
          </p:cNvPr>
          <p:cNvSpPr>
            <a:spLocks noGrp="1"/>
          </p:cNvSpPr>
          <p:nvPr>
            <p:ph type="sldNum" sz="quarter" idx="4"/>
          </p:nvPr>
        </p:nvSpPr>
        <p:spPr>
          <a:xfrm>
            <a:off x="11703150" y="6172189"/>
            <a:ext cx="408632" cy="244661"/>
          </a:xfrm>
        </p:spPr>
        <p:txBody>
          <a:bodyPr/>
          <a:lstStyle/>
          <a:p>
            <a:r>
              <a:rPr lang="en-US"/>
              <a:t>| </a:t>
            </a:r>
            <a:fld id="{FEC5E14B-9965-442C-8683-0E66DD8427DC}" type="slidenum">
              <a:rPr lang="en-US" smtClean="0"/>
              <a:pPr/>
              <a:t>2</a:t>
            </a:fld>
            <a:endParaRPr lang="en-US"/>
          </a:p>
        </p:txBody>
      </p:sp>
      <p:sp>
        <p:nvSpPr>
          <p:cNvPr id="6" name="TextBox 5">
            <a:extLst>
              <a:ext uri="{FF2B5EF4-FFF2-40B4-BE49-F238E27FC236}">
                <a16:creationId xmlns:a16="http://schemas.microsoft.com/office/drawing/2014/main" id="{08E29D52-4E0A-47B8-8E39-DB3B12674FD5}"/>
              </a:ext>
            </a:extLst>
          </p:cNvPr>
          <p:cNvSpPr txBox="1"/>
          <p:nvPr/>
        </p:nvSpPr>
        <p:spPr>
          <a:xfrm>
            <a:off x="8680084" y="2671729"/>
            <a:ext cx="2880000" cy="432792"/>
          </a:xfrm>
          <a:prstGeom prst="roundRect">
            <a:avLst>
              <a:gd name="adj" fmla="val 50000"/>
            </a:avLst>
          </a:prstGeom>
          <a:solidFill>
            <a:schemeClr val="accent1"/>
          </a:solidFill>
        </p:spPr>
        <p:txBody>
          <a:bodyPr wrap="square" t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a:solidFill>
                  <a:schemeClr val="bg1"/>
                </a:solidFill>
                <a:latin typeface="Calibri" panose="020F0502020204030204"/>
              </a:rPr>
              <a:t>Mounting</a:t>
            </a:r>
            <a:r>
              <a:rPr kumimoji="0" lang="en-US" sz="2000" i="0" u="none" strike="noStrike" kern="1200" cap="none" spc="0" normalizeH="0" baseline="0" noProof="0">
                <a:ln>
                  <a:noFill/>
                </a:ln>
                <a:solidFill>
                  <a:schemeClr val="bg1"/>
                </a:solidFill>
                <a:effectLst/>
                <a:uLnTx/>
                <a:uFillTx/>
                <a:latin typeface="Calibri" panose="020F0502020204030204"/>
                <a:ea typeface="+mn-ea"/>
                <a:cs typeface="+mn-cs"/>
              </a:rPr>
              <a:t> Costs</a:t>
            </a:r>
          </a:p>
        </p:txBody>
      </p:sp>
      <p:sp>
        <p:nvSpPr>
          <p:cNvPr id="10" name="TextBox 9">
            <a:extLst>
              <a:ext uri="{FF2B5EF4-FFF2-40B4-BE49-F238E27FC236}">
                <a16:creationId xmlns:a16="http://schemas.microsoft.com/office/drawing/2014/main" id="{04EB00A0-AC81-4C4B-8659-B43BCD6E47D2}"/>
              </a:ext>
            </a:extLst>
          </p:cNvPr>
          <p:cNvSpPr txBox="1"/>
          <p:nvPr/>
        </p:nvSpPr>
        <p:spPr>
          <a:xfrm>
            <a:off x="853520" y="816424"/>
            <a:ext cx="2880000" cy="432792"/>
          </a:xfrm>
          <a:prstGeom prst="roundRect">
            <a:avLst>
              <a:gd name="adj" fmla="val 50000"/>
            </a:avLst>
          </a:prstGeom>
          <a:solidFill>
            <a:schemeClr val="accent1"/>
          </a:solidFill>
        </p:spPr>
        <p:txBody>
          <a:bodyPr wrap="square" t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a:solidFill>
                  <a:schemeClr val="bg1"/>
                </a:solidFill>
                <a:latin typeface="Calibri" panose="020F0502020204030204"/>
              </a:rPr>
              <a:t>High Complexity </a:t>
            </a:r>
            <a:endParaRPr kumimoji="0" lang="en-US" sz="200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3370CAFF-C73D-4DA1-BB0F-C7E2A5FCA67A}"/>
              </a:ext>
            </a:extLst>
          </p:cNvPr>
          <p:cNvSpPr txBox="1"/>
          <p:nvPr/>
        </p:nvSpPr>
        <p:spPr>
          <a:xfrm>
            <a:off x="853520" y="2652429"/>
            <a:ext cx="2880000" cy="432792"/>
          </a:xfrm>
          <a:prstGeom prst="roundRect">
            <a:avLst>
              <a:gd name="adj" fmla="val 50000"/>
            </a:avLst>
          </a:prstGeom>
          <a:solidFill>
            <a:schemeClr val="accent1"/>
          </a:solidFill>
        </p:spPr>
        <p:txBody>
          <a:bodyPr wrap="square" t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a:ln>
                  <a:noFill/>
                </a:ln>
                <a:solidFill>
                  <a:schemeClr val="bg1"/>
                </a:solidFill>
                <a:effectLst/>
                <a:uLnTx/>
                <a:uFillTx/>
                <a:latin typeface="Calibri" panose="020F0502020204030204"/>
                <a:ea typeface="+mn-ea"/>
                <a:cs typeface="+mn-cs"/>
              </a:rPr>
              <a:t>Remote/WFH Pain</a:t>
            </a:r>
          </a:p>
        </p:txBody>
      </p:sp>
      <p:sp>
        <p:nvSpPr>
          <p:cNvPr id="17" name="TextBox 16">
            <a:extLst>
              <a:ext uri="{FF2B5EF4-FFF2-40B4-BE49-F238E27FC236}">
                <a16:creationId xmlns:a16="http://schemas.microsoft.com/office/drawing/2014/main" id="{C06E0474-638E-4EE0-ABA5-4E20E17AA04C}"/>
              </a:ext>
            </a:extLst>
          </p:cNvPr>
          <p:cNvSpPr txBox="1"/>
          <p:nvPr/>
        </p:nvSpPr>
        <p:spPr>
          <a:xfrm>
            <a:off x="4737653" y="2671729"/>
            <a:ext cx="2880000" cy="432792"/>
          </a:xfrm>
          <a:prstGeom prst="roundRect">
            <a:avLst>
              <a:gd name="adj" fmla="val 50000"/>
            </a:avLst>
          </a:prstGeom>
          <a:solidFill>
            <a:schemeClr val="accent1"/>
          </a:solidFill>
        </p:spPr>
        <p:txBody>
          <a:bodyPr wrap="square" t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a:ln>
                  <a:noFill/>
                </a:ln>
                <a:solidFill>
                  <a:schemeClr val="bg1"/>
                </a:solidFill>
                <a:effectLst/>
                <a:uLnTx/>
                <a:uFillTx/>
                <a:latin typeface="Calibri" panose="020F0502020204030204"/>
                <a:ea typeface="+mn-ea"/>
                <a:cs typeface="+mn-cs"/>
              </a:rPr>
              <a:t>Cloud Adoption Risks</a:t>
            </a:r>
          </a:p>
        </p:txBody>
      </p:sp>
      <p:graphicFrame>
        <p:nvGraphicFramePr>
          <p:cNvPr id="19" name="Table 19">
            <a:extLst>
              <a:ext uri="{FF2B5EF4-FFF2-40B4-BE49-F238E27FC236}">
                <a16:creationId xmlns:a16="http://schemas.microsoft.com/office/drawing/2014/main" id="{C570ADAB-9080-4FA5-B35A-1F7CD3D82473}"/>
              </a:ext>
            </a:extLst>
          </p:cNvPr>
          <p:cNvGraphicFramePr>
            <a:graphicFrameLocks noGrp="1"/>
          </p:cNvGraphicFramePr>
          <p:nvPr/>
        </p:nvGraphicFramePr>
        <p:xfrm>
          <a:off x="8680084" y="3104521"/>
          <a:ext cx="2734453" cy="1115568"/>
        </p:xfrm>
        <a:graphic>
          <a:graphicData uri="http://schemas.openxmlformats.org/drawingml/2006/table">
            <a:tbl>
              <a:tblPr firstRow="1" bandRow="1">
                <a:tableStyleId>{2D5ABB26-0587-4C30-8999-92F81FD0307C}</a:tableStyleId>
              </a:tblPr>
              <a:tblGrid>
                <a:gridCol w="2734453">
                  <a:extLst>
                    <a:ext uri="{9D8B030D-6E8A-4147-A177-3AD203B41FA5}">
                      <a16:colId xmlns:a16="http://schemas.microsoft.com/office/drawing/2014/main" val="2031547197"/>
                    </a:ext>
                  </a:extLst>
                </a:gridCol>
              </a:tblGrid>
              <a:tr h="370840">
                <a:tc>
                  <a:txBody>
                    <a:bodyPr/>
                    <a:lstStyle/>
                    <a:p>
                      <a:pPr marL="114300" marR="0" lvl="0" indent="-11430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222C33"/>
                          </a:solidFill>
                          <a:effectLst/>
                          <a:uLnTx/>
                          <a:uFillTx/>
                          <a:latin typeface="+mn-lt"/>
                          <a:ea typeface="+mn-ea"/>
                          <a:cs typeface="+mn-cs"/>
                        </a:rPr>
                        <a:t>“MPLS is so expensive and rigid, rising technology &amp; managed service costs"</a:t>
                      </a:r>
                    </a:p>
                  </a:txBody>
                  <a:tcPr marL="0" marR="0" marT="91440" marB="109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5005781"/>
                  </a:ext>
                </a:extLst>
              </a:tr>
            </a:tbl>
          </a:graphicData>
        </a:graphic>
      </p:graphicFrame>
      <p:graphicFrame>
        <p:nvGraphicFramePr>
          <p:cNvPr id="20" name="Table 19">
            <a:extLst>
              <a:ext uri="{FF2B5EF4-FFF2-40B4-BE49-F238E27FC236}">
                <a16:creationId xmlns:a16="http://schemas.microsoft.com/office/drawing/2014/main" id="{9243C740-D4AC-4426-A2DF-8F9E67324B3E}"/>
              </a:ext>
            </a:extLst>
          </p:cNvPr>
          <p:cNvGraphicFramePr>
            <a:graphicFrameLocks noGrp="1"/>
          </p:cNvGraphicFramePr>
          <p:nvPr/>
        </p:nvGraphicFramePr>
        <p:xfrm>
          <a:off x="1079646" y="1239789"/>
          <a:ext cx="2579221" cy="1115568"/>
        </p:xfrm>
        <a:graphic>
          <a:graphicData uri="http://schemas.openxmlformats.org/drawingml/2006/table">
            <a:tbl>
              <a:tblPr firstRow="1" bandRow="1">
                <a:tableStyleId>{2D5ABB26-0587-4C30-8999-92F81FD0307C}</a:tableStyleId>
              </a:tblPr>
              <a:tblGrid>
                <a:gridCol w="2579221">
                  <a:extLst>
                    <a:ext uri="{9D8B030D-6E8A-4147-A177-3AD203B41FA5}">
                      <a16:colId xmlns:a16="http://schemas.microsoft.com/office/drawing/2014/main" val="2031547197"/>
                    </a:ext>
                  </a:extLst>
                </a:gridCol>
              </a:tblGrid>
              <a:tr h="1115568">
                <a:tc>
                  <a:txBody>
                    <a:bodyPr/>
                    <a:lstStyle/>
                    <a:p>
                      <a:pPr marL="114300" marR="0" lvl="0" indent="-11430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222C33"/>
                          </a:solidFill>
                          <a:effectLst/>
                          <a:uLnTx/>
                          <a:uFillTx/>
                          <a:latin typeface="+mn-lt"/>
                          <a:ea typeface="+mn-ea"/>
                          <a:cs typeface="+mn-cs"/>
                        </a:rPr>
                        <a:t>“My network security is a mess. Just too many boxes and models”</a:t>
                      </a:r>
                    </a:p>
                  </a:txBody>
                  <a:tcPr marL="0" marR="0" marT="91440" marB="109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5005781"/>
                  </a:ext>
                </a:extLst>
              </a:tr>
            </a:tbl>
          </a:graphicData>
        </a:graphic>
      </p:graphicFrame>
      <p:graphicFrame>
        <p:nvGraphicFramePr>
          <p:cNvPr id="22" name="Table 19">
            <a:extLst>
              <a:ext uri="{FF2B5EF4-FFF2-40B4-BE49-F238E27FC236}">
                <a16:creationId xmlns:a16="http://schemas.microsoft.com/office/drawing/2014/main" id="{7FABD2D2-FA1A-46A7-BE89-C81DC3E47553}"/>
              </a:ext>
            </a:extLst>
          </p:cNvPr>
          <p:cNvGraphicFramePr>
            <a:graphicFrameLocks noGrp="1"/>
          </p:cNvGraphicFramePr>
          <p:nvPr/>
        </p:nvGraphicFramePr>
        <p:xfrm>
          <a:off x="4835864" y="1224047"/>
          <a:ext cx="2683579" cy="1115568"/>
        </p:xfrm>
        <a:graphic>
          <a:graphicData uri="http://schemas.openxmlformats.org/drawingml/2006/table">
            <a:tbl>
              <a:tblPr firstRow="1" bandRow="1">
                <a:tableStyleId>{2D5ABB26-0587-4C30-8999-92F81FD0307C}</a:tableStyleId>
              </a:tblPr>
              <a:tblGrid>
                <a:gridCol w="2683579">
                  <a:extLst>
                    <a:ext uri="{9D8B030D-6E8A-4147-A177-3AD203B41FA5}">
                      <a16:colId xmlns:a16="http://schemas.microsoft.com/office/drawing/2014/main" val="2031547197"/>
                    </a:ext>
                  </a:extLst>
                </a:gridCol>
              </a:tblGrid>
              <a:tr h="613421">
                <a:tc>
                  <a:txBody>
                    <a:bodyPr/>
                    <a:lstStyle/>
                    <a:p>
                      <a:pPr marL="114300" marR="0" lvl="0" indent="-11430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222C33"/>
                          </a:solidFill>
                          <a:effectLst/>
                          <a:uLnTx/>
                          <a:uFillTx/>
                          <a:latin typeface="+mn-lt"/>
                          <a:ea typeface="+mn-ea"/>
                          <a:cs typeface="+mn-cs"/>
                        </a:rPr>
                        <a:t>“I have no idea what’s going on in my network. So much in the shadow”</a:t>
                      </a:r>
                    </a:p>
                  </a:txBody>
                  <a:tcPr marL="0" marR="0" marT="91440" marB="109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5005781"/>
                  </a:ext>
                </a:extLst>
              </a:tr>
            </a:tbl>
          </a:graphicData>
        </a:graphic>
      </p:graphicFrame>
      <p:graphicFrame>
        <p:nvGraphicFramePr>
          <p:cNvPr id="23" name="Table 22">
            <a:extLst>
              <a:ext uri="{FF2B5EF4-FFF2-40B4-BE49-F238E27FC236}">
                <a16:creationId xmlns:a16="http://schemas.microsoft.com/office/drawing/2014/main" id="{1F362AF4-0D61-4107-90CB-27DBFDFB7877}"/>
              </a:ext>
            </a:extLst>
          </p:cNvPr>
          <p:cNvGraphicFramePr>
            <a:graphicFrameLocks noGrp="1"/>
          </p:cNvGraphicFramePr>
          <p:nvPr/>
        </p:nvGraphicFramePr>
        <p:xfrm>
          <a:off x="712678" y="3070785"/>
          <a:ext cx="3173522" cy="1115568"/>
        </p:xfrm>
        <a:graphic>
          <a:graphicData uri="http://schemas.openxmlformats.org/drawingml/2006/table">
            <a:tbl>
              <a:tblPr firstRow="1" bandRow="1">
                <a:tableStyleId>{2D5ABB26-0587-4C30-8999-92F81FD0307C}</a:tableStyleId>
              </a:tblPr>
              <a:tblGrid>
                <a:gridCol w="3173522">
                  <a:extLst>
                    <a:ext uri="{9D8B030D-6E8A-4147-A177-3AD203B41FA5}">
                      <a16:colId xmlns:a16="http://schemas.microsoft.com/office/drawing/2014/main" val="2031547197"/>
                    </a:ext>
                  </a:extLst>
                </a:gridCol>
              </a:tblGrid>
              <a:tr h="0">
                <a:tc>
                  <a:txBody>
                    <a:bodyPr/>
                    <a:lstStyle/>
                    <a:p>
                      <a:pPr marL="114300" indent="-114300" algn="ctr"/>
                      <a:r>
                        <a:rPr lang="en-US" sz="2000"/>
                        <a:t>“My users keep complaining that working from remote is a nightmare”</a:t>
                      </a:r>
                    </a:p>
                  </a:txBody>
                  <a:tcPr marL="0" marR="0" marT="91440" marB="109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5005781"/>
                  </a:ext>
                </a:extLst>
              </a:tr>
            </a:tbl>
          </a:graphicData>
        </a:graphic>
      </p:graphicFrame>
      <p:graphicFrame>
        <p:nvGraphicFramePr>
          <p:cNvPr id="24" name="Table 23">
            <a:extLst>
              <a:ext uri="{FF2B5EF4-FFF2-40B4-BE49-F238E27FC236}">
                <a16:creationId xmlns:a16="http://schemas.microsoft.com/office/drawing/2014/main" id="{22FBAC03-8551-4ECB-8A7E-7A6D0DF923E1}"/>
              </a:ext>
            </a:extLst>
          </p:cNvPr>
          <p:cNvGraphicFramePr>
            <a:graphicFrameLocks noGrp="1"/>
          </p:cNvGraphicFramePr>
          <p:nvPr/>
        </p:nvGraphicFramePr>
        <p:xfrm>
          <a:off x="4377428" y="3085221"/>
          <a:ext cx="3600450" cy="1115568"/>
        </p:xfrm>
        <a:graphic>
          <a:graphicData uri="http://schemas.openxmlformats.org/drawingml/2006/table">
            <a:tbl>
              <a:tblPr firstRow="1" bandRow="1">
                <a:tableStyleId>{2D5ABB26-0587-4C30-8999-92F81FD0307C}</a:tableStyleId>
              </a:tblPr>
              <a:tblGrid>
                <a:gridCol w="3600450">
                  <a:extLst>
                    <a:ext uri="{9D8B030D-6E8A-4147-A177-3AD203B41FA5}">
                      <a16:colId xmlns:a16="http://schemas.microsoft.com/office/drawing/2014/main" val="2031547197"/>
                    </a:ext>
                  </a:extLst>
                </a:gridCol>
              </a:tblGrid>
              <a:tr h="0">
                <a:tc>
                  <a:txBody>
                    <a:bodyPr/>
                    <a:lstStyle/>
                    <a:p>
                      <a:pPr marL="114300" indent="-114300" algn="ctr"/>
                      <a:r>
                        <a:rPr lang="en-US" sz="2000"/>
                        <a:t>“I need to kick-start cloud migrations, but it looks so complex to connect and secure”</a:t>
                      </a:r>
                    </a:p>
                  </a:txBody>
                  <a:tcPr marL="0" marR="0" marT="91440" marB="109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5005781"/>
                  </a:ext>
                </a:extLst>
              </a:tr>
            </a:tbl>
          </a:graphicData>
        </a:graphic>
      </p:graphicFrame>
      <p:sp>
        <p:nvSpPr>
          <p:cNvPr id="16" name="TextBox 15">
            <a:extLst>
              <a:ext uri="{FF2B5EF4-FFF2-40B4-BE49-F238E27FC236}">
                <a16:creationId xmlns:a16="http://schemas.microsoft.com/office/drawing/2014/main" id="{FB90C20E-51C9-534F-9D53-613E52A69250}"/>
              </a:ext>
            </a:extLst>
          </p:cNvPr>
          <p:cNvSpPr txBox="1"/>
          <p:nvPr/>
        </p:nvSpPr>
        <p:spPr>
          <a:xfrm>
            <a:off x="8666737" y="806997"/>
            <a:ext cx="2880000" cy="432792"/>
          </a:xfrm>
          <a:prstGeom prst="roundRect">
            <a:avLst>
              <a:gd name="adj" fmla="val 50000"/>
            </a:avLst>
          </a:prstGeom>
          <a:solidFill>
            <a:schemeClr val="accent1"/>
          </a:solidFill>
        </p:spPr>
        <p:txBody>
          <a:bodyPr wrap="square" tIns="0" bIns="0" anchor="ctr" anchorCtr="0">
            <a:spAutoFit/>
          </a:bodyPr>
          <a:lstStyle>
            <a:defPPr>
              <a:defRPr lang="en-US"/>
            </a:defPPr>
            <a:lvl1pPr marR="0" lvl="0" indent="0" algn="ctr" fontAlgn="auto">
              <a:lnSpc>
                <a:spcPct val="100000"/>
              </a:lnSpc>
              <a:spcBef>
                <a:spcPts val="0"/>
              </a:spcBef>
              <a:spcAft>
                <a:spcPts val="0"/>
              </a:spcAft>
              <a:buClrTx/>
              <a:buSzTx/>
              <a:buFontTx/>
              <a:buNone/>
              <a:tabLst/>
              <a:defRPr kumimoji="0" sz="2000" i="0" u="none" strike="noStrike" cap="none" spc="0" normalizeH="0" baseline="0">
                <a:ln>
                  <a:noFill/>
                </a:ln>
                <a:solidFill>
                  <a:schemeClr val="bg1"/>
                </a:solidFill>
                <a:effectLst/>
                <a:uLnTx/>
                <a:uFillTx/>
                <a:latin typeface="Calibri" panose="020F0502020204030204"/>
              </a:defRPr>
            </a:lvl1pPr>
          </a:lstStyle>
          <a:p>
            <a:r>
              <a:rPr lang="en-US"/>
              <a:t>Bad Performance</a:t>
            </a:r>
          </a:p>
        </p:txBody>
      </p:sp>
      <p:graphicFrame>
        <p:nvGraphicFramePr>
          <p:cNvPr id="18" name="Table 17">
            <a:extLst>
              <a:ext uri="{FF2B5EF4-FFF2-40B4-BE49-F238E27FC236}">
                <a16:creationId xmlns:a16="http://schemas.microsoft.com/office/drawing/2014/main" id="{6BD61034-CBA4-8F4F-BE5A-AED760E11427}"/>
              </a:ext>
            </a:extLst>
          </p:cNvPr>
          <p:cNvGraphicFramePr>
            <a:graphicFrameLocks noGrp="1"/>
          </p:cNvGraphicFramePr>
          <p:nvPr/>
        </p:nvGraphicFramePr>
        <p:xfrm>
          <a:off x="8474063" y="1224047"/>
          <a:ext cx="3365361" cy="1115568"/>
        </p:xfrm>
        <a:graphic>
          <a:graphicData uri="http://schemas.openxmlformats.org/drawingml/2006/table">
            <a:tbl>
              <a:tblPr firstRow="1" bandRow="1">
                <a:tableStyleId>{2D5ABB26-0587-4C30-8999-92F81FD0307C}</a:tableStyleId>
              </a:tblPr>
              <a:tblGrid>
                <a:gridCol w="3365361">
                  <a:extLst>
                    <a:ext uri="{9D8B030D-6E8A-4147-A177-3AD203B41FA5}">
                      <a16:colId xmlns:a16="http://schemas.microsoft.com/office/drawing/2014/main" val="2031547197"/>
                    </a:ext>
                  </a:extLst>
                </a:gridCol>
              </a:tblGrid>
              <a:tr h="1115568">
                <a:tc>
                  <a:txBody>
                    <a:bodyPr/>
                    <a:lstStyle/>
                    <a:p>
                      <a:pPr marL="114300" lvl="0" indent="-114300" algn="ctr">
                        <a:defRPr/>
                      </a:pPr>
                      <a:r>
                        <a:rPr kumimoji="0" lang="en-US" sz="2000" b="0" i="0" u="none" strike="noStrike" kern="1200" cap="none" spc="0" normalizeH="0" baseline="0">
                          <a:ln>
                            <a:noFill/>
                          </a:ln>
                          <a:solidFill>
                            <a:srgbClr val="222C33"/>
                          </a:solidFill>
                          <a:effectLst/>
                          <a:uLnTx/>
                          <a:uFillTx/>
                          <a:latin typeface="+mn-lt"/>
                          <a:ea typeface="+mn-ea"/>
                          <a:cs typeface="+mn-cs"/>
                        </a:rPr>
                        <a:t>“My users keep complaining about VoIP quality and laggy applications”</a:t>
                      </a:r>
                    </a:p>
                  </a:txBody>
                  <a:tcPr marL="0" marR="0" marT="91440" marB="109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5005781"/>
                  </a:ext>
                </a:extLst>
              </a:tr>
            </a:tbl>
          </a:graphicData>
        </a:graphic>
      </p:graphicFrame>
      <p:sp>
        <p:nvSpPr>
          <p:cNvPr id="3" name="TextBox 2">
            <a:extLst>
              <a:ext uri="{FF2B5EF4-FFF2-40B4-BE49-F238E27FC236}">
                <a16:creationId xmlns:a16="http://schemas.microsoft.com/office/drawing/2014/main" id="{D1EB96DC-41FA-796B-D1F1-B27B4DBC84B2}"/>
              </a:ext>
            </a:extLst>
          </p:cNvPr>
          <p:cNvSpPr txBox="1"/>
          <p:nvPr/>
        </p:nvSpPr>
        <p:spPr>
          <a:xfrm>
            <a:off x="8666737" y="4552203"/>
            <a:ext cx="2880000" cy="432792"/>
          </a:xfrm>
          <a:prstGeom prst="roundRect">
            <a:avLst>
              <a:gd name="adj" fmla="val 50000"/>
            </a:avLst>
          </a:prstGeom>
          <a:solidFill>
            <a:schemeClr val="accent1"/>
          </a:solidFill>
        </p:spPr>
        <p:txBody>
          <a:bodyPr wrap="square" t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a:ln>
                  <a:noFill/>
                </a:ln>
                <a:solidFill>
                  <a:schemeClr val="bg1"/>
                </a:solidFill>
                <a:effectLst/>
                <a:uLnTx/>
                <a:uFillTx/>
                <a:latin typeface="Calibri" panose="020F0502020204030204"/>
                <a:ea typeface="+mn-ea"/>
                <a:cs typeface="+mn-cs"/>
              </a:rPr>
              <a:t>AI Explosion</a:t>
            </a:r>
          </a:p>
        </p:txBody>
      </p:sp>
      <p:sp>
        <p:nvSpPr>
          <p:cNvPr id="5" name="TextBox 4">
            <a:extLst>
              <a:ext uri="{FF2B5EF4-FFF2-40B4-BE49-F238E27FC236}">
                <a16:creationId xmlns:a16="http://schemas.microsoft.com/office/drawing/2014/main" id="{1619EA45-F931-6E9C-A90F-45DEE07295BB}"/>
              </a:ext>
            </a:extLst>
          </p:cNvPr>
          <p:cNvSpPr txBox="1"/>
          <p:nvPr/>
        </p:nvSpPr>
        <p:spPr>
          <a:xfrm>
            <a:off x="853520" y="4552203"/>
            <a:ext cx="2880000" cy="432792"/>
          </a:xfrm>
          <a:prstGeom prst="roundRect">
            <a:avLst>
              <a:gd name="adj" fmla="val 50000"/>
            </a:avLst>
          </a:prstGeom>
          <a:solidFill>
            <a:schemeClr val="accent1"/>
          </a:solidFill>
        </p:spPr>
        <p:txBody>
          <a:bodyPr wrap="square" t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a:ln>
                  <a:noFill/>
                </a:ln>
                <a:solidFill>
                  <a:schemeClr val="bg1"/>
                </a:solidFill>
                <a:effectLst/>
                <a:uLnTx/>
                <a:uFillTx/>
                <a:latin typeface="Calibri" panose="020F0502020204030204"/>
                <a:ea typeface="+mn-ea"/>
                <a:cs typeface="+mn-cs"/>
              </a:rPr>
              <a:t>Rigid Architecture</a:t>
            </a:r>
          </a:p>
        </p:txBody>
      </p:sp>
      <p:sp>
        <p:nvSpPr>
          <p:cNvPr id="7" name="TextBox 6">
            <a:extLst>
              <a:ext uri="{FF2B5EF4-FFF2-40B4-BE49-F238E27FC236}">
                <a16:creationId xmlns:a16="http://schemas.microsoft.com/office/drawing/2014/main" id="{A02E4FA6-0741-CDC0-AE8D-4B7A0A63DF20}"/>
              </a:ext>
            </a:extLst>
          </p:cNvPr>
          <p:cNvSpPr txBox="1"/>
          <p:nvPr/>
        </p:nvSpPr>
        <p:spPr>
          <a:xfrm>
            <a:off x="4737653" y="4571503"/>
            <a:ext cx="2880000" cy="432792"/>
          </a:xfrm>
          <a:prstGeom prst="roundRect">
            <a:avLst>
              <a:gd name="adj" fmla="val 50000"/>
            </a:avLst>
          </a:prstGeom>
          <a:solidFill>
            <a:schemeClr val="accent1"/>
          </a:solidFill>
        </p:spPr>
        <p:txBody>
          <a:bodyPr wrap="square" t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a:ln>
                  <a:noFill/>
                </a:ln>
                <a:solidFill>
                  <a:schemeClr val="bg1"/>
                </a:solidFill>
                <a:effectLst/>
                <a:uLnTx/>
                <a:uFillTx/>
                <a:latin typeface="Calibri" panose="020F0502020204030204"/>
                <a:ea typeface="+mn-ea"/>
                <a:cs typeface="+mn-cs"/>
              </a:rPr>
              <a:t>Inconsistent Policy</a:t>
            </a:r>
          </a:p>
        </p:txBody>
      </p:sp>
      <p:graphicFrame>
        <p:nvGraphicFramePr>
          <p:cNvPr id="8" name="Table 19">
            <a:extLst>
              <a:ext uri="{FF2B5EF4-FFF2-40B4-BE49-F238E27FC236}">
                <a16:creationId xmlns:a16="http://schemas.microsoft.com/office/drawing/2014/main" id="{F9BE6C3C-37AD-6166-93B3-1B519783287D}"/>
              </a:ext>
            </a:extLst>
          </p:cNvPr>
          <p:cNvGraphicFramePr>
            <a:graphicFrameLocks noGrp="1"/>
          </p:cNvGraphicFramePr>
          <p:nvPr/>
        </p:nvGraphicFramePr>
        <p:xfrm>
          <a:off x="8527067" y="4935435"/>
          <a:ext cx="3159340" cy="1115568"/>
        </p:xfrm>
        <a:graphic>
          <a:graphicData uri="http://schemas.openxmlformats.org/drawingml/2006/table">
            <a:tbl>
              <a:tblPr firstRow="1" bandRow="1">
                <a:tableStyleId>{2D5ABB26-0587-4C30-8999-92F81FD0307C}</a:tableStyleId>
              </a:tblPr>
              <a:tblGrid>
                <a:gridCol w="3159340">
                  <a:extLst>
                    <a:ext uri="{9D8B030D-6E8A-4147-A177-3AD203B41FA5}">
                      <a16:colId xmlns:a16="http://schemas.microsoft.com/office/drawing/2014/main" val="2031547197"/>
                    </a:ext>
                  </a:extLst>
                </a:gridCol>
              </a:tblGrid>
              <a:tr h="370840">
                <a:tc>
                  <a:txBody>
                    <a:bodyPr/>
                    <a:lstStyle/>
                    <a:p>
                      <a:pPr marL="114300" marR="0" lvl="0" indent="-114300" algn="ctr" defTabSz="914400" rtl="0" eaLnBrk="1" fontAlgn="auto" latinLnBrk="0" hangingPunct="1">
                        <a:lnSpc>
                          <a:spcPct val="100000"/>
                        </a:lnSpc>
                        <a:spcBef>
                          <a:spcPts val="0"/>
                        </a:spcBef>
                        <a:spcAft>
                          <a:spcPts val="0"/>
                        </a:spcAft>
                        <a:buClrTx/>
                        <a:buSzTx/>
                        <a:buFontTx/>
                        <a:buNone/>
                        <a:tabLst/>
                        <a:defRPr/>
                      </a:pPr>
                      <a:r>
                        <a:rPr lang="en-US" sz="2000"/>
                        <a:t>“</a:t>
                      </a:r>
                      <a:r>
                        <a:rPr kumimoji="0" lang="en-US" sz="2000" b="0" i="0" u="none" strike="noStrike" kern="1200" cap="none" spc="0" normalizeH="0" baseline="0" noProof="0">
                          <a:ln>
                            <a:noFill/>
                          </a:ln>
                          <a:solidFill>
                            <a:srgbClr val="222C33"/>
                          </a:solidFill>
                          <a:effectLst/>
                          <a:uLnTx/>
                          <a:uFillTx/>
                          <a:latin typeface="+mn-lt"/>
                          <a:ea typeface="+mn-ea"/>
                          <a:cs typeface="+mn-cs"/>
                        </a:rPr>
                        <a:t>Adoption pressures to stay competitive, inadequate guardrails in place”</a:t>
                      </a:r>
                    </a:p>
                  </a:txBody>
                  <a:tcPr marL="0" marR="0" marT="91440" marB="109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5005781"/>
                  </a:ext>
                </a:extLst>
              </a:tr>
            </a:tbl>
          </a:graphicData>
        </a:graphic>
      </p:graphicFrame>
      <p:graphicFrame>
        <p:nvGraphicFramePr>
          <p:cNvPr id="9" name="Table 8">
            <a:extLst>
              <a:ext uri="{FF2B5EF4-FFF2-40B4-BE49-F238E27FC236}">
                <a16:creationId xmlns:a16="http://schemas.microsoft.com/office/drawing/2014/main" id="{F18F1471-1420-18D7-F2F1-F5BE8CFCEDA8}"/>
              </a:ext>
            </a:extLst>
          </p:cNvPr>
          <p:cNvGraphicFramePr>
            <a:graphicFrameLocks noGrp="1"/>
          </p:cNvGraphicFramePr>
          <p:nvPr/>
        </p:nvGraphicFramePr>
        <p:xfrm>
          <a:off x="712678" y="4970559"/>
          <a:ext cx="3173522" cy="810768"/>
        </p:xfrm>
        <a:graphic>
          <a:graphicData uri="http://schemas.openxmlformats.org/drawingml/2006/table">
            <a:tbl>
              <a:tblPr firstRow="1" bandRow="1">
                <a:tableStyleId>{2D5ABB26-0587-4C30-8999-92F81FD0307C}</a:tableStyleId>
              </a:tblPr>
              <a:tblGrid>
                <a:gridCol w="3173522">
                  <a:extLst>
                    <a:ext uri="{9D8B030D-6E8A-4147-A177-3AD203B41FA5}">
                      <a16:colId xmlns:a16="http://schemas.microsoft.com/office/drawing/2014/main" val="2031547197"/>
                    </a:ext>
                  </a:extLst>
                </a:gridCol>
              </a:tblGrid>
              <a:tr h="0">
                <a:tc>
                  <a:txBody>
                    <a:bodyPr/>
                    <a:lstStyle/>
                    <a:p>
                      <a:pPr marL="114300" indent="-114300" algn="ctr"/>
                      <a:r>
                        <a:rPr lang="en-US" sz="2000"/>
                        <a:t>“Transformation is slow, long lead times to enact change”</a:t>
                      </a:r>
                    </a:p>
                  </a:txBody>
                  <a:tcPr marL="0" marR="0" marT="91440" marB="109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5005781"/>
                  </a:ext>
                </a:extLst>
              </a:tr>
            </a:tbl>
          </a:graphicData>
        </a:graphic>
      </p:graphicFrame>
      <p:graphicFrame>
        <p:nvGraphicFramePr>
          <p:cNvPr id="11" name="Table 10">
            <a:extLst>
              <a:ext uri="{FF2B5EF4-FFF2-40B4-BE49-F238E27FC236}">
                <a16:creationId xmlns:a16="http://schemas.microsoft.com/office/drawing/2014/main" id="{B1950909-6320-86B3-4930-2D33245749F6}"/>
              </a:ext>
            </a:extLst>
          </p:cNvPr>
          <p:cNvGraphicFramePr>
            <a:graphicFrameLocks noGrp="1"/>
          </p:cNvGraphicFramePr>
          <p:nvPr/>
        </p:nvGraphicFramePr>
        <p:xfrm>
          <a:off x="4264213" y="4983652"/>
          <a:ext cx="3826879" cy="1115568"/>
        </p:xfrm>
        <a:graphic>
          <a:graphicData uri="http://schemas.openxmlformats.org/drawingml/2006/table">
            <a:tbl>
              <a:tblPr firstRow="1" bandRow="1">
                <a:tableStyleId>{2D5ABB26-0587-4C30-8999-92F81FD0307C}</a:tableStyleId>
              </a:tblPr>
              <a:tblGrid>
                <a:gridCol w="3826879">
                  <a:extLst>
                    <a:ext uri="{9D8B030D-6E8A-4147-A177-3AD203B41FA5}">
                      <a16:colId xmlns:a16="http://schemas.microsoft.com/office/drawing/2014/main" val="2031547197"/>
                    </a:ext>
                  </a:extLst>
                </a:gridCol>
              </a:tblGrid>
              <a:tr h="0">
                <a:tc>
                  <a:txBody>
                    <a:bodyPr/>
                    <a:lstStyle/>
                    <a:p>
                      <a:pPr marL="114300" indent="-114300" algn="ctr"/>
                      <a:r>
                        <a:rPr lang="en-US" sz="2000"/>
                        <a:t>“Applying a consistent and uniform policy is almost impossible, prone to misconfiguration”</a:t>
                      </a:r>
                    </a:p>
                  </a:txBody>
                  <a:tcPr marL="0" marR="0" marT="91440" marB="109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5005781"/>
                  </a:ext>
                </a:extLst>
              </a:tr>
            </a:tbl>
          </a:graphicData>
        </a:graphic>
      </p:graphicFrame>
      <p:sp>
        <p:nvSpPr>
          <p:cNvPr id="12" name="TextBox 11">
            <a:extLst>
              <a:ext uri="{FF2B5EF4-FFF2-40B4-BE49-F238E27FC236}">
                <a16:creationId xmlns:a16="http://schemas.microsoft.com/office/drawing/2014/main" id="{9A5806FF-212C-4E5A-B183-9D8779147D74}"/>
              </a:ext>
            </a:extLst>
          </p:cNvPr>
          <p:cNvSpPr txBox="1"/>
          <p:nvPr/>
        </p:nvSpPr>
        <p:spPr>
          <a:xfrm>
            <a:off x="4737654" y="816424"/>
            <a:ext cx="2880000" cy="432792"/>
          </a:xfrm>
          <a:prstGeom prst="roundRect">
            <a:avLst>
              <a:gd name="adj" fmla="val 50000"/>
            </a:avLst>
          </a:prstGeom>
          <a:solidFill>
            <a:schemeClr val="accent1"/>
          </a:solidFill>
        </p:spPr>
        <p:txBody>
          <a:bodyPr wrap="square" t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a:solidFill>
                  <a:schemeClr val="bg1"/>
                </a:solidFill>
                <a:latin typeface="Calibri" panose="020F0502020204030204"/>
              </a:rPr>
              <a:t>Poor Visibility</a:t>
            </a:r>
            <a:endParaRPr kumimoji="0" lang="en-US" sz="2000" i="0" u="none" strike="noStrike" kern="1200" cap="none" spc="0" normalizeH="0" baseline="0" noProof="0">
              <a:ln>
                <a:noFill/>
              </a:ln>
              <a:solidFill>
                <a:schemeClr val="bg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4029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p:cTn id="11" dur="500" fill="hold"/>
                                        <p:tgtEl>
                                          <p:spTgt spid="20"/>
                                        </p:tgtEl>
                                        <p:attrNameLst>
                                          <p:attrName>ppt_w</p:attrName>
                                        </p:attrNameLst>
                                      </p:cBhvr>
                                      <p:tavLst>
                                        <p:tav tm="0">
                                          <p:val>
                                            <p:fltVal val="0"/>
                                          </p:val>
                                        </p:tav>
                                        <p:tav tm="100000">
                                          <p:val>
                                            <p:strVal val="#ppt_w"/>
                                          </p:val>
                                        </p:tav>
                                      </p:tavLst>
                                    </p:anim>
                                    <p:anim calcmode="lin" valueType="num">
                                      <p:cBhvr>
                                        <p:cTn id="12" dur="500" fill="hold"/>
                                        <p:tgtEl>
                                          <p:spTgt spid="20"/>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ppt_w</p:attrName>
                                        </p:attrNameLst>
                                      </p:cBhvr>
                                      <p:tavLst>
                                        <p:tav tm="0">
                                          <p:val>
                                            <p:fltVal val="0"/>
                                          </p:val>
                                        </p:tav>
                                        <p:tav tm="100000">
                                          <p:val>
                                            <p:strVal val="#ppt_w"/>
                                          </p:val>
                                        </p:tav>
                                      </p:tavLst>
                                    </p:anim>
                                    <p:anim calcmode="lin" valueType="num">
                                      <p:cBhvr>
                                        <p:cTn id="18" dur="500" fill="hold"/>
                                        <p:tgtEl>
                                          <p:spTgt spid="12"/>
                                        </p:tgtEl>
                                        <p:attrNameLst>
                                          <p:attrName>ppt_h</p:attrName>
                                        </p:attrNameLst>
                                      </p:cBhvr>
                                      <p:tavLst>
                                        <p:tav tm="0">
                                          <p:val>
                                            <p:fltVal val="0"/>
                                          </p:val>
                                        </p:tav>
                                        <p:tav tm="100000">
                                          <p:val>
                                            <p:strVal val="#ppt_h"/>
                                          </p:val>
                                        </p:tav>
                                      </p:tavLst>
                                    </p:anim>
                                  </p:childTnLst>
                                </p:cTn>
                              </p:par>
                              <p:par>
                                <p:cTn id="19" presetID="23" presetClass="entr" presetSubtype="16"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p:cTn id="21" dur="500" fill="hold"/>
                                        <p:tgtEl>
                                          <p:spTgt spid="22"/>
                                        </p:tgtEl>
                                        <p:attrNameLst>
                                          <p:attrName>ppt_w</p:attrName>
                                        </p:attrNameLst>
                                      </p:cBhvr>
                                      <p:tavLst>
                                        <p:tav tm="0">
                                          <p:val>
                                            <p:fltVal val="0"/>
                                          </p:val>
                                        </p:tav>
                                        <p:tav tm="100000">
                                          <p:val>
                                            <p:strVal val="#ppt_w"/>
                                          </p:val>
                                        </p:tav>
                                      </p:tavLst>
                                    </p:anim>
                                    <p:anim calcmode="lin" valueType="num">
                                      <p:cBhvr>
                                        <p:cTn id="22" dur="500" fill="hold"/>
                                        <p:tgtEl>
                                          <p:spTgt spid="22"/>
                                        </p:tgtEl>
                                        <p:attrNameLst>
                                          <p:attrName>ppt_h</p:attrName>
                                        </p:attrNameLst>
                                      </p:cBhvr>
                                      <p:tavLst>
                                        <p:tav tm="0">
                                          <p:val>
                                            <p:fltVal val="0"/>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1" presetClass="emph" presetSubtype="2" fill="hold" nodeType="clickEffect">
                                  <p:stCondLst>
                                    <p:cond delay="0"/>
                                  </p:stCondLst>
                                  <p:childTnLst>
                                    <p:animClr clrSpc="rgb" dir="cw">
                                      <p:cBhvr>
                                        <p:cTn id="26" dur="2000" fill="hold"/>
                                        <p:tgtEl>
                                          <p:spTgt spid="12"/>
                                        </p:tgtEl>
                                        <p:attrNameLst>
                                          <p:attrName>fillcolor</p:attrName>
                                        </p:attrNameLst>
                                      </p:cBhvr>
                                      <p:to>
                                        <a:srgbClr val="E98B37"/>
                                      </p:to>
                                    </p:animClr>
                                    <p:set>
                                      <p:cBhvr>
                                        <p:cTn id="27" dur="2000" fill="hold"/>
                                        <p:tgtEl>
                                          <p:spTgt spid="12"/>
                                        </p:tgtEl>
                                        <p:attrNameLst>
                                          <p:attrName>fill.type</p:attrName>
                                        </p:attrNameLst>
                                      </p:cBhvr>
                                      <p:to>
                                        <p:strVal val="solid"/>
                                      </p:to>
                                    </p:set>
                                    <p:set>
                                      <p:cBhvr>
                                        <p:cTn id="28" dur="2000" fill="hold"/>
                                        <p:tgtEl>
                                          <p:spTgt spid="12"/>
                                        </p:tgtEl>
                                        <p:attrNameLst>
                                          <p:attrName>fill.on</p:attrName>
                                        </p:attrNameLst>
                                      </p:cBhvr>
                                      <p:to>
                                        <p:strVal val="true"/>
                                      </p:to>
                                    </p:se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p:cTn id="33" dur="500" fill="hold"/>
                                        <p:tgtEl>
                                          <p:spTgt spid="16"/>
                                        </p:tgtEl>
                                        <p:attrNameLst>
                                          <p:attrName>ppt_w</p:attrName>
                                        </p:attrNameLst>
                                      </p:cBhvr>
                                      <p:tavLst>
                                        <p:tav tm="0">
                                          <p:val>
                                            <p:fltVal val="0"/>
                                          </p:val>
                                        </p:tav>
                                        <p:tav tm="100000">
                                          <p:val>
                                            <p:strVal val="#ppt_w"/>
                                          </p:val>
                                        </p:tav>
                                      </p:tavLst>
                                    </p:anim>
                                    <p:anim calcmode="lin" valueType="num">
                                      <p:cBhvr>
                                        <p:cTn id="34" dur="500" fill="hold"/>
                                        <p:tgtEl>
                                          <p:spTgt spid="16"/>
                                        </p:tgtEl>
                                        <p:attrNameLst>
                                          <p:attrName>ppt_h</p:attrName>
                                        </p:attrNameLst>
                                      </p:cBhvr>
                                      <p:tavLst>
                                        <p:tav tm="0">
                                          <p:val>
                                            <p:fltVal val="0"/>
                                          </p:val>
                                        </p:tav>
                                        <p:tav tm="100000">
                                          <p:val>
                                            <p:strVal val="#ppt_h"/>
                                          </p:val>
                                        </p:tav>
                                      </p:tavLst>
                                    </p:anim>
                                  </p:childTnLst>
                                </p:cTn>
                              </p:par>
                              <p:par>
                                <p:cTn id="35" presetID="23" presetClass="entr" presetSubtype="16"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p:cTn id="37" dur="500" fill="hold"/>
                                        <p:tgtEl>
                                          <p:spTgt spid="18"/>
                                        </p:tgtEl>
                                        <p:attrNameLst>
                                          <p:attrName>ppt_w</p:attrName>
                                        </p:attrNameLst>
                                      </p:cBhvr>
                                      <p:tavLst>
                                        <p:tav tm="0">
                                          <p:val>
                                            <p:fltVal val="0"/>
                                          </p:val>
                                        </p:tav>
                                        <p:tav tm="100000">
                                          <p:val>
                                            <p:strVal val="#ppt_w"/>
                                          </p:val>
                                        </p:tav>
                                      </p:tavLst>
                                    </p:anim>
                                    <p:anim calcmode="lin" valueType="num">
                                      <p:cBhvr>
                                        <p:cTn id="38" dur="500" fill="hold"/>
                                        <p:tgtEl>
                                          <p:spTgt spid="18"/>
                                        </p:tgtEl>
                                        <p:attrNameLst>
                                          <p:attrName>ppt_h</p:attrName>
                                        </p:attrNameLst>
                                      </p:cBhvr>
                                      <p:tavLst>
                                        <p:tav tm="0">
                                          <p:val>
                                            <p:flt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p:cTn id="43" dur="500" fill="hold"/>
                                        <p:tgtEl>
                                          <p:spTgt spid="15"/>
                                        </p:tgtEl>
                                        <p:attrNameLst>
                                          <p:attrName>ppt_w</p:attrName>
                                        </p:attrNameLst>
                                      </p:cBhvr>
                                      <p:tavLst>
                                        <p:tav tm="0">
                                          <p:val>
                                            <p:fltVal val="0"/>
                                          </p:val>
                                        </p:tav>
                                        <p:tav tm="100000">
                                          <p:val>
                                            <p:strVal val="#ppt_w"/>
                                          </p:val>
                                        </p:tav>
                                      </p:tavLst>
                                    </p:anim>
                                    <p:anim calcmode="lin" valueType="num">
                                      <p:cBhvr>
                                        <p:cTn id="44" dur="500" fill="hold"/>
                                        <p:tgtEl>
                                          <p:spTgt spid="15"/>
                                        </p:tgtEl>
                                        <p:attrNameLst>
                                          <p:attrName>ppt_h</p:attrName>
                                        </p:attrNameLst>
                                      </p:cBhvr>
                                      <p:tavLst>
                                        <p:tav tm="0">
                                          <p:val>
                                            <p:fltVal val="0"/>
                                          </p:val>
                                        </p:tav>
                                        <p:tav tm="100000">
                                          <p:val>
                                            <p:strVal val="#ppt_h"/>
                                          </p:val>
                                        </p:tav>
                                      </p:tavLst>
                                    </p:anim>
                                  </p:childTnLst>
                                </p:cTn>
                              </p:par>
                              <p:par>
                                <p:cTn id="45" presetID="23" presetClass="entr" presetSubtype="16"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anim calcmode="lin" valueType="num">
                                      <p:cBhvr>
                                        <p:cTn id="47" dur="500" fill="hold"/>
                                        <p:tgtEl>
                                          <p:spTgt spid="23"/>
                                        </p:tgtEl>
                                        <p:attrNameLst>
                                          <p:attrName>ppt_w</p:attrName>
                                        </p:attrNameLst>
                                      </p:cBhvr>
                                      <p:tavLst>
                                        <p:tav tm="0">
                                          <p:val>
                                            <p:fltVal val="0"/>
                                          </p:val>
                                        </p:tav>
                                        <p:tav tm="100000">
                                          <p:val>
                                            <p:strVal val="#ppt_w"/>
                                          </p:val>
                                        </p:tav>
                                      </p:tavLst>
                                    </p:anim>
                                    <p:anim calcmode="lin" valueType="num">
                                      <p:cBhvr>
                                        <p:cTn id="48" dur="500" fill="hold"/>
                                        <p:tgtEl>
                                          <p:spTgt spid="23"/>
                                        </p:tgtEl>
                                        <p:attrNameLst>
                                          <p:attrName>ppt_h</p:attrName>
                                        </p:attrNameLst>
                                      </p:cBhvr>
                                      <p:tavLst>
                                        <p:tav tm="0">
                                          <p:val>
                                            <p:fltVal val="0"/>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23" presetClass="entr" presetSubtype="16"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p:cTn id="53" dur="500" fill="hold"/>
                                        <p:tgtEl>
                                          <p:spTgt spid="17"/>
                                        </p:tgtEl>
                                        <p:attrNameLst>
                                          <p:attrName>ppt_w</p:attrName>
                                        </p:attrNameLst>
                                      </p:cBhvr>
                                      <p:tavLst>
                                        <p:tav tm="0">
                                          <p:val>
                                            <p:fltVal val="0"/>
                                          </p:val>
                                        </p:tav>
                                        <p:tav tm="100000">
                                          <p:val>
                                            <p:strVal val="#ppt_w"/>
                                          </p:val>
                                        </p:tav>
                                      </p:tavLst>
                                    </p:anim>
                                    <p:anim calcmode="lin" valueType="num">
                                      <p:cBhvr>
                                        <p:cTn id="54" dur="500" fill="hold"/>
                                        <p:tgtEl>
                                          <p:spTgt spid="17"/>
                                        </p:tgtEl>
                                        <p:attrNameLst>
                                          <p:attrName>ppt_h</p:attrName>
                                        </p:attrNameLst>
                                      </p:cBhvr>
                                      <p:tavLst>
                                        <p:tav tm="0">
                                          <p:val>
                                            <p:fltVal val="0"/>
                                          </p:val>
                                        </p:tav>
                                        <p:tav tm="100000">
                                          <p:val>
                                            <p:strVal val="#ppt_h"/>
                                          </p:val>
                                        </p:tav>
                                      </p:tavLst>
                                    </p:anim>
                                  </p:childTnLst>
                                </p:cTn>
                              </p:par>
                              <p:par>
                                <p:cTn id="55" presetID="23" presetClass="entr" presetSubtype="16" fill="hold" nodeType="withEffect">
                                  <p:stCondLst>
                                    <p:cond delay="0"/>
                                  </p:stCondLst>
                                  <p:childTnLst>
                                    <p:set>
                                      <p:cBhvr>
                                        <p:cTn id="56" dur="1" fill="hold">
                                          <p:stCondLst>
                                            <p:cond delay="0"/>
                                          </p:stCondLst>
                                        </p:cTn>
                                        <p:tgtEl>
                                          <p:spTgt spid="24"/>
                                        </p:tgtEl>
                                        <p:attrNameLst>
                                          <p:attrName>style.visibility</p:attrName>
                                        </p:attrNameLst>
                                      </p:cBhvr>
                                      <p:to>
                                        <p:strVal val="visible"/>
                                      </p:to>
                                    </p:set>
                                    <p:anim calcmode="lin" valueType="num">
                                      <p:cBhvr>
                                        <p:cTn id="57" dur="500" fill="hold"/>
                                        <p:tgtEl>
                                          <p:spTgt spid="24"/>
                                        </p:tgtEl>
                                        <p:attrNameLst>
                                          <p:attrName>ppt_w</p:attrName>
                                        </p:attrNameLst>
                                      </p:cBhvr>
                                      <p:tavLst>
                                        <p:tav tm="0">
                                          <p:val>
                                            <p:fltVal val="0"/>
                                          </p:val>
                                        </p:tav>
                                        <p:tav tm="100000">
                                          <p:val>
                                            <p:strVal val="#ppt_w"/>
                                          </p:val>
                                        </p:tav>
                                      </p:tavLst>
                                    </p:anim>
                                    <p:anim calcmode="lin" valueType="num">
                                      <p:cBhvr>
                                        <p:cTn id="58" dur="500" fill="hold"/>
                                        <p:tgtEl>
                                          <p:spTgt spid="24"/>
                                        </p:tgtEl>
                                        <p:attrNameLst>
                                          <p:attrName>ppt_h</p:attrName>
                                        </p:attrNameLst>
                                      </p:cBhvr>
                                      <p:tavLst>
                                        <p:tav tm="0">
                                          <p:val>
                                            <p:fltVal val="0"/>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6"/>
                                        </p:tgtEl>
                                        <p:attrNameLst>
                                          <p:attrName>style.visibility</p:attrName>
                                        </p:attrNameLst>
                                      </p:cBhvr>
                                      <p:to>
                                        <p:strVal val="visible"/>
                                      </p:to>
                                    </p:set>
                                    <p:anim calcmode="lin" valueType="num">
                                      <p:cBhvr>
                                        <p:cTn id="63" dur="500" fill="hold"/>
                                        <p:tgtEl>
                                          <p:spTgt spid="6"/>
                                        </p:tgtEl>
                                        <p:attrNameLst>
                                          <p:attrName>ppt_w</p:attrName>
                                        </p:attrNameLst>
                                      </p:cBhvr>
                                      <p:tavLst>
                                        <p:tav tm="0">
                                          <p:val>
                                            <p:fltVal val="0"/>
                                          </p:val>
                                        </p:tav>
                                        <p:tav tm="100000">
                                          <p:val>
                                            <p:strVal val="#ppt_w"/>
                                          </p:val>
                                        </p:tav>
                                      </p:tavLst>
                                    </p:anim>
                                    <p:anim calcmode="lin" valueType="num">
                                      <p:cBhvr>
                                        <p:cTn id="64" dur="500" fill="hold"/>
                                        <p:tgtEl>
                                          <p:spTgt spid="6"/>
                                        </p:tgtEl>
                                        <p:attrNameLst>
                                          <p:attrName>ppt_h</p:attrName>
                                        </p:attrNameLst>
                                      </p:cBhvr>
                                      <p:tavLst>
                                        <p:tav tm="0">
                                          <p:val>
                                            <p:fltVal val="0"/>
                                          </p:val>
                                        </p:tav>
                                        <p:tav tm="100000">
                                          <p:val>
                                            <p:strVal val="#ppt_h"/>
                                          </p:val>
                                        </p:tav>
                                      </p:tavLst>
                                    </p:anim>
                                  </p:childTnLst>
                                </p:cTn>
                              </p:par>
                              <p:par>
                                <p:cTn id="65" presetID="23" presetClass="entr" presetSubtype="16" fill="hold" nodeType="withEffect">
                                  <p:stCondLst>
                                    <p:cond delay="0"/>
                                  </p:stCondLst>
                                  <p:childTnLst>
                                    <p:set>
                                      <p:cBhvr>
                                        <p:cTn id="66" dur="1" fill="hold">
                                          <p:stCondLst>
                                            <p:cond delay="0"/>
                                          </p:stCondLst>
                                        </p:cTn>
                                        <p:tgtEl>
                                          <p:spTgt spid="19"/>
                                        </p:tgtEl>
                                        <p:attrNameLst>
                                          <p:attrName>style.visibility</p:attrName>
                                        </p:attrNameLst>
                                      </p:cBhvr>
                                      <p:to>
                                        <p:strVal val="visible"/>
                                      </p:to>
                                    </p:set>
                                    <p:anim calcmode="lin" valueType="num">
                                      <p:cBhvr>
                                        <p:cTn id="67" dur="500" fill="hold"/>
                                        <p:tgtEl>
                                          <p:spTgt spid="19"/>
                                        </p:tgtEl>
                                        <p:attrNameLst>
                                          <p:attrName>ppt_w</p:attrName>
                                        </p:attrNameLst>
                                      </p:cBhvr>
                                      <p:tavLst>
                                        <p:tav tm="0">
                                          <p:val>
                                            <p:fltVal val="0"/>
                                          </p:val>
                                        </p:tav>
                                        <p:tav tm="100000">
                                          <p:val>
                                            <p:strVal val="#ppt_w"/>
                                          </p:val>
                                        </p:tav>
                                      </p:tavLst>
                                    </p:anim>
                                    <p:anim calcmode="lin" valueType="num">
                                      <p:cBhvr>
                                        <p:cTn id="68" dur="500" fill="hold"/>
                                        <p:tgtEl>
                                          <p:spTgt spid="19"/>
                                        </p:tgtEl>
                                        <p:attrNameLst>
                                          <p:attrName>ppt_h</p:attrName>
                                        </p:attrNameLst>
                                      </p:cBhvr>
                                      <p:tavLst>
                                        <p:tav tm="0">
                                          <p:val>
                                            <p:fltVal val="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23" presetClass="entr" presetSubtype="16" fill="hold" grpId="0" nodeType="clickEffect">
                                  <p:stCondLst>
                                    <p:cond delay="0"/>
                                  </p:stCondLst>
                                  <p:childTnLst>
                                    <p:set>
                                      <p:cBhvr>
                                        <p:cTn id="72" dur="1" fill="hold">
                                          <p:stCondLst>
                                            <p:cond delay="0"/>
                                          </p:stCondLst>
                                        </p:cTn>
                                        <p:tgtEl>
                                          <p:spTgt spid="5"/>
                                        </p:tgtEl>
                                        <p:attrNameLst>
                                          <p:attrName>style.visibility</p:attrName>
                                        </p:attrNameLst>
                                      </p:cBhvr>
                                      <p:to>
                                        <p:strVal val="visible"/>
                                      </p:to>
                                    </p:set>
                                    <p:anim calcmode="lin" valueType="num">
                                      <p:cBhvr>
                                        <p:cTn id="73" dur="500" fill="hold"/>
                                        <p:tgtEl>
                                          <p:spTgt spid="5"/>
                                        </p:tgtEl>
                                        <p:attrNameLst>
                                          <p:attrName>ppt_w</p:attrName>
                                        </p:attrNameLst>
                                      </p:cBhvr>
                                      <p:tavLst>
                                        <p:tav tm="0">
                                          <p:val>
                                            <p:fltVal val="0"/>
                                          </p:val>
                                        </p:tav>
                                        <p:tav tm="100000">
                                          <p:val>
                                            <p:strVal val="#ppt_w"/>
                                          </p:val>
                                        </p:tav>
                                      </p:tavLst>
                                    </p:anim>
                                    <p:anim calcmode="lin" valueType="num">
                                      <p:cBhvr>
                                        <p:cTn id="74" dur="500" fill="hold"/>
                                        <p:tgtEl>
                                          <p:spTgt spid="5"/>
                                        </p:tgtEl>
                                        <p:attrNameLst>
                                          <p:attrName>ppt_h</p:attrName>
                                        </p:attrNameLst>
                                      </p:cBhvr>
                                      <p:tavLst>
                                        <p:tav tm="0">
                                          <p:val>
                                            <p:fltVal val="0"/>
                                          </p:val>
                                        </p:tav>
                                        <p:tav tm="100000">
                                          <p:val>
                                            <p:strVal val="#ppt_h"/>
                                          </p:val>
                                        </p:tav>
                                      </p:tavLst>
                                    </p:anim>
                                  </p:childTnLst>
                                </p:cTn>
                              </p:par>
                              <p:par>
                                <p:cTn id="75" presetID="23" presetClass="entr" presetSubtype="16" fill="hold" nodeType="withEffect">
                                  <p:stCondLst>
                                    <p:cond delay="0"/>
                                  </p:stCondLst>
                                  <p:childTnLst>
                                    <p:set>
                                      <p:cBhvr>
                                        <p:cTn id="76" dur="1" fill="hold">
                                          <p:stCondLst>
                                            <p:cond delay="0"/>
                                          </p:stCondLst>
                                        </p:cTn>
                                        <p:tgtEl>
                                          <p:spTgt spid="9"/>
                                        </p:tgtEl>
                                        <p:attrNameLst>
                                          <p:attrName>style.visibility</p:attrName>
                                        </p:attrNameLst>
                                      </p:cBhvr>
                                      <p:to>
                                        <p:strVal val="visible"/>
                                      </p:to>
                                    </p:set>
                                    <p:anim calcmode="lin" valueType="num">
                                      <p:cBhvr>
                                        <p:cTn id="77" dur="500" fill="hold"/>
                                        <p:tgtEl>
                                          <p:spTgt spid="9"/>
                                        </p:tgtEl>
                                        <p:attrNameLst>
                                          <p:attrName>ppt_w</p:attrName>
                                        </p:attrNameLst>
                                      </p:cBhvr>
                                      <p:tavLst>
                                        <p:tav tm="0">
                                          <p:val>
                                            <p:fltVal val="0"/>
                                          </p:val>
                                        </p:tav>
                                        <p:tav tm="100000">
                                          <p:val>
                                            <p:strVal val="#ppt_w"/>
                                          </p:val>
                                        </p:tav>
                                      </p:tavLst>
                                    </p:anim>
                                    <p:anim calcmode="lin" valueType="num">
                                      <p:cBhvr>
                                        <p:cTn id="78"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79" fill="hold">
                      <p:stCondLst>
                        <p:cond delay="indefinite"/>
                      </p:stCondLst>
                      <p:childTnLst>
                        <p:par>
                          <p:cTn id="80" fill="hold">
                            <p:stCondLst>
                              <p:cond delay="0"/>
                            </p:stCondLst>
                            <p:childTnLst>
                              <p:par>
                                <p:cTn id="81" presetID="23" presetClass="entr" presetSubtype="16" fill="hold" grpId="0" nodeType="clickEffect">
                                  <p:stCondLst>
                                    <p:cond delay="0"/>
                                  </p:stCondLst>
                                  <p:childTnLst>
                                    <p:set>
                                      <p:cBhvr>
                                        <p:cTn id="82" dur="1" fill="hold">
                                          <p:stCondLst>
                                            <p:cond delay="0"/>
                                          </p:stCondLst>
                                        </p:cTn>
                                        <p:tgtEl>
                                          <p:spTgt spid="7"/>
                                        </p:tgtEl>
                                        <p:attrNameLst>
                                          <p:attrName>style.visibility</p:attrName>
                                        </p:attrNameLst>
                                      </p:cBhvr>
                                      <p:to>
                                        <p:strVal val="visible"/>
                                      </p:to>
                                    </p:set>
                                    <p:anim calcmode="lin" valueType="num">
                                      <p:cBhvr>
                                        <p:cTn id="83" dur="500" fill="hold"/>
                                        <p:tgtEl>
                                          <p:spTgt spid="7"/>
                                        </p:tgtEl>
                                        <p:attrNameLst>
                                          <p:attrName>ppt_w</p:attrName>
                                        </p:attrNameLst>
                                      </p:cBhvr>
                                      <p:tavLst>
                                        <p:tav tm="0">
                                          <p:val>
                                            <p:fltVal val="0"/>
                                          </p:val>
                                        </p:tav>
                                        <p:tav tm="100000">
                                          <p:val>
                                            <p:strVal val="#ppt_w"/>
                                          </p:val>
                                        </p:tav>
                                      </p:tavLst>
                                    </p:anim>
                                    <p:anim calcmode="lin" valueType="num">
                                      <p:cBhvr>
                                        <p:cTn id="84" dur="500" fill="hold"/>
                                        <p:tgtEl>
                                          <p:spTgt spid="7"/>
                                        </p:tgtEl>
                                        <p:attrNameLst>
                                          <p:attrName>ppt_h</p:attrName>
                                        </p:attrNameLst>
                                      </p:cBhvr>
                                      <p:tavLst>
                                        <p:tav tm="0">
                                          <p:val>
                                            <p:fltVal val="0"/>
                                          </p:val>
                                        </p:tav>
                                        <p:tav tm="100000">
                                          <p:val>
                                            <p:strVal val="#ppt_h"/>
                                          </p:val>
                                        </p:tav>
                                      </p:tavLst>
                                    </p:anim>
                                  </p:childTnLst>
                                </p:cTn>
                              </p:par>
                              <p:par>
                                <p:cTn id="85" presetID="23" presetClass="entr" presetSubtype="16" fill="hold" nodeType="withEffect">
                                  <p:stCondLst>
                                    <p:cond delay="0"/>
                                  </p:stCondLst>
                                  <p:childTnLst>
                                    <p:set>
                                      <p:cBhvr>
                                        <p:cTn id="86" dur="1" fill="hold">
                                          <p:stCondLst>
                                            <p:cond delay="0"/>
                                          </p:stCondLst>
                                        </p:cTn>
                                        <p:tgtEl>
                                          <p:spTgt spid="11"/>
                                        </p:tgtEl>
                                        <p:attrNameLst>
                                          <p:attrName>style.visibility</p:attrName>
                                        </p:attrNameLst>
                                      </p:cBhvr>
                                      <p:to>
                                        <p:strVal val="visible"/>
                                      </p:to>
                                    </p:set>
                                    <p:anim calcmode="lin" valueType="num">
                                      <p:cBhvr>
                                        <p:cTn id="87" dur="500" fill="hold"/>
                                        <p:tgtEl>
                                          <p:spTgt spid="11"/>
                                        </p:tgtEl>
                                        <p:attrNameLst>
                                          <p:attrName>ppt_w</p:attrName>
                                        </p:attrNameLst>
                                      </p:cBhvr>
                                      <p:tavLst>
                                        <p:tav tm="0">
                                          <p:val>
                                            <p:fltVal val="0"/>
                                          </p:val>
                                        </p:tav>
                                        <p:tav tm="100000">
                                          <p:val>
                                            <p:strVal val="#ppt_w"/>
                                          </p:val>
                                        </p:tav>
                                      </p:tavLst>
                                    </p:anim>
                                    <p:anim calcmode="lin" valueType="num">
                                      <p:cBhvr>
                                        <p:cTn id="88"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89" fill="hold">
                      <p:stCondLst>
                        <p:cond delay="indefinite"/>
                      </p:stCondLst>
                      <p:childTnLst>
                        <p:par>
                          <p:cTn id="90" fill="hold">
                            <p:stCondLst>
                              <p:cond delay="0"/>
                            </p:stCondLst>
                            <p:childTnLst>
                              <p:par>
                                <p:cTn id="91" presetID="23" presetClass="entr" presetSubtype="16" fill="hold" grpId="0" nodeType="clickEffect">
                                  <p:stCondLst>
                                    <p:cond delay="0"/>
                                  </p:stCondLst>
                                  <p:childTnLst>
                                    <p:set>
                                      <p:cBhvr>
                                        <p:cTn id="92" dur="1" fill="hold">
                                          <p:stCondLst>
                                            <p:cond delay="0"/>
                                          </p:stCondLst>
                                        </p:cTn>
                                        <p:tgtEl>
                                          <p:spTgt spid="3"/>
                                        </p:tgtEl>
                                        <p:attrNameLst>
                                          <p:attrName>style.visibility</p:attrName>
                                        </p:attrNameLst>
                                      </p:cBhvr>
                                      <p:to>
                                        <p:strVal val="visible"/>
                                      </p:to>
                                    </p:set>
                                    <p:anim calcmode="lin" valueType="num">
                                      <p:cBhvr>
                                        <p:cTn id="93" dur="500" fill="hold"/>
                                        <p:tgtEl>
                                          <p:spTgt spid="3"/>
                                        </p:tgtEl>
                                        <p:attrNameLst>
                                          <p:attrName>ppt_w</p:attrName>
                                        </p:attrNameLst>
                                      </p:cBhvr>
                                      <p:tavLst>
                                        <p:tav tm="0">
                                          <p:val>
                                            <p:fltVal val="0"/>
                                          </p:val>
                                        </p:tav>
                                        <p:tav tm="100000">
                                          <p:val>
                                            <p:strVal val="#ppt_w"/>
                                          </p:val>
                                        </p:tav>
                                      </p:tavLst>
                                    </p:anim>
                                    <p:anim calcmode="lin" valueType="num">
                                      <p:cBhvr>
                                        <p:cTn id="94" dur="500" fill="hold"/>
                                        <p:tgtEl>
                                          <p:spTgt spid="3"/>
                                        </p:tgtEl>
                                        <p:attrNameLst>
                                          <p:attrName>ppt_h</p:attrName>
                                        </p:attrNameLst>
                                      </p:cBhvr>
                                      <p:tavLst>
                                        <p:tav tm="0">
                                          <p:val>
                                            <p:fltVal val="0"/>
                                          </p:val>
                                        </p:tav>
                                        <p:tav tm="100000">
                                          <p:val>
                                            <p:strVal val="#ppt_h"/>
                                          </p:val>
                                        </p:tav>
                                      </p:tavLst>
                                    </p:anim>
                                  </p:childTnLst>
                                </p:cTn>
                              </p:par>
                              <p:par>
                                <p:cTn id="95" presetID="23" presetClass="entr" presetSubtype="16" fill="hold" nodeType="withEffect">
                                  <p:stCondLst>
                                    <p:cond delay="0"/>
                                  </p:stCondLst>
                                  <p:childTnLst>
                                    <p:set>
                                      <p:cBhvr>
                                        <p:cTn id="96" dur="1" fill="hold">
                                          <p:stCondLst>
                                            <p:cond delay="0"/>
                                          </p:stCondLst>
                                        </p:cTn>
                                        <p:tgtEl>
                                          <p:spTgt spid="8"/>
                                        </p:tgtEl>
                                        <p:attrNameLst>
                                          <p:attrName>style.visibility</p:attrName>
                                        </p:attrNameLst>
                                      </p:cBhvr>
                                      <p:to>
                                        <p:strVal val="visible"/>
                                      </p:to>
                                    </p:set>
                                    <p:anim calcmode="lin" valueType="num">
                                      <p:cBhvr>
                                        <p:cTn id="97" dur="500" fill="hold"/>
                                        <p:tgtEl>
                                          <p:spTgt spid="8"/>
                                        </p:tgtEl>
                                        <p:attrNameLst>
                                          <p:attrName>ppt_w</p:attrName>
                                        </p:attrNameLst>
                                      </p:cBhvr>
                                      <p:tavLst>
                                        <p:tav tm="0">
                                          <p:val>
                                            <p:fltVal val="0"/>
                                          </p:val>
                                        </p:tav>
                                        <p:tav tm="100000">
                                          <p:val>
                                            <p:strVal val="#ppt_w"/>
                                          </p:val>
                                        </p:tav>
                                      </p:tavLst>
                                    </p:anim>
                                    <p:anim calcmode="lin" valueType="num">
                                      <p:cBhvr>
                                        <p:cTn id="98" dur="500" fill="hold"/>
                                        <p:tgtEl>
                                          <p:spTgt spid="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5" grpId="0" animBg="1"/>
      <p:bldP spid="17" grpId="0" animBg="1"/>
      <p:bldP spid="16" grpId="0" animBg="1"/>
      <p:bldP spid="3" grpId="0" animBg="1"/>
      <p:bldP spid="5" grpId="0" animBg="1"/>
      <p:bldP spid="7" grpId="0" animBg="1"/>
      <p:bldP spid="1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Content Placeholder 5">
            <a:extLst>
              <a:ext uri="{FF2B5EF4-FFF2-40B4-BE49-F238E27FC236}">
                <a16:creationId xmlns:a16="http://schemas.microsoft.com/office/drawing/2014/main" id="{2D7256AC-BEB9-4DA8-A741-EDADA93C2F49}"/>
              </a:ext>
            </a:extLst>
          </p:cNvPr>
          <p:cNvSpPr>
            <a:spLocks noGrp="1"/>
          </p:cNvSpPr>
          <p:nvPr>
            <p:ph idx="1"/>
          </p:nvPr>
        </p:nvSpPr>
        <p:spPr>
          <a:xfrm>
            <a:off x="686840" y="1471351"/>
            <a:ext cx="10818321" cy="2358372"/>
          </a:xfrm>
        </p:spPr>
        <p:txBody>
          <a:bodyPr/>
          <a:lstStyle/>
          <a:p>
            <a:pPr marL="0" indent="0" algn="ctr">
              <a:lnSpc>
                <a:spcPct val="100000"/>
              </a:lnSpc>
              <a:buNone/>
            </a:pPr>
            <a:r>
              <a:rPr lang="en-US" sz="3600" b="0">
                <a:solidFill>
                  <a:schemeClr val="tx1"/>
                </a:solidFill>
              </a:rPr>
              <a:t>After decades of focusing on network </a:t>
            </a:r>
            <a:r>
              <a:rPr lang="en-US" sz="3600">
                <a:solidFill>
                  <a:schemeClr val="accent4"/>
                </a:solidFill>
              </a:rPr>
              <a:t>performance and features</a:t>
            </a:r>
            <a:r>
              <a:rPr lang="en-US" sz="3600" b="0"/>
              <a:t>, </a:t>
            </a:r>
            <a:r>
              <a:rPr lang="en-US" sz="3600" b="0">
                <a:solidFill>
                  <a:schemeClr val="tx1"/>
                </a:solidFill>
              </a:rPr>
              <a:t>future network innovation will target </a:t>
            </a:r>
            <a:r>
              <a:rPr lang="en-US" sz="3600">
                <a:solidFill>
                  <a:schemeClr val="accent1"/>
                </a:solidFill>
              </a:rPr>
              <a:t>operational simplicity, automation, reliability </a:t>
            </a:r>
            <a:r>
              <a:rPr lang="en-US" sz="3600" b="0"/>
              <a:t>and </a:t>
            </a:r>
            <a:r>
              <a:rPr lang="en-US" sz="3600">
                <a:solidFill>
                  <a:schemeClr val="accent1"/>
                </a:solidFill>
              </a:rPr>
              <a:t>flexible</a:t>
            </a:r>
            <a:r>
              <a:rPr lang="en-US" sz="3600" b="0"/>
              <a:t> business models.</a:t>
            </a:r>
          </a:p>
        </p:txBody>
      </p:sp>
      <p:sp>
        <p:nvSpPr>
          <p:cNvPr id="4" name="Slide Number Placeholder 3">
            <a:extLst>
              <a:ext uri="{FF2B5EF4-FFF2-40B4-BE49-F238E27FC236}">
                <a16:creationId xmlns:a16="http://schemas.microsoft.com/office/drawing/2014/main" id="{CDE514C7-71E7-4967-8CD9-C3B6975A09DF}"/>
              </a:ext>
            </a:extLst>
          </p:cNvPr>
          <p:cNvSpPr>
            <a:spLocks noGrp="1"/>
          </p:cNvSpPr>
          <p:nvPr>
            <p:ph type="sldNum" sz="quarter" idx="4"/>
          </p:nvPr>
        </p:nvSpPr>
        <p:spPr>
          <a:xfrm>
            <a:off x="11720468" y="6518553"/>
            <a:ext cx="408632" cy="244661"/>
          </a:xfrm>
        </p:spPr>
        <p:txBody>
          <a:bodyPr/>
          <a:lstStyle/>
          <a:p>
            <a:r>
              <a:rPr lang="en-US"/>
              <a:t>| </a:t>
            </a:r>
            <a:fld id="{FEC5E14B-9965-442C-8683-0E66DD8427DC}" type="slidenum">
              <a:rPr lang="en-US" smtClean="0"/>
              <a:pPr/>
              <a:t>3</a:t>
            </a:fld>
            <a:endParaRPr lang="en-US"/>
          </a:p>
        </p:txBody>
      </p:sp>
      <p:pic>
        <p:nvPicPr>
          <p:cNvPr id="6" name="Picture 5">
            <a:extLst>
              <a:ext uri="{FF2B5EF4-FFF2-40B4-BE49-F238E27FC236}">
                <a16:creationId xmlns:a16="http://schemas.microsoft.com/office/drawing/2014/main" id="{FA3CD202-4ED7-5E4D-B1BE-EC0921BF12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0103" y="4205298"/>
            <a:ext cx="1191795" cy="276999"/>
          </a:xfrm>
          <a:prstGeom prst="rect">
            <a:avLst/>
          </a:prstGeom>
        </p:spPr>
      </p:pic>
      <p:sp>
        <p:nvSpPr>
          <p:cNvPr id="2" name="TextBox 1">
            <a:extLst>
              <a:ext uri="{FF2B5EF4-FFF2-40B4-BE49-F238E27FC236}">
                <a16:creationId xmlns:a16="http://schemas.microsoft.com/office/drawing/2014/main" id="{7809BD54-1DF9-2F49-9B8D-9B9D6387B907}"/>
              </a:ext>
            </a:extLst>
          </p:cNvPr>
          <p:cNvSpPr txBox="1"/>
          <p:nvPr/>
        </p:nvSpPr>
        <p:spPr>
          <a:xfrm>
            <a:off x="4373306" y="4514427"/>
            <a:ext cx="3445389" cy="261610"/>
          </a:xfrm>
          <a:prstGeom prst="rect">
            <a:avLst/>
          </a:prstGeom>
          <a:noFill/>
        </p:spPr>
        <p:txBody>
          <a:bodyPr wrap="square" rtlCol="0">
            <a:spAutoFit/>
          </a:bodyPr>
          <a:lstStyle/>
          <a:p>
            <a:pPr algn="ctr"/>
            <a:r>
              <a:rPr lang="en-US" sz="1100"/>
              <a:t>Strategic roadmap for networking 2019</a:t>
            </a:r>
          </a:p>
        </p:txBody>
      </p:sp>
    </p:spTree>
    <p:extLst>
      <p:ext uri="{BB962C8B-B14F-4D97-AF65-F5344CB8AC3E}">
        <p14:creationId xmlns:p14="http://schemas.microsoft.com/office/powerpoint/2010/main" val="302235966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C045FA2-5E6A-874D-95C4-9B23FD36FD9A}"/>
              </a:ext>
            </a:extLst>
          </p:cNvPr>
          <p:cNvSpPr>
            <a:spLocks noGrp="1"/>
          </p:cNvSpPr>
          <p:nvPr>
            <p:ph type="title"/>
          </p:nvPr>
        </p:nvSpPr>
        <p:spPr/>
        <p:txBody>
          <a:bodyPr/>
          <a:lstStyle/>
          <a:p>
            <a:r>
              <a:rPr lang="en-US"/>
              <a:t>The Emergence of Convergence</a:t>
            </a:r>
          </a:p>
        </p:txBody>
      </p:sp>
      <p:sp>
        <p:nvSpPr>
          <p:cNvPr id="2" name="Slide Number Placeholder 1">
            <a:extLst>
              <a:ext uri="{FF2B5EF4-FFF2-40B4-BE49-F238E27FC236}">
                <a16:creationId xmlns:a16="http://schemas.microsoft.com/office/drawing/2014/main" id="{D47AEFA8-8E22-4548-9FE8-48FBD4F7F54D}"/>
              </a:ext>
            </a:extLst>
          </p:cNvPr>
          <p:cNvSpPr>
            <a:spLocks noGrp="1"/>
          </p:cNvSpPr>
          <p:nvPr>
            <p:ph type="sldNum" sz="quarter" idx="12"/>
          </p:nvPr>
        </p:nvSpPr>
        <p:spPr/>
        <p:txBody>
          <a:bodyPr/>
          <a:lstStyle/>
          <a:p>
            <a:r>
              <a:rPr lang="en-US"/>
              <a:t>| </a:t>
            </a:r>
            <a:fld id="{FEC5E14B-9965-442C-8683-0E66DD8427DC}" type="slidenum">
              <a:rPr lang="en-US" smtClean="0"/>
              <a:pPr/>
              <a:t>4</a:t>
            </a:fld>
            <a:endParaRPr lang="en-US"/>
          </a:p>
        </p:txBody>
      </p:sp>
      <p:sp>
        <p:nvSpPr>
          <p:cNvPr id="7" name="Text Placeholder 6">
            <a:extLst>
              <a:ext uri="{FF2B5EF4-FFF2-40B4-BE49-F238E27FC236}">
                <a16:creationId xmlns:a16="http://schemas.microsoft.com/office/drawing/2014/main" id="{59BB0C81-E669-2E42-B7C6-1B2DFF525E6F}"/>
              </a:ext>
            </a:extLst>
          </p:cNvPr>
          <p:cNvSpPr>
            <a:spLocks noGrp="1"/>
          </p:cNvSpPr>
          <p:nvPr>
            <p:ph type="body" sz="quarter" idx="13"/>
          </p:nvPr>
        </p:nvSpPr>
        <p:spPr/>
        <p:txBody>
          <a:bodyPr/>
          <a:lstStyle/>
          <a:p>
            <a:r>
              <a:rPr lang="en-US"/>
              <a:t>With the Secure Access Service Edge (SASE)</a:t>
            </a:r>
          </a:p>
        </p:txBody>
      </p:sp>
      <p:pic>
        <p:nvPicPr>
          <p:cNvPr id="5" name="Picture 4">
            <a:extLst>
              <a:ext uri="{FF2B5EF4-FFF2-40B4-BE49-F238E27FC236}">
                <a16:creationId xmlns:a16="http://schemas.microsoft.com/office/drawing/2014/main" id="{87005F74-402A-C44E-9B40-8B5E04F755D9}"/>
              </a:ext>
            </a:extLst>
          </p:cNvPr>
          <p:cNvPicPr>
            <a:picLocks noChangeAspect="1"/>
          </p:cNvPicPr>
          <p:nvPr/>
        </p:nvPicPr>
        <p:blipFill>
          <a:blip r:embed="rId3"/>
          <a:stretch>
            <a:fillRect/>
          </a:stretch>
        </p:blipFill>
        <p:spPr>
          <a:xfrm>
            <a:off x="6732240" y="1522244"/>
            <a:ext cx="4666088" cy="3539293"/>
          </a:xfrm>
          <a:prstGeom prst="rect">
            <a:avLst/>
          </a:prstGeom>
        </p:spPr>
      </p:pic>
      <p:pic>
        <p:nvPicPr>
          <p:cNvPr id="10" name="Graphic 9">
            <a:extLst>
              <a:ext uri="{FF2B5EF4-FFF2-40B4-BE49-F238E27FC236}">
                <a16:creationId xmlns:a16="http://schemas.microsoft.com/office/drawing/2014/main" id="{2F690EEF-75B6-CF4C-BEE8-CF662ACC9FA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79352" y="3892169"/>
            <a:ext cx="1259215" cy="286301"/>
          </a:xfrm>
          <a:prstGeom prst="rect">
            <a:avLst/>
          </a:prstGeom>
        </p:spPr>
      </p:pic>
      <p:sp>
        <p:nvSpPr>
          <p:cNvPr id="11" name="Content Placeholder 7">
            <a:extLst>
              <a:ext uri="{FF2B5EF4-FFF2-40B4-BE49-F238E27FC236}">
                <a16:creationId xmlns:a16="http://schemas.microsoft.com/office/drawing/2014/main" id="{56769A65-33CE-CD40-B5FF-AD81ED25B8FC}"/>
              </a:ext>
            </a:extLst>
          </p:cNvPr>
          <p:cNvSpPr txBox="1">
            <a:spLocks/>
          </p:cNvSpPr>
          <p:nvPr/>
        </p:nvSpPr>
        <p:spPr>
          <a:xfrm>
            <a:off x="568889" y="1522244"/>
            <a:ext cx="5229483" cy="265622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accent1"/>
                </a:solidFill>
                <a:latin typeface="+mn-lt"/>
                <a:ea typeface="+mn-ea"/>
                <a:cs typeface="+mn-cs"/>
              </a:defRPr>
            </a:lvl1pPr>
            <a:lvl2pPr marL="457200" indent="-223838" algn="l" defTabSz="914400" rtl="0" eaLnBrk="1" latinLnBrk="0" hangingPunct="1">
              <a:lnSpc>
                <a:spcPct val="90000"/>
              </a:lnSpc>
              <a:spcBef>
                <a:spcPts val="500"/>
              </a:spcBef>
              <a:buFont typeface="Wingdings" pitchFamily="2" charset="2"/>
              <a:buChar char="§"/>
              <a:defRPr sz="2400" b="0" kern="1200">
                <a:solidFill>
                  <a:schemeClr val="tx1"/>
                </a:solidFill>
                <a:latin typeface="+mn-lt"/>
                <a:ea typeface="+mn-ea"/>
                <a:cs typeface="+mn-cs"/>
              </a:defRPr>
            </a:lvl2pPr>
            <a:lvl3pPr marL="690563" indent="-233363" algn="l" defTabSz="914400" rtl="0" eaLnBrk="1" latinLnBrk="0" hangingPunct="1">
              <a:lnSpc>
                <a:spcPct val="90000"/>
              </a:lnSpc>
              <a:spcBef>
                <a:spcPts val="500"/>
              </a:spcBef>
              <a:buFont typeface="Wingdings" pitchFamily="2" charset="2"/>
              <a:buChar char="§"/>
              <a:defRPr sz="2000" b="0" kern="1200">
                <a:solidFill>
                  <a:schemeClr val="tx1"/>
                </a:solidFill>
                <a:latin typeface="+mn-lt"/>
                <a:ea typeface="+mn-ea"/>
                <a:cs typeface="+mn-cs"/>
              </a:defRPr>
            </a:lvl3pPr>
            <a:lvl4pPr marL="914400" indent="-223838" algn="l" defTabSz="914400" rtl="0" eaLnBrk="1" latinLnBrk="0" hangingPunct="1">
              <a:lnSpc>
                <a:spcPct val="90000"/>
              </a:lnSpc>
              <a:spcBef>
                <a:spcPts val="500"/>
              </a:spcBef>
              <a:buFont typeface="Wingdings" pitchFamily="2" charset="2"/>
              <a:buChar char="§"/>
              <a:defRPr sz="1800" b="0" kern="1200">
                <a:solidFill>
                  <a:schemeClr val="tx1"/>
                </a:solidFill>
                <a:latin typeface="+mn-lt"/>
                <a:ea typeface="+mn-ea"/>
                <a:cs typeface="+mn-cs"/>
              </a:defRPr>
            </a:lvl4pPr>
            <a:lvl5pPr marL="862013" indent="-23495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231775">
              <a:lnSpc>
                <a:spcPts val="3200"/>
              </a:lnSpc>
              <a:spcBef>
                <a:spcPts val="0"/>
              </a:spcBef>
              <a:buNone/>
            </a:pPr>
            <a:r>
              <a:rPr lang="en-US" sz="2400" i="1">
                <a:solidFill>
                  <a:schemeClr val="tx1"/>
                </a:solidFill>
              </a:rPr>
              <a:t>“	Customer demands for simplicity,</a:t>
            </a:r>
          </a:p>
          <a:p>
            <a:pPr marL="225425" indent="0" defTabSz="231775">
              <a:lnSpc>
                <a:spcPts val="3200"/>
              </a:lnSpc>
              <a:spcBef>
                <a:spcPts val="0"/>
              </a:spcBef>
              <a:buNone/>
            </a:pPr>
            <a:r>
              <a:rPr lang="en-US" sz="2400" i="1">
                <a:solidFill>
                  <a:schemeClr val="tx1"/>
                </a:solidFill>
              </a:rPr>
              <a:t>scalability, flexibility, low latency and pervasive security force </a:t>
            </a:r>
            <a:r>
              <a:rPr lang="en-US" sz="2400" b="1" i="1"/>
              <a:t>convergence</a:t>
            </a:r>
            <a:r>
              <a:rPr lang="en-US" sz="2400" i="1">
                <a:solidFill>
                  <a:schemeClr val="tx1"/>
                </a:solidFill>
              </a:rPr>
              <a:t> of the </a:t>
            </a:r>
            <a:r>
              <a:rPr lang="en-US" sz="2400" b="1" i="1">
                <a:solidFill>
                  <a:schemeClr val="tx1"/>
                </a:solidFill>
              </a:rPr>
              <a:t>WAN edge </a:t>
            </a:r>
            <a:r>
              <a:rPr lang="en-US" sz="2400" i="1">
                <a:solidFill>
                  <a:schemeClr val="tx1"/>
                </a:solidFill>
              </a:rPr>
              <a:t>and </a:t>
            </a:r>
            <a:r>
              <a:rPr lang="en-US" sz="2400" b="1" i="1">
                <a:solidFill>
                  <a:schemeClr val="tx1"/>
                </a:solidFill>
              </a:rPr>
              <a:t>network security </a:t>
            </a:r>
            <a:r>
              <a:rPr lang="en-US" sz="2400" i="1">
                <a:solidFill>
                  <a:schemeClr val="tx1"/>
                </a:solidFill>
              </a:rPr>
              <a:t>markets”.</a:t>
            </a:r>
          </a:p>
        </p:txBody>
      </p:sp>
      <p:sp>
        <p:nvSpPr>
          <p:cNvPr id="8" name="TextBox 7">
            <a:extLst>
              <a:ext uri="{FF2B5EF4-FFF2-40B4-BE49-F238E27FC236}">
                <a16:creationId xmlns:a16="http://schemas.microsoft.com/office/drawing/2014/main" id="{2BDD5807-0DD6-4EF0-8D4B-EC957E3E11B6}"/>
              </a:ext>
            </a:extLst>
          </p:cNvPr>
          <p:cNvSpPr txBox="1"/>
          <p:nvPr/>
        </p:nvSpPr>
        <p:spPr>
          <a:xfrm>
            <a:off x="793672" y="4273901"/>
            <a:ext cx="3405795" cy="430887"/>
          </a:xfrm>
          <a:prstGeom prst="rect">
            <a:avLst/>
          </a:prstGeom>
          <a:noFill/>
        </p:spPr>
        <p:txBody>
          <a:bodyPr wrap="square" rtlCol="0">
            <a:spAutoFit/>
          </a:bodyPr>
          <a:lstStyle/>
          <a:p>
            <a:r>
              <a:rPr lang="en-US" sz="1100"/>
              <a:t>Market Trends: How to Win as WAN Edge and Security Converge Into the Secure Access Service Edge, 2019</a:t>
            </a:r>
            <a:endParaRPr lang="en-US" sz="1050"/>
          </a:p>
        </p:txBody>
      </p:sp>
    </p:spTree>
    <p:extLst>
      <p:ext uri="{BB962C8B-B14F-4D97-AF65-F5344CB8AC3E}">
        <p14:creationId xmlns:p14="http://schemas.microsoft.com/office/powerpoint/2010/main" val="479498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Arrow Connector 7">
            <a:extLst>
              <a:ext uri="{FF2B5EF4-FFF2-40B4-BE49-F238E27FC236}">
                <a16:creationId xmlns:a16="http://schemas.microsoft.com/office/drawing/2014/main" id="{518B7DAA-0744-251D-4702-5E194D2A5A52}"/>
              </a:ext>
            </a:extLst>
          </p:cNvPr>
          <p:cNvCxnSpPr>
            <a:cxnSpLocks/>
            <a:endCxn id="9" idx="2"/>
          </p:cNvCxnSpPr>
          <p:nvPr/>
        </p:nvCxnSpPr>
        <p:spPr>
          <a:xfrm flipV="1">
            <a:off x="10599045" y="1533984"/>
            <a:ext cx="0" cy="835594"/>
          </a:xfrm>
          <a:prstGeom prst="straightConnector1">
            <a:avLst/>
          </a:prstGeom>
          <a:ln>
            <a:solidFill>
              <a:schemeClr val="tx1">
                <a:lumMod val="25000"/>
                <a:lumOff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6E26AFE-A9BB-39F7-032A-ECE262FA13BD}"/>
              </a:ext>
            </a:extLst>
          </p:cNvPr>
          <p:cNvCxnSpPr>
            <a:cxnSpLocks/>
            <a:endCxn id="14" idx="2"/>
          </p:cNvCxnSpPr>
          <p:nvPr/>
        </p:nvCxnSpPr>
        <p:spPr>
          <a:xfrm flipV="1">
            <a:off x="1242268" y="1545977"/>
            <a:ext cx="0" cy="915147"/>
          </a:xfrm>
          <a:prstGeom prst="straightConnector1">
            <a:avLst/>
          </a:prstGeom>
          <a:ln>
            <a:solidFill>
              <a:schemeClr val="tx1">
                <a:lumMod val="25000"/>
                <a:lumOff val="7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67" name="Group 51">
            <a:extLst>
              <a:ext uri="{FF2B5EF4-FFF2-40B4-BE49-F238E27FC236}">
                <a16:creationId xmlns:a16="http://schemas.microsoft.com/office/drawing/2014/main" id="{EB550C6F-FB70-6835-557F-6A946E8C0898}"/>
              </a:ext>
            </a:extLst>
          </p:cNvPr>
          <p:cNvGrpSpPr/>
          <p:nvPr/>
        </p:nvGrpSpPr>
        <p:grpSpPr>
          <a:xfrm>
            <a:off x="8286169" y="1008447"/>
            <a:ext cx="1439186" cy="1779580"/>
            <a:chOff x="8286169" y="1008447"/>
            <a:chExt cx="1439186" cy="1779580"/>
          </a:xfrm>
        </p:grpSpPr>
        <p:grpSp>
          <p:nvGrpSpPr>
            <p:cNvPr id="111" name="Group 110">
              <a:extLst>
                <a:ext uri="{FF2B5EF4-FFF2-40B4-BE49-F238E27FC236}">
                  <a16:creationId xmlns:a16="http://schemas.microsoft.com/office/drawing/2014/main" id="{817F0B99-E824-134E-A8A0-76C8AE786204}"/>
                </a:ext>
              </a:extLst>
            </p:cNvPr>
            <p:cNvGrpSpPr/>
            <p:nvPr/>
          </p:nvGrpSpPr>
          <p:grpSpPr>
            <a:xfrm>
              <a:off x="8964777" y="1533984"/>
              <a:ext cx="81971" cy="1254043"/>
              <a:chOff x="2784620" y="1533984"/>
              <a:chExt cx="81971" cy="1254043"/>
            </a:xfrm>
          </p:grpSpPr>
          <p:sp>
            <p:nvSpPr>
              <p:cNvPr id="112" name="Oval 111">
                <a:extLst>
                  <a:ext uri="{FF2B5EF4-FFF2-40B4-BE49-F238E27FC236}">
                    <a16:creationId xmlns:a16="http://schemas.microsoft.com/office/drawing/2014/main" id="{8DEF7047-B5E2-958C-0BA6-BABD0B7CF7AF}"/>
                  </a:ext>
                </a:extLst>
              </p:cNvPr>
              <p:cNvSpPr/>
              <p:nvPr/>
            </p:nvSpPr>
            <p:spPr>
              <a:xfrm>
                <a:off x="2784620" y="2706056"/>
                <a:ext cx="81971" cy="81971"/>
              </a:xfrm>
              <a:prstGeom prst="ellipse">
                <a:avLst/>
              </a:prstGeom>
              <a:solidFill>
                <a:schemeClr val="tx1">
                  <a:lumMod val="25000"/>
                  <a:lumOff val="75000"/>
                </a:schemeClr>
              </a:solidFill>
              <a:ln>
                <a:solidFill>
                  <a:schemeClr val="tx1">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13" name="Straight Arrow Connector 112">
                <a:extLst>
                  <a:ext uri="{FF2B5EF4-FFF2-40B4-BE49-F238E27FC236}">
                    <a16:creationId xmlns:a16="http://schemas.microsoft.com/office/drawing/2014/main" id="{445F7A04-7FC8-A21B-1B5C-145DCE8D0F5F}"/>
                  </a:ext>
                </a:extLst>
              </p:cNvPr>
              <p:cNvCxnSpPr>
                <a:cxnSpLocks/>
                <a:endCxn id="89" idx="2"/>
              </p:cNvCxnSpPr>
              <p:nvPr/>
            </p:nvCxnSpPr>
            <p:spPr>
              <a:xfrm flipV="1">
                <a:off x="2825605" y="1533984"/>
                <a:ext cx="0" cy="835594"/>
              </a:xfrm>
              <a:prstGeom prst="straightConnector1">
                <a:avLst/>
              </a:prstGeom>
              <a:ln>
                <a:solidFill>
                  <a:schemeClr val="tx1">
                    <a:lumMod val="25000"/>
                    <a:lumOff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89" name="Rectangle 88">
              <a:extLst>
                <a:ext uri="{FF2B5EF4-FFF2-40B4-BE49-F238E27FC236}">
                  <a16:creationId xmlns:a16="http://schemas.microsoft.com/office/drawing/2014/main" id="{D033038B-B15D-9937-065F-662E7993E9AC}"/>
                </a:ext>
              </a:extLst>
            </p:cNvPr>
            <p:cNvSpPr/>
            <p:nvPr/>
          </p:nvSpPr>
          <p:spPr>
            <a:xfrm>
              <a:off x="8286169" y="1008447"/>
              <a:ext cx="1439186" cy="525537"/>
            </a:xfrm>
            <a:prstGeom prst="rect">
              <a:avLst/>
            </a:prstGeom>
            <a:solidFill>
              <a:srgbClr val="E7F3EF"/>
            </a:solidFill>
            <a:ln>
              <a:noFill/>
            </a:ln>
          </p:spPr>
          <p:txBody>
            <a:bodyPr wrap="square" rtlCol="0" anchor="ctr" anchorCtr="0">
              <a:noAutofit/>
            </a:bodyPr>
            <a:lstStyle/>
            <a:p>
              <a:pPr algn="ctr"/>
              <a:r>
                <a:rPr lang="en-US" sz="1200" b="1">
                  <a:solidFill>
                    <a:srgbClr val="222C33">
                      <a:lumMod val="75000"/>
                      <a:lumOff val="25000"/>
                    </a:srgbClr>
                  </a:solidFill>
                  <a:latin typeface="Calibri" panose="020F0502020204030204"/>
                </a:rPr>
                <a:t>Costs</a:t>
              </a:r>
            </a:p>
            <a:p>
              <a:pPr algn="ctr"/>
              <a:r>
                <a:rPr lang="en-US" sz="1200" b="1">
                  <a:solidFill>
                    <a:srgbClr val="222C33">
                      <a:lumMod val="75000"/>
                      <a:lumOff val="25000"/>
                    </a:srgbClr>
                  </a:solidFill>
                  <a:latin typeface="Calibri" panose="020F0502020204030204"/>
                </a:rPr>
                <a:t>Control</a:t>
              </a:r>
            </a:p>
          </p:txBody>
        </p:sp>
      </p:grpSp>
      <p:grpSp>
        <p:nvGrpSpPr>
          <p:cNvPr id="165" name="Group 47">
            <a:extLst>
              <a:ext uri="{FF2B5EF4-FFF2-40B4-BE49-F238E27FC236}">
                <a16:creationId xmlns:a16="http://schemas.microsoft.com/office/drawing/2014/main" id="{B5AB3227-7C42-BB01-9619-35BE4AE16D6A}"/>
              </a:ext>
            </a:extLst>
          </p:cNvPr>
          <p:cNvGrpSpPr/>
          <p:nvPr/>
        </p:nvGrpSpPr>
        <p:grpSpPr>
          <a:xfrm>
            <a:off x="6702832" y="1020440"/>
            <a:ext cx="1439186" cy="1727923"/>
            <a:chOff x="6702832" y="1020440"/>
            <a:chExt cx="1439186" cy="1727923"/>
          </a:xfrm>
        </p:grpSpPr>
        <p:grpSp>
          <p:nvGrpSpPr>
            <p:cNvPr id="107" name="Group 106">
              <a:extLst>
                <a:ext uri="{FF2B5EF4-FFF2-40B4-BE49-F238E27FC236}">
                  <a16:creationId xmlns:a16="http://schemas.microsoft.com/office/drawing/2014/main" id="{0BE016CA-4B5F-9F1C-C5A9-149F3484D15A}"/>
                </a:ext>
              </a:extLst>
            </p:cNvPr>
            <p:cNvGrpSpPr/>
            <p:nvPr/>
          </p:nvGrpSpPr>
          <p:grpSpPr>
            <a:xfrm>
              <a:off x="7381440" y="1545977"/>
              <a:ext cx="81971" cy="1202386"/>
              <a:chOff x="2784620" y="1545977"/>
              <a:chExt cx="81971" cy="1202386"/>
            </a:xfrm>
          </p:grpSpPr>
          <p:sp>
            <p:nvSpPr>
              <p:cNvPr id="108" name="Oval 107">
                <a:extLst>
                  <a:ext uri="{FF2B5EF4-FFF2-40B4-BE49-F238E27FC236}">
                    <a16:creationId xmlns:a16="http://schemas.microsoft.com/office/drawing/2014/main" id="{C798FB12-3B3D-F035-9668-DCD4F1423F20}"/>
                  </a:ext>
                </a:extLst>
              </p:cNvPr>
              <p:cNvSpPr/>
              <p:nvPr/>
            </p:nvSpPr>
            <p:spPr>
              <a:xfrm>
                <a:off x="2784620" y="2666392"/>
                <a:ext cx="81971" cy="81971"/>
              </a:xfrm>
              <a:prstGeom prst="ellipse">
                <a:avLst/>
              </a:prstGeom>
              <a:solidFill>
                <a:schemeClr val="tx1">
                  <a:lumMod val="25000"/>
                  <a:lumOff val="75000"/>
                </a:schemeClr>
              </a:solidFill>
              <a:ln>
                <a:solidFill>
                  <a:schemeClr val="tx1">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09" name="Straight Arrow Connector 108">
                <a:extLst>
                  <a:ext uri="{FF2B5EF4-FFF2-40B4-BE49-F238E27FC236}">
                    <a16:creationId xmlns:a16="http://schemas.microsoft.com/office/drawing/2014/main" id="{39F72E8A-847B-D8CB-C999-07495B89CF0E}"/>
                  </a:ext>
                </a:extLst>
              </p:cNvPr>
              <p:cNvCxnSpPr>
                <a:cxnSpLocks/>
              </p:cNvCxnSpPr>
              <p:nvPr/>
            </p:nvCxnSpPr>
            <p:spPr>
              <a:xfrm flipV="1">
                <a:off x="2825605" y="1545977"/>
                <a:ext cx="0" cy="823601"/>
              </a:xfrm>
              <a:prstGeom prst="straightConnector1">
                <a:avLst/>
              </a:prstGeom>
              <a:ln>
                <a:solidFill>
                  <a:schemeClr val="tx1">
                    <a:lumMod val="25000"/>
                    <a:lumOff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88" name="Rectangle 87">
              <a:extLst>
                <a:ext uri="{FF2B5EF4-FFF2-40B4-BE49-F238E27FC236}">
                  <a16:creationId xmlns:a16="http://schemas.microsoft.com/office/drawing/2014/main" id="{A2A00D54-7CA5-7FAC-2192-D382001562FE}"/>
                </a:ext>
              </a:extLst>
            </p:cNvPr>
            <p:cNvSpPr/>
            <p:nvPr/>
          </p:nvSpPr>
          <p:spPr>
            <a:xfrm>
              <a:off x="6702832" y="1020440"/>
              <a:ext cx="1439186" cy="525537"/>
            </a:xfrm>
            <a:prstGeom prst="rect">
              <a:avLst/>
            </a:prstGeom>
            <a:solidFill>
              <a:srgbClr val="E7F3EF"/>
            </a:solidFill>
            <a:ln>
              <a:noFill/>
            </a:ln>
          </p:spPr>
          <p:txBody>
            <a:bodyPr wrap="square" rtlCol="0" anchor="ctr" anchorCtr="0">
              <a:noAutofit/>
            </a:bodyPr>
            <a:lstStyle/>
            <a:p>
              <a:pPr algn="ctr"/>
              <a:r>
                <a:rPr lang="en-US" sz="1200" b="1">
                  <a:solidFill>
                    <a:srgbClr val="222C33">
                      <a:lumMod val="75000"/>
                      <a:lumOff val="25000"/>
                    </a:srgbClr>
                  </a:solidFill>
                  <a:latin typeface="Calibri" panose="020F0502020204030204"/>
                </a:rPr>
                <a:t>Cloud</a:t>
              </a:r>
            </a:p>
            <a:p>
              <a:pPr algn="ctr"/>
              <a:r>
                <a:rPr lang="en-US" sz="1200" b="1">
                  <a:solidFill>
                    <a:srgbClr val="222C33">
                      <a:lumMod val="75000"/>
                      <a:lumOff val="25000"/>
                    </a:srgbClr>
                  </a:solidFill>
                  <a:latin typeface="Calibri" panose="020F0502020204030204"/>
                </a:rPr>
                <a:t>Migration</a:t>
              </a:r>
            </a:p>
          </p:txBody>
        </p:sp>
      </p:grpSp>
      <p:grpSp>
        <p:nvGrpSpPr>
          <p:cNvPr id="164" name="Group 163">
            <a:extLst>
              <a:ext uri="{FF2B5EF4-FFF2-40B4-BE49-F238E27FC236}">
                <a16:creationId xmlns:a16="http://schemas.microsoft.com/office/drawing/2014/main" id="{57132350-95D2-85C4-0213-158DBE46E286}"/>
              </a:ext>
            </a:extLst>
          </p:cNvPr>
          <p:cNvGrpSpPr/>
          <p:nvPr/>
        </p:nvGrpSpPr>
        <p:grpSpPr>
          <a:xfrm>
            <a:off x="5174893" y="1018135"/>
            <a:ext cx="1439186" cy="1556069"/>
            <a:chOff x="5174893" y="1018135"/>
            <a:chExt cx="1439186" cy="1556069"/>
          </a:xfrm>
        </p:grpSpPr>
        <p:grpSp>
          <p:nvGrpSpPr>
            <p:cNvPr id="104" name="Group 103">
              <a:extLst>
                <a:ext uri="{FF2B5EF4-FFF2-40B4-BE49-F238E27FC236}">
                  <a16:creationId xmlns:a16="http://schemas.microsoft.com/office/drawing/2014/main" id="{70128D11-06C6-A903-50DA-F457185F3C0F}"/>
                </a:ext>
              </a:extLst>
            </p:cNvPr>
            <p:cNvGrpSpPr/>
            <p:nvPr/>
          </p:nvGrpSpPr>
          <p:grpSpPr>
            <a:xfrm>
              <a:off x="5853501" y="1545977"/>
              <a:ext cx="81971" cy="1028227"/>
              <a:chOff x="2784620" y="1545977"/>
              <a:chExt cx="81971" cy="1028227"/>
            </a:xfrm>
          </p:grpSpPr>
          <p:sp>
            <p:nvSpPr>
              <p:cNvPr id="105" name="Oval 104">
                <a:extLst>
                  <a:ext uri="{FF2B5EF4-FFF2-40B4-BE49-F238E27FC236}">
                    <a16:creationId xmlns:a16="http://schemas.microsoft.com/office/drawing/2014/main" id="{83D35D2D-F589-0B94-154F-BF3DFCE273EC}"/>
                  </a:ext>
                </a:extLst>
              </p:cNvPr>
              <p:cNvSpPr/>
              <p:nvPr/>
            </p:nvSpPr>
            <p:spPr>
              <a:xfrm>
                <a:off x="2784620" y="2492233"/>
                <a:ext cx="81971" cy="81971"/>
              </a:xfrm>
              <a:prstGeom prst="ellipse">
                <a:avLst/>
              </a:prstGeom>
              <a:solidFill>
                <a:schemeClr val="tx1">
                  <a:lumMod val="25000"/>
                  <a:lumOff val="75000"/>
                </a:schemeClr>
              </a:solidFill>
              <a:ln>
                <a:solidFill>
                  <a:schemeClr val="tx1">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06" name="Straight Arrow Connector 105">
                <a:extLst>
                  <a:ext uri="{FF2B5EF4-FFF2-40B4-BE49-F238E27FC236}">
                    <a16:creationId xmlns:a16="http://schemas.microsoft.com/office/drawing/2014/main" id="{1D6330FF-280F-EA61-F732-5CF8E8D6630C}"/>
                  </a:ext>
                </a:extLst>
              </p:cNvPr>
              <p:cNvCxnSpPr>
                <a:cxnSpLocks/>
              </p:cNvCxnSpPr>
              <p:nvPr/>
            </p:nvCxnSpPr>
            <p:spPr>
              <a:xfrm flipV="1">
                <a:off x="2825605" y="1545977"/>
                <a:ext cx="0" cy="823601"/>
              </a:xfrm>
              <a:prstGeom prst="straightConnector1">
                <a:avLst/>
              </a:prstGeom>
              <a:ln>
                <a:solidFill>
                  <a:schemeClr val="tx1">
                    <a:lumMod val="25000"/>
                    <a:lumOff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87" name="Rectangle 86">
              <a:extLst>
                <a:ext uri="{FF2B5EF4-FFF2-40B4-BE49-F238E27FC236}">
                  <a16:creationId xmlns:a16="http://schemas.microsoft.com/office/drawing/2014/main" id="{B90C0451-8F1B-2172-330C-B336F199C6F0}"/>
                </a:ext>
              </a:extLst>
            </p:cNvPr>
            <p:cNvSpPr/>
            <p:nvPr/>
          </p:nvSpPr>
          <p:spPr>
            <a:xfrm>
              <a:off x="5174893" y="1018135"/>
              <a:ext cx="1439186" cy="525537"/>
            </a:xfrm>
            <a:prstGeom prst="rect">
              <a:avLst/>
            </a:prstGeom>
            <a:solidFill>
              <a:srgbClr val="E7F3EF"/>
            </a:solidFill>
            <a:ln>
              <a:noFill/>
            </a:ln>
          </p:spPr>
          <p:txBody>
            <a:bodyPr wrap="square" rtlCol="0" anchor="ctr" anchorCtr="0">
              <a:noAutofit/>
            </a:bodyPr>
            <a:lstStyle/>
            <a:p>
              <a:pPr algn="ctr"/>
              <a:r>
                <a:rPr lang="en-US" sz="1200" b="1">
                  <a:solidFill>
                    <a:srgbClr val="222C33">
                      <a:lumMod val="75000"/>
                      <a:lumOff val="25000"/>
                    </a:srgbClr>
                  </a:solidFill>
                  <a:latin typeface="Calibri" panose="020F0502020204030204"/>
                </a:rPr>
                <a:t>Hybrid Workforce &amp; BYOD</a:t>
              </a:r>
            </a:p>
          </p:txBody>
        </p:sp>
      </p:grpSp>
      <p:grpSp>
        <p:nvGrpSpPr>
          <p:cNvPr id="163" name="Group 162">
            <a:extLst>
              <a:ext uri="{FF2B5EF4-FFF2-40B4-BE49-F238E27FC236}">
                <a16:creationId xmlns:a16="http://schemas.microsoft.com/office/drawing/2014/main" id="{8BC6B35D-F142-A9C7-7D91-E47BA120E45B}"/>
              </a:ext>
            </a:extLst>
          </p:cNvPr>
          <p:cNvGrpSpPr/>
          <p:nvPr/>
        </p:nvGrpSpPr>
        <p:grpSpPr>
          <a:xfrm>
            <a:off x="3646954" y="1002831"/>
            <a:ext cx="1439186" cy="1636689"/>
            <a:chOff x="3646954" y="1002831"/>
            <a:chExt cx="1439186" cy="1636689"/>
          </a:xfrm>
        </p:grpSpPr>
        <p:grpSp>
          <p:nvGrpSpPr>
            <p:cNvPr id="100" name="Group 99">
              <a:extLst>
                <a:ext uri="{FF2B5EF4-FFF2-40B4-BE49-F238E27FC236}">
                  <a16:creationId xmlns:a16="http://schemas.microsoft.com/office/drawing/2014/main" id="{5E786BEC-5BC9-14C1-764A-2CA0A9F05AFA}"/>
                </a:ext>
              </a:extLst>
            </p:cNvPr>
            <p:cNvGrpSpPr/>
            <p:nvPr/>
          </p:nvGrpSpPr>
          <p:grpSpPr>
            <a:xfrm>
              <a:off x="4325562" y="1545977"/>
              <a:ext cx="81971" cy="1093543"/>
              <a:chOff x="2784620" y="1545977"/>
              <a:chExt cx="81971" cy="1093543"/>
            </a:xfrm>
          </p:grpSpPr>
          <p:sp>
            <p:nvSpPr>
              <p:cNvPr id="101" name="Oval 100">
                <a:extLst>
                  <a:ext uri="{FF2B5EF4-FFF2-40B4-BE49-F238E27FC236}">
                    <a16:creationId xmlns:a16="http://schemas.microsoft.com/office/drawing/2014/main" id="{60AA83E1-8297-DC78-B08F-798D04632E12}"/>
                  </a:ext>
                </a:extLst>
              </p:cNvPr>
              <p:cNvSpPr/>
              <p:nvPr/>
            </p:nvSpPr>
            <p:spPr>
              <a:xfrm>
                <a:off x="2784620" y="2557549"/>
                <a:ext cx="81971" cy="81971"/>
              </a:xfrm>
              <a:prstGeom prst="ellipse">
                <a:avLst/>
              </a:prstGeom>
              <a:solidFill>
                <a:schemeClr val="tx1">
                  <a:lumMod val="25000"/>
                  <a:lumOff val="75000"/>
                </a:schemeClr>
              </a:solidFill>
              <a:ln>
                <a:solidFill>
                  <a:schemeClr val="tx1">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02" name="Straight Arrow Connector 101">
                <a:extLst>
                  <a:ext uri="{FF2B5EF4-FFF2-40B4-BE49-F238E27FC236}">
                    <a16:creationId xmlns:a16="http://schemas.microsoft.com/office/drawing/2014/main" id="{6946395D-47F2-37C0-DB86-9010F84E99BC}"/>
                  </a:ext>
                </a:extLst>
              </p:cNvPr>
              <p:cNvCxnSpPr>
                <a:cxnSpLocks/>
              </p:cNvCxnSpPr>
              <p:nvPr/>
            </p:nvCxnSpPr>
            <p:spPr>
              <a:xfrm flipV="1">
                <a:off x="2825605" y="1545977"/>
                <a:ext cx="0" cy="823601"/>
              </a:xfrm>
              <a:prstGeom prst="straightConnector1">
                <a:avLst/>
              </a:prstGeom>
              <a:ln>
                <a:solidFill>
                  <a:schemeClr val="tx1">
                    <a:lumMod val="25000"/>
                    <a:lumOff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86" name="Rectangle 85">
              <a:extLst>
                <a:ext uri="{FF2B5EF4-FFF2-40B4-BE49-F238E27FC236}">
                  <a16:creationId xmlns:a16="http://schemas.microsoft.com/office/drawing/2014/main" id="{6203B9EC-8D9D-EC44-4F22-A2DCBD5331EE}"/>
                </a:ext>
              </a:extLst>
            </p:cNvPr>
            <p:cNvSpPr/>
            <p:nvPr/>
          </p:nvSpPr>
          <p:spPr>
            <a:xfrm>
              <a:off x="3646954" y="1002831"/>
              <a:ext cx="1439186" cy="536770"/>
            </a:xfrm>
            <a:prstGeom prst="rect">
              <a:avLst/>
            </a:prstGeom>
            <a:solidFill>
              <a:srgbClr val="E7F3EF"/>
            </a:solidFill>
            <a:ln>
              <a:noFill/>
            </a:ln>
          </p:spPr>
          <p:txBody>
            <a:bodyPr wrap="square" rtlCol="0" anchor="ctr" anchorCtr="0">
              <a:noAutofit/>
            </a:bodyPr>
            <a:lstStyle/>
            <a:p>
              <a:pPr algn="ctr"/>
              <a:r>
                <a:rPr lang="en-US" sz="1200" b="1">
                  <a:solidFill>
                    <a:srgbClr val="222C33">
                      <a:lumMod val="75000"/>
                      <a:lumOff val="25000"/>
                    </a:srgbClr>
                  </a:solidFill>
                  <a:latin typeface="Calibri" panose="020F0502020204030204"/>
                </a:rPr>
                <a:t>Geo </a:t>
              </a:r>
            </a:p>
            <a:p>
              <a:pPr algn="ctr"/>
              <a:r>
                <a:rPr lang="en-US" sz="1200" b="1">
                  <a:solidFill>
                    <a:srgbClr val="222C33">
                      <a:lumMod val="75000"/>
                      <a:lumOff val="25000"/>
                    </a:srgbClr>
                  </a:solidFill>
                  <a:latin typeface="Calibri" panose="020F0502020204030204"/>
                </a:rPr>
                <a:t>Expansion</a:t>
              </a:r>
            </a:p>
          </p:txBody>
        </p:sp>
      </p:grpSp>
      <p:grpSp>
        <p:nvGrpSpPr>
          <p:cNvPr id="157" name="Group 156">
            <a:extLst>
              <a:ext uri="{FF2B5EF4-FFF2-40B4-BE49-F238E27FC236}">
                <a16:creationId xmlns:a16="http://schemas.microsoft.com/office/drawing/2014/main" id="{7FCD4CD1-73B1-AE83-3B77-7697045C5AE6}"/>
              </a:ext>
            </a:extLst>
          </p:cNvPr>
          <p:cNvGrpSpPr/>
          <p:nvPr/>
        </p:nvGrpSpPr>
        <p:grpSpPr>
          <a:xfrm>
            <a:off x="2106012" y="1020440"/>
            <a:ext cx="1439186" cy="1798842"/>
            <a:chOff x="2106012" y="1020440"/>
            <a:chExt cx="1439186" cy="1798842"/>
          </a:xfrm>
        </p:grpSpPr>
        <p:grpSp>
          <p:nvGrpSpPr>
            <p:cNvPr id="99" name="Group 98">
              <a:extLst>
                <a:ext uri="{FF2B5EF4-FFF2-40B4-BE49-F238E27FC236}">
                  <a16:creationId xmlns:a16="http://schemas.microsoft.com/office/drawing/2014/main" id="{AB5021D0-D549-7515-3B8F-42C199625758}"/>
                </a:ext>
              </a:extLst>
            </p:cNvPr>
            <p:cNvGrpSpPr/>
            <p:nvPr/>
          </p:nvGrpSpPr>
          <p:grpSpPr>
            <a:xfrm>
              <a:off x="2784620" y="1545977"/>
              <a:ext cx="81971" cy="1273305"/>
              <a:chOff x="2784620" y="1545977"/>
              <a:chExt cx="81971" cy="1273305"/>
            </a:xfrm>
          </p:grpSpPr>
          <p:sp>
            <p:nvSpPr>
              <p:cNvPr id="94" name="Oval 93">
                <a:extLst>
                  <a:ext uri="{FF2B5EF4-FFF2-40B4-BE49-F238E27FC236}">
                    <a16:creationId xmlns:a16="http://schemas.microsoft.com/office/drawing/2014/main" id="{5ECC1B12-BB7C-04FA-CC8C-4B7DE15A6031}"/>
                  </a:ext>
                </a:extLst>
              </p:cNvPr>
              <p:cNvSpPr/>
              <p:nvPr/>
            </p:nvSpPr>
            <p:spPr>
              <a:xfrm>
                <a:off x="2784620" y="2737311"/>
                <a:ext cx="81971" cy="81971"/>
              </a:xfrm>
              <a:prstGeom prst="ellipse">
                <a:avLst/>
              </a:prstGeom>
              <a:solidFill>
                <a:schemeClr val="tx1">
                  <a:lumMod val="25000"/>
                  <a:lumOff val="75000"/>
                </a:schemeClr>
              </a:solidFill>
              <a:ln>
                <a:solidFill>
                  <a:schemeClr val="tx1">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96" name="Straight Arrow Connector 95">
                <a:extLst>
                  <a:ext uri="{FF2B5EF4-FFF2-40B4-BE49-F238E27FC236}">
                    <a16:creationId xmlns:a16="http://schemas.microsoft.com/office/drawing/2014/main" id="{2543D686-3DE8-40CC-D346-28111EF6CD10}"/>
                  </a:ext>
                </a:extLst>
              </p:cNvPr>
              <p:cNvCxnSpPr>
                <a:cxnSpLocks/>
                <a:endCxn id="85" idx="2"/>
              </p:cNvCxnSpPr>
              <p:nvPr/>
            </p:nvCxnSpPr>
            <p:spPr>
              <a:xfrm flipV="1">
                <a:off x="2825605" y="1545977"/>
                <a:ext cx="0" cy="823601"/>
              </a:xfrm>
              <a:prstGeom prst="straightConnector1">
                <a:avLst/>
              </a:prstGeom>
              <a:ln>
                <a:solidFill>
                  <a:schemeClr val="tx1">
                    <a:lumMod val="25000"/>
                    <a:lumOff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85" name="Rectangle 84">
              <a:extLst>
                <a:ext uri="{FF2B5EF4-FFF2-40B4-BE49-F238E27FC236}">
                  <a16:creationId xmlns:a16="http://schemas.microsoft.com/office/drawing/2014/main" id="{3D36C554-87AA-CC8B-C6F4-65A868CE9351}"/>
                </a:ext>
              </a:extLst>
            </p:cNvPr>
            <p:cNvSpPr/>
            <p:nvPr/>
          </p:nvSpPr>
          <p:spPr>
            <a:xfrm>
              <a:off x="2106012" y="1020440"/>
              <a:ext cx="1439186" cy="525537"/>
            </a:xfrm>
            <a:prstGeom prst="rect">
              <a:avLst/>
            </a:prstGeom>
            <a:solidFill>
              <a:srgbClr val="E7F3EF"/>
            </a:solidFill>
            <a:ln>
              <a:noFill/>
            </a:ln>
          </p:spPr>
          <p:txBody>
            <a:bodyPr wrap="square" rtlCol="0" anchor="ctr" anchorCtr="0">
              <a:noAutofit/>
            </a:bodyPr>
            <a:lstStyle/>
            <a:p>
              <a:pPr algn="ctr"/>
              <a:r>
                <a:rPr lang="en-US" sz="1200" b="1">
                  <a:solidFill>
                    <a:srgbClr val="222C33">
                      <a:lumMod val="75000"/>
                      <a:lumOff val="25000"/>
                    </a:srgbClr>
                  </a:solidFill>
                  <a:latin typeface="Calibri" panose="020F0502020204030204"/>
                </a:rPr>
                <a:t>M&amp;A</a:t>
              </a:r>
            </a:p>
          </p:txBody>
        </p:sp>
      </p:grpSp>
      <p:sp>
        <p:nvSpPr>
          <p:cNvPr id="3" name="Title 2">
            <a:extLst>
              <a:ext uri="{FF2B5EF4-FFF2-40B4-BE49-F238E27FC236}">
                <a16:creationId xmlns:a16="http://schemas.microsoft.com/office/drawing/2014/main" id="{764D8D16-BA8B-AE51-B06C-DDDBEE67E0FB}"/>
              </a:ext>
            </a:extLst>
          </p:cNvPr>
          <p:cNvSpPr>
            <a:spLocks noGrp="1"/>
          </p:cNvSpPr>
          <p:nvPr>
            <p:ph type="title"/>
          </p:nvPr>
        </p:nvSpPr>
        <p:spPr>
          <a:xfrm>
            <a:off x="314138" y="186990"/>
            <a:ext cx="11573062" cy="424732"/>
          </a:xfrm>
        </p:spPr>
        <p:txBody>
          <a:bodyPr/>
          <a:lstStyle/>
          <a:p>
            <a:r>
              <a:rPr lang="en-US"/>
              <a:t>We need a </a:t>
            </a:r>
            <a:r>
              <a:rPr lang="en-US" u="sng"/>
              <a:t>Platform</a:t>
            </a:r>
            <a:r>
              <a:rPr lang="en-US"/>
              <a:t> that Enables IT to Drive the Digital Business</a:t>
            </a:r>
            <a:endParaRPr lang="en-IL"/>
          </a:p>
        </p:txBody>
      </p:sp>
      <p:sp>
        <p:nvSpPr>
          <p:cNvPr id="5" name="Slide Number Placeholder 4">
            <a:extLst>
              <a:ext uri="{FF2B5EF4-FFF2-40B4-BE49-F238E27FC236}">
                <a16:creationId xmlns:a16="http://schemas.microsoft.com/office/drawing/2014/main" id="{A50872A5-27B8-AF30-68CE-C5B122979209}"/>
              </a:ext>
            </a:extLst>
          </p:cNvPr>
          <p:cNvSpPr>
            <a:spLocks noGrp="1"/>
          </p:cNvSpPr>
          <p:nvPr>
            <p:ph type="sldNum" sz="quarter" idx="4"/>
          </p:nvPr>
        </p:nvSpPr>
        <p:spPr>
          <a:xfrm>
            <a:off x="11720468" y="6518553"/>
            <a:ext cx="408632" cy="244661"/>
          </a:xfrm>
        </p:spPr>
        <p:txBody>
          <a:bodyPr/>
          <a:lstStyle/>
          <a:p>
            <a:r>
              <a:rPr lang="en-US"/>
              <a:t>| </a:t>
            </a:r>
            <a:fld id="{FEC5E14B-9965-442C-8683-0E66DD8427DC}" type="slidenum">
              <a:rPr lang="en-US" smtClean="0"/>
              <a:pPr/>
              <a:t>5</a:t>
            </a:fld>
            <a:endParaRPr lang="en-US"/>
          </a:p>
        </p:txBody>
      </p:sp>
      <p:sp>
        <p:nvSpPr>
          <p:cNvPr id="82" name="Rectangle 81">
            <a:extLst>
              <a:ext uri="{FF2B5EF4-FFF2-40B4-BE49-F238E27FC236}">
                <a16:creationId xmlns:a16="http://schemas.microsoft.com/office/drawing/2014/main" id="{1349F23E-0F03-423D-A963-FA108559AD4E}"/>
              </a:ext>
            </a:extLst>
          </p:cNvPr>
          <p:cNvSpPr/>
          <p:nvPr/>
        </p:nvSpPr>
        <p:spPr>
          <a:xfrm>
            <a:off x="903514" y="1984942"/>
            <a:ext cx="10415115" cy="384636"/>
          </a:xfrm>
          <a:prstGeom prst="rect">
            <a:avLst/>
          </a:prstGeom>
          <a:solidFill>
            <a:srgbClr val="E8F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en-US" sz="1800" b="1" i="0" u="none" strike="noStrike" kern="1200" cap="none" spc="300" normalizeH="0" baseline="0" noProof="0">
                <a:ln>
                  <a:noFill/>
                </a:ln>
                <a:solidFill>
                  <a:srgbClr val="222C33">
                    <a:lumMod val="75000"/>
                    <a:lumOff val="25000"/>
                  </a:srgbClr>
                </a:solidFill>
                <a:effectLst/>
                <a:uLnTx/>
                <a:uFillTx/>
                <a:latin typeface="Calibri" panose="020F0502020204030204"/>
                <a:ea typeface="+mn-ea"/>
                <a:cs typeface="+mn-cs"/>
              </a:rPr>
              <a:t>Digital Business</a:t>
            </a:r>
          </a:p>
        </p:txBody>
      </p:sp>
      <p:sp>
        <p:nvSpPr>
          <p:cNvPr id="140" name="Rectangle 139">
            <a:extLst>
              <a:ext uri="{FF2B5EF4-FFF2-40B4-BE49-F238E27FC236}">
                <a16:creationId xmlns:a16="http://schemas.microsoft.com/office/drawing/2014/main" id="{1E33A380-2CA1-342B-A832-145AC2F5C72B}"/>
              </a:ext>
            </a:extLst>
          </p:cNvPr>
          <p:cNvSpPr/>
          <p:nvPr/>
        </p:nvSpPr>
        <p:spPr>
          <a:xfrm>
            <a:off x="903514" y="2379805"/>
            <a:ext cx="10415124" cy="3253794"/>
          </a:xfrm>
          <a:prstGeom prst="rect">
            <a:avLst/>
          </a:prstGeom>
          <a:pattFill prst="smGrid">
            <a:fgClr>
              <a:schemeClr val="tx1">
                <a:lumMod val="10000"/>
                <a:lumOff val="90000"/>
              </a:schemeClr>
            </a:fgClr>
            <a:bgClr>
              <a:srgbClr val="F9FAFB"/>
            </a:bgClr>
          </a:patt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latin typeface="Calibri" panose="020F0502020204030204"/>
              </a:rPr>
              <a:t>        </a:t>
            </a:r>
            <a:endParaRPr lang="en-IL">
              <a:solidFill>
                <a:srgbClr val="FFFFFF"/>
              </a:solidFill>
              <a:latin typeface="Calibri" panose="020F0502020204030204"/>
            </a:endParaRPr>
          </a:p>
        </p:txBody>
      </p:sp>
      <p:sp>
        <p:nvSpPr>
          <p:cNvPr id="142" name="TextBox 141">
            <a:extLst>
              <a:ext uri="{FF2B5EF4-FFF2-40B4-BE49-F238E27FC236}">
                <a16:creationId xmlns:a16="http://schemas.microsoft.com/office/drawing/2014/main" id="{936967B6-8EB3-3B16-5A73-6CCA6693C4FE}"/>
              </a:ext>
            </a:extLst>
          </p:cNvPr>
          <p:cNvSpPr txBox="1"/>
          <p:nvPr/>
        </p:nvSpPr>
        <p:spPr>
          <a:xfrm>
            <a:off x="774220" y="2915310"/>
            <a:ext cx="1584000" cy="307777"/>
          </a:xfrm>
          <a:prstGeom prst="rect">
            <a:avLst/>
          </a:prstGeom>
          <a:noFill/>
          <a:ln>
            <a:noFill/>
          </a:ln>
        </p:spPr>
        <p:txBody>
          <a:bodyPr wrap="none"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600" b="1" i="0" u="none" strike="noStrike" cap="none" spc="300" normalizeH="0" baseline="0">
                <a:ln>
                  <a:noFill/>
                </a:ln>
                <a:solidFill>
                  <a:srgbClr val="222C33">
                    <a:lumMod val="75000"/>
                    <a:lumOff val="25000"/>
                  </a:srgbClr>
                </a:solidFill>
                <a:effectLst/>
                <a:uLnTx/>
                <a:uFillTx/>
                <a:latin typeface="Calibri" panose="020F0502020204030204"/>
              </a:defRPr>
            </a:lvl1pPr>
          </a:lstStyle>
          <a:p>
            <a:r>
              <a:rPr lang="en-US" sz="1800" spc="0">
                <a:solidFill>
                  <a:schemeClr val="tx1">
                    <a:lumMod val="90000"/>
                    <a:lumOff val="10000"/>
                  </a:schemeClr>
                </a:solidFill>
              </a:rPr>
              <a:t>Secure</a:t>
            </a:r>
          </a:p>
        </p:txBody>
      </p:sp>
      <p:sp>
        <p:nvSpPr>
          <p:cNvPr id="143" name="TextBox 142">
            <a:extLst>
              <a:ext uri="{FF2B5EF4-FFF2-40B4-BE49-F238E27FC236}">
                <a16:creationId xmlns:a16="http://schemas.microsoft.com/office/drawing/2014/main" id="{4B841FB9-2F9A-BC06-3FFF-4CB9EDB92F80}"/>
              </a:ext>
            </a:extLst>
          </p:cNvPr>
          <p:cNvSpPr txBox="1"/>
          <p:nvPr/>
        </p:nvSpPr>
        <p:spPr>
          <a:xfrm>
            <a:off x="7556486" y="2925789"/>
            <a:ext cx="1584000" cy="307777"/>
          </a:xfrm>
          <a:prstGeom prst="rect">
            <a:avLst/>
          </a:prstGeom>
          <a:noFill/>
          <a:ln>
            <a:noFill/>
          </a:ln>
        </p:spPr>
        <p:txBody>
          <a:bodyPr wrap="non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chemeClr val="tx1">
                    <a:lumMod val="90000"/>
                    <a:lumOff val="10000"/>
                  </a:schemeClr>
                </a:solidFill>
                <a:latin typeface="Calibri" panose="020F0502020204030204"/>
              </a:rPr>
              <a:t>Global</a:t>
            </a:r>
          </a:p>
        </p:txBody>
      </p:sp>
      <p:sp>
        <p:nvSpPr>
          <p:cNvPr id="144" name="TextBox 143">
            <a:extLst>
              <a:ext uri="{FF2B5EF4-FFF2-40B4-BE49-F238E27FC236}">
                <a16:creationId xmlns:a16="http://schemas.microsoft.com/office/drawing/2014/main" id="{AACD836C-346A-2547-E871-A785BBDEDBC2}"/>
              </a:ext>
            </a:extLst>
          </p:cNvPr>
          <p:cNvSpPr txBox="1"/>
          <p:nvPr/>
        </p:nvSpPr>
        <p:spPr>
          <a:xfrm>
            <a:off x="9581755" y="2915309"/>
            <a:ext cx="1584000" cy="307777"/>
          </a:xfrm>
          <a:prstGeom prst="rect">
            <a:avLst/>
          </a:prstGeom>
          <a:noFill/>
          <a:ln>
            <a:no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chemeClr val="tx1">
                    <a:lumMod val="90000"/>
                    <a:lumOff val="10000"/>
                  </a:schemeClr>
                </a:solidFill>
                <a:latin typeface="Calibri" panose="020F0502020204030204"/>
              </a:rPr>
              <a:t>Optimized</a:t>
            </a:r>
          </a:p>
        </p:txBody>
      </p:sp>
      <p:sp>
        <p:nvSpPr>
          <p:cNvPr id="145" name="TextBox 144">
            <a:extLst>
              <a:ext uri="{FF2B5EF4-FFF2-40B4-BE49-F238E27FC236}">
                <a16:creationId xmlns:a16="http://schemas.microsoft.com/office/drawing/2014/main" id="{E2AB0707-DA7A-E75A-A488-FA698696E1F6}"/>
              </a:ext>
            </a:extLst>
          </p:cNvPr>
          <p:cNvSpPr txBox="1"/>
          <p:nvPr/>
        </p:nvSpPr>
        <p:spPr>
          <a:xfrm>
            <a:off x="5378334" y="2922586"/>
            <a:ext cx="1584000" cy="307777"/>
          </a:xfrm>
          <a:prstGeom prst="rect">
            <a:avLst/>
          </a:prstGeom>
          <a:noFill/>
          <a:ln>
            <a:noFill/>
          </a:ln>
        </p:spPr>
        <p:txBody>
          <a:bodyPr wrap="non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chemeClr val="tx1">
                    <a:lumMod val="90000"/>
                    <a:lumOff val="10000"/>
                  </a:schemeClr>
                </a:solidFill>
                <a:latin typeface="Calibri" panose="020F0502020204030204"/>
              </a:rPr>
              <a:t>Agile</a:t>
            </a:r>
          </a:p>
        </p:txBody>
      </p:sp>
      <p:sp>
        <p:nvSpPr>
          <p:cNvPr id="146" name="TextBox 145">
            <a:extLst>
              <a:ext uri="{FF2B5EF4-FFF2-40B4-BE49-F238E27FC236}">
                <a16:creationId xmlns:a16="http://schemas.microsoft.com/office/drawing/2014/main" id="{C5674E4E-9706-945D-3E90-9580276983BE}"/>
              </a:ext>
            </a:extLst>
          </p:cNvPr>
          <p:cNvSpPr txBox="1"/>
          <p:nvPr/>
        </p:nvSpPr>
        <p:spPr>
          <a:xfrm>
            <a:off x="3051515" y="2921662"/>
            <a:ext cx="1584000" cy="307777"/>
          </a:xfrm>
          <a:prstGeom prst="rect">
            <a:avLst/>
          </a:prstGeom>
          <a:noFill/>
          <a:ln>
            <a:noFill/>
          </a:ln>
        </p:spPr>
        <p:txBody>
          <a:bodyPr wrap="none"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600" b="1" i="0" u="none" strike="noStrike" cap="none" spc="300" normalizeH="0" baseline="0">
                <a:ln>
                  <a:noFill/>
                </a:ln>
                <a:solidFill>
                  <a:srgbClr val="222C33">
                    <a:lumMod val="75000"/>
                    <a:lumOff val="25000"/>
                  </a:srgbClr>
                </a:solidFill>
                <a:effectLst/>
                <a:uLnTx/>
                <a:uFillTx/>
                <a:latin typeface="Calibri" panose="020F0502020204030204"/>
              </a:defRPr>
            </a:lvl1pPr>
          </a:lstStyle>
          <a:p>
            <a:r>
              <a:rPr lang="en-US" sz="1800" spc="0">
                <a:solidFill>
                  <a:schemeClr val="tx1">
                    <a:lumMod val="90000"/>
                    <a:lumOff val="10000"/>
                  </a:schemeClr>
                </a:solidFill>
              </a:rPr>
              <a:t>Resilient</a:t>
            </a:r>
          </a:p>
        </p:txBody>
      </p:sp>
      <p:sp>
        <p:nvSpPr>
          <p:cNvPr id="147" name="Rectangle: Rounded Corners 146">
            <a:extLst>
              <a:ext uri="{FF2B5EF4-FFF2-40B4-BE49-F238E27FC236}">
                <a16:creationId xmlns:a16="http://schemas.microsoft.com/office/drawing/2014/main" id="{2C85142D-BC90-5A6E-1204-FA19D20D6E17}"/>
              </a:ext>
            </a:extLst>
          </p:cNvPr>
          <p:cNvSpPr/>
          <p:nvPr/>
        </p:nvSpPr>
        <p:spPr>
          <a:xfrm>
            <a:off x="1242268" y="2442328"/>
            <a:ext cx="9614145" cy="419598"/>
          </a:xfrm>
          <a:prstGeom prst="roundRect">
            <a:avLst>
              <a:gd name="adj" fmla="val 50000"/>
            </a:avLst>
          </a:prstGeom>
          <a:solidFill>
            <a:schemeClr val="accent2"/>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L" sz="2400" b="1"/>
              <a:t>Converged, Consistent, and Autonomous</a:t>
            </a:r>
          </a:p>
        </p:txBody>
      </p:sp>
      <p:sp>
        <p:nvSpPr>
          <p:cNvPr id="2" name="TextBox 1">
            <a:extLst>
              <a:ext uri="{FF2B5EF4-FFF2-40B4-BE49-F238E27FC236}">
                <a16:creationId xmlns:a16="http://schemas.microsoft.com/office/drawing/2014/main" id="{A8D303C5-EC30-1005-F6B4-F6228D5A6A93}"/>
              </a:ext>
            </a:extLst>
          </p:cNvPr>
          <p:cNvSpPr txBox="1"/>
          <p:nvPr/>
        </p:nvSpPr>
        <p:spPr>
          <a:xfrm>
            <a:off x="2874311" y="5782954"/>
            <a:ext cx="7000355"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300" normalizeH="0" baseline="0" noProof="0">
                <a:ln>
                  <a:noFill/>
                </a:ln>
                <a:solidFill>
                  <a:srgbClr val="222C33">
                    <a:lumMod val="75000"/>
                    <a:lumOff val="25000"/>
                  </a:srgbClr>
                </a:solidFill>
                <a:effectLst/>
                <a:uLnTx/>
                <a:uFillTx/>
                <a:latin typeface="Calibri" panose="020F0502020204030204"/>
                <a:ea typeface="+mn-ea"/>
                <a:cs typeface="+mn-cs"/>
              </a:rPr>
              <a:t>An Enterprise Networking and Security Platform</a:t>
            </a:r>
          </a:p>
        </p:txBody>
      </p:sp>
      <p:sp>
        <p:nvSpPr>
          <p:cNvPr id="4" name="aaa">
            <a:extLst>
              <a:ext uri="{FF2B5EF4-FFF2-40B4-BE49-F238E27FC236}">
                <a16:creationId xmlns:a16="http://schemas.microsoft.com/office/drawing/2014/main" id="{99B45139-CECF-AF2D-B5A8-53C253B83D6D}"/>
              </a:ext>
            </a:extLst>
          </p:cNvPr>
          <p:cNvSpPr/>
          <p:nvPr/>
        </p:nvSpPr>
        <p:spPr>
          <a:xfrm>
            <a:off x="5251753" y="3312706"/>
            <a:ext cx="1787441" cy="1809124"/>
          </a:xfrm>
          <a:prstGeom prst="donut">
            <a:avLst>
              <a:gd name="adj" fmla="val 16956"/>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solidFill>
                <a:srgbClr val="FFFFFF"/>
              </a:solidFill>
              <a:latin typeface="Calibri" panose="020F0502020204030204"/>
            </a:endParaRPr>
          </a:p>
        </p:txBody>
      </p:sp>
      <p:sp>
        <p:nvSpPr>
          <p:cNvPr id="6" name="TextBox 5">
            <a:extLst>
              <a:ext uri="{FF2B5EF4-FFF2-40B4-BE49-F238E27FC236}">
                <a16:creationId xmlns:a16="http://schemas.microsoft.com/office/drawing/2014/main" id="{C143C062-CD26-65BA-5E30-5481198E684C}"/>
              </a:ext>
            </a:extLst>
          </p:cNvPr>
          <p:cNvSpPr txBox="1"/>
          <p:nvPr/>
        </p:nvSpPr>
        <p:spPr>
          <a:xfrm>
            <a:off x="4710800" y="3727264"/>
            <a:ext cx="2869345" cy="86177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normalizeH="0" baseline="0" noProof="0">
                <a:ln>
                  <a:noFill/>
                </a:ln>
                <a:solidFill>
                  <a:schemeClr val="accent1"/>
                </a:solidFill>
                <a:effectLst/>
                <a:uLnTx/>
                <a:uFillTx/>
                <a:latin typeface="Calibri" panose="020F0502020204030204"/>
              </a:rPr>
              <a:t>Single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solidFill>
                  <a:schemeClr val="accent1"/>
                </a:solidFill>
                <a:latin typeface="Calibri" panose="020F0502020204030204"/>
              </a:rPr>
              <a:t>Converged</a:t>
            </a:r>
            <a:endParaRPr kumimoji="0" lang="en-US" sz="1600" b="1" i="0" u="none" strike="noStrike" kern="1200" cap="none" normalizeH="0" baseline="0" noProof="0">
              <a:ln>
                <a:noFill/>
              </a:ln>
              <a:solidFill>
                <a:schemeClr val="accent1"/>
              </a:solidFill>
              <a:effectLst/>
              <a:uLnTx/>
              <a:uFillTx/>
              <a:latin typeface="Calibri" panose="020F0502020204030204"/>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solidFill>
                  <a:schemeClr val="accent1"/>
                </a:solidFill>
                <a:latin typeface="Calibri" panose="020F0502020204030204"/>
              </a:rPr>
              <a:t>Platform</a:t>
            </a:r>
            <a:endParaRPr kumimoji="0" lang="en-US" sz="1600" b="1" i="0" u="none" strike="noStrike" kern="1200" cap="none" normalizeH="0" baseline="0" noProof="0">
              <a:ln>
                <a:noFill/>
              </a:ln>
              <a:solidFill>
                <a:schemeClr val="accent1"/>
              </a:solidFill>
              <a:effectLst/>
              <a:uLnTx/>
              <a:uFillTx/>
              <a:latin typeface="Calibri" panose="020F0502020204030204"/>
            </a:endParaRPr>
          </a:p>
        </p:txBody>
      </p:sp>
      <p:sp>
        <p:nvSpPr>
          <p:cNvPr id="7" name="TextBox 6">
            <a:extLst>
              <a:ext uri="{FF2B5EF4-FFF2-40B4-BE49-F238E27FC236}">
                <a16:creationId xmlns:a16="http://schemas.microsoft.com/office/drawing/2014/main" id="{60DEB09D-B6ED-8850-014F-2CEA821B7BC8}"/>
              </a:ext>
            </a:extLst>
          </p:cNvPr>
          <p:cNvSpPr txBox="1"/>
          <p:nvPr/>
        </p:nvSpPr>
        <p:spPr>
          <a:xfrm>
            <a:off x="7463411" y="3704020"/>
            <a:ext cx="3523830" cy="1015663"/>
          </a:xfrm>
          <a:prstGeom prst="rect">
            <a:avLst/>
          </a:prstGeom>
          <a:noFill/>
        </p:spPr>
        <p:txBody>
          <a:bodyPr wrap="square" rtlCol="0">
            <a:spAutoFit/>
          </a:bodyPr>
          <a:lstStyle/>
          <a:p>
            <a:pPr algn="ctr"/>
            <a:r>
              <a:rPr lang="en-US" sz="2000" b="1" u="sng">
                <a:solidFill>
                  <a:schemeClr val="accent1"/>
                </a:solidFill>
              </a:rPr>
              <a:t>Effortlessly</a:t>
            </a:r>
            <a:r>
              <a:rPr lang="en-US" sz="2000" b="1">
                <a:solidFill>
                  <a:schemeClr val="accent1"/>
                </a:solidFill>
              </a:rPr>
              <a:t> secure and optimize all access everywhere and for everyone</a:t>
            </a:r>
          </a:p>
        </p:txBody>
      </p:sp>
      <p:sp>
        <p:nvSpPr>
          <p:cNvPr id="9" name="Rectangle 8">
            <a:extLst>
              <a:ext uri="{FF2B5EF4-FFF2-40B4-BE49-F238E27FC236}">
                <a16:creationId xmlns:a16="http://schemas.microsoft.com/office/drawing/2014/main" id="{963BFE4A-91B4-3ED1-31DA-4F2A835F939A}"/>
              </a:ext>
            </a:extLst>
          </p:cNvPr>
          <p:cNvSpPr/>
          <p:nvPr/>
        </p:nvSpPr>
        <p:spPr>
          <a:xfrm>
            <a:off x="9879452" y="1008447"/>
            <a:ext cx="1439186" cy="525537"/>
          </a:xfrm>
          <a:prstGeom prst="rect">
            <a:avLst/>
          </a:prstGeom>
          <a:solidFill>
            <a:srgbClr val="E7F3EF"/>
          </a:solidFill>
          <a:ln>
            <a:noFill/>
          </a:ln>
        </p:spPr>
        <p:txBody>
          <a:bodyPr wrap="square" rtlCol="0" anchor="ctr" anchorCtr="0">
            <a:noAutofit/>
          </a:bodyPr>
          <a:lstStyle/>
          <a:p>
            <a:pPr algn="ctr"/>
            <a:r>
              <a:rPr lang="en-US" sz="1200" b="1">
                <a:solidFill>
                  <a:srgbClr val="222C33">
                    <a:lumMod val="75000"/>
                    <a:lumOff val="25000"/>
                  </a:srgbClr>
                </a:solidFill>
                <a:latin typeface="Calibri" panose="020F0502020204030204"/>
              </a:rPr>
              <a:t>AI Adoption</a:t>
            </a:r>
          </a:p>
        </p:txBody>
      </p:sp>
      <p:sp>
        <p:nvSpPr>
          <p:cNvPr id="14" name="Rectangle 13">
            <a:extLst>
              <a:ext uri="{FF2B5EF4-FFF2-40B4-BE49-F238E27FC236}">
                <a16:creationId xmlns:a16="http://schemas.microsoft.com/office/drawing/2014/main" id="{94D099F0-DB8E-05F0-76F3-31486E57514E}"/>
              </a:ext>
            </a:extLst>
          </p:cNvPr>
          <p:cNvSpPr/>
          <p:nvPr/>
        </p:nvSpPr>
        <p:spPr>
          <a:xfrm>
            <a:off x="522675" y="1020440"/>
            <a:ext cx="1439186" cy="525537"/>
          </a:xfrm>
          <a:prstGeom prst="rect">
            <a:avLst/>
          </a:prstGeom>
          <a:solidFill>
            <a:srgbClr val="E7F3EF"/>
          </a:solidFill>
          <a:ln>
            <a:noFill/>
          </a:ln>
        </p:spPr>
        <p:txBody>
          <a:bodyPr wrap="square" rtlCol="0" anchor="ctr" anchorCtr="0">
            <a:noAutofit/>
          </a:bodyPr>
          <a:lstStyle/>
          <a:p>
            <a:pPr algn="ctr"/>
            <a:r>
              <a:rPr lang="en-US" sz="1200" b="1">
                <a:solidFill>
                  <a:srgbClr val="222C33">
                    <a:lumMod val="75000"/>
                    <a:lumOff val="25000"/>
                  </a:srgbClr>
                </a:solidFill>
                <a:latin typeface="Calibri" panose="020F0502020204030204"/>
              </a:rPr>
              <a:t>Digital Transformation</a:t>
            </a:r>
          </a:p>
        </p:txBody>
      </p:sp>
      <p:sp>
        <p:nvSpPr>
          <p:cNvPr id="23" name="TextBox 22">
            <a:extLst>
              <a:ext uri="{FF2B5EF4-FFF2-40B4-BE49-F238E27FC236}">
                <a16:creationId xmlns:a16="http://schemas.microsoft.com/office/drawing/2014/main" id="{5FCCF612-4212-867B-3687-444A32EE4959}"/>
              </a:ext>
            </a:extLst>
          </p:cNvPr>
          <p:cNvSpPr txBox="1"/>
          <p:nvPr/>
        </p:nvSpPr>
        <p:spPr>
          <a:xfrm>
            <a:off x="999096" y="5193255"/>
            <a:ext cx="1584000" cy="307777"/>
          </a:xfrm>
          <a:prstGeom prst="rect">
            <a:avLst/>
          </a:prstGeom>
          <a:noFill/>
          <a:ln>
            <a:noFill/>
          </a:ln>
        </p:spPr>
        <p:txBody>
          <a:bodyPr wrap="none"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600" b="1" i="0" u="none" strike="noStrike" cap="none" spc="300" normalizeH="0" baseline="0">
                <a:ln>
                  <a:noFill/>
                </a:ln>
                <a:solidFill>
                  <a:srgbClr val="222C33">
                    <a:lumMod val="75000"/>
                    <a:lumOff val="25000"/>
                  </a:srgbClr>
                </a:solidFill>
                <a:effectLst/>
                <a:uLnTx/>
                <a:uFillTx/>
                <a:latin typeface="Calibri" panose="020F0502020204030204"/>
              </a:defRPr>
            </a:lvl1pPr>
          </a:lstStyle>
          <a:p>
            <a:r>
              <a:rPr lang="en-US" sz="1800" spc="0">
                <a:solidFill>
                  <a:schemeClr val="tx1">
                    <a:lumMod val="90000"/>
                    <a:lumOff val="10000"/>
                  </a:schemeClr>
                </a:solidFill>
              </a:rPr>
              <a:t>Consistent</a:t>
            </a:r>
          </a:p>
        </p:txBody>
      </p:sp>
      <p:sp>
        <p:nvSpPr>
          <p:cNvPr id="24" name="TextBox 23">
            <a:extLst>
              <a:ext uri="{FF2B5EF4-FFF2-40B4-BE49-F238E27FC236}">
                <a16:creationId xmlns:a16="http://schemas.microsoft.com/office/drawing/2014/main" id="{9FB09BE5-48A6-C483-B894-822E93726C2A}"/>
              </a:ext>
            </a:extLst>
          </p:cNvPr>
          <p:cNvSpPr txBox="1"/>
          <p:nvPr/>
        </p:nvSpPr>
        <p:spPr>
          <a:xfrm>
            <a:off x="7549526" y="5211098"/>
            <a:ext cx="1584000" cy="307777"/>
          </a:xfrm>
          <a:prstGeom prst="rect">
            <a:avLst/>
          </a:prstGeom>
          <a:noFill/>
          <a:ln>
            <a:noFill/>
          </a:ln>
        </p:spPr>
        <p:txBody>
          <a:bodyPr wrap="non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chemeClr val="tx1">
                    <a:lumMod val="90000"/>
                    <a:lumOff val="10000"/>
                  </a:schemeClr>
                </a:solidFill>
                <a:latin typeface="Calibri" panose="020F0502020204030204"/>
              </a:rPr>
              <a:t>Visibility</a:t>
            </a:r>
          </a:p>
        </p:txBody>
      </p:sp>
      <p:sp>
        <p:nvSpPr>
          <p:cNvPr id="25" name="TextBox 24">
            <a:extLst>
              <a:ext uri="{FF2B5EF4-FFF2-40B4-BE49-F238E27FC236}">
                <a16:creationId xmlns:a16="http://schemas.microsoft.com/office/drawing/2014/main" id="{10614624-8CD6-1928-FA31-2427768C4421}"/>
              </a:ext>
            </a:extLst>
          </p:cNvPr>
          <p:cNvSpPr txBox="1"/>
          <p:nvPr/>
        </p:nvSpPr>
        <p:spPr>
          <a:xfrm>
            <a:off x="9574795" y="5200618"/>
            <a:ext cx="1584000" cy="307777"/>
          </a:xfrm>
          <a:prstGeom prst="rect">
            <a:avLst/>
          </a:prstGeom>
          <a:noFill/>
          <a:ln>
            <a:no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chemeClr val="tx1">
                    <a:lumMod val="90000"/>
                    <a:lumOff val="10000"/>
                  </a:schemeClr>
                </a:solidFill>
                <a:latin typeface="Calibri" panose="020F0502020204030204"/>
              </a:rPr>
              <a:t>Cloud-Native</a:t>
            </a:r>
          </a:p>
        </p:txBody>
      </p:sp>
      <p:sp>
        <p:nvSpPr>
          <p:cNvPr id="26" name="TextBox 25">
            <a:extLst>
              <a:ext uri="{FF2B5EF4-FFF2-40B4-BE49-F238E27FC236}">
                <a16:creationId xmlns:a16="http://schemas.microsoft.com/office/drawing/2014/main" id="{7323F31A-A4AF-F4CC-2AE1-41A3222DCE2C}"/>
              </a:ext>
            </a:extLst>
          </p:cNvPr>
          <p:cNvSpPr txBox="1"/>
          <p:nvPr/>
        </p:nvSpPr>
        <p:spPr>
          <a:xfrm>
            <a:off x="5371374" y="5207895"/>
            <a:ext cx="1584000" cy="307777"/>
          </a:xfrm>
          <a:prstGeom prst="rect">
            <a:avLst/>
          </a:prstGeom>
          <a:noFill/>
          <a:ln>
            <a:noFill/>
          </a:ln>
        </p:spPr>
        <p:txBody>
          <a:bodyPr wrap="non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chemeClr val="tx1">
                    <a:lumMod val="90000"/>
                    <a:lumOff val="10000"/>
                  </a:schemeClr>
                </a:solidFill>
                <a:latin typeface="Calibri" panose="020F0502020204030204"/>
              </a:rPr>
              <a:t>Automation</a:t>
            </a:r>
          </a:p>
        </p:txBody>
      </p:sp>
      <p:sp>
        <p:nvSpPr>
          <p:cNvPr id="27" name="TextBox 26">
            <a:extLst>
              <a:ext uri="{FF2B5EF4-FFF2-40B4-BE49-F238E27FC236}">
                <a16:creationId xmlns:a16="http://schemas.microsoft.com/office/drawing/2014/main" id="{B6928215-3EE9-0D82-091C-84BBF3463D86}"/>
              </a:ext>
            </a:extLst>
          </p:cNvPr>
          <p:cNvSpPr txBox="1"/>
          <p:nvPr/>
        </p:nvSpPr>
        <p:spPr>
          <a:xfrm>
            <a:off x="3044555" y="5206971"/>
            <a:ext cx="1584000" cy="307777"/>
          </a:xfrm>
          <a:prstGeom prst="rect">
            <a:avLst/>
          </a:prstGeom>
          <a:noFill/>
          <a:ln>
            <a:noFill/>
          </a:ln>
        </p:spPr>
        <p:txBody>
          <a:bodyPr wrap="none"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600" b="1" i="0" u="none" strike="noStrike" cap="none" spc="300" normalizeH="0" baseline="0">
                <a:ln>
                  <a:noFill/>
                </a:ln>
                <a:solidFill>
                  <a:srgbClr val="222C33">
                    <a:lumMod val="75000"/>
                    <a:lumOff val="25000"/>
                  </a:srgbClr>
                </a:solidFill>
                <a:effectLst/>
                <a:uLnTx/>
                <a:uFillTx/>
                <a:latin typeface="Calibri" panose="020F0502020204030204"/>
              </a:defRPr>
            </a:lvl1pPr>
          </a:lstStyle>
          <a:p>
            <a:r>
              <a:rPr lang="en-US" sz="1800" spc="0">
                <a:solidFill>
                  <a:schemeClr val="tx1">
                    <a:lumMod val="90000"/>
                    <a:lumOff val="10000"/>
                  </a:schemeClr>
                </a:solidFill>
              </a:rPr>
              <a:t>Integrated</a:t>
            </a:r>
          </a:p>
        </p:txBody>
      </p:sp>
      <p:pic>
        <p:nvPicPr>
          <p:cNvPr id="29" name="Graphic 28" descr="Chevron arrows with solid fill">
            <a:extLst>
              <a:ext uri="{FF2B5EF4-FFF2-40B4-BE49-F238E27FC236}">
                <a16:creationId xmlns:a16="http://schemas.microsoft.com/office/drawing/2014/main" id="{88A74C08-8CE5-ABB5-53C5-C4FBC39CA67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31041" y="3796513"/>
            <a:ext cx="688083" cy="688083"/>
          </a:xfrm>
          <a:prstGeom prst="rect">
            <a:avLst/>
          </a:prstGeom>
        </p:spPr>
      </p:pic>
      <p:pic>
        <p:nvPicPr>
          <p:cNvPr id="36" name="Picture 35">
            <a:extLst>
              <a:ext uri="{FF2B5EF4-FFF2-40B4-BE49-F238E27FC236}">
                <a16:creationId xmlns:a16="http://schemas.microsoft.com/office/drawing/2014/main" id="{CAD4D334-65FC-5AFF-6147-51F6C8A15160}"/>
              </a:ext>
            </a:extLst>
          </p:cNvPr>
          <p:cNvPicPr>
            <a:picLocks noChangeAspect="1"/>
          </p:cNvPicPr>
          <p:nvPr/>
        </p:nvPicPr>
        <p:blipFill>
          <a:blip r:embed="rId5"/>
          <a:stretch>
            <a:fillRect/>
          </a:stretch>
        </p:blipFill>
        <p:spPr>
          <a:xfrm>
            <a:off x="2063727" y="3541657"/>
            <a:ext cx="2348854" cy="123459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extLst>
      <p:ext uri="{BB962C8B-B14F-4D97-AF65-F5344CB8AC3E}">
        <p14:creationId xmlns:p14="http://schemas.microsoft.com/office/powerpoint/2010/main" val="396341342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0"/>
                                        </p:tgtEl>
                                        <p:attrNameLst>
                                          <p:attrName>style.visibility</p:attrName>
                                        </p:attrNameLst>
                                      </p:cBhvr>
                                      <p:to>
                                        <p:strVal val="visible"/>
                                      </p:to>
                                    </p:set>
                                    <p:animEffect transition="in" filter="fade">
                                      <p:cBhvr>
                                        <p:cTn id="7" dur="1000"/>
                                        <p:tgtEl>
                                          <p:spTgt spid="140"/>
                                        </p:tgtEl>
                                      </p:cBhvr>
                                    </p:animEffect>
                                    <p:anim calcmode="lin" valueType="num">
                                      <p:cBhvr>
                                        <p:cTn id="8" dur="1000" fill="hold"/>
                                        <p:tgtEl>
                                          <p:spTgt spid="140"/>
                                        </p:tgtEl>
                                        <p:attrNameLst>
                                          <p:attrName>ppt_x</p:attrName>
                                        </p:attrNameLst>
                                      </p:cBhvr>
                                      <p:tavLst>
                                        <p:tav tm="0">
                                          <p:val>
                                            <p:strVal val="#ppt_x"/>
                                          </p:val>
                                        </p:tav>
                                        <p:tav tm="100000">
                                          <p:val>
                                            <p:strVal val="#ppt_x"/>
                                          </p:val>
                                        </p:tav>
                                      </p:tavLst>
                                    </p:anim>
                                    <p:anim calcmode="lin" valueType="num">
                                      <p:cBhvr>
                                        <p:cTn id="9" dur="1000" fill="hold"/>
                                        <p:tgtEl>
                                          <p:spTgt spid="14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47"/>
                                        </p:tgtEl>
                                        <p:attrNameLst>
                                          <p:attrName>style.visibility</p:attrName>
                                        </p:attrNameLst>
                                      </p:cBhvr>
                                      <p:to>
                                        <p:strVal val="visible"/>
                                      </p:to>
                                    </p:set>
                                    <p:animEffect transition="in" filter="fade">
                                      <p:cBhvr>
                                        <p:cTn id="12" dur="1000"/>
                                        <p:tgtEl>
                                          <p:spTgt spid="147"/>
                                        </p:tgtEl>
                                      </p:cBhvr>
                                    </p:animEffect>
                                    <p:anim calcmode="lin" valueType="num">
                                      <p:cBhvr>
                                        <p:cTn id="13" dur="1000" fill="hold"/>
                                        <p:tgtEl>
                                          <p:spTgt spid="147"/>
                                        </p:tgtEl>
                                        <p:attrNameLst>
                                          <p:attrName>ppt_x</p:attrName>
                                        </p:attrNameLst>
                                      </p:cBhvr>
                                      <p:tavLst>
                                        <p:tav tm="0">
                                          <p:val>
                                            <p:strVal val="#ppt_x"/>
                                          </p:val>
                                        </p:tav>
                                        <p:tav tm="100000">
                                          <p:val>
                                            <p:strVal val="#ppt_x"/>
                                          </p:val>
                                        </p:tav>
                                      </p:tavLst>
                                    </p:anim>
                                    <p:anim calcmode="lin" valueType="num">
                                      <p:cBhvr>
                                        <p:cTn id="14" dur="1000" fill="hold"/>
                                        <p:tgtEl>
                                          <p:spTgt spid="14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1000"/>
                                        <p:tgtEl>
                                          <p:spTgt spid="29"/>
                                        </p:tgtEl>
                                      </p:cBhvr>
                                    </p:animEffect>
                                    <p:anim calcmode="lin" valueType="num">
                                      <p:cBhvr>
                                        <p:cTn id="23" dur="1000" fill="hold"/>
                                        <p:tgtEl>
                                          <p:spTgt spid="29"/>
                                        </p:tgtEl>
                                        <p:attrNameLst>
                                          <p:attrName>ppt_x</p:attrName>
                                        </p:attrNameLst>
                                      </p:cBhvr>
                                      <p:tavLst>
                                        <p:tav tm="0">
                                          <p:val>
                                            <p:strVal val="#ppt_x"/>
                                          </p:val>
                                        </p:tav>
                                        <p:tav tm="100000">
                                          <p:val>
                                            <p:strVal val="#ppt_x"/>
                                          </p:val>
                                        </p:tav>
                                      </p:tavLst>
                                    </p:anim>
                                    <p:anim calcmode="lin" valueType="num">
                                      <p:cBhvr>
                                        <p:cTn id="24" dur="1000" fill="hold"/>
                                        <p:tgtEl>
                                          <p:spTgt spid="29"/>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1000"/>
                                        <p:tgtEl>
                                          <p:spTgt spid="4"/>
                                        </p:tgtEl>
                                      </p:cBhvr>
                                    </p:animEffect>
                                    <p:anim calcmode="lin" valueType="num">
                                      <p:cBhvr>
                                        <p:cTn id="28" dur="1000" fill="hold"/>
                                        <p:tgtEl>
                                          <p:spTgt spid="4"/>
                                        </p:tgtEl>
                                        <p:attrNameLst>
                                          <p:attrName>ppt_x</p:attrName>
                                        </p:attrNameLst>
                                      </p:cBhvr>
                                      <p:tavLst>
                                        <p:tav tm="0">
                                          <p:val>
                                            <p:strVal val="#ppt_x"/>
                                          </p:val>
                                        </p:tav>
                                        <p:tav tm="100000">
                                          <p:val>
                                            <p:strVal val="#ppt_x"/>
                                          </p:val>
                                        </p:tav>
                                      </p:tavLst>
                                    </p:anim>
                                    <p:anim calcmode="lin" valueType="num">
                                      <p:cBhvr>
                                        <p:cTn id="29" dur="1000" fill="hold"/>
                                        <p:tgtEl>
                                          <p:spTgt spid="4"/>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1000"/>
                                        <p:tgtEl>
                                          <p:spTgt spid="6"/>
                                        </p:tgtEl>
                                      </p:cBhvr>
                                    </p:animEffect>
                                    <p:anim calcmode="lin" valueType="num">
                                      <p:cBhvr>
                                        <p:cTn id="33" dur="1000" fill="hold"/>
                                        <p:tgtEl>
                                          <p:spTgt spid="6"/>
                                        </p:tgtEl>
                                        <p:attrNameLst>
                                          <p:attrName>ppt_x</p:attrName>
                                        </p:attrNameLst>
                                      </p:cBhvr>
                                      <p:tavLst>
                                        <p:tav tm="0">
                                          <p:val>
                                            <p:strVal val="#ppt_x"/>
                                          </p:val>
                                        </p:tav>
                                        <p:tav tm="100000">
                                          <p:val>
                                            <p:strVal val="#ppt_x"/>
                                          </p:val>
                                        </p:tav>
                                      </p:tavLst>
                                    </p:anim>
                                    <p:anim calcmode="lin" valueType="num">
                                      <p:cBhvr>
                                        <p:cTn id="34" dur="1000" fill="hold"/>
                                        <p:tgtEl>
                                          <p:spTgt spid="6"/>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1000"/>
                                        <p:tgtEl>
                                          <p:spTgt spid="36"/>
                                        </p:tgtEl>
                                      </p:cBhvr>
                                    </p:animEffect>
                                    <p:anim calcmode="lin" valueType="num">
                                      <p:cBhvr>
                                        <p:cTn id="38" dur="1000" fill="hold"/>
                                        <p:tgtEl>
                                          <p:spTgt spid="36"/>
                                        </p:tgtEl>
                                        <p:attrNameLst>
                                          <p:attrName>ppt_x</p:attrName>
                                        </p:attrNameLst>
                                      </p:cBhvr>
                                      <p:tavLst>
                                        <p:tav tm="0">
                                          <p:val>
                                            <p:strVal val="#ppt_x"/>
                                          </p:val>
                                        </p:tav>
                                        <p:tav tm="100000">
                                          <p:val>
                                            <p:strVal val="#ppt_x"/>
                                          </p:val>
                                        </p:tav>
                                      </p:tavLst>
                                    </p:anim>
                                    <p:anim calcmode="lin" valueType="num">
                                      <p:cBhvr>
                                        <p:cTn id="39"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1000"/>
                                        <p:tgtEl>
                                          <p:spTgt spid="7"/>
                                        </p:tgtEl>
                                      </p:cBhvr>
                                    </p:animEffect>
                                    <p:anim calcmode="lin" valueType="num">
                                      <p:cBhvr>
                                        <p:cTn id="45" dur="1000" fill="hold"/>
                                        <p:tgtEl>
                                          <p:spTgt spid="7"/>
                                        </p:tgtEl>
                                        <p:attrNameLst>
                                          <p:attrName>ppt_x</p:attrName>
                                        </p:attrNameLst>
                                      </p:cBhvr>
                                      <p:tavLst>
                                        <p:tav tm="0">
                                          <p:val>
                                            <p:strVal val="#ppt_x"/>
                                          </p:val>
                                        </p:tav>
                                        <p:tav tm="100000">
                                          <p:val>
                                            <p:strVal val="#ppt_x"/>
                                          </p:val>
                                        </p:tav>
                                      </p:tavLst>
                                    </p:anim>
                                    <p:anim calcmode="lin" valueType="num">
                                      <p:cBhvr>
                                        <p:cTn id="4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grpId="0" nodeType="clickEffect">
                                  <p:stCondLst>
                                    <p:cond delay="0"/>
                                  </p:stCondLst>
                                  <p:childTnLst>
                                    <p:set>
                                      <p:cBhvr>
                                        <p:cTn id="50" dur="1" fill="hold">
                                          <p:stCondLst>
                                            <p:cond delay="0"/>
                                          </p:stCondLst>
                                        </p:cTn>
                                        <p:tgtEl>
                                          <p:spTgt spid="142"/>
                                        </p:tgtEl>
                                        <p:attrNameLst>
                                          <p:attrName>style.visibility</p:attrName>
                                        </p:attrNameLst>
                                      </p:cBhvr>
                                      <p:to>
                                        <p:strVal val="visible"/>
                                      </p:to>
                                    </p:set>
                                    <p:anim calcmode="lin" valueType="num">
                                      <p:cBhvr>
                                        <p:cTn id="51" dur="500" fill="hold"/>
                                        <p:tgtEl>
                                          <p:spTgt spid="142"/>
                                        </p:tgtEl>
                                        <p:attrNameLst>
                                          <p:attrName>ppt_w</p:attrName>
                                        </p:attrNameLst>
                                      </p:cBhvr>
                                      <p:tavLst>
                                        <p:tav tm="0">
                                          <p:val>
                                            <p:fltVal val="0"/>
                                          </p:val>
                                        </p:tav>
                                        <p:tav tm="100000">
                                          <p:val>
                                            <p:strVal val="#ppt_w"/>
                                          </p:val>
                                        </p:tav>
                                      </p:tavLst>
                                    </p:anim>
                                    <p:anim calcmode="lin" valueType="num">
                                      <p:cBhvr>
                                        <p:cTn id="52" dur="500" fill="hold"/>
                                        <p:tgtEl>
                                          <p:spTgt spid="142"/>
                                        </p:tgtEl>
                                        <p:attrNameLst>
                                          <p:attrName>ppt_h</p:attrName>
                                        </p:attrNameLst>
                                      </p:cBhvr>
                                      <p:tavLst>
                                        <p:tav tm="0">
                                          <p:val>
                                            <p:fltVal val="0"/>
                                          </p:val>
                                        </p:tav>
                                        <p:tav tm="100000">
                                          <p:val>
                                            <p:strVal val="#ppt_h"/>
                                          </p:val>
                                        </p:tav>
                                      </p:tavLst>
                                    </p:anim>
                                    <p:animEffect transition="in" filter="fade">
                                      <p:cBhvr>
                                        <p:cTn id="53" dur="500"/>
                                        <p:tgtEl>
                                          <p:spTgt spid="142"/>
                                        </p:tgtEl>
                                      </p:cBhvr>
                                    </p:animEffect>
                                  </p:childTnLst>
                                </p:cTn>
                              </p:par>
                            </p:childTnLst>
                          </p:cTn>
                        </p:par>
                      </p:childTnLst>
                    </p:cTn>
                  </p:par>
                  <p:par>
                    <p:cTn id="54" fill="hold">
                      <p:stCondLst>
                        <p:cond delay="indefinite"/>
                      </p:stCondLst>
                      <p:childTnLst>
                        <p:par>
                          <p:cTn id="55" fill="hold">
                            <p:stCondLst>
                              <p:cond delay="0"/>
                            </p:stCondLst>
                            <p:childTnLst>
                              <p:par>
                                <p:cTn id="56" presetID="53" presetClass="entr" presetSubtype="16" fill="hold" grpId="0" nodeType="clickEffect">
                                  <p:stCondLst>
                                    <p:cond delay="0"/>
                                  </p:stCondLst>
                                  <p:childTnLst>
                                    <p:set>
                                      <p:cBhvr>
                                        <p:cTn id="57" dur="1" fill="hold">
                                          <p:stCondLst>
                                            <p:cond delay="0"/>
                                          </p:stCondLst>
                                        </p:cTn>
                                        <p:tgtEl>
                                          <p:spTgt spid="146"/>
                                        </p:tgtEl>
                                        <p:attrNameLst>
                                          <p:attrName>style.visibility</p:attrName>
                                        </p:attrNameLst>
                                      </p:cBhvr>
                                      <p:to>
                                        <p:strVal val="visible"/>
                                      </p:to>
                                    </p:set>
                                    <p:anim calcmode="lin" valueType="num">
                                      <p:cBhvr>
                                        <p:cTn id="58" dur="500" fill="hold"/>
                                        <p:tgtEl>
                                          <p:spTgt spid="146"/>
                                        </p:tgtEl>
                                        <p:attrNameLst>
                                          <p:attrName>ppt_w</p:attrName>
                                        </p:attrNameLst>
                                      </p:cBhvr>
                                      <p:tavLst>
                                        <p:tav tm="0">
                                          <p:val>
                                            <p:fltVal val="0"/>
                                          </p:val>
                                        </p:tav>
                                        <p:tav tm="100000">
                                          <p:val>
                                            <p:strVal val="#ppt_w"/>
                                          </p:val>
                                        </p:tav>
                                      </p:tavLst>
                                    </p:anim>
                                    <p:anim calcmode="lin" valueType="num">
                                      <p:cBhvr>
                                        <p:cTn id="59" dur="500" fill="hold"/>
                                        <p:tgtEl>
                                          <p:spTgt spid="146"/>
                                        </p:tgtEl>
                                        <p:attrNameLst>
                                          <p:attrName>ppt_h</p:attrName>
                                        </p:attrNameLst>
                                      </p:cBhvr>
                                      <p:tavLst>
                                        <p:tav tm="0">
                                          <p:val>
                                            <p:fltVal val="0"/>
                                          </p:val>
                                        </p:tav>
                                        <p:tav tm="100000">
                                          <p:val>
                                            <p:strVal val="#ppt_h"/>
                                          </p:val>
                                        </p:tav>
                                      </p:tavLst>
                                    </p:anim>
                                    <p:animEffect transition="in" filter="fade">
                                      <p:cBhvr>
                                        <p:cTn id="60" dur="500"/>
                                        <p:tgtEl>
                                          <p:spTgt spid="146"/>
                                        </p:tgtEl>
                                      </p:cBhvr>
                                    </p:animEffect>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grpId="0" nodeType="clickEffect">
                                  <p:stCondLst>
                                    <p:cond delay="0"/>
                                  </p:stCondLst>
                                  <p:childTnLst>
                                    <p:set>
                                      <p:cBhvr>
                                        <p:cTn id="64" dur="1" fill="hold">
                                          <p:stCondLst>
                                            <p:cond delay="0"/>
                                          </p:stCondLst>
                                        </p:cTn>
                                        <p:tgtEl>
                                          <p:spTgt spid="145"/>
                                        </p:tgtEl>
                                        <p:attrNameLst>
                                          <p:attrName>style.visibility</p:attrName>
                                        </p:attrNameLst>
                                      </p:cBhvr>
                                      <p:to>
                                        <p:strVal val="visible"/>
                                      </p:to>
                                    </p:set>
                                    <p:anim calcmode="lin" valueType="num">
                                      <p:cBhvr>
                                        <p:cTn id="65" dur="500" fill="hold"/>
                                        <p:tgtEl>
                                          <p:spTgt spid="145"/>
                                        </p:tgtEl>
                                        <p:attrNameLst>
                                          <p:attrName>ppt_w</p:attrName>
                                        </p:attrNameLst>
                                      </p:cBhvr>
                                      <p:tavLst>
                                        <p:tav tm="0">
                                          <p:val>
                                            <p:fltVal val="0"/>
                                          </p:val>
                                        </p:tav>
                                        <p:tav tm="100000">
                                          <p:val>
                                            <p:strVal val="#ppt_w"/>
                                          </p:val>
                                        </p:tav>
                                      </p:tavLst>
                                    </p:anim>
                                    <p:anim calcmode="lin" valueType="num">
                                      <p:cBhvr>
                                        <p:cTn id="66" dur="500" fill="hold"/>
                                        <p:tgtEl>
                                          <p:spTgt spid="145"/>
                                        </p:tgtEl>
                                        <p:attrNameLst>
                                          <p:attrName>ppt_h</p:attrName>
                                        </p:attrNameLst>
                                      </p:cBhvr>
                                      <p:tavLst>
                                        <p:tav tm="0">
                                          <p:val>
                                            <p:fltVal val="0"/>
                                          </p:val>
                                        </p:tav>
                                        <p:tav tm="100000">
                                          <p:val>
                                            <p:strVal val="#ppt_h"/>
                                          </p:val>
                                        </p:tav>
                                      </p:tavLst>
                                    </p:anim>
                                    <p:animEffect transition="in" filter="fade">
                                      <p:cBhvr>
                                        <p:cTn id="67" dur="500"/>
                                        <p:tgtEl>
                                          <p:spTgt spid="145"/>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ntr" presetSubtype="16" fill="hold" grpId="0" nodeType="clickEffect">
                                  <p:stCondLst>
                                    <p:cond delay="0"/>
                                  </p:stCondLst>
                                  <p:childTnLst>
                                    <p:set>
                                      <p:cBhvr>
                                        <p:cTn id="71" dur="1" fill="hold">
                                          <p:stCondLst>
                                            <p:cond delay="0"/>
                                          </p:stCondLst>
                                        </p:cTn>
                                        <p:tgtEl>
                                          <p:spTgt spid="143"/>
                                        </p:tgtEl>
                                        <p:attrNameLst>
                                          <p:attrName>style.visibility</p:attrName>
                                        </p:attrNameLst>
                                      </p:cBhvr>
                                      <p:to>
                                        <p:strVal val="visible"/>
                                      </p:to>
                                    </p:set>
                                    <p:anim calcmode="lin" valueType="num">
                                      <p:cBhvr>
                                        <p:cTn id="72" dur="500" fill="hold"/>
                                        <p:tgtEl>
                                          <p:spTgt spid="143"/>
                                        </p:tgtEl>
                                        <p:attrNameLst>
                                          <p:attrName>ppt_w</p:attrName>
                                        </p:attrNameLst>
                                      </p:cBhvr>
                                      <p:tavLst>
                                        <p:tav tm="0">
                                          <p:val>
                                            <p:fltVal val="0"/>
                                          </p:val>
                                        </p:tav>
                                        <p:tav tm="100000">
                                          <p:val>
                                            <p:strVal val="#ppt_w"/>
                                          </p:val>
                                        </p:tav>
                                      </p:tavLst>
                                    </p:anim>
                                    <p:anim calcmode="lin" valueType="num">
                                      <p:cBhvr>
                                        <p:cTn id="73" dur="500" fill="hold"/>
                                        <p:tgtEl>
                                          <p:spTgt spid="143"/>
                                        </p:tgtEl>
                                        <p:attrNameLst>
                                          <p:attrName>ppt_h</p:attrName>
                                        </p:attrNameLst>
                                      </p:cBhvr>
                                      <p:tavLst>
                                        <p:tav tm="0">
                                          <p:val>
                                            <p:fltVal val="0"/>
                                          </p:val>
                                        </p:tav>
                                        <p:tav tm="100000">
                                          <p:val>
                                            <p:strVal val="#ppt_h"/>
                                          </p:val>
                                        </p:tav>
                                      </p:tavLst>
                                    </p:anim>
                                    <p:animEffect transition="in" filter="fade">
                                      <p:cBhvr>
                                        <p:cTn id="74" dur="500"/>
                                        <p:tgtEl>
                                          <p:spTgt spid="143"/>
                                        </p:tgtEl>
                                      </p:cBhvr>
                                    </p:animEffect>
                                  </p:childTnLst>
                                </p:cTn>
                              </p:par>
                            </p:childTnLst>
                          </p:cTn>
                        </p:par>
                      </p:childTnLst>
                    </p:cTn>
                  </p:par>
                  <p:par>
                    <p:cTn id="75" fill="hold">
                      <p:stCondLst>
                        <p:cond delay="indefinite"/>
                      </p:stCondLst>
                      <p:childTnLst>
                        <p:par>
                          <p:cTn id="76" fill="hold">
                            <p:stCondLst>
                              <p:cond delay="0"/>
                            </p:stCondLst>
                            <p:childTnLst>
                              <p:par>
                                <p:cTn id="77" presetID="53" presetClass="entr" presetSubtype="16" fill="hold" grpId="0" nodeType="clickEffect">
                                  <p:stCondLst>
                                    <p:cond delay="0"/>
                                  </p:stCondLst>
                                  <p:childTnLst>
                                    <p:set>
                                      <p:cBhvr>
                                        <p:cTn id="78" dur="1" fill="hold">
                                          <p:stCondLst>
                                            <p:cond delay="0"/>
                                          </p:stCondLst>
                                        </p:cTn>
                                        <p:tgtEl>
                                          <p:spTgt spid="144"/>
                                        </p:tgtEl>
                                        <p:attrNameLst>
                                          <p:attrName>style.visibility</p:attrName>
                                        </p:attrNameLst>
                                      </p:cBhvr>
                                      <p:to>
                                        <p:strVal val="visible"/>
                                      </p:to>
                                    </p:set>
                                    <p:anim calcmode="lin" valueType="num">
                                      <p:cBhvr>
                                        <p:cTn id="79" dur="500" fill="hold"/>
                                        <p:tgtEl>
                                          <p:spTgt spid="144"/>
                                        </p:tgtEl>
                                        <p:attrNameLst>
                                          <p:attrName>ppt_w</p:attrName>
                                        </p:attrNameLst>
                                      </p:cBhvr>
                                      <p:tavLst>
                                        <p:tav tm="0">
                                          <p:val>
                                            <p:fltVal val="0"/>
                                          </p:val>
                                        </p:tav>
                                        <p:tav tm="100000">
                                          <p:val>
                                            <p:strVal val="#ppt_w"/>
                                          </p:val>
                                        </p:tav>
                                      </p:tavLst>
                                    </p:anim>
                                    <p:anim calcmode="lin" valueType="num">
                                      <p:cBhvr>
                                        <p:cTn id="80" dur="500" fill="hold"/>
                                        <p:tgtEl>
                                          <p:spTgt spid="144"/>
                                        </p:tgtEl>
                                        <p:attrNameLst>
                                          <p:attrName>ppt_h</p:attrName>
                                        </p:attrNameLst>
                                      </p:cBhvr>
                                      <p:tavLst>
                                        <p:tav tm="0">
                                          <p:val>
                                            <p:fltVal val="0"/>
                                          </p:val>
                                        </p:tav>
                                        <p:tav tm="100000">
                                          <p:val>
                                            <p:strVal val="#ppt_h"/>
                                          </p:val>
                                        </p:tav>
                                      </p:tavLst>
                                    </p:anim>
                                    <p:animEffect transition="in" filter="fade">
                                      <p:cBhvr>
                                        <p:cTn id="81" dur="500"/>
                                        <p:tgtEl>
                                          <p:spTgt spid="144"/>
                                        </p:tgtEl>
                                      </p:cBhvr>
                                    </p:animEffect>
                                  </p:childTnLst>
                                </p:cTn>
                              </p:par>
                            </p:childTnLst>
                          </p:cTn>
                        </p:par>
                      </p:childTnLst>
                    </p:cTn>
                  </p:par>
                  <p:par>
                    <p:cTn id="82" fill="hold">
                      <p:stCondLst>
                        <p:cond delay="indefinite"/>
                      </p:stCondLst>
                      <p:childTnLst>
                        <p:par>
                          <p:cTn id="83" fill="hold">
                            <p:stCondLst>
                              <p:cond delay="0"/>
                            </p:stCondLst>
                            <p:childTnLst>
                              <p:par>
                                <p:cTn id="84" presetID="53" presetClass="entr" presetSubtype="16" fill="hold" grpId="0" nodeType="clickEffect">
                                  <p:stCondLst>
                                    <p:cond delay="0"/>
                                  </p:stCondLst>
                                  <p:childTnLst>
                                    <p:set>
                                      <p:cBhvr>
                                        <p:cTn id="85" dur="1" fill="hold">
                                          <p:stCondLst>
                                            <p:cond delay="0"/>
                                          </p:stCondLst>
                                        </p:cTn>
                                        <p:tgtEl>
                                          <p:spTgt spid="23"/>
                                        </p:tgtEl>
                                        <p:attrNameLst>
                                          <p:attrName>style.visibility</p:attrName>
                                        </p:attrNameLst>
                                      </p:cBhvr>
                                      <p:to>
                                        <p:strVal val="visible"/>
                                      </p:to>
                                    </p:set>
                                    <p:anim calcmode="lin" valueType="num">
                                      <p:cBhvr>
                                        <p:cTn id="86" dur="500" fill="hold"/>
                                        <p:tgtEl>
                                          <p:spTgt spid="23"/>
                                        </p:tgtEl>
                                        <p:attrNameLst>
                                          <p:attrName>ppt_w</p:attrName>
                                        </p:attrNameLst>
                                      </p:cBhvr>
                                      <p:tavLst>
                                        <p:tav tm="0">
                                          <p:val>
                                            <p:fltVal val="0"/>
                                          </p:val>
                                        </p:tav>
                                        <p:tav tm="100000">
                                          <p:val>
                                            <p:strVal val="#ppt_w"/>
                                          </p:val>
                                        </p:tav>
                                      </p:tavLst>
                                    </p:anim>
                                    <p:anim calcmode="lin" valueType="num">
                                      <p:cBhvr>
                                        <p:cTn id="87" dur="500" fill="hold"/>
                                        <p:tgtEl>
                                          <p:spTgt spid="23"/>
                                        </p:tgtEl>
                                        <p:attrNameLst>
                                          <p:attrName>ppt_h</p:attrName>
                                        </p:attrNameLst>
                                      </p:cBhvr>
                                      <p:tavLst>
                                        <p:tav tm="0">
                                          <p:val>
                                            <p:fltVal val="0"/>
                                          </p:val>
                                        </p:tav>
                                        <p:tav tm="100000">
                                          <p:val>
                                            <p:strVal val="#ppt_h"/>
                                          </p:val>
                                        </p:tav>
                                      </p:tavLst>
                                    </p:anim>
                                    <p:animEffect transition="in" filter="fade">
                                      <p:cBhvr>
                                        <p:cTn id="88" dur="500"/>
                                        <p:tgtEl>
                                          <p:spTgt spid="23"/>
                                        </p:tgtEl>
                                      </p:cBhvr>
                                    </p:animEffect>
                                  </p:childTnLst>
                                </p:cTn>
                              </p:par>
                            </p:childTnLst>
                          </p:cTn>
                        </p:par>
                      </p:childTnLst>
                    </p:cTn>
                  </p:par>
                  <p:par>
                    <p:cTn id="89" fill="hold">
                      <p:stCondLst>
                        <p:cond delay="indefinite"/>
                      </p:stCondLst>
                      <p:childTnLst>
                        <p:par>
                          <p:cTn id="90" fill="hold">
                            <p:stCondLst>
                              <p:cond delay="0"/>
                            </p:stCondLst>
                            <p:childTnLst>
                              <p:par>
                                <p:cTn id="91" presetID="53" presetClass="entr" presetSubtype="16" fill="hold" grpId="0" nodeType="clickEffect">
                                  <p:stCondLst>
                                    <p:cond delay="0"/>
                                  </p:stCondLst>
                                  <p:childTnLst>
                                    <p:set>
                                      <p:cBhvr>
                                        <p:cTn id="92" dur="1" fill="hold">
                                          <p:stCondLst>
                                            <p:cond delay="0"/>
                                          </p:stCondLst>
                                        </p:cTn>
                                        <p:tgtEl>
                                          <p:spTgt spid="27"/>
                                        </p:tgtEl>
                                        <p:attrNameLst>
                                          <p:attrName>style.visibility</p:attrName>
                                        </p:attrNameLst>
                                      </p:cBhvr>
                                      <p:to>
                                        <p:strVal val="visible"/>
                                      </p:to>
                                    </p:set>
                                    <p:anim calcmode="lin" valueType="num">
                                      <p:cBhvr>
                                        <p:cTn id="93" dur="500" fill="hold"/>
                                        <p:tgtEl>
                                          <p:spTgt spid="27"/>
                                        </p:tgtEl>
                                        <p:attrNameLst>
                                          <p:attrName>ppt_w</p:attrName>
                                        </p:attrNameLst>
                                      </p:cBhvr>
                                      <p:tavLst>
                                        <p:tav tm="0">
                                          <p:val>
                                            <p:fltVal val="0"/>
                                          </p:val>
                                        </p:tav>
                                        <p:tav tm="100000">
                                          <p:val>
                                            <p:strVal val="#ppt_w"/>
                                          </p:val>
                                        </p:tav>
                                      </p:tavLst>
                                    </p:anim>
                                    <p:anim calcmode="lin" valueType="num">
                                      <p:cBhvr>
                                        <p:cTn id="94" dur="500" fill="hold"/>
                                        <p:tgtEl>
                                          <p:spTgt spid="27"/>
                                        </p:tgtEl>
                                        <p:attrNameLst>
                                          <p:attrName>ppt_h</p:attrName>
                                        </p:attrNameLst>
                                      </p:cBhvr>
                                      <p:tavLst>
                                        <p:tav tm="0">
                                          <p:val>
                                            <p:fltVal val="0"/>
                                          </p:val>
                                        </p:tav>
                                        <p:tav tm="100000">
                                          <p:val>
                                            <p:strVal val="#ppt_h"/>
                                          </p:val>
                                        </p:tav>
                                      </p:tavLst>
                                    </p:anim>
                                    <p:animEffect transition="in" filter="fade">
                                      <p:cBhvr>
                                        <p:cTn id="95" dur="500"/>
                                        <p:tgtEl>
                                          <p:spTgt spid="27"/>
                                        </p:tgtEl>
                                      </p:cBhvr>
                                    </p:animEffect>
                                  </p:childTnLst>
                                </p:cTn>
                              </p:par>
                            </p:childTnLst>
                          </p:cTn>
                        </p:par>
                      </p:childTnLst>
                    </p:cTn>
                  </p:par>
                  <p:par>
                    <p:cTn id="96" fill="hold">
                      <p:stCondLst>
                        <p:cond delay="indefinite"/>
                      </p:stCondLst>
                      <p:childTnLst>
                        <p:par>
                          <p:cTn id="97" fill="hold">
                            <p:stCondLst>
                              <p:cond delay="0"/>
                            </p:stCondLst>
                            <p:childTnLst>
                              <p:par>
                                <p:cTn id="98" presetID="53" presetClass="entr" presetSubtype="16" fill="hold" grpId="0" nodeType="clickEffect">
                                  <p:stCondLst>
                                    <p:cond delay="0"/>
                                  </p:stCondLst>
                                  <p:childTnLst>
                                    <p:set>
                                      <p:cBhvr>
                                        <p:cTn id="99" dur="1" fill="hold">
                                          <p:stCondLst>
                                            <p:cond delay="0"/>
                                          </p:stCondLst>
                                        </p:cTn>
                                        <p:tgtEl>
                                          <p:spTgt spid="26"/>
                                        </p:tgtEl>
                                        <p:attrNameLst>
                                          <p:attrName>style.visibility</p:attrName>
                                        </p:attrNameLst>
                                      </p:cBhvr>
                                      <p:to>
                                        <p:strVal val="visible"/>
                                      </p:to>
                                    </p:set>
                                    <p:anim calcmode="lin" valueType="num">
                                      <p:cBhvr>
                                        <p:cTn id="100" dur="500" fill="hold"/>
                                        <p:tgtEl>
                                          <p:spTgt spid="26"/>
                                        </p:tgtEl>
                                        <p:attrNameLst>
                                          <p:attrName>ppt_w</p:attrName>
                                        </p:attrNameLst>
                                      </p:cBhvr>
                                      <p:tavLst>
                                        <p:tav tm="0">
                                          <p:val>
                                            <p:fltVal val="0"/>
                                          </p:val>
                                        </p:tav>
                                        <p:tav tm="100000">
                                          <p:val>
                                            <p:strVal val="#ppt_w"/>
                                          </p:val>
                                        </p:tav>
                                      </p:tavLst>
                                    </p:anim>
                                    <p:anim calcmode="lin" valueType="num">
                                      <p:cBhvr>
                                        <p:cTn id="101" dur="500" fill="hold"/>
                                        <p:tgtEl>
                                          <p:spTgt spid="26"/>
                                        </p:tgtEl>
                                        <p:attrNameLst>
                                          <p:attrName>ppt_h</p:attrName>
                                        </p:attrNameLst>
                                      </p:cBhvr>
                                      <p:tavLst>
                                        <p:tav tm="0">
                                          <p:val>
                                            <p:fltVal val="0"/>
                                          </p:val>
                                        </p:tav>
                                        <p:tav tm="100000">
                                          <p:val>
                                            <p:strVal val="#ppt_h"/>
                                          </p:val>
                                        </p:tav>
                                      </p:tavLst>
                                    </p:anim>
                                    <p:animEffect transition="in" filter="fade">
                                      <p:cBhvr>
                                        <p:cTn id="102" dur="500"/>
                                        <p:tgtEl>
                                          <p:spTgt spid="26"/>
                                        </p:tgtEl>
                                      </p:cBhvr>
                                    </p:animEffect>
                                  </p:childTnLst>
                                </p:cTn>
                              </p:par>
                            </p:childTnLst>
                          </p:cTn>
                        </p:par>
                      </p:childTnLst>
                    </p:cTn>
                  </p:par>
                  <p:par>
                    <p:cTn id="103" fill="hold">
                      <p:stCondLst>
                        <p:cond delay="indefinite"/>
                      </p:stCondLst>
                      <p:childTnLst>
                        <p:par>
                          <p:cTn id="104" fill="hold">
                            <p:stCondLst>
                              <p:cond delay="0"/>
                            </p:stCondLst>
                            <p:childTnLst>
                              <p:par>
                                <p:cTn id="105" presetID="53" presetClass="entr" presetSubtype="16" fill="hold" grpId="0" nodeType="clickEffect">
                                  <p:stCondLst>
                                    <p:cond delay="0"/>
                                  </p:stCondLst>
                                  <p:childTnLst>
                                    <p:set>
                                      <p:cBhvr>
                                        <p:cTn id="106" dur="1" fill="hold">
                                          <p:stCondLst>
                                            <p:cond delay="0"/>
                                          </p:stCondLst>
                                        </p:cTn>
                                        <p:tgtEl>
                                          <p:spTgt spid="24">
                                            <p:txEl>
                                              <p:pRg st="0" end="0"/>
                                            </p:txEl>
                                          </p:spTgt>
                                        </p:tgtEl>
                                        <p:attrNameLst>
                                          <p:attrName>style.visibility</p:attrName>
                                        </p:attrNameLst>
                                      </p:cBhvr>
                                      <p:to>
                                        <p:strVal val="visible"/>
                                      </p:to>
                                    </p:set>
                                    <p:anim calcmode="lin" valueType="num">
                                      <p:cBhvr>
                                        <p:cTn id="107" dur="500" fill="hold"/>
                                        <p:tgtEl>
                                          <p:spTgt spid="24">
                                            <p:txEl>
                                              <p:pRg st="0" end="0"/>
                                            </p:txEl>
                                          </p:spTgt>
                                        </p:tgtEl>
                                        <p:attrNameLst>
                                          <p:attrName>ppt_w</p:attrName>
                                        </p:attrNameLst>
                                      </p:cBhvr>
                                      <p:tavLst>
                                        <p:tav tm="0">
                                          <p:val>
                                            <p:fltVal val="0"/>
                                          </p:val>
                                        </p:tav>
                                        <p:tav tm="100000">
                                          <p:val>
                                            <p:strVal val="#ppt_w"/>
                                          </p:val>
                                        </p:tav>
                                      </p:tavLst>
                                    </p:anim>
                                    <p:anim calcmode="lin" valueType="num">
                                      <p:cBhvr>
                                        <p:cTn id="108" dur="500" fill="hold"/>
                                        <p:tgtEl>
                                          <p:spTgt spid="24">
                                            <p:txEl>
                                              <p:pRg st="0" end="0"/>
                                            </p:txEl>
                                          </p:spTgt>
                                        </p:tgtEl>
                                        <p:attrNameLst>
                                          <p:attrName>ppt_h</p:attrName>
                                        </p:attrNameLst>
                                      </p:cBhvr>
                                      <p:tavLst>
                                        <p:tav tm="0">
                                          <p:val>
                                            <p:fltVal val="0"/>
                                          </p:val>
                                        </p:tav>
                                        <p:tav tm="100000">
                                          <p:val>
                                            <p:strVal val="#ppt_h"/>
                                          </p:val>
                                        </p:tav>
                                      </p:tavLst>
                                    </p:anim>
                                    <p:animEffect transition="in" filter="fade">
                                      <p:cBhvr>
                                        <p:cTn id="109" dur="500"/>
                                        <p:tgtEl>
                                          <p:spTgt spid="24">
                                            <p:txEl>
                                              <p:pRg st="0" end="0"/>
                                            </p:txEl>
                                          </p:spTgt>
                                        </p:tgtEl>
                                      </p:cBhvr>
                                    </p:animEffect>
                                  </p:childTnLst>
                                </p:cTn>
                              </p:par>
                            </p:childTnLst>
                          </p:cTn>
                        </p:par>
                      </p:childTnLst>
                    </p:cTn>
                  </p:par>
                  <p:par>
                    <p:cTn id="110" fill="hold">
                      <p:stCondLst>
                        <p:cond delay="indefinite"/>
                      </p:stCondLst>
                      <p:childTnLst>
                        <p:par>
                          <p:cTn id="111" fill="hold">
                            <p:stCondLst>
                              <p:cond delay="0"/>
                            </p:stCondLst>
                            <p:childTnLst>
                              <p:par>
                                <p:cTn id="112" presetID="53" presetClass="entr" presetSubtype="16" fill="hold" grpId="0" nodeType="clickEffect">
                                  <p:stCondLst>
                                    <p:cond delay="0"/>
                                  </p:stCondLst>
                                  <p:childTnLst>
                                    <p:set>
                                      <p:cBhvr>
                                        <p:cTn id="113" dur="1" fill="hold">
                                          <p:stCondLst>
                                            <p:cond delay="0"/>
                                          </p:stCondLst>
                                        </p:cTn>
                                        <p:tgtEl>
                                          <p:spTgt spid="25"/>
                                        </p:tgtEl>
                                        <p:attrNameLst>
                                          <p:attrName>style.visibility</p:attrName>
                                        </p:attrNameLst>
                                      </p:cBhvr>
                                      <p:to>
                                        <p:strVal val="visible"/>
                                      </p:to>
                                    </p:set>
                                    <p:anim calcmode="lin" valueType="num">
                                      <p:cBhvr>
                                        <p:cTn id="114" dur="500" fill="hold"/>
                                        <p:tgtEl>
                                          <p:spTgt spid="25"/>
                                        </p:tgtEl>
                                        <p:attrNameLst>
                                          <p:attrName>ppt_w</p:attrName>
                                        </p:attrNameLst>
                                      </p:cBhvr>
                                      <p:tavLst>
                                        <p:tav tm="0">
                                          <p:val>
                                            <p:fltVal val="0"/>
                                          </p:val>
                                        </p:tav>
                                        <p:tav tm="100000">
                                          <p:val>
                                            <p:strVal val="#ppt_w"/>
                                          </p:val>
                                        </p:tav>
                                      </p:tavLst>
                                    </p:anim>
                                    <p:anim calcmode="lin" valueType="num">
                                      <p:cBhvr>
                                        <p:cTn id="115" dur="500" fill="hold"/>
                                        <p:tgtEl>
                                          <p:spTgt spid="25"/>
                                        </p:tgtEl>
                                        <p:attrNameLst>
                                          <p:attrName>ppt_h</p:attrName>
                                        </p:attrNameLst>
                                      </p:cBhvr>
                                      <p:tavLst>
                                        <p:tav tm="0">
                                          <p:val>
                                            <p:fltVal val="0"/>
                                          </p:val>
                                        </p:tav>
                                        <p:tav tm="100000">
                                          <p:val>
                                            <p:strVal val="#ppt_h"/>
                                          </p:val>
                                        </p:tav>
                                      </p:tavLst>
                                    </p:anim>
                                    <p:animEffect transition="in" filter="fade">
                                      <p:cBhvr>
                                        <p:cTn id="116" dur="500"/>
                                        <p:tgtEl>
                                          <p:spTgt spid="25"/>
                                        </p:tgtEl>
                                      </p:cBhvr>
                                    </p:animEffect>
                                  </p:childTnLst>
                                </p:cTn>
                              </p:par>
                            </p:childTnLst>
                          </p:cTn>
                        </p:par>
                      </p:childTnLst>
                    </p:cTn>
                  </p:par>
                  <p:par>
                    <p:cTn id="117" fill="hold">
                      <p:stCondLst>
                        <p:cond delay="indefinite"/>
                      </p:stCondLst>
                      <p:childTnLst>
                        <p:par>
                          <p:cTn id="118" fill="hold">
                            <p:stCondLst>
                              <p:cond delay="0"/>
                            </p:stCondLst>
                            <p:childTnLst>
                              <p:par>
                                <p:cTn id="119" presetID="19" presetClass="emph" presetSubtype="0" fill="hold" grpId="1" nodeType="clickEffect">
                                  <p:stCondLst>
                                    <p:cond delay="0"/>
                                  </p:stCondLst>
                                  <p:childTnLst>
                                    <p:animClr clrSpc="rgb" dir="cw">
                                      <p:cBhvr override="childStyle">
                                        <p:cTn id="120" dur="500" fill="hold"/>
                                        <p:tgtEl>
                                          <p:spTgt spid="24">
                                            <p:txEl>
                                              <p:pRg st="0" end="0"/>
                                            </p:txEl>
                                          </p:spTgt>
                                        </p:tgtEl>
                                        <p:attrNameLst>
                                          <p:attrName>style.color</p:attrName>
                                        </p:attrNameLst>
                                      </p:cBhvr>
                                      <p:to>
                                        <a:srgbClr val="F7BC46"/>
                                      </p:to>
                                    </p:animClr>
                                    <p:animClr clrSpc="rgb" dir="cw">
                                      <p:cBhvr>
                                        <p:cTn id="121" dur="500" fill="hold"/>
                                        <p:tgtEl>
                                          <p:spTgt spid="24">
                                            <p:txEl>
                                              <p:pRg st="0" end="0"/>
                                            </p:txEl>
                                          </p:spTgt>
                                        </p:tgtEl>
                                        <p:attrNameLst>
                                          <p:attrName>fillcolor</p:attrName>
                                        </p:attrNameLst>
                                      </p:cBhvr>
                                      <p:to>
                                        <a:srgbClr val="F7BC46"/>
                                      </p:to>
                                    </p:animClr>
                                    <p:set>
                                      <p:cBhvr>
                                        <p:cTn id="122" dur="500" fill="hold"/>
                                        <p:tgtEl>
                                          <p:spTgt spid="24">
                                            <p:txEl>
                                              <p:pRg st="0" end="0"/>
                                            </p:txEl>
                                          </p:spTgt>
                                        </p:tgtEl>
                                        <p:attrNameLst>
                                          <p:attrName>fill.type</p:attrName>
                                        </p:attrNameLst>
                                      </p:cBhvr>
                                      <p:to>
                                        <p:strVal val="solid"/>
                                      </p:to>
                                    </p:set>
                                    <p:set>
                                      <p:cBhvr>
                                        <p:cTn id="123" dur="500" fill="hold"/>
                                        <p:tgtEl>
                                          <p:spTgt spid="24">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animBg="1"/>
      <p:bldP spid="142" grpId="0"/>
      <p:bldP spid="143" grpId="0"/>
      <p:bldP spid="144" grpId="0"/>
      <p:bldP spid="145" grpId="0"/>
      <p:bldP spid="146" grpId="0"/>
      <p:bldP spid="147" grpId="0" animBg="1"/>
      <p:bldP spid="2" grpId="0"/>
      <p:bldP spid="4" grpId="0" animBg="1"/>
      <p:bldP spid="6" grpId="0"/>
      <p:bldP spid="7" grpId="0"/>
      <p:bldP spid="23" grpId="0"/>
      <p:bldP spid="24" grpId="0" build="allAtOnce"/>
      <p:bldP spid="24" grpId="1" build="allAtOnce"/>
      <p:bldP spid="25" grpId="0"/>
      <p:bldP spid="26" grpId="0"/>
      <p:bldP spid="2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Graphic 74" descr="Cloud with solid fill">
            <a:extLst>
              <a:ext uri="{FF2B5EF4-FFF2-40B4-BE49-F238E27FC236}">
                <a16:creationId xmlns:a16="http://schemas.microsoft.com/office/drawing/2014/main" id="{640DF5BF-F42B-3563-FC1D-0BCD30BFF1B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15842" y="5255329"/>
            <a:ext cx="914400" cy="914400"/>
          </a:xfrm>
          <a:prstGeom prst="rect">
            <a:avLst/>
          </a:prstGeom>
          <a:effectLst>
            <a:glow rad="101600">
              <a:srgbClr val="7030A0">
                <a:alpha val="60000"/>
              </a:srgbClr>
            </a:glow>
          </a:effectLst>
        </p:spPr>
      </p:pic>
      <p:pic>
        <p:nvPicPr>
          <p:cNvPr id="49" name="Picture 48">
            <a:extLst>
              <a:ext uri="{FF2B5EF4-FFF2-40B4-BE49-F238E27FC236}">
                <a16:creationId xmlns:a16="http://schemas.microsoft.com/office/drawing/2014/main" id="{88A80A1E-D62B-BB85-5A51-4150361BCE30}"/>
              </a:ext>
            </a:extLst>
          </p:cNvPr>
          <p:cNvPicPr>
            <a:picLocks noChangeAspect="1"/>
          </p:cNvPicPr>
          <p:nvPr/>
        </p:nvPicPr>
        <p:blipFill>
          <a:blip r:embed="rId5"/>
          <a:stretch>
            <a:fillRect/>
          </a:stretch>
        </p:blipFill>
        <p:spPr>
          <a:xfrm>
            <a:off x="7900209" y="5813505"/>
            <a:ext cx="326060" cy="351291"/>
          </a:xfrm>
          <a:prstGeom prst="rect">
            <a:avLst/>
          </a:prstGeom>
        </p:spPr>
      </p:pic>
      <p:pic>
        <p:nvPicPr>
          <p:cNvPr id="46" name="Picture 45">
            <a:extLst>
              <a:ext uri="{FF2B5EF4-FFF2-40B4-BE49-F238E27FC236}">
                <a16:creationId xmlns:a16="http://schemas.microsoft.com/office/drawing/2014/main" id="{8A86772A-27AB-81C2-5751-67707AC320CC}"/>
              </a:ext>
            </a:extLst>
          </p:cNvPr>
          <p:cNvPicPr>
            <a:picLocks noChangeAspect="1"/>
          </p:cNvPicPr>
          <p:nvPr/>
        </p:nvPicPr>
        <p:blipFill>
          <a:blip r:embed="rId6"/>
          <a:stretch>
            <a:fillRect/>
          </a:stretch>
        </p:blipFill>
        <p:spPr>
          <a:xfrm>
            <a:off x="8792952" y="5859188"/>
            <a:ext cx="325416" cy="297573"/>
          </a:xfrm>
          <a:prstGeom prst="rect">
            <a:avLst/>
          </a:prstGeom>
        </p:spPr>
      </p:pic>
      <p:sp>
        <p:nvSpPr>
          <p:cNvPr id="2" name="Title 1">
            <a:extLst>
              <a:ext uri="{FF2B5EF4-FFF2-40B4-BE49-F238E27FC236}">
                <a16:creationId xmlns:a16="http://schemas.microsoft.com/office/drawing/2014/main" id="{24331B3A-C735-F96F-D731-E6D7FF82F7CF}"/>
              </a:ext>
            </a:extLst>
          </p:cNvPr>
          <p:cNvSpPr>
            <a:spLocks noGrp="1"/>
          </p:cNvSpPr>
          <p:nvPr>
            <p:ph type="title"/>
          </p:nvPr>
        </p:nvSpPr>
        <p:spPr>
          <a:xfrm>
            <a:off x="284296" y="139302"/>
            <a:ext cx="11245946" cy="757130"/>
          </a:xfrm>
        </p:spPr>
        <p:txBody>
          <a:bodyPr/>
          <a:lstStyle/>
          <a:p>
            <a:r>
              <a:rPr lang="en-US" sz="2800"/>
              <a:t>The Cato SASE Cloud Platform keeps it simple</a:t>
            </a:r>
            <a:br>
              <a:rPr lang="en-US"/>
            </a:br>
            <a:r>
              <a:rPr lang="en-US" sz="2000" b="0">
                <a:solidFill>
                  <a:schemeClr val="tx1"/>
                </a:solidFill>
              </a:rPr>
              <a:t>Converged Architecture for Total Visibility, Optimization, and Control</a:t>
            </a:r>
            <a:r>
              <a:rPr lang="en-US" sz="2000"/>
              <a:t> </a:t>
            </a:r>
            <a:endParaRPr lang="en-US" sz="1800"/>
          </a:p>
        </p:txBody>
      </p:sp>
      <p:sp>
        <p:nvSpPr>
          <p:cNvPr id="4" name="Slide Number Placeholder 3">
            <a:extLst>
              <a:ext uri="{FF2B5EF4-FFF2-40B4-BE49-F238E27FC236}">
                <a16:creationId xmlns:a16="http://schemas.microsoft.com/office/drawing/2014/main" id="{FE7FB360-D41B-D210-BB4F-511AC1E8505E}"/>
              </a:ext>
            </a:extLst>
          </p:cNvPr>
          <p:cNvSpPr>
            <a:spLocks noGrp="1"/>
          </p:cNvSpPr>
          <p:nvPr>
            <p:ph type="sldNum" sz="quarter" idx="4"/>
          </p:nvPr>
        </p:nvSpPr>
        <p:spPr>
          <a:xfrm>
            <a:off x="11381419" y="6561817"/>
            <a:ext cx="408632" cy="244661"/>
          </a:xfrm>
        </p:spPr>
        <p:txBody>
          <a:bodyPr/>
          <a:lstStyle/>
          <a:p>
            <a:r>
              <a:rPr lang="en-US"/>
              <a:t>| </a:t>
            </a:r>
            <a:fld id="{FEC5E14B-9965-442C-8683-0E66DD8427DC}" type="slidenum">
              <a:rPr lang="en-US" smtClean="0"/>
              <a:pPr/>
              <a:t>6</a:t>
            </a:fld>
            <a:endParaRPr lang="en-US"/>
          </a:p>
        </p:txBody>
      </p:sp>
      <p:sp>
        <p:nvSpPr>
          <p:cNvPr id="9" name="Freeform 5">
            <a:extLst>
              <a:ext uri="{FF2B5EF4-FFF2-40B4-BE49-F238E27FC236}">
                <a16:creationId xmlns:a16="http://schemas.microsoft.com/office/drawing/2014/main" id="{6AB886B7-AD45-F163-24B0-B2A7B7CF0D83}"/>
              </a:ext>
            </a:extLst>
          </p:cNvPr>
          <p:cNvSpPr>
            <a:spLocks/>
          </p:cNvSpPr>
          <p:nvPr/>
        </p:nvSpPr>
        <p:spPr bwMode="auto">
          <a:xfrm>
            <a:off x="5684559" y="672658"/>
            <a:ext cx="5229225" cy="3776473"/>
          </a:xfrm>
          <a:custGeom>
            <a:avLst/>
            <a:gdLst>
              <a:gd name="T0" fmla="*/ 1188 w 1472"/>
              <a:gd name="T1" fmla="*/ 418 h 1096"/>
              <a:gd name="T2" fmla="*/ 730 w 1472"/>
              <a:gd name="T3" fmla="*/ 0 h 1096"/>
              <a:gd name="T4" fmla="*/ 730 w 1472"/>
              <a:gd name="T5" fmla="*/ 0 h 1096"/>
              <a:gd name="T6" fmla="*/ 327 w 1472"/>
              <a:gd name="T7" fmla="*/ 238 h 1096"/>
              <a:gd name="T8" fmla="*/ 300 w 1472"/>
              <a:gd name="T9" fmla="*/ 236 h 1096"/>
              <a:gd name="T10" fmla="*/ 140 w 1472"/>
              <a:gd name="T11" fmla="*/ 396 h 1096"/>
              <a:gd name="T12" fmla="*/ 146 w 1472"/>
              <a:gd name="T13" fmla="*/ 438 h 1096"/>
              <a:gd name="T14" fmla="*/ 0 w 1472"/>
              <a:gd name="T15" fmla="*/ 731 h 1096"/>
              <a:gd name="T16" fmla="*/ 0 w 1472"/>
              <a:gd name="T17" fmla="*/ 731 h 1096"/>
              <a:gd name="T18" fmla="*/ 365 w 1472"/>
              <a:gd name="T19" fmla="*/ 1096 h 1096"/>
              <a:gd name="T20" fmla="*/ 365 w 1472"/>
              <a:gd name="T21" fmla="*/ 1096 h 1096"/>
              <a:gd name="T22" fmla="*/ 373 w 1472"/>
              <a:gd name="T23" fmla="*/ 1096 h 1096"/>
              <a:gd name="T24" fmla="*/ 376 w 1472"/>
              <a:gd name="T25" fmla="*/ 1096 h 1096"/>
              <a:gd name="T26" fmla="*/ 376 w 1472"/>
              <a:gd name="T27" fmla="*/ 1096 h 1096"/>
              <a:gd name="T28" fmla="*/ 377 w 1472"/>
              <a:gd name="T29" fmla="*/ 1096 h 1096"/>
              <a:gd name="T30" fmla="*/ 387 w 1472"/>
              <a:gd name="T31" fmla="*/ 1096 h 1096"/>
              <a:gd name="T32" fmla="*/ 396 w 1472"/>
              <a:gd name="T33" fmla="*/ 1096 h 1096"/>
              <a:gd name="T34" fmla="*/ 737 w 1472"/>
              <a:gd name="T35" fmla="*/ 1096 h 1096"/>
              <a:gd name="T36" fmla="*/ 747 w 1472"/>
              <a:gd name="T37" fmla="*/ 1096 h 1096"/>
              <a:gd name="T38" fmla="*/ 757 w 1472"/>
              <a:gd name="T39" fmla="*/ 1096 h 1096"/>
              <a:gd name="T40" fmla="*/ 1098 w 1472"/>
              <a:gd name="T41" fmla="*/ 1096 h 1096"/>
              <a:gd name="T42" fmla="*/ 1108 w 1472"/>
              <a:gd name="T43" fmla="*/ 1096 h 1096"/>
              <a:gd name="T44" fmla="*/ 1118 w 1472"/>
              <a:gd name="T45" fmla="*/ 1096 h 1096"/>
              <a:gd name="T46" fmla="*/ 1131 w 1472"/>
              <a:gd name="T47" fmla="*/ 1096 h 1096"/>
              <a:gd name="T48" fmla="*/ 1131 w 1472"/>
              <a:gd name="T49" fmla="*/ 1096 h 1096"/>
              <a:gd name="T50" fmla="*/ 1131 w 1472"/>
              <a:gd name="T51" fmla="*/ 1096 h 1096"/>
              <a:gd name="T52" fmla="*/ 1131 w 1472"/>
              <a:gd name="T53" fmla="*/ 1096 h 1096"/>
              <a:gd name="T54" fmla="*/ 1144 w 1472"/>
              <a:gd name="T55" fmla="*/ 1096 h 1096"/>
              <a:gd name="T56" fmla="*/ 1144 w 1472"/>
              <a:gd name="T57" fmla="*/ 1096 h 1096"/>
              <a:gd name="T58" fmla="*/ 1472 w 1472"/>
              <a:gd name="T59" fmla="*/ 755 h 1096"/>
              <a:gd name="T60" fmla="*/ 1472 w 1472"/>
              <a:gd name="T61" fmla="*/ 755 h 1096"/>
              <a:gd name="T62" fmla="*/ 1188 w 1472"/>
              <a:gd name="T63" fmla="*/ 418 h 10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72" h="1096">
                <a:moveTo>
                  <a:pt x="1188" y="418"/>
                </a:moveTo>
                <a:cubicBezTo>
                  <a:pt x="1167" y="184"/>
                  <a:pt x="970" y="0"/>
                  <a:pt x="730" y="0"/>
                </a:cubicBezTo>
                <a:cubicBezTo>
                  <a:pt x="730" y="0"/>
                  <a:pt x="730" y="0"/>
                  <a:pt x="730" y="0"/>
                </a:cubicBezTo>
                <a:cubicBezTo>
                  <a:pt x="557" y="0"/>
                  <a:pt x="406" y="96"/>
                  <a:pt x="327" y="238"/>
                </a:cubicBezTo>
                <a:cubicBezTo>
                  <a:pt x="319" y="236"/>
                  <a:pt x="310" y="236"/>
                  <a:pt x="300" y="236"/>
                </a:cubicBezTo>
                <a:cubicBezTo>
                  <a:pt x="212" y="236"/>
                  <a:pt x="140" y="307"/>
                  <a:pt x="140" y="396"/>
                </a:cubicBezTo>
                <a:cubicBezTo>
                  <a:pt x="140" y="410"/>
                  <a:pt x="143" y="425"/>
                  <a:pt x="146" y="438"/>
                </a:cubicBezTo>
                <a:cubicBezTo>
                  <a:pt x="57" y="505"/>
                  <a:pt x="0" y="611"/>
                  <a:pt x="0" y="731"/>
                </a:cubicBezTo>
                <a:cubicBezTo>
                  <a:pt x="0" y="731"/>
                  <a:pt x="0" y="731"/>
                  <a:pt x="0" y="731"/>
                </a:cubicBezTo>
                <a:cubicBezTo>
                  <a:pt x="0" y="932"/>
                  <a:pt x="163" y="1096"/>
                  <a:pt x="365" y="1096"/>
                </a:cubicBezTo>
                <a:cubicBezTo>
                  <a:pt x="365" y="1096"/>
                  <a:pt x="365" y="1096"/>
                  <a:pt x="365" y="1096"/>
                </a:cubicBezTo>
                <a:cubicBezTo>
                  <a:pt x="368" y="1096"/>
                  <a:pt x="370" y="1096"/>
                  <a:pt x="373" y="1096"/>
                </a:cubicBezTo>
                <a:cubicBezTo>
                  <a:pt x="374" y="1096"/>
                  <a:pt x="375" y="1096"/>
                  <a:pt x="376" y="1096"/>
                </a:cubicBezTo>
                <a:cubicBezTo>
                  <a:pt x="376" y="1096"/>
                  <a:pt x="376" y="1096"/>
                  <a:pt x="376" y="1096"/>
                </a:cubicBezTo>
                <a:cubicBezTo>
                  <a:pt x="377" y="1096"/>
                  <a:pt x="377" y="1096"/>
                  <a:pt x="377" y="1096"/>
                </a:cubicBezTo>
                <a:cubicBezTo>
                  <a:pt x="380" y="1096"/>
                  <a:pt x="383" y="1096"/>
                  <a:pt x="387" y="1096"/>
                </a:cubicBezTo>
                <a:cubicBezTo>
                  <a:pt x="390" y="1096"/>
                  <a:pt x="393" y="1096"/>
                  <a:pt x="396" y="1096"/>
                </a:cubicBezTo>
                <a:cubicBezTo>
                  <a:pt x="737" y="1096"/>
                  <a:pt x="737" y="1096"/>
                  <a:pt x="737" y="1096"/>
                </a:cubicBezTo>
                <a:cubicBezTo>
                  <a:pt x="741" y="1096"/>
                  <a:pt x="744" y="1096"/>
                  <a:pt x="747" y="1096"/>
                </a:cubicBezTo>
                <a:cubicBezTo>
                  <a:pt x="750" y="1096"/>
                  <a:pt x="754" y="1096"/>
                  <a:pt x="757" y="1096"/>
                </a:cubicBezTo>
                <a:cubicBezTo>
                  <a:pt x="1098" y="1096"/>
                  <a:pt x="1098" y="1096"/>
                  <a:pt x="1098" y="1096"/>
                </a:cubicBezTo>
                <a:cubicBezTo>
                  <a:pt x="1101" y="1096"/>
                  <a:pt x="1104" y="1096"/>
                  <a:pt x="1108" y="1096"/>
                </a:cubicBezTo>
                <a:cubicBezTo>
                  <a:pt x="1111" y="1096"/>
                  <a:pt x="1114" y="1096"/>
                  <a:pt x="1118" y="1096"/>
                </a:cubicBezTo>
                <a:cubicBezTo>
                  <a:pt x="1131" y="1096"/>
                  <a:pt x="1131" y="1096"/>
                  <a:pt x="1131" y="1096"/>
                </a:cubicBezTo>
                <a:cubicBezTo>
                  <a:pt x="1131" y="1096"/>
                  <a:pt x="1131" y="1096"/>
                  <a:pt x="1131" y="1096"/>
                </a:cubicBezTo>
                <a:cubicBezTo>
                  <a:pt x="1131" y="1096"/>
                  <a:pt x="1131" y="1096"/>
                  <a:pt x="1131" y="1096"/>
                </a:cubicBezTo>
                <a:cubicBezTo>
                  <a:pt x="1131" y="1096"/>
                  <a:pt x="1131" y="1096"/>
                  <a:pt x="1131" y="1096"/>
                </a:cubicBezTo>
                <a:cubicBezTo>
                  <a:pt x="1144" y="1096"/>
                  <a:pt x="1144" y="1096"/>
                  <a:pt x="1144" y="1096"/>
                </a:cubicBezTo>
                <a:cubicBezTo>
                  <a:pt x="1144" y="1096"/>
                  <a:pt x="1144" y="1096"/>
                  <a:pt x="1144" y="1096"/>
                </a:cubicBezTo>
                <a:cubicBezTo>
                  <a:pt x="1327" y="1089"/>
                  <a:pt x="1472" y="939"/>
                  <a:pt x="1472" y="755"/>
                </a:cubicBezTo>
                <a:cubicBezTo>
                  <a:pt x="1472" y="755"/>
                  <a:pt x="1472" y="755"/>
                  <a:pt x="1472" y="755"/>
                </a:cubicBezTo>
                <a:cubicBezTo>
                  <a:pt x="1472" y="586"/>
                  <a:pt x="1349" y="446"/>
                  <a:pt x="1188" y="418"/>
                </a:cubicBezTo>
                <a:close/>
              </a:path>
            </a:pathLst>
          </a:custGeom>
          <a:solidFill>
            <a:schemeClr val="bg1">
              <a:lumMod val="95000"/>
            </a:schemeClr>
          </a:solidFill>
          <a:ln>
            <a:noFill/>
          </a:ln>
          <a:effectLst>
            <a:glow rad="139700">
              <a:schemeClr val="accent3">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anchor="t" anchorCtr="0" compatLnSpc="1">
            <a:prstTxWarp prst="textNoShape">
              <a:avLst/>
            </a:prstTxWarp>
          </a:bodyPr>
          <a:lstStyle/>
          <a:p>
            <a:endParaRPr lang="en-US"/>
          </a:p>
        </p:txBody>
      </p:sp>
      <p:sp>
        <p:nvSpPr>
          <p:cNvPr id="20" name="Oval 19">
            <a:extLst>
              <a:ext uri="{FF2B5EF4-FFF2-40B4-BE49-F238E27FC236}">
                <a16:creationId xmlns:a16="http://schemas.microsoft.com/office/drawing/2014/main" id="{06D9F1CC-A550-F753-8454-075A9000165E}"/>
              </a:ext>
            </a:extLst>
          </p:cNvPr>
          <p:cNvSpPr/>
          <p:nvPr/>
        </p:nvSpPr>
        <p:spPr>
          <a:xfrm>
            <a:off x="7657047" y="971798"/>
            <a:ext cx="1095957" cy="1097280"/>
          </a:xfrm>
          <a:prstGeom prst="ellipse">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158864"/>
                </a:solidFill>
                <a:effectLst/>
                <a:uLnTx/>
                <a:uFillTx/>
                <a:latin typeface="Calibri" panose="020F0502020204030204"/>
                <a:ea typeface="+mn-ea"/>
                <a:cs typeface="+mn-cs"/>
              </a:rPr>
              <a:t>ALL</a:t>
            </a:r>
            <a:endParaRPr kumimoji="0" lang="en-US" sz="1600" b="0" i="0" u="none" strike="noStrike" kern="1200" cap="none" spc="0" normalizeH="0" baseline="0" noProof="0">
              <a:ln>
                <a:noFill/>
              </a:ln>
              <a:solidFill>
                <a:srgbClr val="158864"/>
              </a:solidFill>
              <a:effectLst/>
              <a:uLnTx/>
              <a:uFillTx/>
              <a:latin typeface="Calibri" panose="020F0502020204030204"/>
              <a:ea typeface="+mn-ea"/>
              <a:cs typeface="+mn-cs"/>
            </a:endParaRPr>
          </a:p>
        </p:txBody>
      </p:sp>
      <p:grpSp>
        <p:nvGrpSpPr>
          <p:cNvPr id="53" name="Group 52">
            <a:extLst>
              <a:ext uri="{FF2B5EF4-FFF2-40B4-BE49-F238E27FC236}">
                <a16:creationId xmlns:a16="http://schemas.microsoft.com/office/drawing/2014/main" id="{C160F62E-4563-6946-9F00-AB43794EFA9C}"/>
              </a:ext>
            </a:extLst>
          </p:cNvPr>
          <p:cNvGrpSpPr/>
          <p:nvPr/>
        </p:nvGrpSpPr>
        <p:grpSpPr>
          <a:xfrm>
            <a:off x="6027059" y="3164439"/>
            <a:ext cx="4583468" cy="1030871"/>
            <a:chOff x="5979635" y="3923622"/>
            <a:chExt cx="4583468" cy="1030871"/>
          </a:xfrm>
        </p:grpSpPr>
        <p:sp>
          <p:nvSpPr>
            <p:cNvPr id="25" name="TextBox 24">
              <a:extLst>
                <a:ext uri="{FF2B5EF4-FFF2-40B4-BE49-F238E27FC236}">
                  <a16:creationId xmlns:a16="http://schemas.microsoft.com/office/drawing/2014/main" id="{232778BD-2844-CDDE-21D5-FAE1431C5526}"/>
                </a:ext>
              </a:extLst>
            </p:cNvPr>
            <p:cNvSpPr txBox="1"/>
            <p:nvPr/>
          </p:nvSpPr>
          <p:spPr>
            <a:xfrm>
              <a:off x="9299780" y="3923622"/>
              <a:ext cx="1263323" cy="389513"/>
            </a:xfrm>
            <a:prstGeom prst="roundRect">
              <a:avLst>
                <a:gd name="adj" fmla="val 50000"/>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58864"/>
                  </a:solidFill>
                  <a:effectLst/>
                  <a:uLnTx/>
                  <a:uFillTx/>
                  <a:latin typeface="Calibri" panose="020F0502020204030204"/>
                  <a:ea typeface="+mn-ea"/>
                  <a:cs typeface="+mn-cs"/>
                </a:rPr>
                <a:t>Directions</a:t>
              </a:r>
            </a:p>
          </p:txBody>
        </p:sp>
        <p:sp>
          <p:nvSpPr>
            <p:cNvPr id="26" name="TextBox 25">
              <a:extLst>
                <a:ext uri="{FF2B5EF4-FFF2-40B4-BE49-F238E27FC236}">
                  <a16:creationId xmlns:a16="http://schemas.microsoft.com/office/drawing/2014/main" id="{B31D88C8-AE96-6287-3B63-DAA06465D29E}"/>
                </a:ext>
              </a:extLst>
            </p:cNvPr>
            <p:cNvSpPr txBox="1"/>
            <p:nvPr/>
          </p:nvSpPr>
          <p:spPr>
            <a:xfrm>
              <a:off x="9371673" y="4308162"/>
              <a:ext cx="1119537" cy="46166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Calibri" panose="020F0502020204030204"/>
                  <a:ea typeface="+mn-ea"/>
                  <a:cs typeface="+mn-cs"/>
                </a:rPr>
                <a:t>WAN, Internet,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Calibri" panose="020F0502020204030204"/>
                  <a:ea typeface="+mn-ea"/>
                  <a:cs typeface="+mn-cs"/>
                </a:rPr>
                <a:t>Cloud </a:t>
              </a:r>
            </a:p>
          </p:txBody>
        </p:sp>
        <p:sp>
          <p:nvSpPr>
            <p:cNvPr id="27" name="TextBox 26">
              <a:extLst>
                <a:ext uri="{FF2B5EF4-FFF2-40B4-BE49-F238E27FC236}">
                  <a16:creationId xmlns:a16="http://schemas.microsoft.com/office/drawing/2014/main" id="{5A2322DC-E4FF-E09C-1DBC-59EFE107609C}"/>
                </a:ext>
              </a:extLst>
            </p:cNvPr>
            <p:cNvSpPr txBox="1"/>
            <p:nvPr/>
          </p:nvSpPr>
          <p:spPr>
            <a:xfrm>
              <a:off x="5979635" y="3923622"/>
              <a:ext cx="1469769" cy="389513"/>
            </a:xfrm>
            <a:prstGeom prst="roundRect">
              <a:avLst>
                <a:gd name="adj" fmla="val 50000"/>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58864"/>
                  </a:solidFill>
                  <a:effectLst/>
                  <a:uLnTx/>
                  <a:uFillTx/>
                  <a:latin typeface="Calibri" panose="020F0502020204030204"/>
                  <a:ea typeface="+mn-ea"/>
                  <a:cs typeface="+mn-cs"/>
                </a:rPr>
                <a:t>Applications</a:t>
              </a:r>
            </a:p>
          </p:txBody>
        </p:sp>
        <p:sp>
          <p:nvSpPr>
            <p:cNvPr id="28" name="TextBox 27">
              <a:extLst>
                <a:ext uri="{FF2B5EF4-FFF2-40B4-BE49-F238E27FC236}">
                  <a16:creationId xmlns:a16="http://schemas.microsoft.com/office/drawing/2014/main" id="{9596527F-801A-ED2B-D475-82712249C738}"/>
                </a:ext>
              </a:extLst>
            </p:cNvPr>
            <p:cNvSpPr txBox="1"/>
            <p:nvPr/>
          </p:nvSpPr>
          <p:spPr>
            <a:xfrm>
              <a:off x="6051935" y="4308162"/>
              <a:ext cx="1325171" cy="46166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Calibri" panose="020F0502020204030204"/>
                  <a:ea typeface="+mn-ea"/>
                  <a:cs typeface="+mn-cs"/>
                </a:rPr>
                <a:t>Private,</a:t>
              </a:r>
              <a:br>
                <a:rPr kumimoji="0" lang="en-US" sz="1200" b="0" i="0" u="none" strike="noStrike" kern="1200" cap="none" spc="0" normalizeH="0" baseline="0" noProof="0">
                  <a:ln>
                    <a:noFill/>
                  </a:ln>
                  <a:effectLst/>
                  <a:uLnTx/>
                  <a:uFillTx/>
                  <a:latin typeface="Calibri" panose="020F0502020204030204"/>
                  <a:ea typeface="+mn-ea"/>
                  <a:cs typeface="+mn-cs"/>
                </a:rPr>
              </a:br>
              <a:r>
                <a:rPr kumimoji="0" lang="en-US" sz="1200" b="0" i="0" u="none" strike="noStrike" kern="1200" cap="none" spc="0" normalizeH="0" baseline="0" noProof="0">
                  <a:ln>
                    <a:noFill/>
                  </a:ln>
                  <a:effectLst/>
                  <a:uLnTx/>
                  <a:uFillTx/>
                  <a:latin typeface="Calibri" panose="020F0502020204030204"/>
                  <a:ea typeface="+mn-ea"/>
                  <a:cs typeface="+mn-cs"/>
                </a:rPr>
                <a:t>Public Cloud,</a:t>
              </a:r>
              <a:r>
                <a:rPr kumimoji="0" lang="he-IL" sz="1200" b="0" i="0" u="none" strike="noStrike" kern="1200" cap="none" spc="0" normalizeH="0" baseline="0" noProof="0">
                  <a:ln>
                    <a:noFill/>
                  </a:ln>
                  <a:effectLst/>
                  <a:uLnTx/>
                  <a:uFillTx/>
                  <a:latin typeface="Calibri" panose="020F0502020204030204"/>
                  <a:ea typeface="+mn-ea"/>
                  <a:cs typeface="+mn-cs"/>
                </a:rPr>
                <a:t> </a:t>
              </a:r>
              <a:r>
                <a:rPr kumimoji="0" lang="en-US" sz="1200" b="0" i="0" u="none" strike="noStrike" kern="1200" cap="none" spc="0" normalizeH="0" baseline="0" noProof="0">
                  <a:ln>
                    <a:noFill/>
                  </a:ln>
                  <a:effectLst/>
                  <a:uLnTx/>
                  <a:uFillTx/>
                  <a:latin typeface="Calibri" panose="020F0502020204030204"/>
                  <a:ea typeface="+mn-ea"/>
                  <a:cs typeface="+mn-cs"/>
                </a:rPr>
                <a:t>Web</a:t>
              </a:r>
            </a:p>
          </p:txBody>
        </p:sp>
        <p:sp>
          <p:nvSpPr>
            <p:cNvPr id="29" name="TextBox 28">
              <a:extLst>
                <a:ext uri="{FF2B5EF4-FFF2-40B4-BE49-F238E27FC236}">
                  <a16:creationId xmlns:a16="http://schemas.microsoft.com/office/drawing/2014/main" id="{48938C7C-2F22-8696-4C93-E4CDC0C38FF3}"/>
                </a:ext>
              </a:extLst>
            </p:cNvPr>
            <p:cNvSpPr txBox="1"/>
            <p:nvPr/>
          </p:nvSpPr>
          <p:spPr>
            <a:xfrm>
              <a:off x="7820718" y="3923622"/>
              <a:ext cx="1066624" cy="389513"/>
            </a:xfrm>
            <a:prstGeom prst="roundRect">
              <a:avLst>
                <a:gd name="adj" fmla="val 50000"/>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58864"/>
                  </a:solidFill>
                  <a:effectLst/>
                  <a:uLnTx/>
                  <a:uFillTx/>
                  <a:latin typeface="Calibri" panose="020F0502020204030204"/>
                  <a:ea typeface="+mn-ea"/>
                  <a:cs typeface="+mn-cs"/>
                </a:rPr>
                <a:t>Security</a:t>
              </a:r>
            </a:p>
          </p:txBody>
        </p:sp>
        <p:sp>
          <p:nvSpPr>
            <p:cNvPr id="30" name="TextBox 29">
              <a:extLst>
                <a:ext uri="{FF2B5EF4-FFF2-40B4-BE49-F238E27FC236}">
                  <a16:creationId xmlns:a16="http://schemas.microsoft.com/office/drawing/2014/main" id="{0F04F1A1-E193-5545-8131-C1A49EE59E70}"/>
                </a:ext>
              </a:extLst>
            </p:cNvPr>
            <p:cNvSpPr txBox="1"/>
            <p:nvPr/>
          </p:nvSpPr>
          <p:spPr>
            <a:xfrm>
              <a:off x="7522938" y="4308162"/>
              <a:ext cx="1662185" cy="646331"/>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Calibri" panose="020F0502020204030204"/>
                  <a:ea typeface="+mn-ea"/>
                  <a:cs typeface="+mn-cs"/>
                </a:rPr>
                <a:t>FWaaS, IPS, NGAM,</a:t>
              </a:r>
              <a:br>
                <a:rPr kumimoji="0" lang="en-US" sz="1200" b="0" i="0" u="none" strike="noStrike" kern="1200" cap="none" spc="0" normalizeH="0" baseline="0" noProof="0">
                  <a:ln>
                    <a:noFill/>
                  </a:ln>
                  <a:effectLst/>
                  <a:uLnTx/>
                  <a:uFillTx/>
                  <a:latin typeface="Calibri" panose="020F0502020204030204"/>
                  <a:ea typeface="+mn-ea"/>
                  <a:cs typeface="+mn-cs"/>
                </a:rPr>
              </a:br>
              <a:r>
                <a:rPr kumimoji="0" lang="en-US" sz="1200" b="0" i="0" u="none" strike="noStrike" kern="1200" cap="none" spc="0" normalizeH="0" baseline="0" noProof="0">
                  <a:ln>
                    <a:noFill/>
                  </a:ln>
                  <a:effectLst/>
                  <a:uLnTx/>
                  <a:uFillTx/>
                  <a:latin typeface="Calibri" panose="020F0502020204030204"/>
                  <a:ea typeface="+mn-ea"/>
                  <a:cs typeface="+mn-cs"/>
                </a:rPr>
                <a:t>SWG, ZTNA, CASB, DLP,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Calibri" panose="020F0502020204030204"/>
                  <a:ea typeface="+mn-ea"/>
                  <a:cs typeface="+mn-cs"/>
                </a:rPr>
                <a:t>RBI, AI Security</a:t>
              </a:r>
            </a:p>
          </p:txBody>
        </p:sp>
      </p:grpSp>
      <p:grpSp>
        <p:nvGrpSpPr>
          <p:cNvPr id="52" name="Group 51">
            <a:extLst>
              <a:ext uri="{FF2B5EF4-FFF2-40B4-BE49-F238E27FC236}">
                <a16:creationId xmlns:a16="http://schemas.microsoft.com/office/drawing/2014/main" id="{7C2454B6-7E41-9A67-B6CB-8306A0A7ADCB}"/>
              </a:ext>
            </a:extLst>
          </p:cNvPr>
          <p:cNvGrpSpPr/>
          <p:nvPr/>
        </p:nvGrpSpPr>
        <p:grpSpPr>
          <a:xfrm>
            <a:off x="6427192" y="2173673"/>
            <a:ext cx="3276181" cy="854568"/>
            <a:chOff x="6320831" y="2932856"/>
            <a:chExt cx="3276181" cy="854568"/>
          </a:xfrm>
        </p:grpSpPr>
        <p:sp>
          <p:nvSpPr>
            <p:cNvPr id="15" name="TextBox 14">
              <a:extLst>
                <a:ext uri="{FF2B5EF4-FFF2-40B4-BE49-F238E27FC236}">
                  <a16:creationId xmlns:a16="http://schemas.microsoft.com/office/drawing/2014/main" id="{FA510AE5-105A-22E7-B2BA-65E7B80E7660}"/>
                </a:ext>
              </a:extLst>
            </p:cNvPr>
            <p:cNvSpPr txBox="1"/>
            <p:nvPr/>
          </p:nvSpPr>
          <p:spPr>
            <a:xfrm>
              <a:off x="6630823" y="2932856"/>
              <a:ext cx="888185" cy="389513"/>
            </a:xfrm>
            <a:prstGeom prst="roundRect">
              <a:avLst>
                <a:gd name="adj" fmla="val 50000"/>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58864"/>
                  </a:solidFill>
                  <a:effectLst/>
                  <a:uLnTx/>
                  <a:uFillTx/>
                  <a:latin typeface="Calibri" panose="020F0502020204030204"/>
                  <a:ea typeface="+mn-ea"/>
                  <a:cs typeface="+mn-cs"/>
                </a:rPr>
                <a:t>Traffic</a:t>
              </a:r>
              <a:endParaRPr kumimoji="0" lang="en-US" sz="1800" b="0" i="0" u="none" strike="noStrike" kern="1200" cap="none" spc="0" normalizeH="0" baseline="0" noProof="0">
                <a:ln>
                  <a:noFill/>
                </a:ln>
                <a:solidFill>
                  <a:srgbClr val="158864"/>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7B6886F-8C19-3E66-6BFE-978E152ABBA1}"/>
                </a:ext>
              </a:extLst>
            </p:cNvPr>
            <p:cNvSpPr txBox="1"/>
            <p:nvPr/>
          </p:nvSpPr>
          <p:spPr>
            <a:xfrm>
              <a:off x="6320831" y="3322369"/>
              <a:ext cx="1508170" cy="46166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Calibri" panose="020F0502020204030204"/>
                  <a:ea typeface="+mn-ea"/>
                  <a:cs typeface="+mn-cs"/>
                </a:rPr>
                <a:t>Ports, Protocols,</a:t>
              </a:r>
              <a:r>
                <a:rPr kumimoji="0" lang="he-IL" sz="1200" b="0" i="0" u="none" strike="noStrike" kern="1200" cap="none" spc="0" normalizeH="0" baseline="0" noProof="0">
                  <a:ln>
                    <a:noFill/>
                  </a:ln>
                  <a:effectLst/>
                  <a:uLnTx/>
                  <a:uFillTx/>
                  <a:latin typeface="Calibri" panose="020F0502020204030204"/>
                  <a:ea typeface="+mn-ea"/>
                  <a:cs typeface="+mn-cs"/>
                </a:rPr>
                <a:t> </a:t>
              </a:r>
              <a:r>
                <a:rPr kumimoji="0" lang="en-US" sz="1200" b="0" i="0" u="none" strike="noStrike" kern="1200" cap="none" spc="0" normalizeH="0" baseline="0" noProof="0">
                  <a:ln>
                    <a:noFill/>
                  </a:ln>
                  <a:effectLst/>
                  <a:uLnTx/>
                  <a:uFillTx/>
                  <a:latin typeface="Calibri" panose="020F0502020204030204"/>
                  <a:ea typeface="+mn-ea"/>
                  <a:cs typeface="+mn-cs"/>
                </a:rPr>
                <a:t>IPs,</a:t>
              </a:r>
              <a:endParaRPr lang="he-IL" sz="1200">
                <a:latin typeface="Calibri" panose="020F0502020204030204"/>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Calibri" panose="020F0502020204030204"/>
                  <a:ea typeface="+mn-ea"/>
                  <a:cs typeface="+mn-cs"/>
                </a:rPr>
                <a:t>sources,</a:t>
              </a:r>
              <a:r>
                <a:rPr kumimoji="0" lang="he-IL" sz="1200" b="0" i="0" u="none" strike="noStrike" kern="1200" cap="none" spc="0" normalizeH="0" baseline="0" noProof="0">
                  <a:ln>
                    <a:noFill/>
                  </a:ln>
                  <a:effectLst/>
                  <a:uLnTx/>
                  <a:uFillTx/>
                  <a:latin typeface="Calibri" panose="020F0502020204030204"/>
                  <a:ea typeface="+mn-ea"/>
                  <a:cs typeface="+mn-cs"/>
                </a:rPr>
                <a:t> </a:t>
              </a:r>
              <a:r>
                <a:rPr kumimoji="0" lang="en-US" sz="1200" b="0" i="0" u="none" strike="noStrike" kern="1200" cap="none" spc="0" normalizeH="0" baseline="0" noProof="0">
                  <a:ln>
                    <a:noFill/>
                  </a:ln>
                  <a:effectLst/>
                  <a:uLnTx/>
                  <a:uFillTx/>
                  <a:latin typeface="Calibri" panose="020F0502020204030204"/>
                  <a:ea typeface="+mn-ea"/>
                  <a:cs typeface="+mn-cs"/>
                </a:rPr>
                <a:t>destinations</a:t>
              </a:r>
            </a:p>
          </p:txBody>
        </p:sp>
        <p:sp>
          <p:nvSpPr>
            <p:cNvPr id="31" name="TextBox 30">
              <a:extLst>
                <a:ext uri="{FF2B5EF4-FFF2-40B4-BE49-F238E27FC236}">
                  <a16:creationId xmlns:a16="http://schemas.microsoft.com/office/drawing/2014/main" id="{A2575B8F-91CC-4904-767D-36BA1C62DC2A}"/>
                </a:ext>
              </a:extLst>
            </p:cNvPr>
            <p:cNvSpPr txBox="1"/>
            <p:nvPr/>
          </p:nvSpPr>
          <p:spPr>
            <a:xfrm>
              <a:off x="7977089" y="2935164"/>
              <a:ext cx="1619923" cy="389513"/>
            </a:xfrm>
            <a:prstGeom prst="roundRect">
              <a:avLst>
                <a:gd name="adj" fmla="val 50000"/>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58864"/>
                  </a:solidFill>
                  <a:effectLst/>
                  <a:uLnTx/>
                  <a:uFillTx/>
                  <a:latin typeface="Calibri" panose="020F0502020204030204"/>
                  <a:ea typeface="+mn-ea"/>
                  <a:cs typeface="+mn-cs"/>
                </a:rPr>
                <a:t>Optimizations</a:t>
              </a:r>
            </a:p>
          </p:txBody>
        </p:sp>
        <p:sp>
          <p:nvSpPr>
            <p:cNvPr id="32" name="TextBox 31">
              <a:extLst>
                <a:ext uri="{FF2B5EF4-FFF2-40B4-BE49-F238E27FC236}">
                  <a16:creationId xmlns:a16="http://schemas.microsoft.com/office/drawing/2014/main" id="{5DC5DFE5-4FE7-61A1-7438-50BB77C553AA}"/>
                </a:ext>
              </a:extLst>
            </p:cNvPr>
            <p:cNvSpPr txBox="1"/>
            <p:nvPr/>
          </p:nvSpPr>
          <p:spPr>
            <a:xfrm>
              <a:off x="8014338" y="3325759"/>
              <a:ext cx="1545423" cy="46166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Calibri" panose="020F0502020204030204"/>
                  <a:ea typeface="+mn-ea"/>
                  <a:cs typeface="+mn-cs"/>
                </a:rPr>
                <a:t>Global routing,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Calibri" panose="020F0502020204030204"/>
                  <a:ea typeface="+mn-ea"/>
                  <a:cs typeface="+mn-cs"/>
                </a:rPr>
                <a:t> Protocol acceleration</a:t>
              </a:r>
            </a:p>
          </p:txBody>
        </p:sp>
      </p:grpSp>
      <p:sp>
        <p:nvSpPr>
          <p:cNvPr id="33" name="Content Placeholder 53">
            <a:extLst>
              <a:ext uri="{FF2B5EF4-FFF2-40B4-BE49-F238E27FC236}">
                <a16:creationId xmlns:a16="http://schemas.microsoft.com/office/drawing/2014/main" id="{72D10C59-B13F-04F3-6E32-77DCB10EE319}"/>
              </a:ext>
            </a:extLst>
          </p:cNvPr>
          <p:cNvSpPr txBox="1">
            <a:spLocks/>
          </p:cNvSpPr>
          <p:nvPr/>
        </p:nvSpPr>
        <p:spPr>
          <a:xfrm>
            <a:off x="815122" y="1742858"/>
            <a:ext cx="3877985" cy="3546099"/>
          </a:xfrm>
          <a:prstGeom prst="rect">
            <a:avLst/>
          </a:prstGeom>
        </p:spPr>
        <p:txBody>
          <a:bodyPr wrap="none" l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accent1"/>
                </a:solidFill>
                <a:latin typeface="+mn-lt"/>
                <a:ea typeface="+mn-ea"/>
                <a:cs typeface="+mn-cs"/>
              </a:defRPr>
            </a:lvl1pPr>
            <a:lvl2pPr marL="457200" indent="-223838" algn="l" defTabSz="914400" rtl="0" eaLnBrk="1" latinLnBrk="0" hangingPunct="1">
              <a:lnSpc>
                <a:spcPct val="90000"/>
              </a:lnSpc>
              <a:spcBef>
                <a:spcPts val="500"/>
              </a:spcBef>
              <a:buFont typeface="Wingdings" pitchFamily="2" charset="2"/>
              <a:buChar char="§"/>
              <a:defRPr sz="2400" b="0" kern="1200">
                <a:solidFill>
                  <a:schemeClr val="tx1"/>
                </a:solidFill>
                <a:latin typeface="+mn-lt"/>
                <a:ea typeface="+mn-ea"/>
                <a:cs typeface="+mn-cs"/>
              </a:defRPr>
            </a:lvl2pPr>
            <a:lvl3pPr marL="690563" indent="-233363" algn="l" defTabSz="914400" rtl="0" eaLnBrk="1" latinLnBrk="0" hangingPunct="1">
              <a:lnSpc>
                <a:spcPct val="90000"/>
              </a:lnSpc>
              <a:spcBef>
                <a:spcPts val="500"/>
              </a:spcBef>
              <a:buFont typeface="Wingdings" pitchFamily="2" charset="2"/>
              <a:buChar char="§"/>
              <a:defRPr sz="2000" b="0" kern="1200">
                <a:solidFill>
                  <a:schemeClr val="tx1"/>
                </a:solidFill>
                <a:latin typeface="+mn-lt"/>
                <a:ea typeface="+mn-ea"/>
                <a:cs typeface="+mn-cs"/>
              </a:defRPr>
            </a:lvl3pPr>
            <a:lvl4pPr marL="914400" indent="-223838" algn="l" defTabSz="914400" rtl="0" eaLnBrk="1" latinLnBrk="0" hangingPunct="1">
              <a:lnSpc>
                <a:spcPct val="90000"/>
              </a:lnSpc>
              <a:spcBef>
                <a:spcPts val="500"/>
              </a:spcBef>
              <a:buFont typeface="Wingdings" pitchFamily="2" charset="2"/>
              <a:buChar char="§"/>
              <a:defRPr sz="1800" b="0" kern="1200">
                <a:solidFill>
                  <a:schemeClr val="tx1"/>
                </a:solidFill>
                <a:latin typeface="+mn-lt"/>
                <a:ea typeface="+mn-ea"/>
                <a:cs typeface="+mn-cs"/>
              </a:defRPr>
            </a:lvl4pPr>
            <a:lvl5pPr marL="862013" indent="-23495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en-US" sz="2400" b="1"/>
              <a:t>All Traffic, Consistent Security</a:t>
            </a:r>
          </a:p>
          <a:p>
            <a:pPr marL="233363" lvl="1" indent="-233363">
              <a:spcAft>
                <a:spcPts val="600"/>
              </a:spcAft>
              <a:buFont typeface="Arial" panose="020B0604020202020204" pitchFamily="34" charset="0"/>
              <a:buChar char="•"/>
              <a:defRPr/>
            </a:pPr>
            <a:r>
              <a:rPr lang="en-US" sz="1800" b="1">
                <a:solidFill>
                  <a:schemeClr val="accent1"/>
                </a:solidFill>
              </a:rPr>
              <a:t>Converged</a:t>
            </a:r>
            <a:br>
              <a:rPr lang="en-US" sz="1800">
                <a:solidFill>
                  <a:srgbClr val="222C33"/>
                </a:solidFill>
              </a:rPr>
            </a:br>
            <a:r>
              <a:rPr lang="en-US" sz="1800">
                <a:solidFill>
                  <a:srgbClr val="222C33"/>
                </a:solidFill>
              </a:rPr>
              <a:t>One architecture for all edges</a:t>
            </a:r>
            <a:endParaRPr kumimoji="0" lang="en-US" sz="1800" b="0" i="0" u="none" strike="noStrike" kern="1200" cap="none" spc="0" normalizeH="0" baseline="0" noProof="0">
              <a:ln>
                <a:noFill/>
              </a:ln>
              <a:solidFill>
                <a:srgbClr val="222C33"/>
              </a:solidFill>
              <a:effectLst/>
              <a:uLnTx/>
              <a:uFillTx/>
              <a:latin typeface="Calibri" panose="020F0502020204030204"/>
              <a:ea typeface="+mn-ea"/>
              <a:cs typeface="+mn-cs"/>
            </a:endParaRPr>
          </a:p>
          <a:p>
            <a:pPr marL="233363" lvl="1" indent="-233363">
              <a:spcAft>
                <a:spcPts val="600"/>
              </a:spcAft>
              <a:buFont typeface="Arial" panose="020B0604020202020204" pitchFamily="34" charset="0"/>
              <a:buChar char="•"/>
              <a:defRPr/>
            </a:pPr>
            <a:r>
              <a:rPr lang="en-US" sz="1800" b="1">
                <a:solidFill>
                  <a:schemeClr val="accent1"/>
                </a:solidFill>
              </a:rPr>
              <a:t>Simple &amp; Consistent</a:t>
            </a:r>
            <a:br>
              <a:rPr lang="en-US" sz="1800">
                <a:solidFill>
                  <a:srgbClr val="222C33"/>
                </a:solidFill>
              </a:rPr>
            </a:br>
            <a:r>
              <a:rPr lang="en-US" sz="1800">
                <a:solidFill>
                  <a:srgbClr val="222C33"/>
                </a:solidFill>
              </a:rPr>
              <a:t>One policy engine and rule base</a:t>
            </a:r>
          </a:p>
          <a:p>
            <a:pPr marL="233363" lvl="1" indent="-233363">
              <a:spcAft>
                <a:spcPts val="600"/>
              </a:spcAft>
              <a:buFont typeface="Arial" panose="020B0604020202020204" pitchFamily="34" charset="0"/>
              <a:buChar char="•"/>
              <a:defRPr/>
            </a:pPr>
            <a:r>
              <a:rPr lang="en-US" sz="1800" b="1">
                <a:solidFill>
                  <a:schemeClr val="accent1"/>
                </a:solidFill>
              </a:rPr>
              <a:t>Holistic</a:t>
            </a:r>
            <a:br>
              <a:rPr lang="en-US" sz="1800">
                <a:solidFill>
                  <a:srgbClr val="222C33"/>
                </a:solidFill>
              </a:rPr>
            </a:br>
            <a:r>
              <a:rPr lang="en-US" sz="1800">
                <a:solidFill>
                  <a:srgbClr val="222C33"/>
                </a:solidFill>
              </a:rPr>
              <a:t>All sites, devices, users &amp; applications</a:t>
            </a:r>
            <a:endParaRPr kumimoji="0" lang="en-US" sz="1800" b="0" i="0" u="none" strike="noStrike" kern="1200" cap="none" spc="0" normalizeH="0" baseline="0" noProof="0">
              <a:ln>
                <a:noFill/>
              </a:ln>
              <a:solidFill>
                <a:srgbClr val="222C33"/>
              </a:solidFill>
              <a:effectLst/>
              <a:uLnTx/>
              <a:uFillTx/>
              <a:latin typeface="Calibri" panose="020F0502020204030204"/>
              <a:ea typeface="+mn-ea"/>
              <a:cs typeface="+mn-cs"/>
            </a:endParaRPr>
          </a:p>
          <a:p>
            <a:pPr marL="233363" lvl="1" indent="-233363">
              <a:spcAft>
                <a:spcPts val="600"/>
              </a:spcAft>
              <a:buFont typeface="Arial" panose="020B0604020202020204" pitchFamily="34" charset="0"/>
              <a:buChar char="•"/>
              <a:defRPr/>
            </a:pPr>
            <a:r>
              <a:rPr lang="en-US" sz="1800" b="1">
                <a:solidFill>
                  <a:schemeClr val="accent1"/>
                </a:solidFill>
              </a:rPr>
              <a:t>Optimized</a:t>
            </a:r>
            <a:br>
              <a:rPr lang="en-US" sz="1800">
                <a:solidFill>
                  <a:srgbClr val="222C33"/>
                </a:solidFill>
              </a:rPr>
            </a:br>
            <a:r>
              <a:rPr lang="en-US" sz="1800">
                <a:solidFill>
                  <a:srgbClr val="222C33"/>
                </a:solidFill>
              </a:rPr>
              <a:t>Global private backbone</a:t>
            </a:r>
          </a:p>
          <a:p>
            <a:pPr marL="233363" lvl="1" indent="-233363">
              <a:spcAft>
                <a:spcPts val="600"/>
              </a:spcAft>
              <a:buFont typeface="Arial" panose="020B0604020202020204" pitchFamily="34" charset="0"/>
              <a:buChar char="•"/>
              <a:defRPr/>
            </a:pPr>
            <a:r>
              <a:rPr kumimoji="0" lang="en-US" sz="1800" b="1" i="0" u="none" strike="noStrike" kern="1200" cap="none" spc="0" normalizeH="0" baseline="0" noProof="0">
                <a:ln>
                  <a:noFill/>
                </a:ln>
                <a:solidFill>
                  <a:schemeClr val="accent1"/>
                </a:solidFill>
                <a:effectLst/>
                <a:uLnTx/>
                <a:uFillTx/>
                <a:latin typeface="Calibri" panose="020F0502020204030204"/>
                <a:ea typeface="+mn-ea"/>
                <a:cs typeface="+mn-cs"/>
              </a:rPr>
              <a:t>Agile &amp; Resilient</a:t>
            </a:r>
            <a:br>
              <a:rPr lang="en-US" sz="1800">
                <a:solidFill>
                  <a:srgbClr val="222C33"/>
                </a:solidFill>
              </a:rPr>
            </a:br>
            <a:r>
              <a:rPr lang="en-US" sz="1800">
                <a:solidFill>
                  <a:srgbClr val="222C33"/>
                </a:solidFill>
              </a:rPr>
              <a:t>Cloud-Native &amp; Scalable</a:t>
            </a:r>
          </a:p>
        </p:txBody>
      </p:sp>
      <p:sp>
        <p:nvSpPr>
          <p:cNvPr id="7" name="Freeform: Shape 739">
            <a:extLst>
              <a:ext uri="{FF2B5EF4-FFF2-40B4-BE49-F238E27FC236}">
                <a16:creationId xmlns:a16="http://schemas.microsoft.com/office/drawing/2014/main" id="{67454C33-7F97-7EA0-DE19-140635F85583}"/>
              </a:ext>
            </a:extLst>
          </p:cNvPr>
          <p:cNvSpPr/>
          <p:nvPr/>
        </p:nvSpPr>
        <p:spPr>
          <a:xfrm>
            <a:off x="6932816" y="4952944"/>
            <a:ext cx="493988" cy="493988"/>
          </a:xfrm>
          <a:custGeom>
            <a:avLst/>
            <a:gdLst>
              <a:gd name="connsiteX0" fmla="*/ 520827 w 520826"/>
              <a:gd name="connsiteY0" fmla="*/ 260413 h 520826"/>
              <a:gd name="connsiteX1" fmla="*/ 260413 w 520826"/>
              <a:gd name="connsiteY1" fmla="*/ 520827 h 520826"/>
              <a:gd name="connsiteX2" fmla="*/ 0 w 520826"/>
              <a:gd name="connsiteY2" fmla="*/ 260413 h 520826"/>
              <a:gd name="connsiteX3" fmla="*/ 260413 w 520826"/>
              <a:gd name="connsiteY3" fmla="*/ 0 h 520826"/>
              <a:gd name="connsiteX4" fmla="*/ 520827 w 520826"/>
              <a:gd name="connsiteY4" fmla="*/ 260413 h 520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26" h="520826">
                <a:moveTo>
                  <a:pt x="520827" y="260413"/>
                </a:moveTo>
                <a:cubicBezTo>
                  <a:pt x="520827" y="404236"/>
                  <a:pt x="404236" y="520827"/>
                  <a:pt x="260413" y="520827"/>
                </a:cubicBezTo>
                <a:cubicBezTo>
                  <a:pt x="116591" y="520827"/>
                  <a:pt x="0" y="404236"/>
                  <a:pt x="0" y="260413"/>
                </a:cubicBezTo>
                <a:cubicBezTo>
                  <a:pt x="0" y="116591"/>
                  <a:pt x="116591" y="0"/>
                  <a:pt x="260413" y="0"/>
                </a:cubicBezTo>
                <a:cubicBezTo>
                  <a:pt x="404236" y="0"/>
                  <a:pt x="520827" y="116591"/>
                  <a:pt x="520827" y="260413"/>
                </a:cubicBezTo>
                <a:close/>
              </a:path>
            </a:pathLst>
          </a:custGeom>
          <a:solidFill>
            <a:srgbClr val="222C3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1C850D17-05DD-E8F8-CAC7-6208012B53D4}"/>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674578" y="4927944"/>
            <a:ext cx="532220" cy="532220"/>
          </a:xfrm>
          <a:prstGeom prst="rect">
            <a:avLst/>
          </a:prstGeom>
        </p:spPr>
      </p:pic>
      <p:pic>
        <p:nvPicPr>
          <p:cNvPr id="10" name="Graphic 9" descr="Building with solid fill">
            <a:extLst>
              <a:ext uri="{FF2B5EF4-FFF2-40B4-BE49-F238E27FC236}">
                <a16:creationId xmlns:a16="http://schemas.microsoft.com/office/drawing/2014/main" id="{3BA0EFF6-AF24-D13F-D652-B9CC1FA3802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012765" y="5010798"/>
            <a:ext cx="334090" cy="334090"/>
          </a:xfrm>
          <a:prstGeom prst="rect">
            <a:avLst/>
          </a:prstGeom>
        </p:spPr>
      </p:pic>
      <p:pic>
        <p:nvPicPr>
          <p:cNvPr id="11" name="Graphic 10">
            <a:extLst>
              <a:ext uri="{FF2B5EF4-FFF2-40B4-BE49-F238E27FC236}">
                <a16:creationId xmlns:a16="http://schemas.microsoft.com/office/drawing/2014/main" id="{22E09D84-31BA-7E73-C84E-23BD1E4367F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454572" y="4953516"/>
            <a:ext cx="531885" cy="531885"/>
          </a:xfrm>
          <a:prstGeom prst="rect">
            <a:avLst/>
          </a:prstGeom>
        </p:spPr>
      </p:pic>
      <p:sp>
        <p:nvSpPr>
          <p:cNvPr id="12" name="TextBox 11">
            <a:extLst>
              <a:ext uri="{FF2B5EF4-FFF2-40B4-BE49-F238E27FC236}">
                <a16:creationId xmlns:a16="http://schemas.microsoft.com/office/drawing/2014/main" id="{D0423F18-7988-784A-23D4-7F410EF30F7D}"/>
              </a:ext>
            </a:extLst>
          </p:cNvPr>
          <p:cNvSpPr txBox="1"/>
          <p:nvPr/>
        </p:nvSpPr>
        <p:spPr>
          <a:xfrm>
            <a:off x="7756945" y="5447329"/>
            <a:ext cx="306294"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effectLst/>
                <a:uLnTx/>
                <a:uFillTx/>
                <a:latin typeface="Calibri" panose="020F0502020204030204"/>
                <a:ea typeface="+mn-ea"/>
                <a:cs typeface="+mn-cs"/>
              </a:rPr>
              <a:t>DC</a:t>
            </a:r>
            <a:endParaRPr lang="en-US" sz="800" b="1" i="0" u="none" strike="noStrike" kern="1200" cap="none" spc="0" normalizeH="0" baseline="0" noProof="0">
              <a:ln>
                <a:noFill/>
              </a:ln>
              <a:effectLst/>
              <a:uLnTx/>
              <a:uFillTx/>
              <a:latin typeface="Calibri" panose="020F0502020204030204"/>
              <a:ea typeface="Calibri"/>
              <a:cs typeface="Calibri"/>
            </a:endParaRPr>
          </a:p>
        </p:txBody>
      </p:sp>
      <p:sp>
        <p:nvSpPr>
          <p:cNvPr id="13" name="TextBox 12">
            <a:extLst>
              <a:ext uri="{FF2B5EF4-FFF2-40B4-BE49-F238E27FC236}">
                <a16:creationId xmlns:a16="http://schemas.microsoft.com/office/drawing/2014/main" id="{7A46B51E-A2D4-7083-01D7-10308CAB75B5}"/>
              </a:ext>
            </a:extLst>
          </p:cNvPr>
          <p:cNvSpPr txBox="1"/>
          <p:nvPr/>
        </p:nvSpPr>
        <p:spPr>
          <a:xfrm>
            <a:off x="6992311" y="5436622"/>
            <a:ext cx="329282"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effectLst/>
                <a:uLnTx/>
                <a:uFillTx/>
                <a:latin typeface="Calibri" panose="020F0502020204030204"/>
                <a:ea typeface="+mn-ea"/>
                <a:cs typeface="+mn-cs"/>
              </a:rPr>
              <a:t>HQ</a:t>
            </a:r>
            <a:endParaRPr lang="en-US" sz="800" b="1" i="0" u="none" strike="noStrike" kern="1200" cap="none" spc="0" normalizeH="0" baseline="0" noProof="0">
              <a:ln>
                <a:noFill/>
              </a:ln>
              <a:effectLst/>
              <a:uLnTx/>
              <a:uFillTx/>
              <a:latin typeface="Calibri" panose="020F0502020204030204"/>
              <a:ea typeface="Calibri"/>
              <a:cs typeface="Calibri"/>
            </a:endParaRPr>
          </a:p>
        </p:txBody>
      </p:sp>
      <p:sp>
        <p:nvSpPr>
          <p:cNvPr id="14" name="TextBox 13">
            <a:extLst>
              <a:ext uri="{FF2B5EF4-FFF2-40B4-BE49-F238E27FC236}">
                <a16:creationId xmlns:a16="http://schemas.microsoft.com/office/drawing/2014/main" id="{7255C95C-B947-B828-5957-928E07B86413}"/>
              </a:ext>
            </a:extLst>
          </p:cNvPr>
          <p:cNvSpPr txBox="1"/>
          <p:nvPr/>
        </p:nvSpPr>
        <p:spPr>
          <a:xfrm>
            <a:off x="8512433" y="5466453"/>
            <a:ext cx="505287"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en-US" sz="800" b="1">
                <a:latin typeface="Calibri" panose="020F0502020204030204"/>
              </a:rPr>
              <a:t>O</a:t>
            </a:r>
            <a:r>
              <a:rPr kumimoji="0" lang="en-US" sz="800" b="1" i="0" u="none" strike="noStrike" kern="1200" cap="none" spc="0" normalizeH="0" baseline="0" noProof="0" err="1">
                <a:ln>
                  <a:noFill/>
                </a:ln>
                <a:effectLst/>
                <a:uLnTx/>
                <a:uFillTx/>
                <a:latin typeface="Calibri" panose="020F0502020204030204"/>
                <a:ea typeface="+mn-ea"/>
                <a:cs typeface="+mn-cs"/>
              </a:rPr>
              <a:t>ffice</a:t>
            </a:r>
            <a:endParaRPr lang="en-US" sz="800" b="1" i="0" u="none" strike="noStrike" kern="1200" cap="none" spc="0" normalizeH="0" baseline="0" noProof="0">
              <a:ln>
                <a:noFill/>
              </a:ln>
              <a:effectLst/>
              <a:uLnTx/>
              <a:uFillTx/>
              <a:latin typeface="Calibri" panose="020F0502020204030204"/>
              <a:ea typeface="Calibri"/>
              <a:cs typeface="Calibri"/>
            </a:endParaRPr>
          </a:p>
        </p:txBody>
      </p:sp>
      <p:pic>
        <p:nvPicPr>
          <p:cNvPr id="16" name="Picture 15">
            <a:extLst>
              <a:ext uri="{FF2B5EF4-FFF2-40B4-BE49-F238E27FC236}">
                <a16:creationId xmlns:a16="http://schemas.microsoft.com/office/drawing/2014/main" id="{6CA2EF5C-6844-85BA-9755-73A56258AB7A}"/>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9232282" y="4927944"/>
            <a:ext cx="554687" cy="554687"/>
          </a:xfrm>
          <a:prstGeom prst="rect">
            <a:avLst/>
          </a:prstGeom>
        </p:spPr>
      </p:pic>
      <p:sp>
        <p:nvSpPr>
          <p:cNvPr id="17" name="TextBox 16">
            <a:extLst>
              <a:ext uri="{FF2B5EF4-FFF2-40B4-BE49-F238E27FC236}">
                <a16:creationId xmlns:a16="http://schemas.microsoft.com/office/drawing/2014/main" id="{80B14561-2A27-3B10-9D48-8036E5FAF828}"/>
              </a:ext>
            </a:extLst>
          </p:cNvPr>
          <p:cNvSpPr txBox="1"/>
          <p:nvPr/>
        </p:nvSpPr>
        <p:spPr>
          <a:xfrm>
            <a:off x="9263545" y="5482631"/>
            <a:ext cx="780538"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en-US" sz="800" b="1">
                <a:latin typeface="Calibri" panose="020F0502020204030204"/>
              </a:rPr>
              <a:t>Facilities</a:t>
            </a:r>
            <a:endParaRPr lang="en-US" sz="800" b="1" i="0" u="none" strike="noStrike" kern="1200" cap="none" spc="0" normalizeH="0" baseline="0" noProof="0">
              <a:ln>
                <a:noFill/>
              </a:ln>
              <a:effectLst/>
              <a:uLnTx/>
              <a:uFillTx/>
              <a:latin typeface="Calibri" panose="020F0502020204030204"/>
              <a:ea typeface="Calibri"/>
              <a:cs typeface="Calibri"/>
            </a:endParaRPr>
          </a:p>
        </p:txBody>
      </p:sp>
      <p:sp>
        <p:nvSpPr>
          <p:cNvPr id="18" name="Freeform: Shape 927">
            <a:extLst>
              <a:ext uri="{FF2B5EF4-FFF2-40B4-BE49-F238E27FC236}">
                <a16:creationId xmlns:a16="http://schemas.microsoft.com/office/drawing/2014/main" id="{DCBDCA34-D65D-33E0-C333-E5432B40ECC2}"/>
              </a:ext>
            </a:extLst>
          </p:cNvPr>
          <p:cNvSpPr/>
          <p:nvPr/>
        </p:nvSpPr>
        <p:spPr>
          <a:xfrm>
            <a:off x="8050876" y="5654409"/>
            <a:ext cx="493989" cy="493988"/>
          </a:xfrm>
          <a:custGeom>
            <a:avLst/>
            <a:gdLst>
              <a:gd name="connsiteX0" fmla="*/ 520827 w 520827"/>
              <a:gd name="connsiteY0" fmla="*/ 260414 h 520826"/>
              <a:gd name="connsiteX1" fmla="*/ 260413 w 520827"/>
              <a:gd name="connsiteY1" fmla="*/ 520827 h 520826"/>
              <a:gd name="connsiteX2" fmla="*/ -1 w 520827"/>
              <a:gd name="connsiteY2" fmla="*/ 260414 h 520826"/>
              <a:gd name="connsiteX3" fmla="*/ 260413 w 520827"/>
              <a:gd name="connsiteY3" fmla="*/ 0 h 520826"/>
              <a:gd name="connsiteX4" fmla="*/ 520827 w 520827"/>
              <a:gd name="connsiteY4" fmla="*/ 260414 h 520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27" h="520826">
                <a:moveTo>
                  <a:pt x="520827" y="260414"/>
                </a:moveTo>
                <a:cubicBezTo>
                  <a:pt x="520827" y="404236"/>
                  <a:pt x="404236" y="520827"/>
                  <a:pt x="260413" y="520827"/>
                </a:cubicBezTo>
                <a:cubicBezTo>
                  <a:pt x="116590" y="520827"/>
                  <a:pt x="-1" y="404236"/>
                  <a:pt x="-1" y="260414"/>
                </a:cubicBezTo>
                <a:cubicBezTo>
                  <a:pt x="-1" y="116591"/>
                  <a:pt x="116590" y="0"/>
                  <a:pt x="260413" y="0"/>
                </a:cubicBezTo>
                <a:cubicBezTo>
                  <a:pt x="404235" y="0"/>
                  <a:pt x="520827" y="116591"/>
                  <a:pt x="520827" y="260414"/>
                </a:cubicBezTo>
                <a:close/>
              </a:path>
            </a:pathLst>
          </a:custGeom>
          <a:solidFill>
            <a:srgbClr val="FF5255"/>
          </a:solidFill>
          <a:ln w="3175" cap="flat">
            <a:solidFill>
              <a:srgbClr val="7030A0"/>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pic>
        <p:nvPicPr>
          <p:cNvPr id="19" name="Graphic 18" descr="User with solid fill">
            <a:extLst>
              <a:ext uri="{FF2B5EF4-FFF2-40B4-BE49-F238E27FC236}">
                <a16:creationId xmlns:a16="http://schemas.microsoft.com/office/drawing/2014/main" id="{53E25728-B86D-BD8D-A7BD-A926239872A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111754" y="5690268"/>
            <a:ext cx="372232" cy="372232"/>
          </a:xfrm>
          <a:prstGeom prst="rect">
            <a:avLst/>
          </a:prstGeom>
        </p:spPr>
      </p:pic>
      <p:sp>
        <p:nvSpPr>
          <p:cNvPr id="21" name="TextBox 20">
            <a:extLst>
              <a:ext uri="{FF2B5EF4-FFF2-40B4-BE49-F238E27FC236}">
                <a16:creationId xmlns:a16="http://schemas.microsoft.com/office/drawing/2014/main" id="{8AA30F5E-CE1A-A764-5282-C530BD93F6AD}"/>
              </a:ext>
            </a:extLst>
          </p:cNvPr>
          <p:cNvSpPr txBox="1"/>
          <p:nvPr/>
        </p:nvSpPr>
        <p:spPr>
          <a:xfrm>
            <a:off x="7863081" y="6114255"/>
            <a:ext cx="914399" cy="33855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en-US" sz="800" b="1"/>
              <a:t>Hybrid User</a:t>
            </a:r>
            <a:endParaRPr lang="en-US" sz="800"/>
          </a:p>
          <a:p>
            <a:pPr lvl="0" algn="ctr">
              <a:defRPr/>
            </a:pPr>
            <a:endParaRPr lang="en-US" sz="800"/>
          </a:p>
        </p:txBody>
      </p:sp>
      <p:sp>
        <p:nvSpPr>
          <p:cNvPr id="23" name="Freeform: Shape 927">
            <a:extLst>
              <a:ext uri="{FF2B5EF4-FFF2-40B4-BE49-F238E27FC236}">
                <a16:creationId xmlns:a16="http://schemas.microsoft.com/office/drawing/2014/main" id="{DE9F77C8-EF38-1962-D128-07F8653AB23F}"/>
              </a:ext>
            </a:extLst>
          </p:cNvPr>
          <p:cNvSpPr/>
          <p:nvPr/>
        </p:nvSpPr>
        <p:spPr>
          <a:xfrm>
            <a:off x="8925108" y="5662773"/>
            <a:ext cx="493989" cy="493988"/>
          </a:xfrm>
          <a:custGeom>
            <a:avLst/>
            <a:gdLst>
              <a:gd name="connsiteX0" fmla="*/ 520827 w 520827"/>
              <a:gd name="connsiteY0" fmla="*/ 260414 h 520826"/>
              <a:gd name="connsiteX1" fmla="*/ 260413 w 520827"/>
              <a:gd name="connsiteY1" fmla="*/ 520827 h 520826"/>
              <a:gd name="connsiteX2" fmla="*/ -1 w 520827"/>
              <a:gd name="connsiteY2" fmla="*/ 260414 h 520826"/>
              <a:gd name="connsiteX3" fmla="*/ 260413 w 520827"/>
              <a:gd name="connsiteY3" fmla="*/ 0 h 520826"/>
              <a:gd name="connsiteX4" fmla="*/ 520827 w 520827"/>
              <a:gd name="connsiteY4" fmla="*/ 260414 h 520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27" h="520826">
                <a:moveTo>
                  <a:pt x="520827" y="260414"/>
                </a:moveTo>
                <a:cubicBezTo>
                  <a:pt x="520827" y="404236"/>
                  <a:pt x="404236" y="520827"/>
                  <a:pt x="260413" y="520827"/>
                </a:cubicBezTo>
                <a:cubicBezTo>
                  <a:pt x="116590" y="520827"/>
                  <a:pt x="-1" y="404236"/>
                  <a:pt x="-1" y="260414"/>
                </a:cubicBezTo>
                <a:cubicBezTo>
                  <a:pt x="-1" y="116591"/>
                  <a:pt x="116590" y="0"/>
                  <a:pt x="260413" y="0"/>
                </a:cubicBezTo>
                <a:cubicBezTo>
                  <a:pt x="404235" y="0"/>
                  <a:pt x="520827" y="116591"/>
                  <a:pt x="520827" y="260414"/>
                </a:cubicBezTo>
                <a:close/>
              </a:path>
            </a:pathLst>
          </a:custGeom>
          <a:solidFill>
            <a:srgbClr val="FFC000"/>
          </a:solidFill>
          <a:ln w="3175" cap="flat">
            <a:solidFill>
              <a:srgbClr val="7030A0"/>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pic>
        <p:nvPicPr>
          <p:cNvPr id="24" name="Graphic 23" descr="User with solid fill">
            <a:extLst>
              <a:ext uri="{FF2B5EF4-FFF2-40B4-BE49-F238E27FC236}">
                <a16:creationId xmlns:a16="http://schemas.microsoft.com/office/drawing/2014/main" id="{E98E36FF-6F82-DA8D-BBB0-6D19EAED482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985986" y="5698632"/>
            <a:ext cx="372232" cy="372232"/>
          </a:xfrm>
          <a:prstGeom prst="rect">
            <a:avLst/>
          </a:prstGeom>
        </p:spPr>
      </p:pic>
      <p:sp>
        <p:nvSpPr>
          <p:cNvPr id="38" name="TextBox 37">
            <a:extLst>
              <a:ext uri="{FF2B5EF4-FFF2-40B4-BE49-F238E27FC236}">
                <a16:creationId xmlns:a16="http://schemas.microsoft.com/office/drawing/2014/main" id="{9B59BBF3-2AB6-75EA-C839-D12FB00E1364}"/>
              </a:ext>
            </a:extLst>
          </p:cNvPr>
          <p:cNvSpPr txBox="1"/>
          <p:nvPr/>
        </p:nvSpPr>
        <p:spPr>
          <a:xfrm>
            <a:off x="8737313" y="6122619"/>
            <a:ext cx="914399"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en-US" sz="800" b="1"/>
              <a:t>3</a:t>
            </a:r>
            <a:r>
              <a:rPr lang="en-US" sz="800" b="1" baseline="30000"/>
              <a:t>rd</a:t>
            </a:r>
            <a:r>
              <a:rPr lang="en-US" sz="800" b="1"/>
              <a:t> Party</a:t>
            </a:r>
            <a:endParaRPr lang="en-US" sz="800"/>
          </a:p>
        </p:txBody>
      </p:sp>
      <p:sp>
        <p:nvSpPr>
          <p:cNvPr id="56" name="Freeform: Shape 927">
            <a:extLst>
              <a:ext uri="{FF2B5EF4-FFF2-40B4-BE49-F238E27FC236}">
                <a16:creationId xmlns:a16="http://schemas.microsoft.com/office/drawing/2014/main" id="{F6BD3F8C-07B6-3CE2-E37B-249FC751FCC4}"/>
              </a:ext>
            </a:extLst>
          </p:cNvPr>
          <p:cNvSpPr/>
          <p:nvPr/>
        </p:nvSpPr>
        <p:spPr>
          <a:xfrm>
            <a:off x="7160112" y="5654409"/>
            <a:ext cx="493989" cy="493988"/>
          </a:xfrm>
          <a:custGeom>
            <a:avLst/>
            <a:gdLst>
              <a:gd name="connsiteX0" fmla="*/ 520827 w 520827"/>
              <a:gd name="connsiteY0" fmla="*/ 260414 h 520826"/>
              <a:gd name="connsiteX1" fmla="*/ 260413 w 520827"/>
              <a:gd name="connsiteY1" fmla="*/ 520827 h 520826"/>
              <a:gd name="connsiteX2" fmla="*/ -1 w 520827"/>
              <a:gd name="connsiteY2" fmla="*/ 260414 h 520826"/>
              <a:gd name="connsiteX3" fmla="*/ 260413 w 520827"/>
              <a:gd name="connsiteY3" fmla="*/ 0 h 520826"/>
              <a:gd name="connsiteX4" fmla="*/ 520827 w 520827"/>
              <a:gd name="connsiteY4" fmla="*/ 260414 h 520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27" h="520826">
                <a:moveTo>
                  <a:pt x="520827" y="260414"/>
                </a:moveTo>
                <a:cubicBezTo>
                  <a:pt x="520827" y="404236"/>
                  <a:pt x="404236" y="520827"/>
                  <a:pt x="260413" y="520827"/>
                </a:cubicBezTo>
                <a:cubicBezTo>
                  <a:pt x="116590" y="520827"/>
                  <a:pt x="-1" y="404236"/>
                  <a:pt x="-1" y="260414"/>
                </a:cubicBezTo>
                <a:cubicBezTo>
                  <a:pt x="-1" y="116591"/>
                  <a:pt x="116590" y="0"/>
                  <a:pt x="260413" y="0"/>
                </a:cubicBezTo>
                <a:cubicBezTo>
                  <a:pt x="404235" y="0"/>
                  <a:pt x="520827" y="116591"/>
                  <a:pt x="520827" y="260414"/>
                </a:cubicBezTo>
                <a:close/>
              </a:path>
            </a:pathLst>
          </a:custGeom>
          <a:solidFill>
            <a:schemeClr val="accent1">
              <a:lumMod val="20000"/>
              <a:lumOff val="80000"/>
            </a:schemeClr>
          </a:solidFill>
          <a:ln w="3175" cap="flat">
            <a:solidFill>
              <a:srgbClr val="7030A0"/>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58" name="TextBox 57">
            <a:extLst>
              <a:ext uri="{FF2B5EF4-FFF2-40B4-BE49-F238E27FC236}">
                <a16:creationId xmlns:a16="http://schemas.microsoft.com/office/drawing/2014/main" id="{CE195774-0FC0-9799-C65A-623CE771B3A4}"/>
              </a:ext>
            </a:extLst>
          </p:cNvPr>
          <p:cNvSpPr txBox="1"/>
          <p:nvPr/>
        </p:nvSpPr>
        <p:spPr>
          <a:xfrm>
            <a:off x="6967246" y="6114255"/>
            <a:ext cx="914399"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en-US" sz="800" b="1"/>
              <a:t>OT/IoT</a:t>
            </a:r>
          </a:p>
        </p:txBody>
      </p:sp>
      <p:pic>
        <p:nvPicPr>
          <p:cNvPr id="60" name="Graphic 59" descr="Security camera with solid fill">
            <a:extLst>
              <a:ext uri="{FF2B5EF4-FFF2-40B4-BE49-F238E27FC236}">
                <a16:creationId xmlns:a16="http://schemas.microsoft.com/office/drawing/2014/main" id="{69505451-D279-4320-253E-A426B061CE8B}"/>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301160" y="5785639"/>
            <a:ext cx="276861" cy="276861"/>
          </a:xfrm>
          <a:prstGeom prst="rect">
            <a:avLst/>
          </a:prstGeom>
        </p:spPr>
      </p:pic>
      <p:pic>
        <p:nvPicPr>
          <p:cNvPr id="62" name="Graphic 61" descr="Arrow: Clockwise curve with solid fill">
            <a:extLst>
              <a:ext uri="{FF2B5EF4-FFF2-40B4-BE49-F238E27FC236}">
                <a16:creationId xmlns:a16="http://schemas.microsoft.com/office/drawing/2014/main" id="{6E1AB9F7-6988-EECF-8F8B-0B84EB3D7529}"/>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252718" y="4226110"/>
            <a:ext cx="682644" cy="682644"/>
          </a:xfrm>
          <a:prstGeom prst="rect">
            <a:avLst/>
          </a:prstGeom>
        </p:spPr>
      </p:pic>
      <p:pic>
        <p:nvPicPr>
          <p:cNvPr id="66" name="Graphic 65" descr="Arrow: Clockwise curve with solid fill">
            <a:extLst>
              <a:ext uri="{FF2B5EF4-FFF2-40B4-BE49-F238E27FC236}">
                <a16:creationId xmlns:a16="http://schemas.microsoft.com/office/drawing/2014/main" id="{8F9DA2DE-5E36-63F2-942A-3086200B925F}"/>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rot="10800000">
            <a:off x="8653616" y="4179253"/>
            <a:ext cx="604087" cy="674782"/>
          </a:xfrm>
          <a:prstGeom prst="rect">
            <a:avLst/>
          </a:prstGeom>
        </p:spPr>
      </p:pic>
      <p:pic>
        <p:nvPicPr>
          <p:cNvPr id="67" name="Picture 66">
            <a:extLst>
              <a:ext uri="{FF2B5EF4-FFF2-40B4-BE49-F238E27FC236}">
                <a16:creationId xmlns:a16="http://schemas.microsoft.com/office/drawing/2014/main" id="{58D3A6EA-50A9-2328-54D3-2CA9931836D3}"/>
              </a:ext>
            </a:extLst>
          </p:cNvPr>
          <p:cNvPicPr>
            <a:picLocks noChangeAspect="1"/>
          </p:cNvPicPr>
          <p:nvPr/>
        </p:nvPicPr>
        <p:blipFill>
          <a:blip r:embed="rId19" cstate="screen">
            <a:extLst>
              <a:ext uri="{28A0092B-C50C-407E-A947-70E740481C1C}">
                <a14:useLocalDpi xmlns:a14="http://schemas.microsoft.com/office/drawing/2010/main"/>
              </a:ext>
            </a:extLst>
          </a:blip>
          <a:stretch>
            <a:fillRect/>
          </a:stretch>
        </p:blipFill>
        <p:spPr>
          <a:xfrm>
            <a:off x="5144509" y="5083708"/>
            <a:ext cx="1578137" cy="843402"/>
          </a:xfrm>
          <a:prstGeom prst="rect">
            <a:avLst/>
          </a:prstGeom>
          <a:effectLst>
            <a:glow rad="63500">
              <a:srgbClr val="7030A0">
                <a:alpha val="40000"/>
              </a:srgbClr>
            </a:glow>
          </a:effectLst>
        </p:spPr>
      </p:pic>
      <p:pic>
        <p:nvPicPr>
          <p:cNvPr id="69" name="Picture 68">
            <a:extLst>
              <a:ext uri="{FF2B5EF4-FFF2-40B4-BE49-F238E27FC236}">
                <a16:creationId xmlns:a16="http://schemas.microsoft.com/office/drawing/2014/main" id="{1B6C7339-3BAB-DEE8-865D-07330E89E84A}"/>
              </a:ext>
            </a:extLst>
          </p:cNvPr>
          <p:cNvPicPr>
            <a:picLocks noChangeAspect="1"/>
          </p:cNvPicPr>
          <p:nvPr/>
        </p:nvPicPr>
        <p:blipFill>
          <a:blip r:embed="rId20"/>
          <a:stretch>
            <a:fillRect/>
          </a:stretch>
        </p:blipFill>
        <p:spPr>
          <a:xfrm>
            <a:off x="10862117" y="5597358"/>
            <a:ext cx="361413" cy="296875"/>
          </a:xfrm>
          <a:prstGeom prst="rect">
            <a:avLst/>
          </a:prstGeom>
        </p:spPr>
      </p:pic>
      <p:pic>
        <p:nvPicPr>
          <p:cNvPr id="70" name="Graphic 69" descr="Cloud with solid fill">
            <a:extLst>
              <a:ext uri="{FF2B5EF4-FFF2-40B4-BE49-F238E27FC236}">
                <a16:creationId xmlns:a16="http://schemas.microsoft.com/office/drawing/2014/main" id="{908B6C89-C399-39D0-D5BB-45E10A57B7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43204" y="4955660"/>
            <a:ext cx="914400" cy="914400"/>
          </a:xfrm>
          <a:prstGeom prst="rect">
            <a:avLst/>
          </a:prstGeom>
          <a:effectLst>
            <a:glow rad="101600">
              <a:srgbClr val="7030A0">
                <a:alpha val="60000"/>
              </a:srgbClr>
            </a:glow>
          </a:effectLst>
        </p:spPr>
      </p:pic>
      <p:pic>
        <p:nvPicPr>
          <p:cNvPr id="71" name="Picture 70">
            <a:extLst>
              <a:ext uri="{FF2B5EF4-FFF2-40B4-BE49-F238E27FC236}">
                <a16:creationId xmlns:a16="http://schemas.microsoft.com/office/drawing/2014/main" id="{9DC8AC15-F9C2-5FA0-0CCA-D1AC5D831910}"/>
              </a:ext>
            </a:extLst>
          </p:cNvPr>
          <p:cNvPicPr>
            <a:picLocks noChangeAspect="1"/>
          </p:cNvPicPr>
          <p:nvPr/>
        </p:nvPicPr>
        <p:blipFill>
          <a:blip r:embed="rId21"/>
          <a:stretch>
            <a:fillRect/>
          </a:stretch>
        </p:blipFill>
        <p:spPr>
          <a:xfrm>
            <a:off x="10309130" y="5320549"/>
            <a:ext cx="331337" cy="279923"/>
          </a:xfrm>
          <a:prstGeom prst="rect">
            <a:avLst/>
          </a:prstGeom>
        </p:spPr>
      </p:pic>
      <p:pic>
        <p:nvPicPr>
          <p:cNvPr id="72" name="Graphic 71" descr="Cloud with solid fill">
            <a:extLst>
              <a:ext uri="{FF2B5EF4-FFF2-40B4-BE49-F238E27FC236}">
                <a16:creationId xmlns:a16="http://schemas.microsoft.com/office/drawing/2014/main" id="{5AE2C685-554F-46CA-829C-99AC9F7261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58973" y="4793094"/>
            <a:ext cx="914400" cy="914400"/>
          </a:xfrm>
          <a:prstGeom prst="rect">
            <a:avLst/>
          </a:prstGeom>
          <a:effectLst>
            <a:glow rad="101600">
              <a:srgbClr val="7030A0">
                <a:alpha val="60000"/>
              </a:srgbClr>
            </a:glow>
          </a:effectLst>
        </p:spPr>
      </p:pic>
      <p:sp>
        <p:nvSpPr>
          <p:cNvPr id="73" name="Freeform: Shape 803">
            <a:extLst>
              <a:ext uri="{FF2B5EF4-FFF2-40B4-BE49-F238E27FC236}">
                <a16:creationId xmlns:a16="http://schemas.microsoft.com/office/drawing/2014/main" id="{ED6B98A7-1BD0-0038-5738-AB5A008B1FE4}"/>
              </a:ext>
            </a:extLst>
          </p:cNvPr>
          <p:cNvSpPr/>
          <p:nvPr/>
        </p:nvSpPr>
        <p:spPr>
          <a:xfrm>
            <a:off x="10993515" y="5202049"/>
            <a:ext cx="255305" cy="86908"/>
          </a:xfrm>
          <a:custGeom>
            <a:avLst/>
            <a:gdLst>
              <a:gd name="connsiteX0" fmla="*/ 70581 w 269176"/>
              <a:gd name="connsiteY0" fmla="*/ 63532 h 91630"/>
              <a:gd name="connsiteX1" fmla="*/ 71628 w 269176"/>
              <a:gd name="connsiteY1" fmla="*/ 72200 h 91630"/>
              <a:gd name="connsiteX2" fmla="*/ 74772 w 269176"/>
              <a:gd name="connsiteY2" fmla="*/ 79248 h 91630"/>
              <a:gd name="connsiteX3" fmla="*/ 75438 w 269176"/>
              <a:gd name="connsiteY3" fmla="*/ 81534 h 91630"/>
              <a:gd name="connsiteX4" fmla="*/ 73629 w 269176"/>
              <a:gd name="connsiteY4" fmla="*/ 84487 h 91630"/>
              <a:gd name="connsiteX5" fmla="*/ 67533 w 269176"/>
              <a:gd name="connsiteY5" fmla="*/ 88583 h 91630"/>
              <a:gd name="connsiteX6" fmla="*/ 64961 w 269176"/>
              <a:gd name="connsiteY6" fmla="*/ 89440 h 91630"/>
              <a:gd name="connsiteX7" fmla="*/ 62008 w 269176"/>
              <a:gd name="connsiteY7" fmla="*/ 88106 h 91630"/>
              <a:gd name="connsiteX8" fmla="*/ 58484 w 269176"/>
              <a:gd name="connsiteY8" fmla="*/ 83534 h 91630"/>
              <a:gd name="connsiteX9" fmla="*/ 55436 w 269176"/>
              <a:gd name="connsiteY9" fmla="*/ 77819 h 91630"/>
              <a:gd name="connsiteX10" fmla="*/ 26765 w 269176"/>
              <a:gd name="connsiteY10" fmla="*/ 91250 h 91630"/>
              <a:gd name="connsiteX11" fmla="*/ 7239 w 269176"/>
              <a:gd name="connsiteY11" fmla="*/ 84201 h 91630"/>
              <a:gd name="connsiteX12" fmla="*/ 0 w 269176"/>
              <a:gd name="connsiteY12" fmla="*/ 65532 h 91630"/>
              <a:gd name="connsiteX13" fmla="*/ 8858 w 269176"/>
              <a:gd name="connsiteY13" fmla="*/ 45434 h 91630"/>
              <a:gd name="connsiteX14" fmla="*/ 32766 w 269176"/>
              <a:gd name="connsiteY14" fmla="*/ 37814 h 91630"/>
              <a:gd name="connsiteX15" fmla="*/ 43053 w 269176"/>
              <a:gd name="connsiteY15" fmla="*/ 38576 h 91630"/>
              <a:gd name="connsiteX16" fmla="*/ 54293 w 269176"/>
              <a:gd name="connsiteY16" fmla="*/ 40767 h 91630"/>
              <a:gd name="connsiteX17" fmla="*/ 54293 w 269176"/>
              <a:gd name="connsiteY17" fmla="*/ 33623 h 91630"/>
              <a:gd name="connsiteX18" fmla="*/ 49721 w 269176"/>
              <a:gd name="connsiteY18" fmla="*/ 18002 h 91630"/>
              <a:gd name="connsiteX19" fmla="*/ 33814 w 269176"/>
              <a:gd name="connsiteY19" fmla="*/ 13526 h 91630"/>
              <a:gd name="connsiteX20" fmla="*/ 23241 w 269176"/>
              <a:gd name="connsiteY20" fmla="*/ 14764 h 91630"/>
              <a:gd name="connsiteX21" fmla="*/ 12668 w 269176"/>
              <a:gd name="connsiteY21" fmla="*/ 18098 h 91630"/>
              <a:gd name="connsiteX22" fmla="*/ 9240 w 269176"/>
              <a:gd name="connsiteY22" fmla="*/ 19336 h 91630"/>
              <a:gd name="connsiteX23" fmla="*/ 7715 w 269176"/>
              <a:gd name="connsiteY23" fmla="*/ 19622 h 91630"/>
              <a:gd name="connsiteX24" fmla="*/ 5715 w 269176"/>
              <a:gd name="connsiteY24" fmla="*/ 16574 h 91630"/>
              <a:gd name="connsiteX25" fmla="*/ 5715 w 269176"/>
              <a:gd name="connsiteY25" fmla="*/ 11811 h 91630"/>
              <a:gd name="connsiteX26" fmla="*/ 6382 w 269176"/>
              <a:gd name="connsiteY26" fmla="*/ 8382 h 91630"/>
              <a:gd name="connsiteX27" fmla="*/ 9144 w 269176"/>
              <a:gd name="connsiteY27" fmla="*/ 6382 h 91630"/>
              <a:gd name="connsiteX28" fmla="*/ 21431 w 269176"/>
              <a:gd name="connsiteY28" fmla="*/ 2000 h 91630"/>
              <a:gd name="connsiteX29" fmla="*/ 36672 w 269176"/>
              <a:gd name="connsiteY29" fmla="*/ 191 h 91630"/>
              <a:gd name="connsiteX30" fmla="*/ 62199 w 269176"/>
              <a:gd name="connsiteY30" fmla="*/ 8096 h 91630"/>
              <a:gd name="connsiteX31" fmla="*/ 70295 w 269176"/>
              <a:gd name="connsiteY31" fmla="*/ 32099 h 91630"/>
              <a:gd name="connsiteX32" fmla="*/ 70295 w 269176"/>
              <a:gd name="connsiteY32" fmla="*/ 63722 h 91630"/>
              <a:gd name="connsiteX33" fmla="*/ 70485 w 269176"/>
              <a:gd name="connsiteY33" fmla="*/ 63722 h 91630"/>
              <a:gd name="connsiteX34" fmla="*/ 31052 w 269176"/>
              <a:gd name="connsiteY34" fmla="*/ 78391 h 91630"/>
              <a:gd name="connsiteX35" fmla="*/ 41053 w 269176"/>
              <a:gd name="connsiteY35" fmla="*/ 76676 h 91630"/>
              <a:gd name="connsiteX36" fmla="*/ 50292 w 269176"/>
              <a:gd name="connsiteY36" fmla="*/ 70485 h 91630"/>
              <a:gd name="connsiteX37" fmla="*/ 53626 w 269176"/>
              <a:gd name="connsiteY37" fmla="*/ 64294 h 91630"/>
              <a:gd name="connsiteX38" fmla="*/ 54579 w 269176"/>
              <a:gd name="connsiteY38" fmla="*/ 55817 h 91630"/>
              <a:gd name="connsiteX39" fmla="*/ 54579 w 269176"/>
              <a:gd name="connsiteY39" fmla="*/ 51721 h 91630"/>
              <a:gd name="connsiteX40" fmla="*/ 45625 w 269176"/>
              <a:gd name="connsiteY40" fmla="*/ 50102 h 91630"/>
              <a:gd name="connsiteX41" fmla="*/ 36481 w 269176"/>
              <a:gd name="connsiteY41" fmla="*/ 49530 h 91630"/>
              <a:gd name="connsiteX42" fmla="*/ 22003 w 269176"/>
              <a:gd name="connsiteY42" fmla="*/ 53435 h 91630"/>
              <a:gd name="connsiteX43" fmla="*/ 17240 w 269176"/>
              <a:gd name="connsiteY43" fmla="*/ 64675 h 91630"/>
              <a:gd name="connsiteX44" fmla="*/ 20860 w 269176"/>
              <a:gd name="connsiteY44" fmla="*/ 74962 h 91630"/>
              <a:gd name="connsiteX45" fmla="*/ 31052 w 269176"/>
              <a:gd name="connsiteY45" fmla="*/ 78581 h 91630"/>
              <a:gd name="connsiteX46" fmla="*/ 109347 w 269176"/>
              <a:gd name="connsiteY46" fmla="*/ 88964 h 91630"/>
              <a:gd name="connsiteX47" fmla="*/ 105633 w 269176"/>
              <a:gd name="connsiteY47" fmla="*/ 88011 h 91630"/>
              <a:gd name="connsiteX48" fmla="*/ 103632 w 269176"/>
              <a:gd name="connsiteY48" fmla="*/ 84201 h 91630"/>
              <a:gd name="connsiteX49" fmla="*/ 80772 w 269176"/>
              <a:gd name="connsiteY49" fmla="*/ 8858 h 91630"/>
              <a:gd name="connsiteX50" fmla="*/ 79915 w 269176"/>
              <a:gd name="connsiteY50" fmla="*/ 4953 h 91630"/>
              <a:gd name="connsiteX51" fmla="*/ 82296 w 269176"/>
              <a:gd name="connsiteY51" fmla="*/ 2477 h 91630"/>
              <a:gd name="connsiteX52" fmla="*/ 91821 w 269176"/>
              <a:gd name="connsiteY52" fmla="*/ 2477 h 91630"/>
              <a:gd name="connsiteX53" fmla="*/ 95631 w 269176"/>
              <a:gd name="connsiteY53" fmla="*/ 3429 h 91630"/>
              <a:gd name="connsiteX54" fmla="*/ 97536 w 269176"/>
              <a:gd name="connsiteY54" fmla="*/ 7239 h 91630"/>
              <a:gd name="connsiteX55" fmla="*/ 113919 w 269176"/>
              <a:gd name="connsiteY55" fmla="*/ 71723 h 91630"/>
              <a:gd name="connsiteX56" fmla="*/ 129159 w 269176"/>
              <a:gd name="connsiteY56" fmla="*/ 7239 h 91630"/>
              <a:gd name="connsiteX57" fmla="*/ 130969 w 269176"/>
              <a:gd name="connsiteY57" fmla="*/ 3429 h 91630"/>
              <a:gd name="connsiteX58" fmla="*/ 134874 w 269176"/>
              <a:gd name="connsiteY58" fmla="*/ 2477 h 91630"/>
              <a:gd name="connsiteX59" fmla="*/ 142685 w 269176"/>
              <a:gd name="connsiteY59" fmla="*/ 2477 h 91630"/>
              <a:gd name="connsiteX60" fmla="*/ 146590 w 269176"/>
              <a:gd name="connsiteY60" fmla="*/ 3429 h 91630"/>
              <a:gd name="connsiteX61" fmla="*/ 148400 w 269176"/>
              <a:gd name="connsiteY61" fmla="*/ 7239 h 91630"/>
              <a:gd name="connsiteX62" fmla="*/ 163830 w 269176"/>
              <a:gd name="connsiteY62" fmla="*/ 72581 h 91630"/>
              <a:gd name="connsiteX63" fmla="*/ 180690 w 269176"/>
              <a:gd name="connsiteY63" fmla="*/ 7239 h 91630"/>
              <a:gd name="connsiteX64" fmla="*/ 182595 w 269176"/>
              <a:gd name="connsiteY64" fmla="*/ 3429 h 91630"/>
              <a:gd name="connsiteX65" fmla="*/ 186404 w 269176"/>
              <a:gd name="connsiteY65" fmla="*/ 2477 h 91630"/>
              <a:gd name="connsiteX66" fmla="*/ 195453 w 269176"/>
              <a:gd name="connsiteY66" fmla="*/ 2477 h 91630"/>
              <a:gd name="connsiteX67" fmla="*/ 197930 w 269176"/>
              <a:gd name="connsiteY67" fmla="*/ 4953 h 91630"/>
              <a:gd name="connsiteX68" fmla="*/ 197739 w 269176"/>
              <a:gd name="connsiteY68" fmla="*/ 6477 h 91630"/>
              <a:gd name="connsiteX69" fmla="*/ 197072 w 269176"/>
              <a:gd name="connsiteY69" fmla="*/ 8954 h 91630"/>
              <a:gd name="connsiteX70" fmla="*/ 173546 w 269176"/>
              <a:gd name="connsiteY70" fmla="*/ 84296 h 91630"/>
              <a:gd name="connsiteX71" fmla="*/ 171545 w 269176"/>
              <a:gd name="connsiteY71" fmla="*/ 88106 h 91630"/>
              <a:gd name="connsiteX72" fmla="*/ 167830 w 269176"/>
              <a:gd name="connsiteY72" fmla="*/ 89059 h 91630"/>
              <a:gd name="connsiteX73" fmla="*/ 159448 w 269176"/>
              <a:gd name="connsiteY73" fmla="*/ 89059 h 91630"/>
              <a:gd name="connsiteX74" fmla="*/ 155543 w 269176"/>
              <a:gd name="connsiteY74" fmla="*/ 88106 h 91630"/>
              <a:gd name="connsiteX75" fmla="*/ 153734 w 269176"/>
              <a:gd name="connsiteY75" fmla="*/ 84201 h 91630"/>
              <a:gd name="connsiteX76" fmla="*/ 138589 w 269176"/>
              <a:gd name="connsiteY76" fmla="*/ 21336 h 91630"/>
              <a:gd name="connsiteX77" fmla="*/ 123540 w 269176"/>
              <a:gd name="connsiteY77" fmla="*/ 84106 h 91630"/>
              <a:gd name="connsiteX78" fmla="*/ 121730 w 269176"/>
              <a:gd name="connsiteY78" fmla="*/ 88011 h 91630"/>
              <a:gd name="connsiteX79" fmla="*/ 117824 w 269176"/>
              <a:gd name="connsiteY79" fmla="*/ 88964 h 91630"/>
              <a:gd name="connsiteX80" fmla="*/ 109442 w 269176"/>
              <a:gd name="connsiteY80" fmla="*/ 88964 h 91630"/>
              <a:gd name="connsiteX81" fmla="*/ 234601 w 269176"/>
              <a:gd name="connsiteY81" fmla="*/ 91631 h 91630"/>
              <a:gd name="connsiteX82" fmla="*/ 219551 w 269176"/>
              <a:gd name="connsiteY82" fmla="*/ 89916 h 91630"/>
              <a:gd name="connsiteX83" fmla="*/ 208312 w 269176"/>
              <a:gd name="connsiteY83" fmla="*/ 86011 h 91630"/>
              <a:gd name="connsiteX84" fmla="*/ 205264 w 269176"/>
              <a:gd name="connsiteY84" fmla="*/ 83249 h 91630"/>
              <a:gd name="connsiteX85" fmla="*/ 204692 w 269176"/>
              <a:gd name="connsiteY85" fmla="*/ 80486 h 91630"/>
              <a:gd name="connsiteX86" fmla="*/ 204692 w 269176"/>
              <a:gd name="connsiteY86" fmla="*/ 75533 h 91630"/>
              <a:gd name="connsiteX87" fmla="*/ 206979 w 269176"/>
              <a:gd name="connsiteY87" fmla="*/ 72485 h 91630"/>
              <a:gd name="connsiteX88" fmla="*/ 208693 w 269176"/>
              <a:gd name="connsiteY88" fmla="*/ 72771 h 91630"/>
              <a:gd name="connsiteX89" fmla="*/ 211170 w 269176"/>
              <a:gd name="connsiteY89" fmla="*/ 73724 h 91630"/>
              <a:gd name="connsiteX90" fmla="*/ 221932 w 269176"/>
              <a:gd name="connsiteY90" fmla="*/ 77153 h 91630"/>
              <a:gd name="connsiteX91" fmla="*/ 233553 w 269176"/>
              <a:gd name="connsiteY91" fmla="*/ 78296 h 91630"/>
              <a:gd name="connsiteX92" fmla="*/ 247745 w 269176"/>
              <a:gd name="connsiteY92" fmla="*/ 75057 h 91630"/>
              <a:gd name="connsiteX93" fmla="*/ 252794 w 269176"/>
              <a:gd name="connsiteY93" fmla="*/ 65818 h 91630"/>
              <a:gd name="connsiteX94" fmla="*/ 250127 w 269176"/>
              <a:gd name="connsiteY94" fmla="*/ 58960 h 91630"/>
              <a:gd name="connsiteX95" fmla="*/ 240316 w 269176"/>
              <a:gd name="connsiteY95" fmla="*/ 53912 h 91630"/>
              <a:gd name="connsiteX96" fmla="*/ 226219 w 269176"/>
              <a:gd name="connsiteY96" fmla="*/ 49530 h 91630"/>
              <a:gd name="connsiteX97" fmla="*/ 210598 w 269176"/>
              <a:gd name="connsiteY97" fmla="*/ 39624 h 91630"/>
              <a:gd name="connsiteX98" fmla="*/ 205740 w 269176"/>
              <a:gd name="connsiteY98" fmla="*/ 25527 h 91630"/>
              <a:gd name="connsiteX99" fmla="*/ 208407 w 269176"/>
              <a:gd name="connsiteY99" fmla="*/ 14669 h 91630"/>
              <a:gd name="connsiteX100" fmla="*/ 215455 w 269176"/>
              <a:gd name="connsiteY100" fmla="*/ 6668 h 91630"/>
              <a:gd name="connsiteX101" fmla="*/ 225552 w 269176"/>
              <a:gd name="connsiteY101" fmla="*/ 1619 h 91630"/>
              <a:gd name="connsiteX102" fmla="*/ 237840 w 269176"/>
              <a:gd name="connsiteY102" fmla="*/ 0 h 91630"/>
              <a:gd name="connsiteX103" fmla="*/ 244412 w 269176"/>
              <a:gd name="connsiteY103" fmla="*/ 381 h 91630"/>
              <a:gd name="connsiteX104" fmla="*/ 250793 w 269176"/>
              <a:gd name="connsiteY104" fmla="*/ 1429 h 91630"/>
              <a:gd name="connsiteX105" fmla="*/ 256318 w 269176"/>
              <a:gd name="connsiteY105" fmla="*/ 2953 h 91630"/>
              <a:gd name="connsiteX106" fmla="*/ 260414 w 269176"/>
              <a:gd name="connsiteY106" fmla="*/ 4667 h 91630"/>
              <a:gd name="connsiteX107" fmla="*/ 263366 w 269176"/>
              <a:gd name="connsiteY107" fmla="*/ 7144 h 91630"/>
              <a:gd name="connsiteX108" fmla="*/ 264223 w 269176"/>
              <a:gd name="connsiteY108" fmla="*/ 10382 h 91630"/>
              <a:gd name="connsiteX109" fmla="*/ 264223 w 269176"/>
              <a:gd name="connsiteY109" fmla="*/ 14954 h 91630"/>
              <a:gd name="connsiteX110" fmla="*/ 261938 w 269176"/>
              <a:gd name="connsiteY110" fmla="*/ 18098 h 91630"/>
              <a:gd name="connsiteX111" fmla="*/ 258223 w 269176"/>
              <a:gd name="connsiteY111" fmla="*/ 16955 h 91630"/>
              <a:gd name="connsiteX112" fmla="*/ 239554 w 269176"/>
              <a:gd name="connsiteY112" fmla="*/ 13145 h 91630"/>
              <a:gd name="connsiteX113" fmla="*/ 226600 w 269176"/>
              <a:gd name="connsiteY113" fmla="*/ 15907 h 91630"/>
              <a:gd name="connsiteX114" fmla="*/ 222028 w 269176"/>
              <a:gd name="connsiteY114" fmla="*/ 24575 h 91630"/>
              <a:gd name="connsiteX115" fmla="*/ 224980 w 269176"/>
              <a:gd name="connsiteY115" fmla="*/ 31528 h 91630"/>
              <a:gd name="connsiteX116" fmla="*/ 235744 w 269176"/>
              <a:gd name="connsiteY116" fmla="*/ 36862 h 91630"/>
              <a:gd name="connsiteX117" fmla="*/ 249555 w 269176"/>
              <a:gd name="connsiteY117" fmla="*/ 41243 h 91630"/>
              <a:gd name="connsiteX118" fmla="*/ 264700 w 269176"/>
              <a:gd name="connsiteY118" fmla="*/ 50578 h 91630"/>
              <a:gd name="connsiteX119" fmla="*/ 269177 w 269176"/>
              <a:gd name="connsiteY119" fmla="*/ 64199 h 91630"/>
              <a:gd name="connsiteX120" fmla="*/ 266605 w 269176"/>
              <a:gd name="connsiteY120" fmla="*/ 75533 h 91630"/>
              <a:gd name="connsiteX121" fmla="*/ 259461 w 269176"/>
              <a:gd name="connsiteY121" fmla="*/ 84106 h 91630"/>
              <a:gd name="connsiteX122" fmla="*/ 248603 w 269176"/>
              <a:gd name="connsiteY122" fmla="*/ 89535 h 91630"/>
              <a:gd name="connsiteX123" fmla="*/ 234696 w 269176"/>
              <a:gd name="connsiteY123" fmla="*/ 91535 h 91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269176" h="91630">
                <a:moveTo>
                  <a:pt x="70581" y="63532"/>
                </a:moveTo>
                <a:cubicBezTo>
                  <a:pt x="70581" y="67151"/>
                  <a:pt x="70961" y="70104"/>
                  <a:pt x="71628" y="72200"/>
                </a:cubicBezTo>
                <a:cubicBezTo>
                  <a:pt x="72390" y="74390"/>
                  <a:pt x="73343" y="76676"/>
                  <a:pt x="74772" y="79248"/>
                </a:cubicBezTo>
                <a:cubicBezTo>
                  <a:pt x="75248" y="80010"/>
                  <a:pt x="75438" y="80772"/>
                  <a:pt x="75438" y="81534"/>
                </a:cubicBezTo>
                <a:cubicBezTo>
                  <a:pt x="75438" y="82487"/>
                  <a:pt x="74867" y="83439"/>
                  <a:pt x="73629" y="84487"/>
                </a:cubicBezTo>
                <a:lnTo>
                  <a:pt x="67533" y="88583"/>
                </a:lnTo>
                <a:cubicBezTo>
                  <a:pt x="66675" y="89154"/>
                  <a:pt x="65818" y="89440"/>
                  <a:pt x="64961" y="89440"/>
                </a:cubicBezTo>
                <a:cubicBezTo>
                  <a:pt x="64008" y="89440"/>
                  <a:pt x="63055" y="88964"/>
                  <a:pt x="62008" y="88106"/>
                </a:cubicBezTo>
                <a:cubicBezTo>
                  <a:pt x="60674" y="86678"/>
                  <a:pt x="59436" y="85058"/>
                  <a:pt x="58484" y="83534"/>
                </a:cubicBezTo>
                <a:cubicBezTo>
                  <a:pt x="57531" y="81915"/>
                  <a:pt x="56579" y="80010"/>
                  <a:pt x="55436" y="77819"/>
                </a:cubicBezTo>
                <a:cubicBezTo>
                  <a:pt x="47816" y="86773"/>
                  <a:pt x="38291" y="91250"/>
                  <a:pt x="26765" y="91250"/>
                </a:cubicBezTo>
                <a:cubicBezTo>
                  <a:pt x="18574" y="91250"/>
                  <a:pt x="12002" y="88868"/>
                  <a:pt x="7239" y="84201"/>
                </a:cubicBezTo>
                <a:cubicBezTo>
                  <a:pt x="2477" y="79534"/>
                  <a:pt x="0" y="73247"/>
                  <a:pt x="0" y="65532"/>
                </a:cubicBezTo>
                <a:cubicBezTo>
                  <a:pt x="0" y="57245"/>
                  <a:pt x="2953" y="50483"/>
                  <a:pt x="8858" y="45434"/>
                </a:cubicBezTo>
                <a:cubicBezTo>
                  <a:pt x="14764" y="40386"/>
                  <a:pt x="22670" y="37814"/>
                  <a:pt x="32766" y="37814"/>
                </a:cubicBezTo>
                <a:cubicBezTo>
                  <a:pt x="36100" y="37814"/>
                  <a:pt x="39529" y="38100"/>
                  <a:pt x="43053" y="38576"/>
                </a:cubicBezTo>
                <a:cubicBezTo>
                  <a:pt x="46577" y="39053"/>
                  <a:pt x="50388" y="39815"/>
                  <a:pt x="54293" y="40767"/>
                </a:cubicBezTo>
                <a:lnTo>
                  <a:pt x="54293" y="33623"/>
                </a:lnTo>
                <a:cubicBezTo>
                  <a:pt x="54293" y="26194"/>
                  <a:pt x="52769" y="21050"/>
                  <a:pt x="49721" y="18002"/>
                </a:cubicBezTo>
                <a:cubicBezTo>
                  <a:pt x="46577" y="14954"/>
                  <a:pt x="41339" y="13526"/>
                  <a:pt x="33814" y="13526"/>
                </a:cubicBezTo>
                <a:cubicBezTo>
                  <a:pt x="30385" y="13526"/>
                  <a:pt x="26861" y="13907"/>
                  <a:pt x="23241" y="14764"/>
                </a:cubicBezTo>
                <a:cubicBezTo>
                  <a:pt x="19621" y="15621"/>
                  <a:pt x="16097" y="16669"/>
                  <a:pt x="12668" y="18098"/>
                </a:cubicBezTo>
                <a:cubicBezTo>
                  <a:pt x="11145" y="18764"/>
                  <a:pt x="9906" y="19145"/>
                  <a:pt x="9240" y="19336"/>
                </a:cubicBezTo>
                <a:cubicBezTo>
                  <a:pt x="8573" y="19526"/>
                  <a:pt x="8097" y="19622"/>
                  <a:pt x="7715" y="19622"/>
                </a:cubicBezTo>
                <a:cubicBezTo>
                  <a:pt x="6382" y="19622"/>
                  <a:pt x="5715" y="18669"/>
                  <a:pt x="5715" y="16574"/>
                </a:cubicBezTo>
                <a:lnTo>
                  <a:pt x="5715" y="11811"/>
                </a:lnTo>
                <a:cubicBezTo>
                  <a:pt x="5715" y="10287"/>
                  <a:pt x="5905" y="9049"/>
                  <a:pt x="6382" y="8382"/>
                </a:cubicBezTo>
                <a:cubicBezTo>
                  <a:pt x="6858" y="7715"/>
                  <a:pt x="7715" y="7049"/>
                  <a:pt x="9144" y="6382"/>
                </a:cubicBezTo>
                <a:cubicBezTo>
                  <a:pt x="12573" y="4667"/>
                  <a:pt x="16669" y="3143"/>
                  <a:pt x="21431" y="2000"/>
                </a:cubicBezTo>
                <a:cubicBezTo>
                  <a:pt x="26194" y="762"/>
                  <a:pt x="31242" y="191"/>
                  <a:pt x="36672" y="191"/>
                </a:cubicBezTo>
                <a:cubicBezTo>
                  <a:pt x="48292" y="191"/>
                  <a:pt x="56769" y="2858"/>
                  <a:pt x="62199" y="8096"/>
                </a:cubicBezTo>
                <a:cubicBezTo>
                  <a:pt x="67533" y="13335"/>
                  <a:pt x="70295" y="21336"/>
                  <a:pt x="70295" y="32099"/>
                </a:cubicBezTo>
                <a:lnTo>
                  <a:pt x="70295" y="63722"/>
                </a:lnTo>
                <a:lnTo>
                  <a:pt x="70485" y="63722"/>
                </a:lnTo>
                <a:close/>
                <a:moveTo>
                  <a:pt x="31052" y="78391"/>
                </a:moveTo>
                <a:cubicBezTo>
                  <a:pt x="34290" y="78391"/>
                  <a:pt x="37624" y="77819"/>
                  <a:pt x="41053" y="76676"/>
                </a:cubicBezTo>
                <a:cubicBezTo>
                  <a:pt x="44482" y="75533"/>
                  <a:pt x="47720" y="73343"/>
                  <a:pt x="50292" y="70485"/>
                </a:cubicBezTo>
                <a:cubicBezTo>
                  <a:pt x="51816" y="68675"/>
                  <a:pt x="53054" y="66580"/>
                  <a:pt x="53626" y="64294"/>
                </a:cubicBezTo>
                <a:cubicBezTo>
                  <a:pt x="54197" y="61913"/>
                  <a:pt x="54579" y="59150"/>
                  <a:pt x="54579" y="55817"/>
                </a:cubicBezTo>
                <a:lnTo>
                  <a:pt x="54579" y="51721"/>
                </a:lnTo>
                <a:cubicBezTo>
                  <a:pt x="51721" y="51054"/>
                  <a:pt x="48768" y="50483"/>
                  <a:pt x="45625" y="50102"/>
                </a:cubicBezTo>
                <a:cubicBezTo>
                  <a:pt x="42482" y="49721"/>
                  <a:pt x="39529" y="49530"/>
                  <a:pt x="36481" y="49530"/>
                </a:cubicBezTo>
                <a:cubicBezTo>
                  <a:pt x="29909" y="49530"/>
                  <a:pt x="25146" y="50768"/>
                  <a:pt x="22003" y="53435"/>
                </a:cubicBezTo>
                <a:cubicBezTo>
                  <a:pt x="18860" y="56102"/>
                  <a:pt x="17240" y="59817"/>
                  <a:pt x="17240" y="64675"/>
                </a:cubicBezTo>
                <a:cubicBezTo>
                  <a:pt x="17240" y="69247"/>
                  <a:pt x="18383" y="72676"/>
                  <a:pt x="20860" y="74962"/>
                </a:cubicBezTo>
                <a:cubicBezTo>
                  <a:pt x="23241" y="77438"/>
                  <a:pt x="26575" y="78581"/>
                  <a:pt x="31052" y="78581"/>
                </a:cubicBezTo>
                <a:close/>
                <a:moveTo>
                  <a:pt x="109347" y="88964"/>
                </a:moveTo>
                <a:cubicBezTo>
                  <a:pt x="107632" y="88964"/>
                  <a:pt x="106395" y="88678"/>
                  <a:pt x="105633" y="88011"/>
                </a:cubicBezTo>
                <a:cubicBezTo>
                  <a:pt x="104870" y="87440"/>
                  <a:pt x="104204" y="86106"/>
                  <a:pt x="103632" y="84201"/>
                </a:cubicBezTo>
                <a:lnTo>
                  <a:pt x="80772" y="8858"/>
                </a:lnTo>
                <a:cubicBezTo>
                  <a:pt x="80201" y="6953"/>
                  <a:pt x="79915" y="5620"/>
                  <a:pt x="79915" y="4953"/>
                </a:cubicBezTo>
                <a:cubicBezTo>
                  <a:pt x="79915" y="3429"/>
                  <a:pt x="80677" y="2477"/>
                  <a:pt x="82296" y="2477"/>
                </a:cubicBezTo>
                <a:lnTo>
                  <a:pt x="91821" y="2477"/>
                </a:lnTo>
                <a:cubicBezTo>
                  <a:pt x="93631" y="2477"/>
                  <a:pt x="94965" y="2762"/>
                  <a:pt x="95631" y="3429"/>
                </a:cubicBezTo>
                <a:cubicBezTo>
                  <a:pt x="96393" y="4001"/>
                  <a:pt x="96964" y="5334"/>
                  <a:pt x="97536" y="7239"/>
                </a:cubicBezTo>
                <a:lnTo>
                  <a:pt x="113919" y="71723"/>
                </a:lnTo>
                <a:lnTo>
                  <a:pt x="129159" y="7239"/>
                </a:lnTo>
                <a:cubicBezTo>
                  <a:pt x="129636" y="5334"/>
                  <a:pt x="130207" y="4001"/>
                  <a:pt x="130969" y="3429"/>
                </a:cubicBezTo>
                <a:cubicBezTo>
                  <a:pt x="131731" y="2858"/>
                  <a:pt x="133160" y="2477"/>
                  <a:pt x="134874" y="2477"/>
                </a:cubicBezTo>
                <a:lnTo>
                  <a:pt x="142685" y="2477"/>
                </a:lnTo>
                <a:cubicBezTo>
                  <a:pt x="144495" y="2477"/>
                  <a:pt x="145828" y="2762"/>
                  <a:pt x="146590" y="3429"/>
                </a:cubicBezTo>
                <a:cubicBezTo>
                  <a:pt x="147352" y="4001"/>
                  <a:pt x="148019" y="5334"/>
                  <a:pt x="148400" y="7239"/>
                </a:cubicBezTo>
                <a:lnTo>
                  <a:pt x="163830" y="72581"/>
                </a:lnTo>
                <a:lnTo>
                  <a:pt x="180690" y="7239"/>
                </a:lnTo>
                <a:cubicBezTo>
                  <a:pt x="181261" y="5334"/>
                  <a:pt x="181928" y="4001"/>
                  <a:pt x="182595" y="3429"/>
                </a:cubicBezTo>
                <a:cubicBezTo>
                  <a:pt x="183356" y="2858"/>
                  <a:pt x="184595" y="2477"/>
                  <a:pt x="186404" y="2477"/>
                </a:cubicBezTo>
                <a:lnTo>
                  <a:pt x="195453" y="2477"/>
                </a:lnTo>
                <a:cubicBezTo>
                  <a:pt x="196977" y="2477"/>
                  <a:pt x="197930" y="3239"/>
                  <a:pt x="197930" y="4953"/>
                </a:cubicBezTo>
                <a:cubicBezTo>
                  <a:pt x="197930" y="5429"/>
                  <a:pt x="197834" y="5906"/>
                  <a:pt x="197739" y="6477"/>
                </a:cubicBezTo>
                <a:cubicBezTo>
                  <a:pt x="197644" y="7049"/>
                  <a:pt x="197454" y="7811"/>
                  <a:pt x="197072" y="8954"/>
                </a:cubicBezTo>
                <a:lnTo>
                  <a:pt x="173546" y="84296"/>
                </a:lnTo>
                <a:cubicBezTo>
                  <a:pt x="172974" y="86201"/>
                  <a:pt x="172308" y="87535"/>
                  <a:pt x="171545" y="88106"/>
                </a:cubicBezTo>
                <a:cubicBezTo>
                  <a:pt x="170783" y="88678"/>
                  <a:pt x="169545" y="89059"/>
                  <a:pt x="167830" y="89059"/>
                </a:cubicBezTo>
                <a:lnTo>
                  <a:pt x="159448" y="89059"/>
                </a:lnTo>
                <a:cubicBezTo>
                  <a:pt x="157639" y="89059"/>
                  <a:pt x="156306" y="88773"/>
                  <a:pt x="155543" y="88106"/>
                </a:cubicBezTo>
                <a:cubicBezTo>
                  <a:pt x="154781" y="87440"/>
                  <a:pt x="154114" y="86201"/>
                  <a:pt x="153734" y="84201"/>
                </a:cubicBezTo>
                <a:lnTo>
                  <a:pt x="138589" y="21336"/>
                </a:lnTo>
                <a:lnTo>
                  <a:pt x="123540" y="84106"/>
                </a:lnTo>
                <a:cubicBezTo>
                  <a:pt x="123063" y="86011"/>
                  <a:pt x="122492" y="87344"/>
                  <a:pt x="121730" y="88011"/>
                </a:cubicBezTo>
                <a:cubicBezTo>
                  <a:pt x="120968" y="88678"/>
                  <a:pt x="119539" y="88964"/>
                  <a:pt x="117824" y="88964"/>
                </a:cubicBezTo>
                <a:lnTo>
                  <a:pt x="109442" y="88964"/>
                </a:lnTo>
                <a:close/>
                <a:moveTo>
                  <a:pt x="234601" y="91631"/>
                </a:moveTo>
                <a:cubicBezTo>
                  <a:pt x="229553" y="91631"/>
                  <a:pt x="224504" y="91059"/>
                  <a:pt x="219551" y="89916"/>
                </a:cubicBezTo>
                <a:cubicBezTo>
                  <a:pt x="214599" y="88773"/>
                  <a:pt x="210884" y="87440"/>
                  <a:pt x="208312" y="86011"/>
                </a:cubicBezTo>
                <a:cubicBezTo>
                  <a:pt x="206788" y="85154"/>
                  <a:pt x="205645" y="84201"/>
                  <a:pt x="205264" y="83249"/>
                </a:cubicBezTo>
                <a:cubicBezTo>
                  <a:pt x="204883" y="82296"/>
                  <a:pt x="204692" y="81439"/>
                  <a:pt x="204692" y="80486"/>
                </a:cubicBezTo>
                <a:lnTo>
                  <a:pt x="204692" y="75533"/>
                </a:lnTo>
                <a:cubicBezTo>
                  <a:pt x="204692" y="73533"/>
                  <a:pt x="205454" y="72485"/>
                  <a:pt x="206979" y="72485"/>
                </a:cubicBezTo>
                <a:cubicBezTo>
                  <a:pt x="207550" y="72485"/>
                  <a:pt x="208122" y="72581"/>
                  <a:pt x="208693" y="72771"/>
                </a:cubicBezTo>
                <a:cubicBezTo>
                  <a:pt x="209265" y="72962"/>
                  <a:pt x="210121" y="73343"/>
                  <a:pt x="211170" y="73724"/>
                </a:cubicBezTo>
                <a:cubicBezTo>
                  <a:pt x="214503" y="75152"/>
                  <a:pt x="218123" y="76391"/>
                  <a:pt x="221932" y="77153"/>
                </a:cubicBezTo>
                <a:cubicBezTo>
                  <a:pt x="225838" y="77915"/>
                  <a:pt x="229648" y="78296"/>
                  <a:pt x="233553" y="78296"/>
                </a:cubicBezTo>
                <a:cubicBezTo>
                  <a:pt x="239649" y="78296"/>
                  <a:pt x="244507" y="77248"/>
                  <a:pt x="247745" y="75057"/>
                </a:cubicBezTo>
                <a:cubicBezTo>
                  <a:pt x="251079" y="72866"/>
                  <a:pt x="252794" y="69818"/>
                  <a:pt x="252794" y="65818"/>
                </a:cubicBezTo>
                <a:cubicBezTo>
                  <a:pt x="252794" y="63056"/>
                  <a:pt x="251936" y="60865"/>
                  <a:pt x="250127" y="58960"/>
                </a:cubicBezTo>
                <a:cubicBezTo>
                  <a:pt x="248412" y="57150"/>
                  <a:pt x="245079" y="55436"/>
                  <a:pt x="240316" y="53912"/>
                </a:cubicBezTo>
                <a:lnTo>
                  <a:pt x="226219" y="49530"/>
                </a:lnTo>
                <a:cubicBezTo>
                  <a:pt x="219075" y="47244"/>
                  <a:pt x="213836" y="44006"/>
                  <a:pt x="210598" y="39624"/>
                </a:cubicBezTo>
                <a:cubicBezTo>
                  <a:pt x="207359" y="35338"/>
                  <a:pt x="205740" y="30575"/>
                  <a:pt x="205740" y="25527"/>
                </a:cubicBezTo>
                <a:cubicBezTo>
                  <a:pt x="205740" y="21431"/>
                  <a:pt x="206597" y="17812"/>
                  <a:pt x="208407" y="14669"/>
                </a:cubicBezTo>
                <a:cubicBezTo>
                  <a:pt x="210217" y="11525"/>
                  <a:pt x="212503" y="8858"/>
                  <a:pt x="215455" y="6668"/>
                </a:cubicBezTo>
                <a:cubicBezTo>
                  <a:pt x="218408" y="4382"/>
                  <a:pt x="221647" y="2762"/>
                  <a:pt x="225552" y="1619"/>
                </a:cubicBezTo>
                <a:cubicBezTo>
                  <a:pt x="229458" y="476"/>
                  <a:pt x="233553" y="0"/>
                  <a:pt x="237840" y="0"/>
                </a:cubicBezTo>
                <a:cubicBezTo>
                  <a:pt x="240030" y="0"/>
                  <a:pt x="242221" y="95"/>
                  <a:pt x="244412" y="381"/>
                </a:cubicBezTo>
                <a:cubicBezTo>
                  <a:pt x="246698" y="667"/>
                  <a:pt x="248698" y="1048"/>
                  <a:pt x="250793" y="1429"/>
                </a:cubicBezTo>
                <a:cubicBezTo>
                  <a:pt x="252699" y="1905"/>
                  <a:pt x="254604" y="2381"/>
                  <a:pt x="256318" y="2953"/>
                </a:cubicBezTo>
                <a:cubicBezTo>
                  <a:pt x="258033" y="3524"/>
                  <a:pt x="259461" y="4096"/>
                  <a:pt x="260414" y="4667"/>
                </a:cubicBezTo>
                <a:cubicBezTo>
                  <a:pt x="261747" y="5429"/>
                  <a:pt x="262795" y="6191"/>
                  <a:pt x="263366" y="7144"/>
                </a:cubicBezTo>
                <a:cubicBezTo>
                  <a:pt x="263938" y="7906"/>
                  <a:pt x="264223" y="8954"/>
                  <a:pt x="264223" y="10382"/>
                </a:cubicBezTo>
                <a:lnTo>
                  <a:pt x="264223" y="14954"/>
                </a:lnTo>
                <a:cubicBezTo>
                  <a:pt x="264223" y="16955"/>
                  <a:pt x="263462" y="18098"/>
                  <a:pt x="261938" y="18098"/>
                </a:cubicBezTo>
                <a:cubicBezTo>
                  <a:pt x="261176" y="18098"/>
                  <a:pt x="259938" y="17717"/>
                  <a:pt x="258223" y="16955"/>
                </a:cubicBezTo>
                <a:cubicBezTo>
                  <a:pt x="252699" y="14383"/>
                  <a:pt x="246412" y="13145"/>
                  <a:pt x="239554" y="13145"/>
                </a:cubicBezTo>
                <a:cubicBezTo>
                  <a:pt x="234029" y="13145"/>
                  <a:pt x="229648" y="14002"/>
                  <a:pt x="226600" y="15907"/>
                </a:cubicBezTo>
                <a:cubicBezTo>
                  <a:pt x="223552" y="17812"/>
                  <a:pt x="222028" y="20574"/>
                  <a:pt x="222028" y="24575"/>
                </a:cubicBezTo>
                <a:cubicBezTo>
                  <a:pt x="222028" y="27337"/>
                  <a:pt x="222981" y="29623"/>
                  <a:pt x="224980" y="31528"/>
                </a:cubicBezTo>
                <a:cubicBezTo>
                  <a:pt x="226981" y="33433"/>
                  <a:pt x="230505" y="35243"/>
                  <a:pt x="235744" y="36862"/>
                </a:cubicBezTo>
                <a:lnTo>
                  <a:pt x="249555" y="41243"/>
                </a:lnTo>
                <a:cubicBezTo>
                  <a:pt x="256604" y="43529"/>
                  <a:pt x="261652" y="46577"/>
                  <a:pt x="264700" y="50578"/>
                </a:cubicBezTo>
                <a:cubicBezTo>
                  <a:pt x="267748" y="54578"/>
                  <a:pt x="269177" y="59150"/>
                  <a:pt x="269177" y="64199"/>
                </a:cubicBezTo>
                <a:cubicBezTo>
                  <a:pt x="269177" y="68390"/>
                  <a:pt x="268320" y="72200"/>
                  <a:pt x="266605" y="75533"/>
                </a:cubicBezTo>
                <a:cubicBezTo>
                  <a:pt x="264890" y="78867"/>
                  <a:pt x="262509" y="81725"/>
                  <a:pt x="259461" y="84106"/>
                </a:cubicBezTo>
                <a:cubicBezTo>
                  <a:pt x="256413" y="86582"/>
                  <a:pt x="252794" y="88297"/>
                  <a:pt x="248603" y="89535"/>
                </a:cubicBezTo>
                <a:cubicBezTo>
                  <a:pt x="244221" y="90869"/>
                  <a:pt x="239649" y="91535"/>
                  <a:pt x="234696" y="91535"/>
                </a:cubicBez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effectLst/>
              <a:uLnTx/>
              <a:uFillTx/>
              <a:latin typeface="Calibri" panose="020F0502020204030204"/>
              <a:ea typeface="+mn-ea"/>
              <a:cs typeface="+mn-cs"/>
            </a:endParaRPr>
          </a:p>
        </p:txBody>
      </p:sp>
      <p:sp>
        <p:nvSpPr>
          <p:cNvPr id="74" name="Freeform: Shape 804">
            <a:extLst>
              <a:ext uri="{FF2B5EF4-FFF2-40B4-BE49-F238E27FC236}">
                <a16:creationId xmlns:a16="http://schemas.microsoft.com/office/drawing/2014/main" id="{E35349CC-44B3-F09E-378E-E49317B570CC}"/>
              </a:ext>
            </a:extLst>
          </p:cNvPr>
          <p:cNvSpPr/>
          <p:nvPr/>
        </p:nvSpPr>
        <p:spPr>
          <a:xfrm>
            <a:off x="10957604" y="5340165"/>
            <a:ext cx="277934" cy="62613"/>
          </a:xfrm>
          <a:custGeom>
            <a:avLst/>
            <a:gdLst>
              <a:gd name="connsiteX0" fmla="*/ 264960 w 293034"/>
              <a:gd name="connsiteY0" fmla="*/ 29725 h 66015"/>
              <a:gd name="connsiteX1" fmla="*/ 146279 w 293034"/>
              <a:gd name="connsiteY1" fmla="*/ 66015 h 66015"/>
              <a:gd name="connsiteX2" fmla="*/ 1308 w 293034"/>
              <a:gd name="connsiteY2" fmla="*/ 10771 h 66015"/>
              <a:gd name="connsiteX3" fmla="*/ 4642 w 293034"/>
              <a:gd name="connsiteY3" fmla="*/ 6484 h 66015"/>
              <a:gd name="connsiteX4" fmla="*/ 149708 w 293034"/>
              <a:gd name="connsiteY4" fmla="*/ 44965 h 66015"/>
              <a:gd name="connsiteX5" fmla="*/ 260388 w 293034"/>
              <a:gd name="connsiteY5" fmla="*/ 22391 h 66015"/>
              <a:gd name="connsiteX6" fmla="*/ 265055 w 293034"/>
              <a:gd name="connsiteY6" fmla="*/ 29821 h 66015"/>
              <a:gd name="connsiteX7" fmla="*/ 278295 w 293034"/>
              <a:gd name="connsiteY7" fmla="*/ 14485 h 66015"/>
              <a:gd name="connsiteX8" fmla="*/ 240767 w 293034"/>
              <a:gd name="connsiteY8" fmla="*/ 13247 h 66015"/>
              <a:gd name="connsiteX9" fmla="*/ 240005 w 293034"/>
              <a:gd name="connsiteY9" fmla="*/ 8865 h 66015"/>
              <a:gd name="connsiteX10" fmla="*/ 291916 w 293034"/>
              <a:gd name="connsiteY10" fmla="*/ 4008 h 66015"/>
              <a:gd name="connsiteX11" fmla="*/ 273818 w 293034"/>
              <a:gd name="connsiteY11" fmla="*/ 52966 h 66015"/>
              <a:gd name="connsiteX12" fmla="*/ 269818 w 293034"/>
              <a:gd name="connsiteY12" fmla="*/ 51156 h 66015"/>
              <a:gd name="connsiteX13" fmla="*/ 278295 w 293034"/>
              <a:gd name="connsiteY13" fmla="*/ 14580 h 6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3034" h="66015">
                <a:moveTo>
                  <a:pt x="264960" y="29725"/>
                </a:moveTo>
                <a:cubicBezTo>
                  <a:pt x="232861" y="53442"/>
                  <a:pt x="186283" y="66015"/>
                  <a:pt x="146279" y="66015"/>
                </a:cubicBezTo>
                <a:cubicBezTo>
                  <a:pt x="90177" y="66015"/>
                  <a:pt x="39503" y="45251"/>
                  <a:pt x="1308" y="10771"/>
                </a:cubicBezTo>
                <a:cubicBezTo>
                  <a:pt x="-1740" y="8008"/>
                  <a:pt x="1023" y="4293"/>
                  <a:pt x="4642" y="6484"/>
                </a:cubicBezTo>
                <a:cubicBezTo>
                  <a:pt x="45980" y="30487"/>
                  <a:pt x="96940" y="44965"/>
                  <a:pt x="149708" y="44965"/>
                </a:cubicBezTo>
                <a:cubicBezTo>
                  <a:pt x="185331" y="44965"/>
                  <a:pt x="224383" y="37536"/>
                  <a:pt x="260388" y="22391"/>
                </a:cubicBezTo>
                <a:cubicBezTo>
                  <a:pt x="265722" y="19914"/>
                  <a:pt x="270294" y="25915"/>
                  <a:pt x="265055" y="29821"/>
                </a:cubicBezTo>
                <a:close/>
                <a:moveTo>
                  <a:pt x="278295" y="14485"/>
                </a:moveTo>
                <a:cubicBezTo>
                  <a:pt x="274200" y="9246"/>
                  <a:pt x="251244" y="11913"/>
                  <a:pt x="240767" y="13247"/>
                </a:cubicBezTo>
                <a:cubicBezTo>
                  <a:pt x="237623" y="13628"/>
                  <a:pt x="237147" y="10866"/>
                  <a:pt x="240005" y="8865"/>
                </a:cubicBezTo>
                <a:cubicBezTo>
                  <a:pt x="258293" y="-3993"/>
                  <a:pt x="288487" y="-279"/>
                  <a:pt x="291916" y="4008"/>
                </a:cubicBezTo>
                <a:cubicBezTo>
                  <a:pt x="295440" y="8389"/>
                  <a:pt x="290964" y="38488"/>
                  <a:pt x="273818" y="52966"/>
                </a:cubicBezTo>
                <a:cubicBezTo>
                  <a:pt x="271152" y="55252"/>
                  <a:pt x="268675" y="54014"/>
                  <a:pt x="269818" y="51156"/>
                </a:cubicBezTo>
                <a:cubicBezTo>
                  <a:pt x="273724" y="41536"/>
                  <a:pt x="282391" y="19724"/>
                  <a:pt x="278295" y="1458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76" name="TextBox 75">
            <a:extLst>
              <a:ext uri="{FF2B5EF4-FFF2-40B4-BE49-F238E27FC236}">
                <a16:creationId xmlns:a16="http://schemas.microsoft.com/office/drawing/2014/main" id="{FC92F384-564D-E360-9C3E-18482C8CB50B}"/>
              </a:ext>
            </a:extLst>
          </p:cNvPr>
          <p:cNvSpPr txBox="1"/>
          <p:nvPr/>
        </p:nvSpPr>
        <p:spPr>
          <a:xfrm>
            <a:off x="5454474" y="5949352"/>
            <a:ext cx="914399"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en-US" sz="800" b="1"/>
              <a:t>Applications</a:t>
            </a:r>
          </a:p>
        </p:txBody>
      </p:sp>
      <p:sp>
        <p:nvSpPr>
          <p:cNvPr id="77" name="TextBox 76">
            <a:extLst>
              <a:ext uri="{FF2B5EF4-FFF2-40B4-BE49-F238E27FC236}">
                <a16:creationId xmlns:a16="http://schemas.microsoft.com/office/drawing/2014/main" id="{186DB20B-10AB-7D34-23F9-56D09758880F}"/>
              </a:ext>
            </a:extLst>
          </p:cNvPr>
          <p:cNvSpPr txBox="1"/>
          <p:nvPr/>
        </p:nvSpPr>
        <p:spPr>
          <a:xfrm>
            <a:off x="10375556" y="5969898"/>
            <a:ext cx="1197817"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en-US" sz="800" b="1"/>
              <a:t>Multi-Cloud Integration</a:t>
            </a:r>
          </a:p>
        </p:txBody>
      </p:sp>
      <p:sp>
        <p:nvSpPr>
          <p:cNvPr id="79" name="aaa">
            <a:extLst>
              <a:ext uri="{FF2B5EF4-FFF2-40B4-BE49-F238E27FC236}">
                <a16:creationId xmlns:a16="http://schemas.microsoft.com/office/drawing/2014/main" id="{97FCEE35-9A39-8D12-C38E-5A66D2A65FBF}"/>
              </a:ext>
            </a:extLst>
          </p:cNvPr>
          <p:cNvSpPr/>
          <p:nvPr/>
        </p:nvSpPr>
        <p:spPr>
          <a:xfrm>
            <a:off x="7942187" y="4214500"/>
            <a:ext cx="711430" cy="738444"/>
          </a:xfrm>
          <a:prstGeom prst="donut">
            <a:avLst>
              <a:gd name="adj" fmla="val 16956"/>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solidFill>
                <a:srgbClr val="FFFFFF"/>
              </a:solidFill>
              <a:latin typeface="Calibri" panose="020F0502020204030204"/>
            </a:endParaRPr>
          </a:p>
        </p:txBody>
      </p:sp>
      <p:sp>
        <p:nvSpPr>
          <p:cNvPr id="81" name="Freeform: Shape 739">
            <a:extLst>
              <a:ext uri="{FF2B5EF4-FFF2-40B4-BE49-F238E27FC236}">
                <a16:creationId xmlns:a16="http://schemas.microsoft.com/office/drawing/2014/main" id="{1EA53BCC-8ACD-80F5-4300-C9B47EA7B350}"/>
              </a:ext>
            </a:extLst>
          </p:cNvPr>
          <p:cNvSpPr/>
          <p:nvPr/>
        </p:nvSpPr>
        <p:spPr>
          <a:xfrm>
            <a:off x="8059409" y="4335914"/>
            <a:ext cx="493988" cy="493988"/>
          </a:xfrm>
          <a:custGeom>
            <a:avLst/>
            <a:gdLst>
              <a:gd name="connsiteX0" fmla="*/ 520827 w 520826"/>
              <a:gd name="connsiteY0" fmla="*/ 260413 h 520826"/>
              <a:gd name="connsiteX1" fmla="*/ 260413 w 520826"/>
              <a:gd name="connsiteY1" fmla="*/ 520827 h 520826"/>
              <a:gd name="connsiteX2" fmla="*/ 0 w 520826"/>
              <a:gd name="connsiteY2" fmla="*/ 260413 h 520826"/>
              <a:gd name="connsiteX3" fmla="*/ 260413 w 520826"/>
              <a:gd name="connsiteY3" fmla="*/ 0 h 520826"/>
              <a:gd name="connsiteX4" fmla="*/ 520827 w 520826"/>
              <a:gd name="connsiteY4" fmla="*/ 260413 h 520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26" h="520826">
                <a:moveTo>
                  <a:pt x="520827" y="260413"/>
                </a:moveTo>
                <a:cubicBezTo>
                  <a:pt x="520827" y="404236"/>
                  <a:pt x="404236" y="520827"/>
                  <a:pt x="260413" y="520827"/>
                </a:cubicBezTo>
                <a:cubicBezTo>
                  <a:pt x="116591" y="520827"/>
                  <a:pt x="0" y="404236"/>
                  <a:pt x="0" y="260413"/>
                </a:cubicBezTo>
                <a:cubicBezTo>
                  <a:pt x="0" y="116591"/>
                  <a:pt x="116591" y="0"/>
                  <a:pt x="260413" y="0"/>
                </a:cubicBezTo>
                <a:cubicBezTo>
                  <a:pt x="404236" y="0"/>
                  <a:pt x="520827" y="116591"/>
                  <a:pt x="520827" y="260413"/>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80" name="TextBox 79">
            <a:extLst>
              <a:ext uri="{FF2B5EF4-FFF2-40B4-BE49-F238E27FC236}">
                <a16:creationId xmlns:a16="http://schemas.microsoft.com/office/drawing/2014/main" id="{FC04019D-45F3-8F89-4311-3E11D298A618}"/>
              </a:ext>
            </a:extLst>
          </p:cNvPr>
          <p:cNvSpPr txBox="1"/>
          <p:nvPr/>
        </p:nvSpPr>
        <p:spPr>
          <a:xfrm>
            <a:off x="7385876" y="4354695"/>
            <a:ext cx="1841054" cy="4308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normalizeH="0" baseline="0" noProof="0">
                <a:ln>
                  <a:noFill/>
                </a:ln>
                <a:solidFill>
                  <a:schemeClr val="accent1"/>
                </a:solidFill>
                <a:effectLst/>
                <a:uLnTx/>
                <a:uFillTx/>
                <a:latin typeface="Calibri" panose="020F0502020204030204"/>
                <a:ea typeface="+mn-ea"/>
                <a:cs typeface="+mn-cs"/>
              </a:rPr>
              <a:t>Cato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normalizeH="0" baseline="0" noProof="0">
                <a:ln>
                  <a:noFill/>
                </a:ln>
                <a:solidFill>
                  <a:schemeClr val="accent1"/>
                </a:solidFill>
                <a:effectLst/>
                <a:uLnTx/>
                <a:uFillTx/>
                <a:latin typeface="Calibri" panose="020F0502020204030204"/>
                <a:ea typeface="+mn-ea"/>
                <a:cs typeface="+mn-cs"/>
              </a:rPr>
              <a:t>SASE</a:t>
            </a:r>
          </a:p>
        </p:txBody>
      </p:sp>
    </p:spTree>
    <p:extLst>
      <p:ext uri="{BB962C8B-B14F-4D97-AF65-F5344CB8AC3E}">
        <p14:creationId xmlns:p14="http://schemas.microsoft.com/office/powerpoint/2010/main" val="2600985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1000"/>
                                        <p:tgtEl>
                                          <p:spTgt spid="33"/>
                                        </p:tgtEl>
                                      </p:cBhvr>
                                    </p:animEffect>
                                    <p:anim calcmode="lin" valueType="num">
                                      <p:cBhvr>
                                        <p:cTn id="8" dur="1000" fill="hold"/>
                                        <p:tgtEl>
                                          <p:spTgt spid="33"/>
                                        </p:tgtEl>
                                        <p:attrNameLst>
                                          <p:attrName>ppt_x</p:attrName>
                                        </p:attrNameLst>
                                      </p:cBhvr>
                                      <p:tavLst>
                                        <p:tav tm="0">
                                          <p:val>
                                            <p:strVal val="#ppt_x"/>
                                          </p:val>
                                        </p:tav>
                                        <p:tav tm="100000">
                                          <p:val>
                                            <p:strVal val="#ppt_x"/>
                                          </p:val>
                                        </p:tav>
                                      </p:tavLst>
                                    </p:anim>
                                    <p:anim calcmode="lin" valueType="num">
                                      <p:cBhvr>
                                        <p:cTn id="9"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1000"/>
                                        <p:tgtEl>
                                          <p:spTgt spid="20"/>
                                        </p:tgtEl>
                                      </p:cBhvr>
                                    </p:animEffect>
                                    <p:anim calcmode="lin" valueType="num">
                                      <p:cBhvr>
                                        <p:cTn id="15" dur="1000" fill="hold"/>
                                        <p:tgtEl>
                                          <p:spTgt spid="20"/>
                                        </p:tgtEl>
                                        <p:attrNameLst>
                                          <p:attrName>ppt_x</p:attrName>
                                        </p:attrNameLst>
                                      </p:cBhvr>
                                      <p:tavLst>
                                        <p:tav tm="0">
                                          <p:val>
                                            <p:strVal val="#ppt_x"/>
                                          </p:val>
                                        </p:tav>
                                        <p:tav tm="100000">
                                          <p:val>
                                            <p:strVal val="#ppt_x"/>
                                          </p:val>
                                        </p:tav>
                                      </p:tavLst>
                                    </p:anim>
                                    <p:anim calcmode="lin" valueType="num">
                                      <p:cBhvr>
                                        <p:cTn id="16" dur="1000" fill="hold"/>
                                        <p:tgtEl>
                                          <p:spTgt spid="20"/>
                                        </p:tgtEl>
                                        <p:attrNameLst>
                                          <p:attrName>ppt_y</p:attrName>
                                        </p:attrNameLst>
                                      </p:cBhvr>
                                      <p:tavLst>
                                        <p:tav tm="0">
                                          <p:val>
                                            <p:strVal val="#ppt_y-.1"/>
                                          </p:val>
                                        </p:tav>
                                        <p:tav tm="100000">
                                          <p:val>
                                            <p:strVal val="#ppt_y"/>
                                          </p:val>
                                        </p:tav>
                                      </p:tavLst>
                                    </p:anim>
                                  </p:childTnLst>
                                </p:cTn>
                              </p:par>
                              <p:par>
                                <p:cTn id="17" presetID="47" presetClass="entr" presetSubtype="0" fill="hold" nodeType="withEffect">
                                  <p:stCondLst>
                                    <p:cond delay="0"/>
                                  </p:stCondLst>
                                  <p:childTnLst>
                                    <p:set>
                                      <p:cBhvr>
                                        <p:cTn id="18" dur="1" fill="hold">
                                          <p:stCondLst>
                                            <p:cond delay="0"/>
                                          </p:stCondLst>
                                        </p:cTn>
                                        <p:tgtEl>
                                          <p:spTgt spid="53"/>
                                        </p:tgtEl>
                                        <p:attrNameLst>
                                          <p:attrName>style.visibility</p:attrName>
                                        </p:attrNameLst>
                                      </p:cBhvr>
                                      <p:to>
                                        <p:strVal val="visible"/>
                                      </p:to>
                                    </p:set>
                                    <p:animEffect transition="in" filter="fade">
                                      <p:cBhvr>
                                        <p:cTn id="19" dur="1000"/>
                                        <p:tgtEl>
                                          <p:spTgt spid="53"/>
                                        </p:tgtEl>
                                      </p:cBhvr>
                                    </p:animEffect>
                                    <p:anim calcmode="lin" valueType="num">
                                      <p:cBhvr>
                                        <p:cTn id="20" dur="1000" fill="hold"/>
                                        <p:tgtEl>
                                          <p:spTgt spid="53"/>
                                        </p:tgtEl>
                                        <p:attrNameLst>
                                          <p:attrName>ppt_x</p:attrName>
                                        </p:attrNameLst>
                                      </p:cBhvr>
                                      <p:tavLst>
                                        <p:tav tm="0">
                                          <p:val>
                                            <p:strVal val="#ppt_x"/>
                                          </p:val>
                                        </p:tav>
                                        <p:tav tm="100000">
                                          <p:val>
                                            <p:strVal val="#ppt_x"/>
                                          </p:val>
                                        </p:tav>
                                      </p:tavLst>
                                    </p:anim>
                                    <p:anim calcmode="lin" valueType="num">
                                      <p:cBhvr>
                                        <p:cTn id="21" dur="1000" fill="hold"/>
                                        <p:tgtEl>
                                          <p:spTgt spid="53"/>
                                        </p:tgtEl>
                                        <p:attrNameLst>
                                          <p:attrName>ppt_y</p:attrName>
                                        </p:attrNameLst>
                                      </p:cBhvr>
                                      <p:tavLst>
                                        <p:tav tm="0">
                                          <p:val>
                                            <p:strVal val="#ppt_y-.1"/>
                                          </p:val>
                                        </p:tav>
                                        <p:tav tm="100000">
                                          <p:val>
                                            <p:strVal val="#ppt_y"/>
                                          </p:val>
                                        </p:tav>
                                      </p:tavLst>
                                    </p:anim>
                                  </p:childTnLst>
                                </p:cTn>
                              </p:par>
                              <p:par>
                                <p:cTn id="22" presetID="47" presetClass="entr" presetSubtype="0" fill="hold" nodeType="withEffect">
                                  <p:stCondLst>
                                    <p:cond delay="0"/>
                                  </p:stCondLst>
                                  <p:childTnLst>
                                    <p:set>
                                      <p:cBhvr>
                                        <p:cTn id="23" dur="1" fill="hold">
                                          <p:stCondLst>
                                            <p:cond delay="0"/>
                                          </p:stCondLst>
                                        </p:cTn>
                                        <p:tgtEl>
                                          <p:spTgt spid="52"/>
                                        </p:tgtEl>
                                        <p:attrNameLst>
                                          <p:attrName>style.visibility</p:attrName>
                                        </p:attrNameLst>
                                      </p:cBhvr>
                                      <p:to>
                                        <p:strVal val="visible"/>
                                      </p:to>
                                    </p:set>
                                    <p:animEffect transition="in" filter="fade">
                                      <p:cBhvr>
                                        <p:cTn id="24" dur="1000"/>
                                        <p:tgtEl>
                                          <p:spTgt spid="52"/>
                                        </p:tgtEl>
                                      </p:cBhvr>
                                    </p:animEffect>
                                    <p:anim calcmode="lin" valueType="num">
                                      <p:cBhvr>
                                        <p:cTn id="25" dur="1000" fill="hold"/>
                                        <p:tgtEl>
                                          <p:spTgt spid="52"/>
                                        </p:tgtEl>
                                        <p:attrNameLst>
                                          <p:attrName>ppt_x</p:attrName>
                                        </p:attrNameLst>
                                      </p:cBhvr>
                                      <p:tavLst>
                                        <p:tav tm="0">
                                          <p:val>
                                            <p:strVal val="#ppt_x"/>
                                          </p:val>
                                        </p:tav>
                                        <p:tav tm="100000">
                                          <p:val>
                                            <p:strVal val="#ppt_x"/>
                                          </p:val>
                                        </p:tav>
                                      </p:tavLst>
                                    </p:anim>
                                    <p:anim calcmode="lin" valueType="num">
                                      <p:cBhvr>
                                        <p:cTn id="26" dur="1000" fill="hold"/>
                                        <p:tgtEl>
                                          <p:spTgt spid="52"/>
                                        </p:tgtEl>
                                        <p:attrNameLst>
                                          <p:attrName>ppt_y</p:attrName>
                                        </p:attrNameLst>
                                      </p:cBhvr>
                                      <p:tavLst>
                                        <p:tav tm="0">
                                          <p:val>
                                            <p:strVal val="#ppt_y-.1"/>
                                          </p:val>
                                        </p:tav>
                                        <p:tav tm="100000">
                                          <p:val>
                                            <p:strVal val="#ppt_y"/>
                                          </p:val>
                                        </p:tav>
                                      </p:tavLst>
                                    </p:anim>
                                  </p:childTnLst>
                                </p:cTn>
                              </p:par>
                              <p:par>
                                <p:cTn id="27" presetID="47"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ppt_x</p:attrName>
                                        </p:attrNameLst>
                                      </p:cBhvr>
                                      <p:tavLst>
                                        <p:tav tm="0">
                                          <p:val>
                                            <p:strVal val="#ppt_x"/>
                                          </p:val>
                                        </p:tav>
                                        <p:tav tm="100000">
                                          <p:val>
                                            <p:strVal val="#ppt_x"/>
                                          </p:val>
                                        </p:tav>
                                      </p:tavLst>
                                    </p:anim>
                                    <p:anim calcmode="lin" valueType="num">
                                      <p:cBhvr>
                                        <p:cTn id="3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75"/>
                                        </p:tgtEl>
                                        <p:attrNameLst>
                                          <p:attrName>style.visibility</p:attrName>
                                        </p:attrNameLst>
                                      </p:cBhvr>
                                      <p:to>
                                        <p:strVal val="visible"/>
                                      </p:to>
                                    </p:set>
                                    <p:animEffect transition="in" filter="fade">
                                      <p:cBhvr>
                                        <p:cTn id="36" dur="1000"/>
                                        <p:tgtEl>
                                          <p:spTgt spid="75"/>
                                        </p:tgtEl>
                                      </p:cBhvr>
                                    </p:animEffect>
                                    <p:anim calcmode="lin" valueType="num">
                                      <p:cBhvr>
                                        <p:cTn id="37" dur="1000" fill="hold"/>
                                        <p:tgtEl>
                                          <p:spTgt spid="75"/>
                                        </p:tgtEl>
                                        <p:attrNameLst>
                                          <p:attrName>ppt_x</p:attrName>
                                        </p:attrNameLst>
                                      </p:cBhvr>
                                      <p:tavLst>
                                        <p:tav tm="0">
                                          <p:val>
                                            <p:strVal val="#ppt_x"/>
                                          </p:val>
                                        </p:tav>
                                        <p:tav tm="100000">
                                          <p:val>
                                            <p:strVal val="#ppt_x"/>
                                          </p:val>
                                        </p:tav>
                                      </p:tavLst>
                                    </p:anim>
                                    <p:anim calcmode="lin" valueType="num">
                                      <p:cBhvr>
                                        <p:cTn id="38" dur="1000" fill="hold"/>
                                        <p:tgtEl>
                                          <p:spTgt spid="75"/>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49"/>
                                        </p:tgtEl>
                                        <p:attrNameLst>
                                          <p:attrName>style.visibility</p:attrName>
                                        </p:attrNameLst>
                                      </p:cBhvr>
                                      <p:to>
                                        <p:strVal val="visible"/>
                                      </p:to>
                                    </p:set>
                                    <p:animEffect transition="in" filter="fade">
                                      <p:cBhvr>
                                        <p:cTn id="41" dur="1000"/>
                                        <p:tgtEl>
                                          <p:spTgt spid="49"/>
                                        </p:tgtEl>
                                      </p:cBhvr>
                                    </p:animEffect>
                                    <p:anim calcmode="lin" valueType="num">
                                      <p:cBhvr>
                                        <p:cTn id="42" dur="1000" fill="hold"/>
                                        <p:tgtEl>
                                          <p:spTgt spid="49"/>
                                        </p:tgtEl>
                                        <p:attrNameLst>
                                          <p:attrName>ppt_x</p:attrName>
                                        </p:attrNameLst>
                                      </p:cBhvr>
                                      <p:tavLst>
                                        <p:tav tm="0">
                                          <p:val>
                                            <p:strVal val="#ppt_x"/>
                                          </p:val>
                                        </p:tav>
                                        <p:tav tm="100000">
                                          <p:val>
                                            <p:strVal val="#ppt_x"/>
                                          </p:val>
                                        </p:tav>
                                      </p:tavLst>
                                    </p:anim>
                                    <p:anim calcmode="lin" valueType="num">
                                      <p:cBhvr>
                                        <p:cTn id="43" dur="1000" fill="hold"/>
                                        <p:tgtEl>
                                          <p:spTgt spid="49"/>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46"/>
                                        </p:tgtEl>
                                        <p:attrNameLst>
                                          <p:attrName>style.visibility</p:attrName>
                                        </p:attrNameLst>
                                      </p:cBhvr>
                                      <p:to>
                                        <p:strVal val="visible"/>
                                      </p:to>
                                    </p:set>
                                    <p:animEffect transition="in" filter="fade">
                                      <p:cBhvr>
                                        <p:cTn id="46" dur="1000"/>
                                        <p:tgtEl>
                                          <p:spTgt spid="46"/>
                                        </p:tgtEl>
                                      </p:cBhvr>
                                    </p:animEffect>
                                    <p:anim calcmode="lin" valueType="num">
                                      <p:cBhvr>
                                        <p:cTn id="47" dur="1000" fill="hold"/>
                                        <p:tgtEl>
                                          <p:spTgt spid="46"/>
                                        </p:tgtEl>
                                        <p:attrNameLst>
                                          <p:attrName>ppt_x</p:attrName>
                                        </p:attrNameLst>
                                      </p:cBhvr>
                                      <p:tavLst>
                                        <p:tav tm="0">
                                          <p:val>
                                            <p:strVal val="#ppt_x"/>
                                          </p:val>
                                        </p:tav>
                                        <p:tav tm="100000">
                                          <p:val>
                                            <p:strVal val="#ppt_x"/>
                                          </p:val>
                                        </p:tav>
                                      </p:tavLst>
                                    </p:anim>
                                    <p:anim calcmode="lin" valueType="num">
                                      <p:cBhvr>
                                        <p:cTn id="48" dur="1000" fill="hold"/>
                                        <p:tgtEl>
                                          <p:spTgt spid="46"/>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fade">
                                      <p:cBhvr>
                                        <p:cTn id="51" dur="1000"/>
                                        <p:tgtEl>
                                          <p:spTgt spid="7"/>
                                        </p:tgtEl>
                                      </p:cBhvr>
                                    </p:animEffect>
                                    <p:anim calcmode="lin" valueType="num">
                                      <p:cBhvr>
                                        <p:cTn id="52" dur="1000" fill="hold"/>
                                        <p:tgtEl>
                                          <p:spTgt spid="7"/>
                                        </p:tgtEl>
                                        <p:attrNameLst>
                                          <p:attrName>ppt_x</p:attrName>
                                        </p:attrNameLst>
                                      </p:cBhvr>
                                      <p:tavLst>
                                        <p:tav tm="0">
                                          <p:val>
                                            <p:strVal val="#ppt_x"/>
                                          </p:val>
                                        </p:tav>
                                        <p:tav tm="100000">
                                          <p:val>
                                            <p:strVal val="#ppt_x"/>
                                          </p:val>
                                        </p:tav>
                                      </p:tavLst>
                                    </p:anim>
                                    <p:anim calcmode="lin" valueType="num">
                                      <p:cBhvr>
                                        <p:cTn id="53" dur="1000" fill="hold"/>
                                        <p:tgtEl>
                                          <p:spTgt spid="7"/>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fade">
                                      <p:cBhvr>
                                        <p:cTn id="56" dur="1000"/>
                                        <p:tgtEl>
                                          <p:spTgt spid="8"/>
                                        </p:tgtEl>
                                      </p:cBhvr>
                                    </p:animEffect>
                                    <p:anim calcmode="lin" valueType="num">
                                      <p:cBhvr>
                                        <p:cTn id="57" dur="1000" fill="hold"/>
                                        <p:tgtEl>
                                          <p:spTgt spid="8"/>
                                        </p:tgtEl>
                                        <p:attrNameLst>
                                          <p:attrName>ppt_x</p:attrName>
                                        </p:attrNameLst>
                                      </p:cBhvr>
                                      <p:tavLst>
                                        <p:tav tm="0">
                                          <p:val>
                                            <p:strVal val="#ppt_x"/>
                                          </p:val>
                                        </p:tav>
                                        <p:tav tm="100000">
                                          <p:val>
                                            <p:strVal val="#ppt_x"/>
                                          </p:val>
                                        </p:tav>
                                      </p:tavLst>
                                    </p:anim>
                                    <p:anim calcmode="lin" valueType="num">
                                      <p:cBhvr>
                                        <p:cTn id="58" dur="1000" fill="hold"/>
                                        <p:tgtEl>
                                          <p:spTgt spid="8"/>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10"/>
                                        </p:tgtEl>
                                        <p:attrNameLst>
                                          <p:attrName>style.visibility</p:attrName>
                                        </p:attrNameLst>
                                      </p:cBhvr>
                                      <p:to>
                                        <p:strVal val="visible"/>
                                      </p:to>
                                    </p:set>
                                    <p:animEffect transition="in" filter="fade">
                                      <p:cBhvr>
                                        <p:cTn id="61" dur="1000"/>
                                        <p:tgtEl>
                                          <p:spTgt spid="10"/>
                                        </p:tgtEl>
                                      </p:cBhvr>
                                    </p:animEffect>
                                    <p:anim calcmode="lin" valueType="num">
                                      <p:cBhvr>
                                        <p:cTn id="62" dur="1000" fill="hold"/>
                                        <p:tgtEl>
                                          <p:spTgt spid="10"/>
                                        </p:tgtEl>
                                        <p:attrNameLst>
                                          <p:attrName>ppt_x</p:attrName>
                                        </p:attrNameLst>
                                      </p:cBhvr>
                                      <p:tavLst>
                                        <p:tav tm="0">
                                          <p:val>
                                            <p:strVal val="#ppt_x"/>
                                          </p:val>
                                        </p:tav>
                                        <p:tav tm="100000">
                                          <p:val>
                                            <p:strVal val="#ppt_x"/>
                                          </p:val>
                                        </p:tav>
                                      </p:tavLst>
                                    </p:anim>
                                    <p:anim calcmode="lin" valueType="num">
                                      <p:cBhvr>
                                        <p:cTn id="63" dur="1000" fill="hold"/>
                                        <p:tgtEl>
                                          <p:spTgt spid="10"/>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11"/>
                                        </p:tgtEl>
                                        <p:attrNameLst>
                                          <p:attrName>style.visibility</p:attrName>
                                        </p:attrNameLst>
                                      </p:cBhvr>
                                      <p:to>
                                        <p:strVal val="visible"/>
                                      </p:to>
                                    </p:set>
                                    <p:animEffect transition="in" filter="fade">
                                      <p:cBhvr>
                                        <p:cTn id="66" dur="1000"/>
                                        <p:tgtEl>
                                          <p:spTgt spid="11"/>
                                        </p:tgtEl>
                                      </p:cBhvr>
                                    </p:animEffect>
                                    <p:anim calcmode="lin" valueType="num">
                                      <p:cBhvr>
                                        <p:cTn id="67" dur="1000" fill="hold"/>
                                        <p:tgtEl>
                                          <p:spTgt spid="11"/>
                                        </p:tgtEl>
                                        <p:attrNameLst>
                                          <p:attrName>ppt_x</p:attrName>
                                        </p:attrNameLst>
                                      </p:cBhvr>
                                      <p:tavLst>
                                        <p:tav tm="0">
                                          <p:val>
                                            <p:strVal val="#ppt_x"/>
                                          </p:val>
                                        </p:tav>
                                        <p:tav tm="100000">
                                          <p:val>
                                            <p:strVal val="#ppt_x"/>
                                          </p:val>
                                        </p:tav>
                                      </p:tavLst>
                                    </p:anim>
                                    <p:anim calcmode="lin" valueType="num">
                                      <p:cBhvr>
                                        <p:cTn id="68" dur="1000" fill="hold"/>
                                        <p:tgtEl>
                                          <p:spTgt spid="11"/>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2"/>
                                        </p:tgtEl>
                                        <p:attrNameLst>
                                          <p:attrName>style.visibility</p:attrName>
                                        </p:attrNameLst>
                                      </p:cBhvr>
                                      <p:to>
                                        <p:strVal val="visible"/>
                                      </p:to>
                                    </p:set>
                                    <p:animEffect transition="in" filter="fade">
                                      <p:cBhvr>
                                        <p:cTn id="71" dur="1000"/>
                                        <p:tgtEl>
                                          <p:spTgt spid="12"/>
                                        </p:tgtEl>
                                      </p:cBhvr>
                                    </p:animEffect>
                                    <p:anim calcmode="lin" valueType="num">
                                      <p:cBhvr>
                                        <p:cTn id="72" dur="1000" fill="hold"/>
                                        <p:tgtEl>
                                          <p:spTgt spid="12"/>
                                        </p:tgtEl>
                                        <p:attrNameLst>
                                          <p:attrName>ppt_x</p:attrName>
                                        </p:attrNameLst>
                                      </p:cBhvr>
                                      <p:tavLst>
                                        <p:tav tm="0">
                                          <p:val>
                                            <p:strVal val="#ppt_x"/>
                                          </p:val>
                                        </p:tav>
                                        <p:tav tm="100000">
                                          <p:val>
                                            <p:strVal val="#ppt_x"/>
                                          </p:val>
                                        </p:tav>
                                      </p:tavLst>
                                    </p:anim>
                                    <p:anim calcmode="lin" valueType="num">
                                      <p:cBhvr>
                                        <p:cTn id="73" dur="1000" fill="hold"/>
                                        <p:tgtEl>
                                          <p:spTgt spid="12"/>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3"/>
                                        </p:tgtEl>
                                        <p:attrNameLst>
                                          <p:attrName>style.visibility</p:attrName>
                                        </p:attrNameLst>
                                      </p:cBhvr>
                                      <p:to>
                                        <p:strVal val="visible"/>
                                      </p:to>
                                    </p:set>
                                    <p:animEffect transition="in" filter="fade">
                                      <p:cBhvr>
                                        <p:cTn id="76" dur="1000"/>
                                        <p:tgtEl>
                                          <p:spTgt spid="13"/>
                                        </p:tgtEl>
                                      </p:cBhvr>
                                    </p:animEffect>
                                    <p:anim calcmode="lin" valueType="num">
                                      <p:cBhvr>
                                        <p:cTn id="77" dur="1000" fill="hold"/>
                                        <p:tgtEl>
                                          <p:spTgt spid="13"/>
                                        </p:tgtEl>
                                        <p:attrNameLst>
                                          <p:attrName>ppt_x</p:attrName>
                                        </p:attrNameLst>
                                      </p:cBhvr>
                                      <p:tavLst>
                                        <p:tav tm="0">
                                          <p:val>
                                            <p:strVal val="#ppt_x"/>
                                          </p:val>
                                        </p:tav>
                                        <p:tav tm="100000">
                                          <p:val>
                                            <p:strVal val="#ppt_x"/>
                                          </p:val>
                                        </p:tav>
                                      </p:tavLst>
                                    </p:anim>
                                    <p:anim calcmode="lin" valueType="num">
                                      <p:cBhvr>
                                        <p:cTn id="78" dur="1000" fill="hold"/>
                                        <p:tgtEl>
                                          <p:spTgt spid="13"/>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14"/>
                                        </p:tgtEl>
                                        <p:attrNameLst>
                                          <p:attrName>style.visibility</p:attrName>
                                        </p:attrNameLst>
                                      </p:cBhvr>
                                      <p:to>
                                        <p:strVal val="visible"/>
                                      </p:to>
                                    </p:set>
                                    <p:animEffect transition="in" filter="fade">
                                      <p:cBhvr>
                                        <p:cTn id="81" dur="1000"/>
                                        <p:tgtEl>
                                          <p:spTgt spid="14"/>
                                        </p:tgtEl>
                                      </p:cBhvr>
                                    </p:animEffect>
                                    <p:anim calcmode="lin" valueType="num">
                                      <p:cBhvr>
                                        <p:cTn id="82" dur="1000" fill="hold"/>
                                        <p:tgtEl>
                                          <p:spTgt spid="14"/>
                                        </p:tgtEl>
                                        <p:attrNameLst>
                                          <p:attrName>ppt_x</p:attrName>
                                        </p:attrNameLst>
                                      </p:cBhvr>
                                      <p:tavLst>
                                        <p:tav tm="0">
                                          <p:val>
                                            <p:strVal val="#ppt_x"/>
                                          </p:val>
                                        </p:tav>
                                        <p:tav tm="100000">
                                          <p:val>
                                            <p:strVal val="#ppt_x"/>
                                          </p:val>
                                        </p:tav>
                                      </p:tavLst>
                                    </p:anim>
                                    <p:anim calcmode="lin" valueType="num">
                                      <p:cBhvr>
                                        <p:cTn id="83" dur="1000" fill="hold"/>
                                        <p:tgtEl>
                                          <p:spTgt spid="14"/>
                                        </p:tgtEl>
                                        <p:attrNameLst>
                                          <p:attrName>ppt_y</p:attrName>
                                        </p:attrNameLst>
                                      </p:cBhvr>
                                      <p:tavLst>
                                        <p:tav tm="0">
                                          <p:val>
                                            <p:strVal val="#ppt_y+.1"/>
                                          </p:val>
                                        </p:tav>
                                        <p:tav tm="100000">
                                          <p:val>
                                            <p:strVal val="#ppt_y"/>
                                          </p:val>
                                        </p:tav>
                                      </p:tavLst>
                                    </p:anim>
                                  </p:childTnLst>
                                </p:cTn>
                              </p:par>
                              <p:par>
                                <p:cTn id="84" presetID="42" presetClass="entr" presetSubtype="0" fill="hold" nodeType="withEffect">
                                  <p:stCondLst>
                                    <p:cond delay="0"/>
                                  </p:stCondLst>
                                  <p:childTnLst>
                                    <p:set>
                                      <p:cBhvr>
                                        <p:cTn id="85" dur="1" fill="hold">
                                          <p:stCondLst>
                                            <p:cond delay="0"/>
                                          </p:stCondLst>
                                        </p:cTn>
                                        <p:tgtEl>
                                          <p:spTgt spid="16"/>
                                        </p:tgtEl>
                                        <p:attrNameLst>
                                          <p:attrName>style.visibility</p:attrName>
                                        </p:attrNameLst>
                                      </p:cBhvr>
                                      <p:to>
                                        <p:strVal val="visible"/>
                                      </p:to>
                                    </p:set>
                                    <p:animEffect transition="in" filter="fade">
                                      <p:cBhvr>
                                        <p:cTn id="86" dur="1000"/>
                                        <p:tgtEl>
                                          <p:spTgt spid="16"/>
                                        </p:tgtEl>
                                      </p:cBhvr>
                                    </p:animEffect>
                                    <p:anim calcmode="lin" valueType="num">
                                      <p:cBhvr>
                                        <p:cTn id="87" dur="1000" fill="hold"/>
                                        <p:tgtEl>
                                          <p:spTgt spid="16"/>
                                        </p:tgtEl>
                                        <p:attrNameLst>
                                          <p:attrName>ppt_x</p:attrName>
                                        </p:attrNameLst>
                                      </p:cBhvr>
                                      <p:tavLst>
                                        <p:tav tm="0">
                                          <p:val>
                                            <p:strVal val="#ppt_x"/>
                                          </p:val>
                                        </p:tav>
                                        <p:tav tm="100000">
                                          <p:val>
                                            <p:strVal val="#ppt_x"/>
                                          </p:val>
                                        </p:tav>
                                      </p:tavLst>
                                    </p:anim>
                                    <p:anim calcmode="lin" valueType="num">
                                      <p:cBhvr>
                                        <p:cTn id="88" dur="1000" fill="hold"/>
                                        <p:tgtEl>
                                          <p:spTgt spid="16"/>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17"/>
                                        </p:tgtEl>
                                        <p:attrNameLst>
                                          <p:attrName>style.visibility</p:attrName>
                                        </p:attrNameLst>
                                      </p:cBhvr>
                                      <p:to>
                                        <p:strVal val="visible"/>
                                      </p:to>
                                    </p:set>
                                    <p:animEffect transition="in" filter="fade">
                                      <p:cBhvr>
                                        <p:cTn id="91" dur="1000"/>
                                        <p:tgtEl>
                                          <p:spTgt spid="17"/>
                                        </p:tgtEl>
                                      </p:cBhvr>
                                    </p:animEffect>
                                    <p:anim calcmode="lin" valueType="num">
                                      <p:cBhvr>
                                        <p:cTn id="92" dur="1000" fill="hold"/>
                                        <p:tgtEl>
                                          <p:spTgt spid="17"/>
                                        </p:tgtEl>
                                        <p:attrNameLst>
                                          <p:attrName>ppt_x</p:attrName>
                                        </p:attrNameLst>
                                      </p:cBhvr>
                                      <p:tavLst>
                                        <p:tav tm="0">
                                          <p:val>
                                            <p:strVal val="#ppt_x"/>
                                          </p:val>
                                        </p:tav>
                                        <p:tav tm="100000">
                                          <p:val>
                                            <p:strVal val="#ppt_x"/>
                                          </p:val>
                                        </p:tav>
                                      </p:tavLst>
                                    </p:anim>
                                    <p:anim calcmode="lin" valueType="num">
                                      <p:cBhvr>
                                        <p:cTn id="93" dur="1000" fill="hold"/>
                                        <p:tgtEl>
                                          <p:spTgt spid="17"/>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18"/>
                                        </p:tgtEl>
                                        <p:attrNameLst>
                                          <p:attrName>style.visibility</p:attrName>
                                        </p:attrNameLst>
                                      </p:cBhvr>
                                      <p:to>
                                        <p:strVal val="visible"/>
                                      </p:to>
                                    </p:set>
                                    <p:animEffect transition="in" filter="fade">
                                      <p:cBhvr>
                                        <p:cTn id="96" dur="1000"/>
                                        <p:tgtEl>
                                          <p:spTgt spid="18"/>
                                        </p:tgtEl>
                                      </p:cBhvr>
                                    </p:animEffect>
                                    <p:anim calcmode="lin" valueType="num">
                                      <p:cBhvr>
                                        <p:cTn id="97" dur="1000" fill="hold"/>
                                        <p:tgtEl>
                                          <p:spTgt spid="18"/>
                                        </p:tgtEl>
                                        <p:attrNameLst>
                                          <p:attrName>ppt_x</p:attrName>
                                        </p:attrNameLst>
                                      </p:cBhvr>
                                      <p:tavLst>
                                        <p:tav tm="0">
                                          <p:val>
                                            <p:strVal val="#ppt_x"/>
                                          </p:val>
                                        </p:tav>
                                        <p:tav tm="100000">
                                          <p:val>
                                            <p:strVal val="#ppt_x"/>
                                          </p:val>
                                        </p:tav>
                                      </p:tavLst>
                                    </p:anim>
                                    <p:anim calcmode="lin" valueType="num">
                                      <p:cBhvr>
                                        <p:cTn id="98" dur="1000" fill="hold"/>
                                        <p:tgtEl>
                                          <p:spTgt spid="18"/>
                                        </p:tgtEl>
                                        <p:attrNameLst>
                                          <p:attrName>ppt_y</p:attrName>
                                        </p:attrNameLst>
                                      </p:cBhvr>
                                      <p:tavLst>
                                        <p:tav tm="0">
                                          <p:val>
                                            <p:strVal val="#ppt_y+.1"/>
                                          </p:val>
                                        </p:tav>
                                        <p:tav tm="100000">
                                          <p:val>
                                            <p:strVal val="#ppt_y"/>
                                          </p:val>
                                        </p:tav>
                                      </p:tavLst>
                                    </p:anim>
                                  </p:childTnLst>
                                </p:cTn>
                              </p:par>
                              <p:par>
                                <p:cTn id="99" presetID="42" presetClass="entr" presetSubtype="0" fill="hold" nodeType="withEffect">
                                  <p:stCondLst>
                                    <p:cond delay="0"/>
                                  </p:stCondLst>
                                  <p:childTnLst>
                                    <p:set>
                                      <p:cBhvr>
                                        <p:cTn id="100" dur="1" fill="hold">
                                          <p:stCondLst>
                                            <p:cond delay="0"/>
                                          </p:stCondLst>
                                        </p:cTn>
                                        <p:tgtEl>
                                          <p:spTgt spid="19"/>
                                        </p:tgtEl>
                                        <p:attrNameLst>
                                          <p:attrName>style.visibility</p:attrName>
                                        </p:attrNameLst>
                                      </p:cBhvr>
                                      <p:to>
                                        <p:strVal val="visible"/>
                                      </p:to>
                                    </p:set>
                                    <p:animEffect transition="in" filter="fade">
                                      <p:cBhvr>
                                        <p:cTn id="101" dur="1000"/>
                                        <p:tgtEl>
                                          <p:spTgt spid="19"/>
                                        </p:tgtEl>
                                      </p:cBhvr>
                                    </p:animEffect>
                                    <p:anim calcmode="lin" valueType="num">
                                      <p:cBhvr>
                                        <p:cTn id="102" dur="1000" fill="hold"/>
                                        <p:tgtEl>
                                          <p:spTgt spid="19"/>
                                        </p:tgtEl>
                                        <p:attrNameLst>
                                          <p:attrName>ppt_x</p:attrName>
                                        </p:attrNameLst>
                                      </p:cBhvr>
                                      <p:tavLst>
                                        <p:tav tm="0">
                                          <p:val>
                                            <p:strVal val="#ppt_x"/>
                                          </p:val>
                                        </p:tav>
                                        <p:tav tm="100000">
                                          <p:val>
                                            <p:strVal val="#ppt_x"/>
                                          </p:val>
                                        </p:tav>
                                      </p:tavLst>
                                    </p:anim>
                                    <p:anim calcmode="lin" valueType="num">
                                      <p:cBhvr>
                                        <p:cTn id="103" dur="1000" fill="hold"/>
                                        <p:tgtEl>
                                          <p:spTgt spid="19"/>
                                        </p:tgtEl>
                                        <p:attrNameLst>
                                          <p:attrName>ppt_y</p:attrName>
                                        </p:attrNameLst>
                                      </p:cBhvr>
                                      <p:tavLst>
                                        <p:tav tm="0">
                                          <p:val>
                                            <p:strVal val="#ppt_y+.1"/>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21"/>
                                        </p:tgtEl>
                                        <p:attrNameLst>
                                          <p:attrName>style.visibility</p:attrName>
                                        </p:attrNameLst>
                                      </p:cBhvr>
                                      <p:to>
                                        <p:strVal val="visible"/>
                                      </p:to>
                                    </p:set>
                                    <p:animEffect transition="in" filter="fade">
                                      <p:cBhvr>
                                        <p:cTn id="106" dur="1000"/>
                                        <p:tgtEl>
                                          <p:spTgt spid="21"/>
                                        </p:tgtEl>
                                      </p:cBhvr>
                                    </p:animEffect>
                                    <p:anim calcmode="lin" valueType="num">
                                      <p:cBhvr>
                                        <p:cTn id="107" dur="1000" fill="hold"/>
                                        <p:tgtEl>
                                          <p:spTgt spid="21"/>
                                        </p:tgtEl>
                                        <p:attrNameLst>
                                          <p:attrName>ppt_x</p:attrName>
                                        </p:attrNameLst>
                                      </p:cBhvr>
                                      <p:tavLst>
                                        <p:tav tm="0">
                                          <p:val>
                                            <p:strVal val="#ppt_x"/>
                                          </p:val>
                                        </p:tav>
                                        <p:tav tm="100000">
                                          <p:val>
                                            <p:strVal val="#ppt_x"/>
                                          </p:val>
                                        </p:tav>
                                      </p:tavLst>
                                    </p:anim>
                                    <p:anim calcmode="lin" valueType="num">
                                      <p:cBhvr>
                                        <p:cTn id="108" dur="1000" fill="hold"/>
                                        <p:tgtEl>
                                          <p:spTgt spid="21"/>
                                        </p:tgtEl>
                                        <p:attrNameLst>
                                          <p:attrName>ppt_y</p:attrName>
                                        </p:attrNameLst>
                                      </p:cBhvr>
                                      <p:tavLst>
                                        <p:tav tm="0">
                                          <p:val>
                                            <p:strVal val="#ppt_y+.1"/>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23"/>
                                        </p:tgtEl>
                                        <p:attrNameLst>
                                          <p:attrName>style.visibility</p:attrName>
                                        </p:attrNameLst>
                                      </p:cBhvr>
                                      <p:to>
                                        <p:strVal val="visible"/>
                                      </p:to>
                                    </p:set>
                                    <p:animEffect transition="in" filter="fade">
                                      <p:cBhvr>
                                        <p:cTn id="111" dur="1000"/>
                                        <p:tgtEl>
                                          <p:spTgt spid="23"/>
                                        </p:tgtEl>
                                      </p:cBhvr>
                                    </p:animEffect>
                                    <p:anim calcmode="lin" valueType="num">
                                      <p:cBhvr>
                                        <p:cTn id="112" dur="1000" fill="hold"/>
                                        <p:tgtEl>
                                          <p:spTgt spid="23"/>
                                        </p:tgtEl>
                                        <p:attrNameLst>
                                          <p:attrName>ppt_x</p:attrName>
                                        </p:attrNameLst>
                                      </p:cBhvr>
                                      <p:tavLst>
                                        <p:tav tm="0">
                                          <p:val>
                                            <p:strVal val="#ppt_x"/>
                                          </p:val>
                                        </p:tav>
                                        <p:tav tm="100000">
                                          <p:val>
                                            <p:strVal val="#ppt_x"/>
                                          </p:val>
                                        </p:tav>
                                      </p:tavLst>
                                    </p:anim>
                                    <p:anim calcmode="lin" valueType="num">
                                      <p:cBhvr>
                                        <p:cTn id="113" dur="1000" fill="hold"/>
                                        <p:tgtEl>
                                          <p:spTgt spid="23"/>
                                        </p:tgtEl>
                                        <p:attrNameLst>
                                          <p:attrName>ppt_y</p:attrName>
                                        </p:attrNameLst>
                                      </p:cBhvr>
                                      <p:tavLst>
                                        <p:tav tm="0">
                                          <p:val>
                                            <p:strVal val="#ppt_y+.1"/>
                                          </p:val>
                                        </p:tav>
                                        <p:tav tm="100000">
                                          <p:val>
                                            <p:strVal val="#ppt_y"/>
                                          </p:val>
                                        </p:tav>
                                      </p:tavLst>
                                    </p:anim>
                                  </p:childTnLst>
                                </p:cTn>
                              </p:par>
                              <p:par>
                                <p:cTn id="114" presetID="42" presetClass="entr" presetSubtype="0" fill="hold" nodeType="withEffect">
                                  <p:stCondLst>
                                    <p:cond delay="0"/>
                                  </p:stCondLst>
                                  <p:childTnLst>
                                    <p:set>
                                      <p:cBhvr>
                                        <p:cTn id="115" dur="1" fill="hold">
                                          <p:stCondLst>
                                            <p:cond delay="0"/>
                                          </p:stCondLst>
                                        </p:cTn>
                                        <p:tgtEl>
                                          <p:spTgt spid="24"/>
                                        </p:tgtEl>
                                        <p:attrNameLst>
                                          <p:attrName>style.visibility</p:attrName>
                                        </p:attrNameLst>
                                      </p:cBhvr>
                                      <p:to>
                                        <p:strVal val="visible"/>
                                      </p:to>
                                    </p:set>
                                    <p:animEffect transition="in" filter="fade">
                                      <p:cBhvr>
                                        <p:cTn id="116" dur="1000"/>
                                        <p:tgtEl>
                                          <p:spTgt spid="24"/>
                                        </p:tgtEl>
                                      </p:cBhvr>
                                    </p:animEffect>
                                    <p:anim calcmode="lin" valueType="num">
                                      <p:cBhvr>
                                        <p:cTn id="117" dur="1000" fill="hold"/>
                                        <p:tgtEl>
                                          <p:spTgt spid="24"/>
                                        </p:tgtEl>
                                        <p:attrNameLst>
                                          <p:attrName>ppt_x</p:attrName>
                                        </p:attrNameLst>
                                      </p:cBhvr>
                                      <p:tavLst>
                                        <p:tav tm="0">
                                          <p:val>
                                            <p:strVal val="#ppt_x"/>
                                          </p:val>
                                        </p:tav>
                                        <p:tav tm="100000">
                                          <p:val>
                                            <p:strVal val="#ppt_x"/>
                                          </p:val>
                                        </p:tav>
                                      </p:tavLst>
                                    </p:anim>
                                    <p:anim calcmode="lin" valueType="num">
                                      <p:cBhvr>
                                        <p:cTn id="118" dur="1000" fill="hold"/>
                                        <p:tgtEl>
                                          <p:spTgt spid="24"/>
                                        </p:tgtEl>
                                        <p:attrNameLst>
                                          <p:attrName>ppt_y</p:attrName>
                                        </p:attrNameLst>
                                      </p:cBhvr>
                                      <p:tavLst>
                                        <p:tav tm="0">
                                          <p:val>
                                            <p:strVal val="#ppt_y+.1"/>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21" dur="1000"/>
                                        <p:tgtEl>
                                          <p:spTgt spid="38"/>
                                        </p:tgtEl>
                                      </p:cBhvr>
                                    </p:animEffect>
                                    <p:anim calcmode="lin" valueType="num">
                                      <p:cBhvr>
                                        <p:cTn id="122" dur="1000" fill="hold"/>
                                        <p:tgtEl>
                                          <p:spTgt spid="38"/>
                                        </p:tgtEl>
                                        <p:attrNameLst>
                                          <p:attrName>ppt_x</p:attrName>
                                        </p:attrNameLst>
                                      </p:cBhvr>
                                      <p:tavLst>
                                        <p:tav tm="0">
                                          <p:val>
                                            <p:strVal val="#ppt_x"/>
                                          </p:val>
                                        </p:tav>
                                        <p:tav tm="100000">
                                          <p:val>
                                            <p:strVal val="#ppt_x"/>
                                          </p:val>
                                        </p:tav>
                                      </p:tavLst>
                                    </p:anim>
                                    <p:anim calcmode="lin" valueType="num">
                                      <p:cBhvr>
                                        <p:cTn id="123" dur="1000" fill="hold"/>
                                        <p:tgtEl>
                                          <p:spTgt spid="38"/>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0"/>
                                  </p:stCondLst>
                                  <p:childTnLst>
                                    <p:set>
                                      <p:cBhvr>
                                        <p:cTn id="125" dur="1" fill="hold">
                                          <p:stCondLst>
                                            <p:cond delay="0"/>
                                          </p:stCondLst>
                                        </p:cTn>
                                        <p:tgtEl>
                                          <p:spTgt spid="56"/>
                                        </p:tgtEl>
                                        <p:attrNameLst>
                                          <p:attrName>style.visibility</p:attrName>
                                        </p:attrNameLst>
                                      </p:cBhvr>
                                      <p:to>
                                        <p:strVal val="visible"/>
                                      </p:to>
                                    </p:set>
                                    <p:animEffect transition="in" filter="fade">
                                      <p:cBhvr>
                                        <p:cTn id="126" dur="1000"/>
                                        <p:tgtEl>
                                          <p:spTgt spid="56"/>
                                        </p:tgtEl>
                                      </p:cBhvr>
                                    </p:animEffect>
                                    <p:anim calcmode="lin" valueType="num">
                                      <p:cBhvr>
                                        <p:cTn id="127" dur="1000" fill="hold"/>
                                        <p:tgtEl>
                                          <p:spTgt spid="56"/>
                                        </p:tgtEl>
                                        <p:attrNameLst>
                                          <p:attrName>ppt_x</p:attrName>
                                        </p:attrNameLst>
                                      </p:cBhvr>
                                      <p:tavLst>
                                        <p:tav tm="0">
                                          <p:val>
                                            <p:strVal val="#ppt_x"/>
                                          </p:val>
                                        </p:tav>
                                        <p:tav tm="100000">
                                          <p:val>
                                            <p:strVal val="#ppt_x"/>
                                          </p:val>
                                        </p:tav>
                                      </p:tavLst>
                                    </p:anim>
                                    <p:anim calcmode="lin" valueType="num">
                                      <p:cBhvr>
                                        <p:cTn id="128" dur="1000" fill="hold"/>
                                        <p:tgtEl>
                                          <p:spTgt spid="56"/>
                                        </p:tgtEl>
                                        <p:attrNameLst>
                                          <p:attrName>ppt_y</p:attrName>
                                        </p:attrNameLst>
                                      </p:cBhvr>
                                      <p:tavLst>
                                        <p:tav tm="0">
                                          <p:val>
                                            <p:strVal val="#ppt_y+.1"/>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58"/>
                                        </p:tgtEl>
                                        <p:attrNameLst>
                                          <p:attrName>style.visibility</p:attrName>
                                        </p:attrNameLst>
                                      </p:cBhvr>
                                      <p:to>
                                        <p:strVal val="visible"/>
                                      </p:to>
                                    </p:set>
                                    <p:animEffect transition="in" filter="fade">
                                      <p:cBhvr>
                                        <p:cTn id="131" dur="1000"/>
                                        <p:tgtEl>
                                          <p:spTgt spid="58"/>
                                        </p:tgtEl>
                                      </p:cBhvr>
                                    </p:animEffect>
                                    <p:anim calcmode="lin" valueType="num">
                                      <p:cBhvr>
                                        <p:cTn id="132" dur="1000" fill="hold"/>
                                        <p:tgtEl>
                                          <p:spTgt spid="58"/>
                                        </p:tgtEl>
                                        <p:attrNameLst>
                                          <p:attrName>ppt_x</p:attrName>
                                        </p:attrNameLst>
                                      </p:cBhvr>
                                      <p:tavLst>
                                        <p:tav tm="0">
                                          <p:val>
                                            <p:strVal val="#ppt_x"/>
                                          </p:val>
                                        </p:tav>
                                        <p:tav tm="100000">
                                          <p:val>
                                            <p:strVal val="#ppt_x"/>
                                          </p:val>
                                        </p:tav>
                                      </p:tavLst>
                                    </p:anim>
                                    <p:anim calcmode="lin" valueType="num">
                                      <p:cBhvr>
                                        <p:cTn id="133" dur="1000" fill="hold"/>
                                        <p:tgtEl>
                                          <p:spTgt spid="58"/>
                                        </p:tgtEl>
                                        <p:attrNameLst>
                                          <p:attrName>ppt_y</p:attrName>
                                        </p:attrNameLst>
                                      </p:cBhvr>
                                      <p:tavLst>
                                        <p:tav tm="0">
                                          <p:val>
                                            <p:strVal val="#ppt_y+.1"/>
                                          </p:val>
                                        </p:tav>
                                        <p:tav tm="100000">
                                          <p:val>
                                            <p:strVal val="#ppt_y"/>
                                          </p:val>
                                        </p:tav>
                                      </p:tavLst>
                                    </p:anim>
                                  </p:childTnLst>
                                </p:cTn>
                              </p:par>
                              <p:par>
                                <p:cTn id="134" presetID="42" presetClass="entr" presetSubtype="0" fill="hold" nodeType="withEffect">
                                  <p:stCondLst>
                                    <p:cond delay="0"/>
                                  </p:stCondLst>
                                  <p:childTnLst>
                                    <p:set>
                                      <p:cBhvr>
                                        <p:cTn id="135" dur="1" fill="hold">
                                          <p:stCondLst>
                                            <p:cond delay="0"/>
                                          </p:stCondLst>
                                        </p:cTn>
                                        <p:tgtEl>
                                          <p:spTgt spid="60"/>
                                        </p:tgtEl>
                                        <p:attrNameLst>
                                          <p:attrName>style.visibility</p:attrName>
                                        </p:attrNameLst>
                                      </p:cBhvr>
                                      <p:to>
                                        <p:strVal val="visible"/>
                                      </p:to>
                                    </p:set>
                                    <p:animEffect transition="in" filter="fade">
                                      <p:cBhvr>
                                        <p:cTn id="136" dur="1000"/>
                                        <p:tgtEl>
                                          <p:spTgt spid="60"/>
                                        </p:tgtEl>
                                      </p:cBhvr>
                                    </p:animEffect>
                                    <p:anim calcmode="lin" valueType="num">
                                      <p:cBhvr>
                                        <p:cTn id="137" dur="1000" fill="hold"/>
                                        <p:tgtEl>
                                          <p:spTgt spid="60"/>
                                        </p:tgtEl>
                                        <p:attrNameLst>
                                          <p:attrName>ppt_x</p:attrName>
                                        </p:attrNameLst>
                                      </p:cBhvr>
                                      <p:tavLst>
                                        <p:tav tm="0">
                                          <p:val>
                                            <p:strVal val="#ppt_x"/>
                                          </p:val>
                                        </p:tav>
                                        <p:tav tm="100000">
                                          <p:val>
                                            <p:strVal val="#ppt_x"/>
                                          </p:val>
                                        </p:tav>
                                      </p:tavLst>
                                    </p:anim>
                                    <p:anim calcmode="lin" valueType="num">
                                      <p:cBhvr>
                                        <p:cTn id="138" dur="1000" fill="hold"/>
                                        <p:tgtEl>
                                          <p:spTgt spid="60"/>
                                        </p:tgtEl>
                                        <p:attrNameLst>
                                          <p:attrName>ppt_y</p:attrName>
                                        </p:attrNameLst>
                                      </p:cBhvr>
                                      <p:tavLst>
                                        <p:tav tm="0">
                                          <p:val>
                                            <p:strVal val="#ppt_y+.1"/>
                                          </p:val>
                                        </p:tav>
                                        <p:tav tm="100000">
                                          <p:val>
                                            <p:strVal val="#ppt_y"/>
                                          </p:val>
                                        </p:tav>
                                      </p:tavLst>
                                    </p:anim>
                                  </p:childTnLst>
                                </p:cTn>
                              </p:par>
                              <p:par>
                                <p:cTn id="139" presetID="42" presetClass="entr" presetSubtype="0" fill="hold" nodeType="withEffect">
                                  <p:stCondLst>
                                    <p:cond delay="0"/>
                                  </p:stCondLst>
                                  <p:childTnLst>
                                    <p:set>
                                      <p:cBhvr>
                                        <p:cTn id="140" dur="1" fill="hold">
                                          <p:stCondLst>
                                            <p:cond delay="0"/>
                                          </p:stCondLst>
                                        </p:cTn>
                                        <p:tgtEl>
                                          <p:spTgt spid="67"/>
                                        </p:tgtEl>
                                        <p:attrNameLst>
                                          <p:attrName>style.visibility</p:attrName>
                                        </p:attrNameLst>
                                      </p:cBhvr>
                                      <p:to>
                                        <p:strVal val="visible"/>
                                      </p:to>
                                    </p:set>
                                    <p:animEffect transition="in" filter="fade">
                                      <p:cBhvr>
                                        <p:cTn id="141" dur="1000"/>
                                        <p:tgtEl>
                                          <p:spTgt spid="67"/>
                                        </p:tgtEl>
                                      </p:cBhvr>
                                    </p:animEffect>
                                    <p:anim calcmode="lin" valueType="num">
                                      <p:cBhvr>
                                        <p:cTn id="142" dur="1000" fill="hold"/>
                                        <p:tgtEl>
                                          <p:spTgt spid="67"/>
                                        </p:tgtEl>
                                        <p:attrNameLst>
                                          <p:attrName>ppt_x</p:attrName>
                                        </p:attrNameLst>
                                      </p:cBhvr>
                                      <p:tavLst>
                                        <p:tav tm="0">
                                          <p:val>
                                            <p:strVal val="#ppt_x"/>
                                          </p:val>
                                        </p:tav>
                                        <p:tav tm="100000">
                                          <p:val>
                                            <p:strVal val="#ppt_x"/>
                                          </p:val>
                                        </p:tav>
                                      </p:tavLst>
                                    </p:anim>
                                    <p:anim calcmode="lin" valueType="num">
                                      <p:cBhvr>
                                        <p:cTn id="143" dur="1000" fill="hold"/>
                                        <p:tgtEl>
                                          <p:spTgt spid="67"/>
                                        </p:tgtEl>
                                        <p:attrNameLst>
                                          <p:attrName>ppt_y</p:attrName>
                                        </p:attrNameLst>
                                      </p:cBhvr>
                                      <p:tavLst>
                                        <p:tav tm="0">
                                          <p:val>
                                            <p:strVal val="#ppt_y+.1"/>
                                          </p:val>
                                        </p:tav>
                                        <p:tav tm="100000">
                                          <p:val>
                                            <p:strVal val="#ppt_y"/>
                                          </p:val>
                                        </p:tav>
                                      </p:tavLst>
                                    </p:anim>
                                  </p:childTnLst>
                                </p:cTn>
                              </p:par>
                              <p:par>
                                <p:cTn id="144" presetID="42" presetClass="entr" presetSubtype="0" fill="hold" nodeType="withEffect">
                                  <p:stCondLst>
                                    <p:cond delay="0"/>
                                  </p:stCondLst>
                                  <p:childTnLst>
                                    <p:set>
                                      <p:cBhvr>
                                        <p:cTn id="145" dur="1" fill="hold">
                                          <p:stCondLst>
                                            <p:cond delay="0"/>
                                          </p:stCondLst>
                                        </p:cTn>
                                        <p:tgtEl>
                                          <p:spTgt spid="69"/>
                                        </p:tgtEl>
                                        <p:attrNameLst>
                                          <p:attrName>style.visibility</p:attrName>
                                        </p:attrNameLst>
                                      </p:cBhvr>
                                      <p:to>
                                        <p:strVal val="visible"/>
                                      </p:to>
                                    </p:set>
                                    <p:animEffect transition="in" filter="fade">
                                      <p:cBhvr>
                                        <p:cTn id="146" dur="1000"/>
                                        <p:tgtEl>
                                          <p:spTgt spid="69"/>
                                        </p:tgtEl>
                                      </p:cBhvr>
                                    </p:animEffect>
                                    <p:anim calcmode="lin" valueType="num">
                                      <p:cBhvr>
                                        <p:cTn id="147" dur="1000" fill="hold"/>
                                        <p:tgtEl>
                                          <p:spTgt spid="69"/>
                                        </p:tgtEl>
                                        <p:attrNameLst>
                                          <p:attrName>ppt_x</p:attrName>
                                        </p:attrNameLst>
                                      </p:cBhvr>
                                      <p:tavLst>
                                        <p:tav tm="0">
                                          <p:val>
                                            <p:strVal val="#ppt_x"/>
                                          </p:val>
                                        </p:tav>
                                        <p:tav tm="100000">
                                          <p:val>
                                            <p:strVal val="#ppt_x"/>
                                          </p:val>
                                        </p:tav>
                                      </p:tavLst>
                                    </p:anim>
                                    <p:anim calcmode="lin" valueType="num">
                                      <p:cBhvr>
                                        <p:cTn id="148" dur="1000" fill="hold"/>
                                        <p:tgtEl>
                                          <p:spTgt spid="69"/>
                                        </p:tgtEl>
                                        <p:attrNameLst>
                                          <p:attrName>ppt_y</p:attrName>
                                        </p:attrNameLst>
                                      </p:cBhvr>
                                      <p:tavLst>
                                        <p:tav tm="0">
                                          <p:val>
                                            <p:strVal val="#ppt_y+.1"/>
                                          </p:val>
                                        </p:tav>
                                        <p:tav tm="100000">
                                          <p:val>
                                            <p:strVal val="#ppt_y"/>
                                          </p:val>
                                        </p:tav>
                                      </p:tavLst>
                                    </p:anim>
                                  </p:childTnLst>
                                </p:cTn>
                              </p:par>
                              <p:par>
                                <p:cTn id="149" presetID="42" presetClass="entr" presetSubtype="0" fill="hold" nodeType="withEffect">
                                  <p:stCondLst>
                                    <p:cond delay="0"/>
                                  </p:stCondLst>
                                  <p:childTnLst>
                                    <p:set>
                                      <p:cBhvr>
                                        <p:cTn id="150" dur="1" fill="hold">
                                          <p:stCondLst>
                                            <p:cond delay="0"/>
                                          </p:stCondLst>
                                        </p:cTn>
                                        <p:tgtEl>
                                          <p:spTgt spid="70"/>
                                        </p:tgtEl>
                                        <p:attrNameLst>
                                          <p:attrName>style.visibility</p:attrName>
                                        </p:attrNameLst>
                                      </p:cBhvr>
                                      <p:to>
                                        <p:strVal val="visible"/>
                                      </p:to>
                                    </p:set>
                                    <p:animEffect transition="in" filter="fade">
                                      <p:cBhvr>
                                        <p:cTn id="151" dur="1000"/>
                                        <p:tgtEl>
                                          <p:spTgt spid="70"/>
                                        </p:tgtEl>
                                      </p:cBhvr>
                                    </p:animEffect>
                                    <p:anim calcmode="lin" valueType="num">
                                      <p:cBhvr>
                                        <p:cTn id="152" dur="1000" fill="hold"/>
                                        <p:tgtEl>
                                          <p:spTgt spid="70"/>
                                        </p:tgtEl>
                                        <p:attrNameLst>
                                          <p:attrName>ppt_x</p:attrName>
                                        </p:attrNameLst>
                                      </p:cBhvr>
                                      <p:tavLst>
                                        <p:tav tm="0">
                                          <p:val>
                                            <p:strVal val="#ppt_x"/>
                                          </p:val>
                                        </p:tav>
                                        <p:tav tm="100000">
                                          <p:val>
                                            <p:strVal val="#ppt_x"/>
                                          </p:val>
                                        </p:tav>
                                      </p:tavLst>
                                    </p:anim>
                                    <p:anim calcmode="lin" valueType="num">
                                      <p:cBhvr>
                                        <p:cTn id="153" dur="1000" fill="hold"/>
                                        <p:tgtEl>
                                          <p:spTgt spid="70"/>
                                        </p:tgtEl>
                                        <p:attrNameLst>
                                          <p:attrName>ppt_y</p:attrName>
                                        </p:attrNameLst>
                                      </p:cBhvr>
                                      <p:tavLst>
                                        <p:tav tm="0">
                                          <p:val>
                                            <p:strVal val="#ppt_y+.1"/>
                                          </p:val>
                                        </p:tav>
                                        <p:tav tm="100000">
                                          <p:val>
                                            <p:strVal val="#ppt_y"/>
                                          </p:val>
                                        </p:tav>
                                      </p:tavLst>
                                    </p:anim>
                                  </p:childTnLst>
                                </p:cTn>
                              </p:par>
                              <p:par>
                                <p:cTn id="154" presetID="42" presetClass="entr" presetSubtype="0" fill="hold" nodeType="withEffect">
                                  <p:stCondLst>
                                    <p:cond delay="0"/>
                                  </p:stCondLst>
                                  <p:childTnLst>
                                    <p:set>
                                      <p:cBhvr>
                                        <p:cTn id="155" dur="1" fill="hold">
                                          <p:stCondLst>
                                            <p:cond delay="0"/>
                                          </p:stCondLst>
                                        </p:cTn>
                                        <p:tgtEl>
                                          <p:spTgt spid="71"/>
                                        </p:tgtEl>
                                        <p:attrNameLst>
                                          <p:attrName>style.visibility</p:attrName>
                                        </p:attrNameLst>
                                      </p:cBhvr>
                                      <p:to>
                                        <p:strVal val="visible"/>
                                      </p:to>
                                    </p:set>
                                    <p:animEffect transition="in" filter="fade">
                                      <p:cBhvr>
                                        <p:cTn id="156" dur="1000"/>
                                        <p:tgtEl>
                                          <p:spTgt spid="71"/>
                                        </p:tgtEl>
                                      </p:cBhvr>
                                    </p:animEffect>
                                    <p:anim calcmode="lin" valueType="num">
                                      <p:cBhvr>
                                        <p:cTn id="157" dur="1000" fill="hold"/>
                                        <p:tgtEl>
                                          <p:spTgt spid="71"/>
                                        </p:tgtEl>
                                        <p:attrNameLst>
                                          <p:attrName>ppt_x</p:attrName>
                                        </p:attrNameLst>
                                      </p:cBhvr>
                                      <p:tavLst>
                                        <p:tav tm="0">
                                          <p:val>
                                            <p:strVal val="#ppt_x"/>
                                          </p:val>
                                        </p:tav>
                                        <p:tav tm="100000">
                                          <p:val>
                                            <p:strVal val="#ppt_x"/>
                                          </p:val>
                                        </p:tav>
                                      </p:tavLst>
                                    </p:anim>
                                    <p:anim calcmode="lin" valueType="num">
                                      <p:cBhvr>
                                        <p:cTn id="158" dur="1000" fill="hold"/>
                                        <p:tgtEl>
                                          <p:spTgt spid="71"/>
                                        </p:tgtEl>
                                        <p:attrNameLst>
                                          <p:attrName>ppt_y</p:attrName>
                                        </p:attrNameLst>
                                      </p:cBhvr>
                                      <p:tavLst>
                                        <p:tav tm="0">
                                          <p:val>
                                            <p:strVal val="#ppt_y+.1"/>
                                          </p:val>
                                        </p:tav>
                                        <p:tav tm="100000">
                                          <p:val>
                                            <p:strVal val="#ppt_y"/>
                                          </p:val>
                                        </p:tav>
                                      </p:tavLst>
                                    </p:anim>
                                  </p:childTnLst>
                                </p:cTn>
                              </p:par>
                              <p:par>
                                <p:cTn id="159" presetID="42" presetClass="entr" presetSubtype="0" fill="hold" nodeType="withEffect">
                                  <p:stCondLst>
                                    <p:cond delay="0"/>
                                  </p:stCondLst>
                                  <p:childTnLst>
                                    <p:set>
                                      <p:cBhvr>
                                        <p:cTn id="160" dur="1" fill="hold">
                                          <p:stCondLst>
                                            <p:cond delay="0"/>
                                          </p:stCondLst>
                                        </p:cTn>
                                        <p:tgtEl>
                                          <p:spTgt spid="72"/>
                                        </p:tgtEl>
                                        <p:attrNameLst>
                                          <p:attrName>style.visibility</p:attrName>
                                        </p:attrNameLst>
                                      </p:cBhvr>
                                      <p:to>
                                        <p:strVal val="visible"/>
                                      </p:to>
                                    </p:set>
                                    <p:animEffect transition="in" filter="fade">
                                      <p:cBhvr>
                                        <p:cTn id="161" dur="1000"/>
                                        <p:tgtEl>
                                          <p:spTgt spid="72"/>
                                        </p:tgtEl>
                                      </p:cBhvr>
                                    </p:animEffect>
                                    <p:anim calcmode="lin" valueType="num">
                                      <p:cBhvr>
                                        <p:cTn id="162" dur="1000" fill="hold"/>
                                        <p:tgtEl>
                                          <p:spTgt spid="72"/>
                                        </p:tgtEl>
                                        <p:attrNameLst>
                                          <p:attrName>ppt_x</p:attrName>
                                        </p:attrNameLst>
                                      </p:cBhvr>
                                      <p:tavLst>
                                        <p:tav tm="0">
                                          <p:val>
                                            <p:strVal val="#ppt_x"/>
                                          </p:val>
                                        </p:tav>
                                        <p:tav tm="100000">
                                          <p:val>
                                            <p:strVal val="#ppt_x"/>
                                          </p:val>
                                        </p:tav>
                                      </p:tavLst>
                                    </p:anim>
                                    <p:anim calcmode="lin" valueType="num">
                                      <p:cBhvr>
                                        <p:cTn id="163" dur="1000" fill="hold"/>
                                        <p:tgtEl>
                                          <p:spTgt spid="72"/>
                                        </p:tgtEl>
                                        <p:attrNameLst>
                                          <p:attrName>ppt_y</p:attrName>
                                        </p:attrNameLst>
                                      </p:cBhvr>
                                      <p:tavLst>
                                        <p:tav tm="0">
                                          <p:val>
                                            <p:strVal val="#ppt_y+.1"/>
                                          </p:val>
                                        </p:tav>
                                        <p:tav tm="100000">
                                          <p:val>
                                            <p:strVal val="#ppt_y"/>
                                          </p:val>
                                        </p:tav>
                                      </p:tavLst>
                                    </p:anim>
                                  </p:childTnLst>
                                </p:cTn>
                              </p:par>
                              <p:par>
                                <p:cTn id="164" presetID="42" presetClass="entr" presetSubtype="0" fill="hold" grpId="0" nodeType="withEffect">
                                  <p:stCondLst>
                                    <p:cond delay="0"/>
                                  </p:stCondLst>
                                  <p:childTnLst>
                                    <p:set>
                                      <p:cBhvr>
                                        <p:cTn id="165" dur="1" fill="hold">
                                          <p:stCondLst>
                                            <p:cond delay="0"/>
                                          </p:stCondLst>
                                        </p:cTn>
                                        <p:tgtEl>
                                          <p:spTgt spid="73"/>
                                        </p:tgtEl>
                                        <p:attrNameLst>
                                          <p:attrName>style.visibility</p:attrName>
                                        </p:attrNameLst>
                                      </p:cBhvr>
                                      <p:to>
                                        <p:strVal val="visible"/>
                                      </p:to>
                                    </p:set>
                                    <p:animEffect transition="in" filter="fade">
                                      <p:cBhvr>
                                        <p:cTn id="166" dur="1000"/>
                                        <p:tgtEl>
                                          <p:spTgt spid="73"/>
                                        </p:tgtEl>
                                      </p:cBhvr>
                                    </p:animEffect>
                                    <p:anim calcmode="lin" valueType="num">
                                      <p:cBhvr>
                                        <p:cTn id="167" dur="1000" fill="hold"/>
                                        <p:tgtEl>
                                          <p:spTgt spid="73"/>
                                        </p:tgtEl>
                                        <p:attrNameLst>
                                          <p:attrName>ppt_x</p:attrName>
                                        </p:attrNameLst>
                                      </p:cBhvr>
                                      <p:tavLst>
                                        <p:tav tm="0">
                                          <p:val>
                                            <p:strVal val="#ppt_x"/>
                                          </p:val>
                                        </p:tav>
                                        <p:tav tm="100000">
                                          <p:val>
                                            <p:strVal val="#ppt_x"/>
                                          </p:val>
                                        </p:tav>
                                      </p:tavLst>
                                    </p:anim>
                                    <p:anim calcmode="lin" valueType="num">
                                      <p:cBhvr>
                                        <p:cTn id="168" dur="1000" fill="hold"/>
                                        <p:tgtEl>
                                          <p:spTgt spid="73"/>
                                        </p:tgtEl>
                                        <p:attrNameLst>
                                          <p:attrName>ppt_y</p:attrName>
                                        </p:attrNameLst>
                                      </p:cBhvr>
                                      <p:tavLst>
                                        <p:tav tm="0">
                                          <p:val>
                                            <p:strVal val="#ppt_y+.1"/>
                                          </p:val>
                                        </p:tav>
                                        <p:tav tm="100000">
                                          <p:val>
                                            <p:strVal val="#ppt_y"/>
                                          </p:val>
                                        </p:tav>
                                      </p:tavLst>
                                    </p:anim>
                                  </p:childTnLst>
                                </p:cTn>
                              </p:par>
                              <p:par>
                                <p:cTn id="169" presetID="42" presetClass="entr" presetSubtype="0" fill="hold" grpId="0" nodeType="withEffect">
                                  <p:stCondLst>
                                    <p:cond delay="0"/>
                                  </p:stCondLst>
                                  <p:childTnLst>
                                    <p:set>
                                      <p:cBhvr>
                                        <p:cTn id="170" dur="1" fill="hold">
                                          <p:stCondLst>
                                            <p:cond delay="0"/>
                                          </p:stCondLst>
                                        </p:cTn>
                                        <p:tgtEl>
                                          <p:spTgt spid="74"/>
                                        </p:tgtEl>
                                        <p:attrNameLst>
                                          <p:attrName>style.visibility</p:attrName>
                                        </p:attrNameLst>
                                      </p:cBhvr>
                                      <p:to>
                                        <p:strVal val="visible"/>
                                      </p:to>
                                    </p:set>
                                    <p:animEffect transition="in" filter="fade">
                                      <p:cBhvr>
                                        <p:cTn id="171" dur="1000"/>
                                        <p:tgtEl>
                                          <p:spTgt spid="74"/>
                                        </p:tgtEl>
                                      </p:cBhvr>
                                    </p:animEffect>
                                    <p:anim calcmode="lin" valueType="num">
                                      <p:cBhvr>
                                        <p:cTn id="172" dur="1000" fill="hold"/>
                                        <p:tgtEl>
                                          <p:spTgt spid="74"/>
                                        </p:tgtEl>
                                        <p:attrNameLst>
                                          <p:attrName>ppt_x</p:attrName>
                                        </p:attrNameLst>
                                      </p:cBhvr>
                                      <p:tavLst>
                                        <p:tav tm="0">
                                          <p:val>
                                            <p:strVal val="#ppt_x"/>
                                          </p:val>
                                        </p:tav>
                                        <p:tav tm="100000">
                                          <p:val>
                                            <p:strVal val="#ppt_x"/>
                                          </p:val>
                                        </p:tav>
                                      </p:tavLst>
                                    </p:anim>
                                    <p:anim calcmode="lin" valueType="num">
                                      <p:cBhvr>
                                        <p:cTn id="173" dur="1000" fill="hold"/>
                                        <p:tgtEl>
                                          <p:spTgt spid="74"/>
                                        </p:tgtEl>
                                        <p:attrNameLst>
                                          <p:attrName>ppt_y</p:attrName>
                                        </p:attrNameLst>
                                      </p:cBhvr>
                                      <p:tavLst>
                                        <p:tav tm="0">
                                          <p:val>
                                            <p:strVal val="#ppt_y+.1"/>
                                          </p:val>
                                        </p:tav>
                                        <p:tav tm="100000">
                                          <p:val>
                                            <p:strVal val="#ppt_y"/>
                                          </p:val>
                                        </p:tav>
                                      </p:tavLst>
                                    </p:anim>
                                  </p:childTnLst>
                                </p:cTn>
                              </p:par>
                              <p:par>
                                <p:cTn id="174" presetID="42" presetClass="entr" presetSubtype="0" fill="hold" grpId="0" nodeType="withEffect">
                                  <p:stCondLst>
                                    <p:cond delay="0"/>
                                  </p:stCondLst>
                                  <p:childTnLst>
                                    <p:set>
                                      <p:cBhvr>
                                        <p:cTn id="175" dur="1" fill="hold">
                                          <p:stCondLst>
                                            <p:cond delay="0"/>
                                          </p:stCondLst>
                                        </p:cTn>
                                        <p:tgtEl>
                                          <p:spTgt spid="76"/>
                                        </p:tgtEl>
                                        <p:attrNameLst>
                                          <p:attrName>style.visibility</p:attrName>
                                        </p:attrNameLst>
                                      </p:cBhvr>
                                      <p:to>
                                        <p:strVal val="visible"/>
                                      </p:to>
                                    </p:set>
                                    <p:animEffect transition="in" filter="fade">
                                      <p:cBhvr>
                                        <p:cTn id="176" dur="1000"/>
                                        <p:tgtEl>
                                          <p:spTgt spid="76"/>
                                        </p:tgtEl>
                                      </p:cBhvr>
                                    </p:animEffect>
                                    <p:anim calcmode="lin" valueType="num">
                                      <p:cBhvr>
                                        <p:cTn id="177" dur="1000" fill="hold"/>
                                        <p:tgtEl>
                                          <p:spTgt spid="76"/>
                                        </p:tgtEl>
                                        <p:attrNameLst>
                                          <p:attrName>ppt_x</p:attrName>
                                        </p:attrNameLst>
                                      </p:cBhvr>
                                      <p:tavLst>
                                        <p:tav tm="0">
                                          <p:val>
                                            <p:strVal val="#ppt_x"/>
                                          </p:val>
                                        </p:tav>
                                        <p:tav tm="100000">
                                          <p:val>
                                            <p:strVal val="#ppt_x"/>
                                          </p:val>
                                        </p:tav>
                                      </p:tavLst>
                                    </p:anim>
                                    <p:anim calcmode="lin" valueType="num">
                                      <p:cBhvr>
                                        <p:cTn id="178" dur="1000" fill="hold"/>
                                        <p:tgtEl>
                                          <p:spTgt spid="76"/>
                                        </p:tgtEl>
                                        <p:attrNameLst>
                                          <p:attrName>ppt_y</p:attrName>
                                        </p:attrNameLst>
                                      </p:cBhvr>
                                      <p:tavLst>
                                        <p:tav tm="0">
                                          <p:val>
                                            <p:strVal val="#ppt_y+.1"/>
                                          </p:val>
                                        </p:tav>
                                        <p:tav tm="100000">
                                          <p:val>
                                            <p:strVal val="#ppt_y"/>
                                          </p:val>
                                        </p:tav>
                                      </p:tavLst>
                                    </p:anim>
                                  </p:childTnLst>
                                </p:cTn>
                              </p:par>
                              <p:par>
                                <p:cTn id="179" presetID="42" presetClass="entr" presetSubtype="0" fill="hold" grpId="0" nodeType="withEffect">
                                  <p:stCondLst>
                                    <p:cond delay="0"/>
                                  </p:stCondLst>
                                  <p:childTnLst>
                                    <p:set>
                                      <p:cBhvr>
                                        <p:cTn id="180" dur="1" fill="hold">
                                          <p:stCondLst>
                                            <p:cond delay="0"/>
                                          </p:stCondLst>
                                        </p:cTn>
                                        <p:tgtEl>
                                          <p:spTgt spid="77"/>
                                        </p:tgtEl>
                                        <p:attrNameLst>
                                          <p:attrName>style.visibility</p:attrName>
                                        </p:attrNameLst>
                                      </p:cBhvr>
                                      <p:to>
                                        <p:strVal val="visible"/>
                                      </p:to>
                                    </p:set>
                                    <p:animEffect transition="in" filter="fade">
                                      <p:cBhvr>
                                        <p:cTn id="181" dur="1000"/>
                                        <p:tgtEl>
                                          <p:spTgt spid="77"/>
                                        </p:tgtEl>
                                      </p:cBhvr>
                                    </p:animEffect>
                                    <p:anim calcmode="lin" valueType="num">
                                      <p:cBhvr>
                                        <p:cTn id="182" dur="1000" fill="hold"/>
                                        <p:tgtEl>
                                          <p:spTgt spid="77"/>
                                        </p:tgtEl>
                                        <p:attrNameLst>
                                          <p:attrName>ppt_x</p:attrName>
                                        </p:attrNameLst>
                                      </p:cBhvr>
                                      <p:tavLst>
                                        <p:tav tm="0">
                                          <p:val>
                                            <p:strVal val="#ppt_x"/>
                                          </p:val>
                                        </p:tav>
                                        <p:tav tm="100000">
                                          <p:val>
                                            <p:strVal val="#ppt_x"/>
                                          </p:val>
                                        </p:tav>
                                      </p:tavLst>
                                    </p:anim>
                                    <p:anim calcmode="lin" valueType="num">
                                      <p:cBhvr>
                                        <p:cTn id="183" dur="1000" fill="hold"/>
                                        <p:tgtEl>
                                          <p:spTgt spid="77"/>
                                        </p:tgtEl>
                                        <p:attrNameLst>
                                          <p:attrName>ppt_y</p:attrName>
                                        </p:attrNameLst>
                                      </p:cBhvr>
                                      <p:tavLst>
                                        <p:tav tm="0">
                                          <p:val>
                                            <p:strVal val="#ppt_y+.1"/>
                                          </p:val>
                                        </p:tav>
                                        <p:tav tm="100000">
                                          <p:val>
                                            <p:strVal val="#ppt_y"/>
                                          </p:val>
                                        </p:tav>
                                      </p:tavLst>
                                    </p:anim>
                                  </p:childTnLst>
                                </p:cTn>
                              </p:par>
                            </p:childTnLst>
                          </p:cTn>
                        </p:par>
                      </p:childTnLst>
                    </p:cTn>
                  </p:par>
                  <p:par>
                    <p:cTn id="184" fill="hold">
                      <p:stCondLst>
                        <p:cond delay="indefinite"/>
                      </p:stCondLst>
                      <p:childTnLst>
                        <p:par>
                          <p:cTn id="185" fill="hold">
                            <p:stCondLst>
                              <p:cond delay="0"/>
                            </p:stCondLst>
                            <p:childTnLst>
                              <p:par>
                                <p:cTn id="186" presetID="22" presetClass="entr" presetSubtype="4" fill="hold" nodeType="clickEffect">
                                  <p:stCondLst>
                                    <p:cond delay="0"/>
                                  </p:stCondLst>
                                  <p:childTnLst>
                                    <p:set>
                                      <p:cBhvr>
                                        <p:cTn id="187" dur="1" fill="hold">
                                          <p:stCondLst>
                                            <p:cond delay="0"/>
                                          </p:stCondLst>
                                        </p:cTn>
                                        <p:tgtEl>
                                          <p:spTgt spid="62"/>
                                        </p:tgtEl>
                                        <p:attrNameLst>
                                          <p:attrName>style.visibility</p:attrName>
                                        </p:attrNameLst>
                                      </p:cBhvr>
                                      <p:to>
                                        <p:strVal val="visible"/>
                                      </p:to>
                                    </p:set>
                                    <p:animEffect transition="in" filter="wipe(down)">
                                      <p:cBhvr>
                                        <p:cTn id="188" dur="500"/>
                                        <p:tgtEl>
                                          <p:spTgt spid="62"/>
                                        </p:tgtEl>
                                      </p:cBhvr>
                                    </p:animEffect>
                                  </p:childTnLst>
                                </p:cTn>
                              </p:par>
                              <p:par>
                                <p:cTn id="189" presetID="22" presetClass="entr" presetSubtype="4" fill="hold" nodeType="withEffect">
                                  <p:stCondLst>
                                    <p:cond delay="0"/>
                                  </p:stCondLst>
                                  <p:childTnLst>
                                    <p:set>
                                      <p:cBhvr>
                                        <p:cTn id="190" dur="1" fill="hold">
                                          <p:stCondLst>
                                            <p:cond delay="0"/>
                                          </p:stCondLst>
                                        </p:cTn>
                                        <p:tgtEl>
                                          <p:spTgt spid="66"/>
                                        </p:tgtEl>
                                        <p:attrNameLst>
                                          <p:attrName>style.visibility</p:attrName>
                                        </p:attrNameLst>
                                      </p:cBhvr>
                                      <p:to>
                                        <p:strVal val="visible"/>
                                      </p:to>
                                    </p:set>
                                    <p:animEffect transition="in" filter="wipe(down)">
                                      <p:cBhvr>
                                        <p:cTn id="191" dur="500"/>
                                        <p:tgtEl>
                                          <p:spTgt spid="66"/>
                                        </p:tgtEl>
                                      </p:cBhvr>
                                    </p:animEffect>
                                  </p:childTnLst>
                                </p:cTn>
                              </p:par>
                              <p:par>
                                <p:cTn id="192" presetID="22" presetClass="entr" presetSubtype="8" fill="hold" grpId="0" nodeType="withEffect">
                                  <p:stCondLst>
                                    <p:cond delay="0"/>
                                  </p:stCondLst>
                                  <p:childTnLst>
                                    <p:set>
                                      <p:cBhvr>
                                        <p:cTn id="193" dur="1" fill="hold">
                                          <p:stCondLst>
                                            <p:cond delay="0"/>
                                          </p:stCondLst>
                                        </p:cTn>
                                        <p:tgtEl>
                                          <p:spTgt spid="79"/>
                                        </p:tgtEl>
                                        <p:attrNameLst>
                                          <p:attrName>style.visibility</p:attrName>
                                        </p:attrNameLst>
                                      </p:cBhvr>
                                      <p:to>
                                        <p:strVal val="visible"/>
                                      </p:to>
                                    </p:set>
                                    <p:animEffect transition="in" filter="wipe(left)">
                                      <p:cBhvr>
                                        <p:cTn id="194" dur="500"/>
                                        <p:tgtEl>
                                          <p:spTgt spid="79"/>
                                        </p:tgtEl>
                                      </p:cBhvr>
                                    </p:animEffect>
                                  </p:childTnLst>
                                </p:cTn>
                              </p:par>
                              <p:par>
                                <p:cTn id="195" presetID="22" presetClass="entr" presetSubtype="8" fill="hold" grpId="0" nodeType="withEffect">
                                  <p:stCondLst>
                                    <p:cond delay="0"/>
                                  </p:stCondLst>
                                  <p:childTnLst>
                                    <p:set>
                                      <p:cBhvr>
                                        <p:cTn id="196" dur="1" fill="hold">
                                          <p:stCondLst>
                                            <p:cond delay="0"/>
                                          </p:stCondLst>
                                        </p:cTn>
                                        <p:tgtEl>
                                          <p:spTgt spid="80"/>
                                        </p:tgtEl>
                                        <p:attrNameLst>
                                          <p:attrName>style.visibility</p:attrName>
                                        </p:attrNameLst>
                                      </p:cBhvr>
                                      <p:to>
                                        <p:strVal val="visible"/>
                                      </p:to>
                                    </p:set>
                                    <p:animEffect transition="in" filter="wipe(left)">
                                      <p:cBhvr>
                                        <p:cTn id="197" dur="500"/>
                                        <p:tgtEl>
                                          <p:spTgt spid="80"/>
                                        </p:tgtEl>
                                      </p:cBhvr>
                                    </p:animEffect>
                                  </p:childTnLst>
                                </p:cTn>
                              </p:par>
                              <p:par>
                                <p:cTn id="198" presetID="42" presetClass="entr" presetSubtype="0" fill="hold" grpId="0" nodeType="withEffect">
                                  <p:stCondLst>
                                    <p:cond delay="0"/>
                                  </p:stCondLst>
                                  <p:childTnLst>
                                    <p:set>
                                      <p:cBhvr>
                                        <p:cTn id="199" dur="1" fill="hold">
                                          <p:stCondLst>
                                            <p:cond delay="0"/>
                                          </p:stCondLst>
                                        </p:cTn>
                                        <p:tgtEl>
                                          <p:spTgt spid="81"/>
                                        </p:tgtEl>
                                        <p:attrNameLst>
                                          <p:attrName>style.visibility</p:attrName>
                                        </p:attrNameLst>
                                      </p:cBhvr>
                                      <p:to>
                                        <p:strVal val="visible"/>
                                      </p:to>
                                    </p:set>
                                    <p:animEffect transition="in" filter="fade">
                                      <p:cBhvr>
                                        <p:cTn id="200" dur="1000"/>
                                        <p:tgtEl>
                                          <p:spTgt spid="81"/>
                                        </p:tgtEl>
                                      </p:cBhvr>
                                    </p:animEffect>
                                    <p:anim calcmode="lin" valueType="num">
                                      <p:cBhvr>
                                        <p:cTn id="201" dur="1000" fill="hold"/>
                                        <p:tgtEl>
                                          <p:spTgt spid="81"/>
                                        </p:tgtEl>
                                        <p:attrNameLst>
                                          <p:attrName>ppt_x</p:attrName>
                                        </p:attrNameLst>
                                      </p:cBhvr>
                                      <p:tavLst>
                                        <p:tav tm="0">
                                          <p:val>
                                            <p:strVal val="#ppt_x"/>
                                          </p:val>
                                        </p:tav>
                                        <p:tav tm="100000">
                                          <p:val>
                                            <p:strVal val="#ppt_x"/>
                                          </p:val>
                                        </p:tav>
                                      </p:tavLst>
                                    </p:anim>
                                    <p:anim calcmode="lin" valueType="num">
                                      <p:cBhvr>
                                        <p:cTn id="202" dur="1000" fill="hold"/>
                                        <p:tgtEl>
                                          <p:spTgt spid="8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0" grpId="0" animBg="1"/>
      <p:bldP spid="33" grpId="0"/>
      <p:bldP spid="7" grpId="0" animBg="1"/>
      <p:bldP spid="12" grpId="0"/>
      <p:bldP spid="13" grpId="0"/>
      <p:bldP spid="14" grpId="0"/>
      <p:bldP spid="17" grpId="0"/>
      <p:bldP spid="18" grpId="0" animBg="1"/>
      <p:bldP spid="21" grpId="0"/>
      <p:bldP spid="23" grpId="0" animBg="1"/>
      <p:bldP spid="38" grpId="0"/>
      <p:bldP spid="56" grpId="0" animBg="1"/>
      <p:bldP spid="58" grpId="0"/>
      <p:bldP spid="73" grpId="0" animBg="1"/>
      <p:bldP spid="74" grpId="0" animBg="1"/>
      <p:bldP spid="76" grpId="0"/>
      <p:bldP spid="77" grpId="0"/>
      <p:bldP spid="79" grpId="0" animBg="1"/>
      <p:bldP spid="81" grpId="0" animBg="1"/>
      <p:bldP spid="8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4A579-2299-FBCF-0809-C4342F05D0E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777F38-EBD1-8431-48AB-F34DDB01E2D5}"/>
              </a:ext>
            </a:extLst>
          </p:cNvPr>
          <p:cNvSpPr>
            <a:spLocks noGrp="1"/>
          </p:cNvSpPr>
          <p:nvPr>
            <p:ph type="sldNum" sz="quarter" idx="12"/>
          </p:nvPr>
        </p:nvSpPr>
        <p:spPr/>
        <p:txBody>
          <a:bodyPr/>
          <a:lstStyle/>
          <a:p>
            <a:r>
              <a:rPr lang="en-US"/>
              <a:t>| </a:t>
            </a:r>
            <a:fld id="{FEC5E14B-9965-442C-8683-0E66DD8427DC}" type="slidenum">
              <a:rPr lang="en-US" smtClean="0"/>
              <a:pPr/>
              <a:t>7</a:t>
            </a:fld>
            <a:endParaRPr lang="en-US"/>
          </a:p>
        </p:txBody>
      </p:sp>
      <p:grpSp>
        <p:nvGrpSpPr>
          <p:cNvPr id="2" name="Group 1">
            <a:extLst>
              <a:ext uri="{FF2B5EF4-FFF2-40B4-BE49-F238E27FC236}">
                <a16:creationId xmlns:a16="http://schemas.microsoft.com/office/drawing/2014/main" id="{7CD441D0-1C1E-6A59-42EC-1C066005C913}"/>
              </a:ext>
            </a:extLst>
          </p:cNvPr>
          <p:cNvGrpSpPr/>
          <p:nvPr/>
        </p:nvGrpSpPr>
        <p:grpSpPr>
          <a:xfrm>
            <a:off x="853268" y="1218620"/>
            <a:ext cx="10304540" cy="2209469"/>
            <a:chOff x="264110" y="1200650"/>
            <a:chExt cx="11690454" cy="2413970"/>
          </a:xfrm>
        </p:grpSpPr>
        <p:sp>
          <p:nvSpPr>
            <p:cNvPr id="3" name="Rectangle 2">
              <a:extLst>
                <a:ext uri="{FF2B5EF4-FFF2-40B4-BE49-F238E27FC236}">
                  <a16:creationId xmlns:a16="http://schemas.microsoft.com/office/drawing/2014/main" id="{2E77225F-4FA8-C2C9-74F9-3D3CCCA074D5}"/>
                </a:ext>
              </a:extLst>
            </p:cNvPr>
            <p:cNvSpPr/>
            <p:nvPr/>
          </p:nvSpPr>
          <p:spPr>
            <a:xfrm>
              <a:off x="6251053" y="1210592"/>
              <a:ext cx="2705860" cy="239508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C9C3DCA4-F930-D3AE-23EF-78796248C1BB}"/>
                </a:ext>
              </a:extLst>
            </p:cNvPr>
            <p:cNvSpPr/>
            <p:nvPr/>
          </p:nvSpPr>
          <p:spPr>
            <a:xfrm>
              <a:off x="9248704" y="1200650"/>
              <a:ext cx="2705860" cy="2405023"/>
            </a:xfrm>
            <a:prstGeom prst="rect">
              <a:avLst/>
            </a:prstGeom>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D11E0067-81B3-77C3-A1E9-BA05F65663FD}"/>
                </a:ext>
              </a:extLst>
            </p:cNvPr>
            <p:cNvSpPr/>
            <p:nvPr/>
          </p:nvSpPr>
          <p:spPr>
            <a:xfrm>
              <a:off x="3269656" y="1219539"/>
              <a:ext cx="2705860" cy="2395081"/>
            </a:xfrm>
            <a:prstGeom prst="rect">
              <a:avLst/>
            </a:prstGeom>
            <a:ln/>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34B4096B-6052-0BBA-03C4-2364F0FE7874}"/>
                </a:ext>
              </a:extLst>
            </p:cNvPr>
            <p:cNvSpPr/>
            <p:nvPr/>
          </p:nvSpPr>
          <p:spPr>
            <a:xfrm>
              <a:off x="264110" y="1212588"/>
              <a:ext cx="2705860" cy="239508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8099CD06-9166-F940-A8F7-E4DB76DB30C5}"/>
                </a:ext>
              </a:extLst>
            </p:cNvPr>
            <p:cNvSpPr txBox="1"/>
            <p:nvPr/>
          </p:nvSpPr>
          <p:spPr>
            <a:xfrm>
              <a:off x="437553" y="2242273"/>
              <a:ext cx="2524290" cy="470768"/>
            </a:xfrm>
            <a:prstGeom prst="rect">
              <a:avLst/>
            </a:prstGeom>
            <a:noFill/>
          </p:spPr>
          <p:txBody>
            <a:bodyPr wrap="square" lIns="0" tIns="0" rIns="0" bIns="0" rtlCol="0">
              <a:spAutoFit/>
            </a:bodyPr>
            <a:lstStyle/>
            <a:p>
              <a:pPr lvl="0" algn="ctr">
                <a:defRPr/>
              </a:pPr>
              <a:r>
                <a:rPr lang="en-IE" sz="1400">
                  <a:solidFill>
                    <a:schemeClr val="bg1"/>
                  </a:solidFill>
                </a:rPr>
                <a:t>Achieve Unified Visibility Across the Entire Estate</a:t>
              </a:r>
              <a:endParaRPr kumimoji="0" lang="en-US" sz="1400" i="0" u="none" strike="noStrike" kern="1200" cap="none" spc="0" normalizeH="0" baseline="0" noProof="0">
                <a:ln>
                  <a:noFill/>
                </a:ln>
                <a:solidFill>
                  <a:schemeClr val="bg1"/>
                </a:solidFill>
                <a:effectLst/>
                <a:uLnTx/>
                <a:uFillTx/>
                <a:latin typeface="Montserrat" pitchFamily="2" charset="77"/>
                <a:ea typeface="Open Sans Light" panose="020B0306030504020204" pitchFamily="34" charset="0"/>
                <a:cs typeface="Open Sans Light" panose="020B0306030504020204" pitchFamily="34" charset="0"/>
              </a:endParaRPr>
            </a:p>
          </p:txBody>
        </p:sp>
        <p:sp>
          <p:nvSpPr>
            <p:cNvPr id="31" name="Oval 30">
              <a:extLst>
                <a:ext uri="{FF2B5EF4-FFF2-40B4-BE49-F238E27FC236}">
                  <a16:creationId xmlns:a16="http://schemas.microsoft.com/office/drawing/2014/main" id="{F482CE14-7931-F28E-9BC8-589B2D1CE4C7}"/>
                </a:ext>
              </a:extLst>
            </p:cNvPr>
            <p:cNvSpPr/>
            <p:nvPr/>
          </p:nvSpPr>
          <p:spPr>
            <a:xfrm>
              <a:off x="1212295" y="1319983"/>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31C79CB6-2783-65DC-6B0D-F0D920886559}"/>
                </a:ext>
              </a:extLst>
            </p:cNvPr>
            <p:cNvSpPr txBox="1"/>
            <p:nvPr/>
          </p:nvSpPr>
          <p:spPr>
            <a:xfrm>
              <a:off x="3253635" y="2215115"/>
              <a:ext cx="2697733" cy="470768"/>
            </a:xfrm>
            <a:prstGeom prst="rect">
              <a:avLst/>
            </a:prstGeom>
            <a:noFill/>
          </p:spPr>
          <p:txBody>
            <a:bodyPr wrap="square" lIns="0" tIns="0" rIns="0" bIns="0" rtlCol="0">
              <a:spAutoFit/>
            </a:bodyPr>
            <a:lstStyle/>
            <a:p>
              <a:pPr lvl="0" algn="ctr">
                <a:defRPr/>
              </a:pPr>
              <a:r>
                <a:rPr lang="en-IE" sz="1400">
                  <a:solidFill>
                    <a:schemeClr val="bg1"/>
                  </a:solidFill>
                </a:rPr>
                <a:t>Improve Threat Detection Through End-to-End Insight</a:t>
              </a:r>
              <a:endParaRPr lang="en-US" sz="1400" b="1">
                <a:solidFill>
                  <a:schemeClr val="bg1"/>
                </a:solidFill>
                <a:latin typeface="Montserrat" pitchFamily="2" charset="77"/>
                <a:ea typeface="Open Sans Light" panose="020B0306030504020204" pitchFamily="34" charset="0"/>
                <a:cs typeface="Open Sans Light" panose="020B0306030504020204" pitchFamily="34" charset="0"/>
              </a:endParaRPr>
            </a:p>
          </p:txBody>
        </p:sp>
        <p:sp>
          <p:nvSpPr>
            <p:cNvPr id="15" name="TextBox 14">
              <a:extLst>
                <a:ext uri="{FF2B5EF4-FFF2-40B4-BE49-F238E27FC236}">
                  <a16:creationId xmlns:a16="http://schemas.microsoft.com/office/drawing/2014/main" id="{B9926E7F-3F96-3B10-6CA9-39EEA3D534FA}"/>
                </a:ext>
              </a:extLst>
            </p:cNvPr>
            <p:cNvSpPr txBox="1"/>
            <p:nvPr/>
          </p:nvSpPr>
          <p:spPr>
            <a:xfrm>
              <a:off x="6421066" y="2259211"/>
              <a:ext cx="2469371" cy="470768"/>
            </a:xfrm>
            <a:prstGeom prst="rect">
              <a:avLst/>
            </a:prstGeom>
            <a:noFill/>
          </p:spPr>
          <p:txBody>
            <a:bodyPr wrap="square" lIns="0" tIns="0" rIns="0" bIns="0" rtlCol="0">
              <a:spAutoFit/>
            </a:bodyPr>
            <a:lstStyle/>
            <a:p>
              <a:pPr algn="ctr">
                <a:defRPr/>
              </a:pPr>
              <a:r>
                <a:rPr lang="en-IE" sz="1400">
                  <a:solidFill>
                    <a:schemeClr val="bg1"/>
                  </a:solidFill>
                </a:rPr>
                <a:t>Reduce MTTR With Deep Analytics</a:t>
              </a:r>
              <a:endParaRPr kumimoji="0" lang="en-US" sz="1400" b="1" i="0" u="none" strike="noStrike" kern="1200" cap="none" spc="0" normalizeH="0" baseline="0" noProof="0">
                <a:ln>
                  <a:noFill/>
                </a:ln>
                <a:solidFill>
                  <a:schemeClr val="bg1"/>
                </a:solidFill>
                <a:effectLst/>
                <a:uLnTx/>
                <a:uFillTx/>
                <a:latin typeface="Montserrat" pitchFamily="2" charset="77"/>
                <a:ea typeface="Open Sans Light" panose="020B0306030504020204" pitchFamily="34" charset="0"/>
                <a:cs typeface="Open Sans Light" panose="020B0306030504020204" pitchFamily="34" charset="0"/>
              </a:endParaRPr>
            </a:p>
          </p:txBody>
        </p:sp>
        <p:sp>
          <p:nvSpPr>
            <p:cNvPr id="18" name="TextBox 17">
              <a:extLst>
                <a:ext uri="{FF2B5EF4-FFF2-40B4-BE49-F238E27FC236}">
                  <a16:creationId xmlns:a16="http://schemas.microsoft.com/office/drawing/2014/main" id="{83EE8269-D5F6-E858-DC05-213F542CF2E1}"/>
                </a:ext>
              </a:extLst>
            </p:cNvPr>
            <p:cNvSpPr txBox="1"/>
            <p:nvPr/>
          </p:nvSpPr>
          <p:spPr>
            <a:xfrm>
              <a:off x="9333389" y="2238709"/>
              <a:ext cx="2536489" cy="470768"/>
            </a:xfrm>
            <a:prstGeom prst="rect">
              <a:avLst/>
            </a:prstGeom>
            <a:noFill/>
          </p:spPr>
          <p:txBody>
            <a:bodyPr wrap="square" lIns="0" tIns="0" rIns="0" bIns="0" rtlCol="0">
              <a:spAutoFit/>
            </a:bodyPr>
            <a:lstStyle/>
            <a:p>
              <a:pPr algn="ctr">
                <a:defRPr/>
              </a:pPr>
              <a:r>
                <a:rPr lang="en-IE" sz="1400">
                  <a:solidFill>
                    <a:schemeClr val="bg1"/>
                  </a:solidFill>
                </a:rPr>
                <a:t>Enhance Policy Governance and Compliance Visibility</a:t>
              </a:r>
              <a:endParaRPr kumimoji="0" lang="en-US" sz="1400" b="1" i="0" u="none" strike="noStrike" kern="1200" cap="none" spc="0" normalizeH="0" baseline="0" noProof="0">
                <a:ln>
                  <a:noFill/>
                </a:ln>
                <a:solidFill>
                  <a:schemeClr val="bg1"/>
                </a:solidFill>
                <a:effectLst/>
                <a:uLnTx/>
                <a:uFillTx/>
                <a:latin typeface="Montserrat" pitchFamily="2" charset="77"/>
                <a:ea typeface="Open Sans Light" panose="020B0306030504020204" pitchFamily="34" charset="0"/>
                <a:cs typeface="Open Sans Light" panose="020B0306030504020204" pitchFamily="34" charset="0"/>
              </a:endParaRPr>
            </a:p>
          </p:txBody>
        </p:sp>
        <p:sp>
          <p:nvSpPr>
            <p:cNvPr id="25" name="Oval 24">
              <a:extLst>
                <a:ext uri="{FF2B5EF4-FFF2-40B4-BE49-F238E27FC236}">
                  <a16:creationId xmlns:a16="http://schemas.microsoft.com/office/drawing/2014/main" id="{939E4D04-6C2D-B9F4-DD6F-464588C02093}"/>
                </a:ext>
              </a:extLst>
            </p:cNvPr>
            <p:cNvSpPr/>
            <p:nvPr/>
          </p:nvSpPr>
          <p:spPr>
            <a:xfrm>
              <a:off x="10222193" y="1309096"/>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204D3256-7A89-C9B7-875D-F697489850AB}"/>
                </a:ext>
              </a:extLst>
            </p:cNvPr>
            <p:cNvSpPr/>
            <p:nvPr/>
          </p:nvSpPr>
          <p:spPr>
            <a:xfrm>
              <a:off x="7150797" y="1320632"/>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7" name="Oval 26">
              <a:extLst>
                <a:ext uri="{FF2B5EF4-FFF2-40B4-BE49-F238E27FC236}">
                  <a16:creationId xmlns:a16="http://schemas.microsoft.com/office/drawing/2014/main" id="{E630E8DA-7EE2-283C-2C06-3F889CE49101}"/>
                </a:ext>
              </a:extLst>
            </p:cNvPr>
            <p:cNvSpPr/>
            <p:nvPr/>
          </p:nvSpPr>
          <p:spPr>
            <a:xfrm>
              <a:off x="4124192" y="1309095"/>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42" name="Title 2">
            <a:extLst>
              <a:ext uri="{FF2B5EF4-FFF2-40B4-BE49-F238E27FC236}">
                <a16:creationId xmlns:a16="http://schemas.microsoft.com/office/drawing/2014/main" id="{449D4BFC-B89D-79CB-48C2-FAF080519626}"/>
              </a:ext>
            </a:extLst>
          </p:cNvPr>
          <p:cNvSpPr>
            <a:spLocks noGrp="1"/>
          </p:cNvSpPr>
          <p:nvPr>
            <p:ph type="title"/>
          </p:nvPr>
        </p:nvSpPr>
        <p:spPr>
          <a:xfrm>
            <a:off x="361968" y="218098"/>
            <a:ext cx="9010800" cy="904225"/>
          </a:xfrm>
        </p:spPr>
        <p:txBody>
          <a:bodyPr>
            <a:normAutofit/>
          </a:bodyPr>
          <a:lstStyle/>
          <a:p>
            <a:r>
              <a:rPr lang="en-US" sz="3200"/>
              <a:t>Visibility Driven Business Objectives</a:t>
            </a:r>
            <a:endParaRPr lang="en-US" sz="3000">
              <a:solidFill>
                <a:schemeClr val="accent3"/>
              </a:solidFill>
            </a:endParaRPr>
          </a:p>
        </p:txBody>
      </p:sp>
      <p:grpSp>
        <p:nvGrpSpPr>
          <p:cNvPr id="20" name="Group 19">
            <a:extLst>
              <a:ext uri="{FF2B5EF4-FFF2-40B4-BE49-F238E27FC236}">
                <a16:creationId xmlns:a16="http://schemas.microsoft.com/office/drawing/2014/main" id="{39A360AC-40F6-F778-E0B6-0325056A0958}"/>
              </a:ext>
            </a:extLst>
          </p:cNvPr>
          <p:cNvGrpSpPr/>
          <p:nvPr/>
        </p:nvGrpSpPr>
        <p:grpSpPr>
          <a:xfrm>
            <a:off x="846104" y="3627248"/>
            <a:ext cx="10311704" cy="2200369"/>
            <a:chOff x="264110" y="1210592"/>
            <a:chExt cx="11698582" cy="2404028"/>
          </a:xfrm>
        </p:grpSpPr>
        <p:sp>
          <p:nvSpPr>
            <p:cNvPr id="21" name="Rectangle 20">
              <a:extLst>
                <a:ext uri="{FF2B5EF4-FFF2-40B4-BE49-F238E27FC236}">
                  <a16:creationId xmlns:a16="http://schemas.microsoft.com/office/drawing/2014/main" id="{9FCE6C20-EB9E-6F41-94FD-951F21ED931D}"/>
                </a:ext>
              </a:extLst>
            </p:cNvPr>
            <p:cNvSpPr/>
            <p:nvPr/>
          </p:nvSpPr>
          <p:spPr>
            <a:xfrm>
              <a:off x="6259180" y="1210592"/>
              <a:ext cx="2705860" cy="239508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C6F34277-CA9D-BCA0-91AC-70CB2F29707E}"/>
                </a:ext>
              </a:extLst>
            </p:cNvPr>
            <p:cNvSpPr/>
            <p:nvPr/>
          </p:nvSpPr>
          <p:spPr>
            <a:xfrm>
              <a:off x="3269656" y="1219539"/>
              <a:ext cx="2705860" cy="2395081"/>
            </a:xfrm>
            <a:prstGeom prst="rect">
              <a:avLst/>
            </a:prstGeom>
            <a:ln/>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38EEBEB4-1124-597F-33E6-4DFCC2BE71D6}"/>
                </a:ext>
              </a:extLst>
            </p:cNvPr>
            <p:cNvSpPr/>
            <p:nvPr/>
          </p:nvSpPr>
          <p:spPr>
            <a:xfrm>
              <a:off x="264110" y="1212588"/>
              <a:ext cx="2705860" cy="239508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2FFB4F6E-E849-7704-8A1E-8A568108AD4E}"/>
                </a:ext>
              </a:extLst>
            </p:cNvPr>
            <p:cNvSpPr txBox="1"/>
            <p:nvPr/>
          </p:nvSpPr>
          <p:spPr>
            <a:xfrm>
              <a:off x="499486" y="2219082"/>
              <a:ext cx="2226142" cy="706153"/>
            </a:xfrm>
            <a:prstGeom prst="rect">
              <a:avLst/>
            </a:prstGeom>
            <a:noFill/>
          </p:spPr>
          <p:txBody>
            <a:bodyPr wrap="square" lIns="0" tIns="0" rIns="0" bIns="0" rtlCol="0">
              <a:spAutoFit/>
            </a:bodyPr>
            <a:lstStyle/>
            <a:p>
              <a:pPr algn="ctr">
                <a:defRPr/>
              </a:pPr>
              <a:r>
                <a:rPr lang="en-IE" sz="1400">
                  <a:solidFill>
                    <a:schemeClr val="bg1"/>
                  </a:solidFill>
                </a:rPr>
                <a:t>Improve User Experience Monitoring for Remote and Branch Users</a:t>
              </a:r>
              <a:endParaRPr lang="en-US" sz="1400" b="1">
                <a:solidFill>
                  <a:schemeClr val="bg1"/>
                </a:solidFill>
                <a:latin typeface="Montserrat" pitchFamily="2" charset="77"/>
                <a:ea typeface="Open Sans Light" panose="020B0306030504020204" pitchFamily="34" charset="0"/>
                <a:cs typeface="Open Sans Light" panose="020B0306030504020204" pitchFamily="34" charset="0"/>
              </a:endParaRPr>
            </a:p>
          </p:txBody>
        </p:sp>
        <p:sp>
          <p:nvSpPr>
            <p:cNvPr id="30" name="Oval 29">
              <a:extLst>
                <a:ext uri="{FF2B5EF4-FFF2-40B4-BE49-F238E27FC236}">
                  <a16:creationId xmlns:a16="http://schemas.microsoft.com/office/drawing/2014/main" id="{5CE15C34-0285-683E-1DB2-F4AD0D6CAE92}"/>
                </a:ext>
              </a:extLst>
            </p:cNvPr>
            <p:cNvSpPr/>
            <p:nvPr/>
          </p:nvSpPr>
          <p:spPr>
            <a:xfrm>
              <a:off x="1205074" y="1306049"/>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2" name="TextBox 31">
              <a:extLst>
                <a:ext uri="{FF2B5EF4-FFF2-40B4-BE49-F238E27FC236}">
                  <a16:creationId xmlns:a16="http://schemas.microsoft.com/office/drawing/2014/main" id="{855A4E09-5E95-8941-FF07-EB8300E950E6}"/>
                </a:ext>
              </a:extLst>
            </p:cNvPr>
            <p:cNvSpPr txBox="1"/>
            <p:nvPr/>
          </p:nvSpPr>
          <p:spPr>
            <a:xfrm>
              <a:off x="3368929" y="2221292"/>
              <a:ext cx="2475268" cy="706153"/>
            </a:xfrm>
            <a:prstGeom prst="rect">
              <a:avLst/>
            </a:prstGeom>
            <a:noFill/>
          </p:spPr>
          <p:txBody>
            <a:bodyPr wrap="square" lIns="0" tIns="0" rIns="0" bIns="0" rtlCol="0">
              <a:spAutoFit/>
            </a:bodyPr>
            <a:lstStyle/>
            <a:p>
              <a:pPr lvl="0" algn="ctr">
                <a:defRPr/>
              </a:pPr>
              <a:r>
                <a:rPr lang="en-IE" sz="1400">
                  <a:solidFill>
                    <a:schemeClr val="bg1"/>
                  </a:solidFill>
                </a:rPr>
                <a:t>Gain Executive-Level Insight Into Network &amp; Security Health</a:t>
              </a:r>
              <a:endParaRPr kumimoji="0" lang="en-US" sz="1400" b="1" i="0" u="none" strike="noStrike" kern="1200" cap="none" spc="0" normalizeH="0" baseline="0" noProof="0">
                <a:ln>
                  <a:noFill/>
                </a:ln>
                <a:solidFill>
                  <a:schemeClr val="bg1"/>
                </a:solidFill>
                <a:effectLst/>
                <a:uLnTx/>
                <a:uFillTx/>
                <a:latin typeface="Montserrat" pitchFamily="2" charset="77"/>
                <a:ea typeface="Open Sans Light" panose="020B0306030504020204" pitchFamily="34" charset="0"/>
                <a:cs typeface="Open Sans Light" panose="020B0306030504020204" pitchFamily="34" charset="0"/>
              </a:endParaRPr>
            </a:p>
          </p:txBody>
        </p:sp>
        <p:sp>
          <p:nvSpPr>
            <p:cNvPr id="35" name="TextBox 34">
              <a:extLst>
                <a:ext uri="{FF2B5EF4-FFF2-40B4-BE49-F238E27FC236}">
                  <a16:creationId xmlns:a16="http://schemas.microsoft.com/office/drawing/2014/main" id="{50478AE8-C620-94CF-FDC0-DB3DBB881519}"/>
                </a:ext>
              </a:extLst>
            </p:cNvPr>
            <p:cNvSpPr txBox="1"/>
            <p:nvPr/>
          </p:nvSpPr>
          <p:spPr>
            <a:xfrm>
              <a:off x="6327000" y="2196491"/>
              <a:ext cx="2570220" cy="706153"/>
            </a:xfrm>
            <a:prstGeom prst="rect">
              <a:avLst/>
            </a:prstGeom>
            <a:noFill/>
          </p:spPr>
          <p:txBody>
            <a:bodyPr wrap="square" lIns="0" tIns="0" rIns="0" bIns="0" rtlCol="0">
              <a:spAutoFit/>
            </a:bodyPr>
            <a:lstStyle/>
            <a:p>
              <a:pPr algn="ctr">
                <a:defRPr/>
              </a:pPr>
              <a:r>
                <a:rPr lang="en-IE" sz="1400">
                  <a:solidFill>
                    <a:schemeClr val="bg1"/>
                  </a:solidFill>
                </a:rPr>
                <a:t>Enable Data-Driven Optimization and Capacity Planning</a:t>
              </a:r>
              <a:endParaRPr kumimoji="0" lang="en-US" sz="1400" b="1" i="0" u="none" strike="noStrike" kern="1200" cap="none" spc="0" normalizeH="0" baseline="0" noProof="0">
                <a:ln>
                  <a:noFill/>
                </a:ln>
                <a:solidFill>
                  <a:schemeClr val="bg1"/>
                </a:solidFill>
                <a:effectLst/>
                <a:uLnTx/>
                <a:uFillTx/>
                <a:latin typeface="Montserrat" pitchFamily="2" charset="77"/>
                <a:ea typeface="Open Sans Light" panose="020B0306030504020204" pitchFamily="34" charset="0"/>
                <a:cs typeface="Open Sans Light" panose="020B0306030504020204" pitchFamily="34" charset="0"/>
              </a:endParaRPr>
            </a:p>
          </p:txBody>
        </p:sp>
        <p:sp>
          <p:nvSpPr>
            <p:cNvPr id="39" name="TextBox 38">
              <a:extLst>
                <a:ext uri="{FF2B5EF4-FFF2-40B4-BE49-F238E27FC236}">
                  <a16:creationId xmlns:a16="http://schemas.microsoft.com/office/drawing/2014/main" id="{557B74DF-00FF-BA1B-09AF-299832AE2C87}"/>
                </a:ext>
              </a:extLst>
            </p:cNvPr>
            <p:cNvSpPr txBox="1"/>
            <p:nvPr/>
          </p:nvSpPr>
          <p:spPr>
            <a:xfrm>
              <a:off x="9294395" y="2370797"/>
              <a:ext cx="2668297" cy="235385"/>
            </a:xfrm>
            <a:prstGeom prst="rect">
              <a:avLst/>
            </a:prstGeom>
            <a:noFill/>
          </p:spPr>
          <p:txBody>
            <a:bodyPr wrap="square" lIns="0" tIns="0" rIns="0" bIns="0" rtlCol="0">
              <a:spAutoFit/>
            </a:bodyPr>
            <a:lstStyle/>
            <a:p>
              <a:pPr algn="ctr">
                <a:defRPr/>
              </a:pPr>
              <a:r>
                <a:rPr lang="en-US" sz="1400" b="1">
                  <a:solidFill>
                    <a:schemeClr val="bg1"/>
                  </a:solidFill>
                  <a:latin typeface="Montserrat" pitchFamily="2" charset="77"/>
                  <a:ea typeface="Open Sans Light" panose="020B0306030504020204" pitchFamily="34" charset="0"/>
                  <a:cs typeface="Open Sans Light" panose="020B0306030504020204" pitchFamily="34" charset="0"/>
                </a:rPr>
                <a:t>Pre-Sales</a:t>
              </a:r>
              <a:endParaRPr kumimoji="0" lang="en-US" sz="1400" b="1" i="0" u="none" strike="noStrike" kern="1200" cap="none" spc="0" normalizeH="0" baseline="0" noProof="0">
                <a:ln>
                  <a:noFill/>
                </a:ln>
                <a:solidFill>
                  <a:schemeClr val="bg1"/>
                </a:solidFill>
                <a:effectLst/>
                <a:uLnTx/>
                <a:uFillTx/>
                <a:latin typeface="Montserrat" pitchFamily="2" charset="77"/>
                <a:ea typeface="Open Sans Light" panose="020B0306030504020204" pitchFamily="34" charset="0"/>
                <a:cs typeface="Open Sans Light" panose="020B0306030504020204" pitchFamily="34" charset="0"/>
              </a:endParaRPr>
            </a:p>
          </p:txBody>
        </p:sp>
        <p:sp>
          <p:nvSpPr>
            <p:cNvPr id="43" name="Oval 42">
              <a:extLst>
                <a:ext uri="{FF2B5EF4-FFF2-40B4-BE49-F238E27FC236}">
                  <a16:creationId xmlns:a16="http://schemas.microsoft.com/office/drawing/2014/main" id="{A95EB737-1F5C-DF53-BCC9-143012F656E8}"/>
                </a:ext>
              </a:extLst>
            </p:cNvPr>
            <p:cNvSpPr/>
            <p:nvPr/>
          </p:nvSpPr>
          <p:spPr>
            <a:xfrm>
              <a:off x="4158471" y="1303559"/>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5" name="Oval 44">
              <a:extLst>
                <a:ext uri="{FF2B5EF4-FFF2-40B4-BE49-F238E27FC236}">
                  <a16:creationId xmlns:a16="http://schemas.microsoft.com/office/drawing/2014/main" id="{B3E2B1DA-01F4-01B6-E935-9EE587159620}"/>
                </a:ext>
              </a:extLst>
            </p:cNvPr>
            <p:cNvSpPr/>
            <p:nvPr/>
          </p:nvSpPr>
          <p:spPr>
            <a:xfrm>
              <a:off x="7147289" y="1303559"/>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pic>
        <p:nvPicPr>
          <p:cNvPr id="59" name="Graphic 58" descr="Lightbulb and gear outline">
            <a:extLst>
              <a:ext uri="{FF2B5EF4-FFF2-40B4-BE49-F238E27FC236}">
                <a16:creationId xmlns:a16="http://schemas.microsoft.com/office/drawing/2014/main" id="{B3768CF0-0636-D8CF-BF2B-777A3DF1B15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70619" y="3806926"/>
            <a:ext cx="556918" cy="556918"/>
          </a:xfrm>
          <a:prstGeom prst="rect">
            <a:avLst/>
          </a:prstGeom>
        </p:spPr>
      </p:pic>
      <p:pic>
        <p:nvPicPr>
          <p:cNvPr id="61" name="Graphic 60" descr="Medieval Armor outline">
            <a:extLst>
              <a:ext uri="{FF2B5EF4-FFF2-40B4-BE49-F238E27FC236}">
                <a16:creationId xmlns:a16="http://schemas.microsoft.com/office/drawing/2014/main" id="{5DDBE571-A70F-75D7-A4A9-41CA33DA71C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58737" y="1412635"/>
            <a:ext cx="328510" cy="328510"/>
          </a:xfrm>
          <a:prstGeom prst="rect">
            <a:avLst/>
          </a:prstGeom>
        </p:spPr>
      </p:pic>
      <p:sp>
        <p:nvSpPr>
          <p:cNvPr id="10" name="Rectangle 9">
            <a:extLst>
              <a:ext uri="{FF2B5EF4-FFF2-40B4-BE49-F238E27FC236}">
                <a16:creationId xmlns:a16="http://schemas.microsoft.com/office/drawing/2014/main" id="{3F9AE693-94D7-FD55-C0AF-C4A62B741BF8}"/>
              </a:ext>
            </a:extLst>
          </p:cNvPr>
          <p:cNvSpPr/>
          <p:nvPr/>
        </p:nvSpPr>
        <p:spPr>
          <a:xfrm>
            <a:off x="8765566" y="3635437"/>
            <a:ext cx="2385078" cy="219218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4B443C09-4F84-D4D7-0C3A-381B36DDFFA2}"/>
              </a:ext>
            </a:extLst>
          </p:cNvPr>
          <p:cNvSpPr txBox="1"/>
          <p:nvPr/>
        </p:nvSpPr>
        <p:spPr>
          <a:xfrm>
            <a:off x="8813283" y="4546403"/>
            <a:ext cx="2303972" cy="646331"/>
          </a:xfrm>
          <a:prstGeom prst="rect">
            <a:avLst/>
          </a:prstGeom>
          <a:noFill/>
        </p:spPr>
        <p:txBody>
          <a:bodyPr wrap="square" lIns="0" tIns="0" rIns="0" bIns="0" rtlCol="0">
            <a:spAutoFit/>
          </a:bodyPr>
          <a:lstStyle/>
          <a:p>
            <a:pPr algn="ctr">
              <a:defRPr/>
            </a:pPr>
            <a:r>
              <a:rPr lang="en-IE" sz="1400">
                <a:solidFill>
                  <a:schemeClr val="bg1"/>
                </a:solidFill>
              </a:rPr>
              <a:t>Reduce Operational Complexity Through Centralized Observability</a:t>
            </a:r>
            <a:endParaRPr kumimoji="0" lang="en-US" sz="1400" b="1" i="0" u="none" strike="noStrike" kern="1200" cap="none" spc="0" normalizeH="0" baseline="0" noProof="0">
              <a:ln>
                <a:noFill/>
              </a:ln>
              <a:solidFill>
                <a:schemeClr val="bg1"/>
              </a:solidFill>
              <a:effectLst/>
              <a:uLnTx/>
              <a:uFillTx/>
              <a:latin typeface="Montserrat" pitchFamily="2" charset="77"/>
              <a:ea typeface="Open Sans Light" panose="020B0306030504020204" pitchFamily="34" charset="0"/>
              <a:cs typeface="Open Sans Light" panose="020B0306030504020204" pitchFamily="34" charset="0"/>
            </a:endParaRPr>
          </a:p>
        </p:txBody>
      </p:sp>
      <p:sp>
        <p:nvSpPr>
          <p:cNvPr id="13" name="Oval 12">
            <a:extLst>
              <a:ext uri="{FF2B5EF4-FFF2-40B4-BE49-F238E27FC236}">
                <a16:creationId xmlns:a16="http://schemas.microsoft.com/office/drawing/2014/main" id="{FED7C4C9-53F1-A321-2D28-0C71DC634C76}"/>
              </a:ext>
            </a:extLst>
          </p:cNvPr>
          <p:cNvSpPr/>
          <p:nvPr/>
        </p:nvSpPr>
        <p:spPr>
          <a:xfrm>
            <a:off x="9548389" y="3720528"/>
            <a:ext cx="742496" cy="770997"/>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34" name="Graphic 33" descr="City outline">
            <a:extLst>
              <a:ext uri="{FF2B5EF4-FFF2-40B4-BE49-F238E27FC236}">
                <a16:creationId xmlns:a16="http://schemas.microsoft.com/office/drawing/2014/main" id="{3BA5426F-DEF0-8575-E46B-D39EF88C37C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75870" y="1433713"/>
            <a:ext cx="553998" cy="553998"/>
          </a:xfrm>
          <a:prstGeom prst="rect">
            <a:avLst/>
          </a:prstGeom>
        </p:spPr>
      </p:pic>
      <p:pic>
        <p:nvPicPr>
          <p:cNvPr id="37" name="Graphic 36" descr="Scientific Thought outline">
            <a:extLst>
              <a:ext uri="{FF2B5EF4-FFF2-40B4-BE49-F238E27FC236}">
                <a16:creationId xmlns:a16="http://schemas.microsoft.com/office/drawing/2014/main" id="{EDB8C458-1C28-7AFB-8430-52EF3C5E38D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71731" y="1400376"/>
            <a:ext cx="561864" cy="561864"/>
          </a:xfrm>
          <a:prstGeom prst="rect">
            <a:avLst/>
          </a:prstGeom>
        </p:spPr>
      </p:pic>
      <p:pic>
        <p:nvPicPr>
          <p:cNvPr id="41" name="Graphic 40" descr="Research outline">
            <a:extLst>
              <a:ext uri="{FF2B5EF4-FFF2-40B4-BE49-F238E27FC236}">
                <a16:creationId xmlns:a16="http://schemas.microsoft.com/office/drawing/2014/main" id="{EEDA2126-D4C0-7059-E1E5-8EC903C2529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020099" y="1484548"/>
            <a:ext cx="553998" cy="553998"/>
          </a:xfrm>
          <a:prstGeom prst="rect">
            <a:avLst/>
          </a:prstGeom>
        </p:spPr>
      </p:pic>
      <p:pic>
        <p:nvPicPr>
          <p:cNvPr id="46" name="Graphic 45" descr="Clipboard Ticked outline">
            <a:extLst>
              <a:ext uri="{FF2B5EF4-FFF2-40B4-BE49-F238E27FC236}">
                <a16:creationId xmlns:a16="http://schemas.microsoft.com/office/drawing/2014/main" id="{CA107004-B6AE-DA66-4C15-A2CAB695F83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704439" y="1362401"/>
            <a:ext cx="604136" cy="613033"/>
          </a:xfrm>
          <a:prstGeom prst="rect">
            <a:avLst/>
          </a:prstGeom>
        </p:spPr>
      </p:pic>
      <p:pic>
        <p:nvPicPr>
          <p:cNvPr id="48" name="Graphic 47" descr="Eye outline">
            <a:extLst>
              <a:ext uri="{FF2B5EF4-FFF2-40B4-BE49-F238E27FC236}">
                <a16:creationId xmlns:a16="http://schemas.microsoft.com/office/drawing/2014/main" id="{E7749896-3DC7-3C9B-1544-70D26FD9B1FB}"/>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583245" y="3783211"/>
            <a:ext cx="672784" cy="672784"/>
          </a:xfrm>
          <a:prstGeom prst="rect">
            <a:avLst/>
          </a:prstGeom>
        </p:spPr>
      </p:pic>
      <p:pic>
        <p:nvPicPr>
          <p:cNvPr id="50" name="Graphic 49" descr="Settings outline">
            <a:extLst>
              <a:ext uri="{FF2B5EF4-FFF2-40B4-BE49-F238E27FC236}">
                <a16:creationId xmlns:a16="http://schemas.microsoft.com/office/drawing/2014/main" id="{9E6CFE60-2113-4AA1-3314-3D0A6975B188}"/>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994950" y="3832362"/>
            <a:ext cx="579147" cy="579147"/>
          </a:xfrm>
          <a:prstGeom prst="rect">
            <a:avLst/>
          </a:prstGeom>
        </p:spPr>
      </p:pic>
      <p:pic>
        <p:nvPicPr>
          <p:cNvPr id="53" name="Graphic 52" descr="Bar graph with upward trend outline">
            <a:extLst>
              <a:ext uri="{FF2B5EF4-FFF2-40B4-BE49-F238E27FC236}">
                <a16:creationId xmlns:a16="http://schemas.microsoft.com/office/drawing/2014/main" id="{EF440426-3314-7E86-263B-E1A1DDE4DA6A}"/>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737117" y="3820838"/>
            <a:ext cx="553998" cy="553998"/>
          </a:xfrm>
          <a:prstGeom prst="rect">
            <a:avLst/>
          </a:prstGeom>
        </p:spPr>
      </p:pic>
    </p:spTree>
    <p:extLst>
      <p:ext uri="{BB962C8B-B14F-4D97-AF65-F5344CB8AC3E}">
        <p14:creationId xmlns:p14="http://schemas.microsoft.com/office/powerpoint/2010/main" val="2277872257"/>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1000"/>
                                        <p:tgtEl>
                                          <p:spTgt spid="61"/>
                                        </p:tgtEl>
                                      </p:cBhvr>
                                    </p:animEffect>
                                    <p:anim calcmode="lin" valueType="num">
                                      <p:cBhvr>
                                        <p:cTn id="8" dur="1000" fill="hold"/>
                                        <p:tgtEl>
                                          <p:spTgt spid="61"/>
                                        </p:tgtEl>
                                        <p:attrNameLst>
                                          <p:attrName>ppt_x</p:attrName>
                                        </p:attrNameLst>
                                      </p:cBhvr>
                                      <p:tavLst>
                                        <p:tav tm="0">
                                          <p:val>
                                            <p:strVal val="#ppt_x"/>
                                          </p:val>
                                        </p:tav>
                                        <p:tav tm="100000">
                                          <p:val>
                                            <p:strVal val="#ppt_x"/>
                                          </p:val>
                                        </p:tav>
                                      </p:tavLst>
                                    </p:anim>
                                    <p:anim calcmode="lin" valueType="num">
                                      <p:cBhvr>
                                        <p:cTn id="9" dur="1000" fill="hold"/>
                                        <p:tgtEl>
                                          <p:spTgt spid="61"/>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1000"/>
                                        <p:tgtEl>
                                          <p:spTgt spid="34"/>
                                        </p:tgtEl>
                                      </p:cBhvr>
                                    </p:animEffect>
                                    <p:anim calcmode="lin" valueType="num">
                                      <p:cBhvr>
                                        <p:cTn id="13" dur="1000" fill="hold"/>
                                        <p:tgtEl>
                                          <p:spTgt spid="34"/>
                                        </p:tgtEl>
                                        <p:attrNameLst>
                                          <p:attrName>ppt_x</p:attrName>
                                        </p:attrNameLst>
                                      </p:cBhvr>
                                      <p:tavLst>
                                        <p:tav tm="0">
                                          <p:val>
                                            <p:strVal val="#ppt_x"/>
                                          </p:val>
                                        </p:tav>
                                        <p:tav tm="100000">
                                          <p:val>
                                            <p:strVal val="#ppt_x"/>
                                          </p:val>
                                        </p:tav>
                                      </p:tavLst>
                                    </p:anim>
                                    <p:anim calcmode="lin" valueType="num">
                                      <p:cBhvr>
                                        <p:cTn id="14" dur="1000" fill="hold"/>
                                        <p:tgtEl>
                                          <p:spTgt spid="3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1000"/>
                                        <p:tgtEl>
                                          <p:spTgt spid="37"/>
                                        </p:tgtEl>
                                      </p:cBhvr>
                                    </p:animEffect>
                                    <p:anim calcmode="lin" valueType="num">
                                      <p:cBhvr>
                                        <p:cTn id="18" dur="1000" fill="hold"/>
                                        <p:tgtEl>
                                          <p:spTgt spid="37"/>
                                        </p:tgtEl>
                                        <p:attrNameLst>
                                          <p:attrName>ppt_x</p:attrName>
                                        </p:attrNameLst>
                                      </p:cBhvr>
                                      <p:tavLst>
                                        <p:tav tm="0">
                                          <p:val>
                                            <p:strVal val="#ppt_x"/>
                                          </p:val>
                                        </p:tav>
                                        <p:tav tm="100000">
                                          <p:val>
                                            <p:strVal val="#ppt_x"/>
                                          </p:val>
                                        </p:tav>
                                      </p:tavLst>
                                    </p:anim>
                                    <p:anim calcmode="lin" valueType="num">
                                      <p:cBhvr>
                                        <p:cTn id="19" dur="1000" fill="hold"/>
                                        <p:tgtEl>
                                          <p:spTgt spid="3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1000"/>
                                        <p:tgtEl>
                                          <p:spTgt spid="41"/>
                                        </p:tgtEl>
                                      </p:cBhvr>
                                    </p:animEffect>
                                    <p:anim calcmode="lin" valueType="num">
                                      <p:cBhvr>
                                        <p:cTn id="23" dur="1000" fill="hold"/>
                                        <p:tgtEl>
                                          <p:spTgt spid="41"/>
                                        </p:tgtEl>
                                        <p:attrNameLst>
                                          <p:attrName>ppt_x</p:attrName>
                                        </p:attrNameLst>
                                      </p:cBhvr>
                                      <p:tavLst>
                                        <p:tav tm="0">
                                          <p:val>
                                            <p:strVal val="#ppt_x"/>
                                          </p:val>
                                        </p:tav>
                                        <p:tav tm="100000">
                                          <p:val>
                                            <p:strVal val="#ppt_x"/>
                                          </p:val>
                                        </p:tav>
                                      </p:tavLst>
                                    </p:anim>
                                    <p:anim calcmode="lin" valueType="num">
                                      <p:cBhvr>
                                        <p:cTn id="24" dur="1000" fill="hold"/>
                                        <p:tgtEl>
                                          <p:spTgt spid="41"/>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fade">
                                      <p:cBhvr>
                                        <p:cTn id="27" dur="1000"/>
                                        <p:tgtEl>
                                          <p:spTgt spid="46"/>
                                        </p:tgtEl>
                                      </p:cBhvr>
                                    </p:animEffect>
                                    <p:anim calcmode="lin" valueType="num">
                                      <p:cBhvr>
                                        <p:cTn id="28" dur="1000" fill="hold"/>
                                        <p:tgtEl>
                                          <p:spTgt spid="46"/>
                                        </p:tgtEl>
                                        <p:attrNameLst>
                                          <p:attrName>ppt_x</p:attrName>
                                        </p:attrNameLst>
                                      </p:cBhvr>
                                      <p:tavLst>
                                        <p:tav tm="0">
                                          <p:val>
                                            <p:strVal val="#ppt_x"/>
                                          </p:val>
                                        </p:tav>
                                        <p:tav tm="100000">
                                          <p:val>
                                            <p:strVal val="#ppt_x"/>
                                          </p:val>
                                        </p:tav>
                                      </p:tavLst>
                                    </p:anim>
                                    <p:anim calcmode="lin" valueType="num">
                                      <p:cBhvr>
                                        <p:cTn id="29" dur="1000" fill="hold"/>
                                        <p:tgtEl>
                                          <p:spTgt spid="4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1000"/>
                                        <p:tgtEl>
                                          <p:spTgt spid="2"/>
                                        </p:tgtEl>
                                      </p:cBhvr>
                                    </p:animEffect>
                                    <p:anim calcmode="lin" valueType="num">
                                      <p:cBhvr>
                                        <p:cTn id="33" dur="1000" fill="hold"/>
                                        <p:tgtEl>
                                          <p:spTgt spid="2"/>
                                        </p:tgtEl>
                                        <p:attrNameLst>
                                          <p:attrName>ppt_x</p:attrName>
                                        </p:attrNameLst>
                                      </p:cBhvr>
                                      <p:tavLst>
                                        <p:tav tm="0">
                                          <p:val>
                                            <p:strVal val="#ppt_x"/>
                                          </p:val>
                                        </p:tav>
                                        <p:tav tm="100000">
                                          <p:val>
                                            <p:strVal val="#ppt_x"/>
                                          </p:val>
                                        </p:tav>
                                      </p:tavLst>
                                    </p:anim>
                                    <p:anim calcmode="lin" valueType="num">
                                      <p:cBhvr>
                                        <p:cTn id="3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1000"/>
                                        <p:tgtEl>
                                          <p:spTgt spid="20"/>
                                        </p:tgtEl>
                                      </p:cBhvr>
                                    </p:animEffect>
                                    <p:anim calcmode="lin" valueType="num">
                                      <p:cBhvr>
                                        <p:cTn id="40" dur="1000" fill="hold"/>
                                        <p:tgtEl>
                                          <p:spTgt spid="20"/>
                                        </p:tgtEl>
                                        <p:attrNameLst>
                                          <p:attrName>ppt_x</p:attrName>
                                        </p:attrNameLst>
                                      </p:cBhvr>
                                      <p:tavLst>
                                        <p:tav tm="0">
                                          <p:val>
                                            <p:strVal val="#ppt_x"/>
                                          </p:val>
                                        </p:tav>
                                        <p:tav tm="100000">
                                          <p:val>
                                            <p:strVal val="#ppt_x"/>
                                          </p:val>
                                        </p:tav>
                                      </p:tavLst>
                                    </p:anim>
                                    <p:anim calcmode="lin" valueType="num">
                                      <p:cBhvr>
                                        <p:cTn id="41" dur="1000" fill="hold"/>
                                        <p:tgtEl>
                                          <p:spTgt spid="20"/>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59"/>
                                        </p:tgtEl>
                                        <p:attrNameLst>
                                          <p:attrName>style.visibility</p:attrName>
                                        </p:attrNameLst>
                                      </p:cBhvr>
                                      <p:to>
                                        <p:strVal val="visible"/>
                                      </p:to>
                                    </p:set>
                                    <p:animEffect transition="in" filter="fade">
                                      <p:cBhvr>
                                        <p:cTn id="44" dur="1000"/>
                                        <p:tgtEl>
                                          <p:spTgt spid="59"/>
                                        </p:tgtEl>
                                      </p:cBhvr>
                                    </p:animEffect>
                                    <p:anim calcmode="lin" valueType="num">
                                      <p:cBhvr>
                                        <p:cTn id="45" dur="1000" fill="hold"/>
                                        <p:tgtEl>
                                          <p:spTgt spid="59"/>
                                        </p:tgtEl>
                                        <p:attrNameLst>
                                          <p:attrName>ppt_x</p:attrName>
                                        </p:attrNameLst>
                                      </p:cBhvr>
                                      <p:tavLst>
                                        <p:tav tm="0">
                                          <p:val>
                                            <p:strVal val="#ppt_x"/>
                                          </p:val>
                                        </p:tav>
                                        <p:tav tm="100000">
                                          <p:val>
                                            <p:strVal val="#ppt_x"/>
                                          </p:val>
                                        </p:tav>
                                      </p:tavLst>
                                    </p:anim>
                                    <p:anim calcmode="lin" valueType="num">
                                      <p:cBhvr>
                                        <p:cTn id="46" dur="1000" fill="hold"/>
                                        <p:tgtEl>
                                          <p:spTgt spid="59"/>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1000"/>
                                        <p:tgtEl>
                                          <p:spTgt spid="11"/>
                                        </p:tgtEl>
                                      </p:cBhvr>
                                    </p:animEffect>
                                    <p:anim calcmode="lin" valueType="num">
                                      <p:cBhvr>
                                        <p:cTn id="55" dur="1000" fill="hold"/>
                                        <p:tgtEl>
                                          <p:spTgt spid="11"/>
                                        </p:tgtEl>
                                        <p:attrNameLst>
                                          <p:attrName>ppt_x</p:attrName>
                                        </p:attrNameLst>
                                      </p:cBhvr>
                                      <p:tavLst>
                                        <p:tav tm="0">
                                          <p:val>
                                            <p:strVal val="#ppt_x"/>
                                          </p:val>
                                        </p:tav>
                                        <p:tav tm="100000">
                                          <p:val>
                                            <p:strVal val="#ppt_x"/>
                                          </p:val>
                                        </p:tav>
                                      </p:tavLst>
                                    </p:anim>
                                    <p:anim calcmode="lin" valueType="num">
                                      <p:cBhvr>
                                        <p:cTn id="56" dur="1000" fill="hold"/>
                                        <p:tgtEl>
                                          <p:spTgt spid="11"/>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1000"/>
                                        <p:tgtEl>
                                          <p:spTgt spid="13"/>
                                        </p:tgtEl>
                                      </p:cBhvr>
                                    </p:animEffect>
                                    <p:anim calcmode="lin" valueType="num">
                                      <p:cBhvr>
                                        <p:cTn id="60" dur="1000" fill="hold"/>
                                        <p:tgtEl>
                                          <p:spTgt spid="13"/>
                                        </p:tgtEl>
                                        <p:attrNameLst>
                                          <p:attrName>ppt_x</p:attrName>
                                        </p:attrNameLst>
                                      </p:cBhvr>
                                      <p:tavLst>
                                        <p:tav tm="0">
                                          <p:val>
                                            <p:strVal val="#ppt_x"/>
                                          </p:val>
                                        </p:tav>
                                        <p:tav tm="100000">
                                          <p:val>
                                            <p:strVal val="#ppt_x"/>
                                          </p:val>
                                        </p:tav>
                                      </p:tavLst>
                                    </p:anim>
                                    <p:anim calcmode="lin" valueType="num">
                                      <p:cBhvr>
                                        <p:cTn id="61" dur="1000" fill="hold"/>
                                        <p:tgtEl>
                                          <p:spTgt spid="13"/>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1000"/>
                                        <p:tgtEl>
                                          <p:spTgt spid="48"/>
                                        </p:tgtEl>
                                      </p:cBhvr>
                                    </p:animEffect>
                                    <p:anim calcmode="lin" valueType="num">
                                      <p:cBhvr>
                                        <p:cTn id="65" dur="1000" fill="hold"/>
                                        <p:tgtEl>
                                          <p:spTgt spid="48"/>
                                        </p:tgtEl>
                                        <p:attrNameLst>
                                          <p:attrName>ppt_x</p:attrName>
                                        </p:attrNameLst>
                                      </p:cBhvr>
                                      <p:tavLst>
                                        <p:tav tm="0">
                                          <p:val>
                                            <p:strVal val="#ppt_x"/>
                                          </p:val>
                                        </p:tav>
                                        <p:tav tm="100000">
                                          <p:val>
                                            <p:strVal val="#ppt_x"/>
                                          </p:val>
                                        </p:tav>
                                      </p:tavLst>
                                    </p:anim>
                                    <p:anim calcmode="lin" valueType="num">
                                      <p:cBhvr>
                                        <p:cTn id="66" dur="1000" fill="hold"/>
                                        <p:tgtEl>
                                          <p:spTgt spid="48"/>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50"/>
                                        </p:tgtEl>
                                        <p:attrNameLst>
                                          <p:attrName>style.visibility</p:attrName>
                                        </p:attrNameLst>
                                      </p:cBhvr>
                                      <p:to>
                                        <p:strVal val="visible"/>
                                      </p:to>
                                    </p:set>
                                    <p:animEffect transition="in" filter="fade">
                                      <p:cBhvr>
                                        <p:cTn id="69" dur="1000"/>
                                        <p:tgtEl>
                                          <p:spTgt spid="50"/>
                                        </p:tgtEl>
                                      </p:cBhvr>
                                    </p:animEffect>
                                    <p:anim calcmode="lin" valueType="num">
                                      <p:cBhvr>
                                        <p:cTn id="70" dur="1000" fill="hold"/>
                                        <p:tgtEl>
                                          <p:spTgt spid="50"/>
                                        </p:tgtEl>
                                        <p:attrNameLst>
                                          <p:attrName>ppt_x</p:attrName>
                                        </p:attrNameLst>
                                      </p:cBhvr>
                                      <p:tavLst>
                                        <p:tav tm="0">
                                          <p:val>
                                            <p:strVal val="#ppt_x"/>
                                          </p:val>
                                        </p:tav>
                                        <p:tav tm="100000">
                                          <p:val>
                                            <p:strVal val="#ppt_x"/>
                                          </p:val>
                                        </p:tav>
                                      </p:tavLst>
                                    </p:anim>
                                    <p:anim calcmode="lin" valueType="num">
                                      <p:cBhvr>
                                        <p:cTn id="71" dur="1000" fill="hold"/>
                                        <p:tgtEl>
                                          <p:spTgt spid="50"/>
                                        </p:tgtEl>
                                        <p:attrNameLst>
                                          <p:attrName>ppt_y</p:attrName>
                                        </p:attrNameLst>
                                      </p:cBhvr>
                                      <p:tavLst>
                                        <p:tav tm="0">
                                          <p:val>
                                            <p:strVal val="#ppt_y+.1"/>
                                          </p:val>
                                        </p:tav>
                                        <p:tav tm="100000">
                                          <p:val>
                                            <p:strVal val="#ppt_y"/>
                                          </p:val>
                                        </p:tav>
                                      </p:tavLst>
                                    </p:anim>
                                  </p:childTnLst>
                                </p:cTn>
                              </p:par>
                              <p:par>
                                <p:cTn id="72" presetID="42" presetClass="entr" presetSubtype="0" fill="hold" nodeType="withEffect">
                                  <p:stCondLst>
                                    <p:cond delay="0"/>
                                  </p:stCondLst>
                                  <p:childTnLst>
                                    <p:set>
                                      <p:cBhvr>
                                        <p:cTn id="73" dur="1" fill="hold">
                                          <p:stCondLst>
                                            <p:cond delay="0"/>
                                          </p:stCondLst>
                                        </p:cTn>
                                        <p:tgtEl>
                                          <p:spTgt spid="53"/>
                                        </p:tgtEl>
                                        <p:attrNameLst>
                                          <p:attrName>style.visibility</p:attrName>
                                        </p:attrNameLst>
                                      </p:cBhvr>
                                      <p:to>
                                        <p:strVal val="visible"/>
                                      </p:to>
                                    </p:set>
                                    <p:animEffect transition="in" filter="fade">
                                      <p:cBhvr>
                                        <p:cTn id="74" dur="1000"/>
                                        <p:tgtEl>
                                          <p:spTgt spid="53"/>
                                        </p:tgtEl>
                                      </p:cBhvr>
                                    </p:animEffect>
                                    <p:anim calcmode="lin" valueType="num">
                                      <p:cBhvr>
                                        <p:cTn id="75" dur="1000" fill="hold"/>
                                        <p:tgtEl>
                                          <p:spTgt spid="53"/>
                                        </p:tgtEl>
                                        <p:attrNameLst>
                                          <p:attrName>ppt_x</p:attrName>
                                        </p:attrNameLst>
                                      </p:cBhvr>
                                      <p:tavLst>
                                        <p:tav tm="0">
                                          <p:val>
                                            <p:strVal val="#ppt_x"/>
                                          </p:val>
                                        </p:tav>
                                        <p:tav tm="100000">
                                          <p:val>
                                            <p:strVal val="#ppt_x"/>
                                          </p:val>
                                        </p:tav>
                                      </p:tavLst>
                                    </p:anim>
                                    <p:anim calcmode="lin" valueType="num">
                                      <p:cBhvr>
                                        <p:cTn id="76"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C045FA2-5E6A-874D-95C4-9B23FD36FD9A}"/>
              </a:ext>
            </a:extLst>
          </p:cNvPr>
          <p:cNvSpPr>
            <a:spLocks noGrp="1"/>
          </p:cNvSpPr>
          <p:nvPr>
            <p:ph type="title"/>
          </p:nvPr>
        </p:nvSpPr>
        <p:spPr>
          <a:xfrm>
            <a:off x="183219" y="137396"/>
            <a:ext cx="11561105" cy="424732"/>
          </a:xfrm>
        </p:spPr>
        <p:txBody>
          <a:bodyPr/>
          <a:lstStyle/>
          <a:p>
            <a:r>
              <a:rPr lang="en-US"/>
              <a:t>Achieve unified, estate-wide visibility </a:t>
            </a:r>
          </a:p>
        </p:txBody>
      </p:sp>
      <p:sp>
        <p:nvSpPr>
          <p:cNvPr id="2" name="Slide Number Placeholder 1">
            <a:extLst>
              <a:ext uri="{FF2B5EF4-FFF2-40B4-BE49-F238E27FC236}">
                <a16:creationId xmlns:a16="http://schemas.microsoft.com/office/drawing/2014/main" id="{D47AEFA8-8E22-4548-9FE8-48FBD4F7F54D}"/>
              </a:ext>
            </a:extLst>
          </p:cNvPr>
          <p:cNvSpPr>
            <a:spLocks noGrp="1"/>
          </p:cNvSpPr>
          <p:nvPr>
            <p:ph type="sldNum" sz="quarter" idx="12"/>
          </p:nvPr>
        </p:nvSpPr>
        <p:spPr/>
        <p:txBody>
          <a:bodyPr/>
          <a:lstStyle/>
          <a:p>
            <a:r>
              <a:rPr lang="en-US"/>
              <a:t>| </a:t>
            </a:r>
            <a:fld id="{FEC5E14B-9965-442C-8683-0E66DD8427DC}" type="slidenum">
              <a:rPr lang="en-US" smtClean="0"/>
              <a:pPr/>
              <a:t>8</a:t>
            </a:fld>
            <a:endParaRPr lang="en-US"/>
          </a:p>
        </p:txBody>
      </p:sp>
      <p:sp>
        <p:nvSpPr>
          <p:cNvPr id="7" name="Text Placeholder 6">
            <a:extLst>
              <a:ext uri="{FF2B5EF4-FFF2-40B4-BE49-F238E27FC236}">
                <a16:creationId xmlns:a16="http://schemas.microsoft.com/office/drawing/2014/main" id="{59BB0C81-E669-2E42-B7C6-1B2DFF525E6F}"/>
              </a:ext>
            </a:extLst>
          </p:cNvPr>
          <p:cNvSpPr>
            <a:spLocks noGrp="1"/>
          </p:cNvSpPr>
          <p:nvPr>
            <p:ph type="body" sz="quarter" idx="13"/>
          </p:nvPr>
        </p:nvSpPr>
        <p:spPr>
          <a:xfrm>
            <a:off x="183220" y="507880"/>
            <a:ext cx="11561104" cy="714375"/>
          </a:xfrm>
        </p:spPr>
        <p:txBody>
          <a:bodyPr/>
          <a:lstStyle/>
          <a:p>
            <a:r>
              <a:rPr lang="en-US"/>
              <a:t>With the Cato SASE Cloud Platform</a:t>
            </a:r>
          </a:p>
        </p:txBody>
      </p:sp>
      <p:sp>
        <p:nvSpPr>
          <p:cNvPr id="18" name="Rectangle 17">
            <a:extLst>
              <a:ext uri="{FF2B5EF4-FFF2-40B4-BE49-F238E27FC236}">
                <a16:creationId xmlns:a16="http://schemas.microsoft.com/office/drawing/2014/main" id="{65FA7DE7-FFC2-77CC-CF73-29F2126A23A2}"/>
              </a:ext>
            </a:extLst>
          </p:cNvPr>
          <p:cNvSpPr/>
          <p:nvPr/>
        </p:nvSpPr>
        <p:spPr>
          <a:xfrm>
            <a:off x="585686" y="1044181"/>
            <a:ext cx="2641790" cy="245593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ECD992B8-0EAF-BFDE-D40B-DBE5BE1EFC19}"/>
              </a:ext>
            </a:extLst>
          </p:cNvPr>
          <p:cNvSpPr/>
          <p:nvPr/>
        </p:nvSpPr>
        <p:spPr>
          <a:xfrm>
            <a:off x="3411223" y="1044180"/>
            <a:ext cx="7148981" cy="2455931"/>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 name="Content Placeholder 7">
            <a:extLst>
              <a:ext uri="{FF2B5EF4-FFF2-40B4-BE49-F238E27FC236}">
                <a16:creationId xmlns:a16="http://schemas.microsoft.com/office/drawing/2014/main" id="{56769A65-33CE-CD40-B5FF-AD81ED25B8FC}"/>
              </a:ext>
            </a:extLst>
          </p:cNvPr>
          <p:cNvSpPr txBox="1">
            <a:spLocks/>
          </p:cNvSpPr>
          <p:nvPr/>
        </p:nvSpPr>
        <p:spPr>
          <a:xfrm>
            <a:off x="3496650" y="1250823"/>
            <a:ext cx="6547800" cy="21541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accent1"/>
                </a:solidFill>
                <a:latin typeface="+mn-lt"/>
                <a:ea typeface="+mn-ea"/>
                <a:cs typeface="+mn-cs"/>
              </a:defRPr>
            </a:lvl1pPr>
            <a:lvl2pPr marL="457200" indent="-223838" algn="l" defTabSz="914400" rtl="0" eaLnBrk="1" latinLnBrk="0" hangingPunct="1">
              <a:lnSpc>
                <a:spcPct val="90000"/>
              </a:lnSpc>
              <a:spcBef>
                <a:spcPts val="500"/>
              </a:spcBef>
              <a:buFont typeface="Wingdings" pitchFamily="2" charset="2"/>
              <a:buChar char="§"/>
              <a:defRPr sz="2400" b="0" kern="1200">
                <a:solidFill>
                  <a:schemeClr val="tx1"/>
                </a:solidFill>
                <a:latin typeface="+mn-lt"/>
                <a:ea typeface="+mn-ea"/>
                <a:cs typeface="+mn-cs"/>
              </a:defRPr>
            </a:lvl2pPr>
            <a:lvl3pPr marL="690563" indent="-233363" algn="l" defTabSz="914400" rtl="0" eaLnBrk="1" latinLnBrk="0" hangingPunct="1">
              <a:lnSpc>
                <a:spcPct val="90000"/>
              </a:lnSpc>
              <a:spcBef>
                <a:spcPts val="500"/>
              </a:spcBef>
              <a:buFont typeface="Wingdings" pitchFamily="2" charset="2"/>
              <a:buChar char="§"/>
              <a:defRPr sz="2000" b="0" kern="1200">
                <a:solidFill>
                  <a:schemeClr val="tx1"/>
                </a:solidFill>
                <a:latin typeface="+mn-lt"/>
                <a:ea typeface="+mn-ea"/>
                <a:cs typeface="+mn-cs"/>
              </a:defRPr>
            </a:lvl3pPr>
            <a:lvl4pPr marL="914400" indent="-223838" algn="l" defTabSz="914400" rtl="0" eaLnBrk="1" latinLnBrk="0" hangingPunct="1">
              <a:lnSpc>
                <a:spcPct val="90000"/>
              </a:lnSpc>
              <a:spcBef>
                <a:spcPts val="500"/>
              </a:spcBef>
              <a:buFont typeface="Wingdings" pitchFamily="2" charset="2"/>
              <a:buChar char="§"/>
              <a:defRPr sz="1800" b="0" kern="1200">
                <a:solidFill>
                  <a:schemeClr val="tx1"/>
                </a:solidFill>
                <a:latin typeface="+mn-lt"/>
                <a:ea typeface="+mn-ea"/>
                <a:cs typeface="+mn-cs"/>
              </a:defRPr>
            </a:lvl4pPr>
            <a:lvl5pPr marL="862013" indent="-23495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231775">
              <a:lnSpc>
                <a:spcPts val="3200"/>
              </a:lnSpc>
              <a:spcBef>
                <a:spcPts val="0"/>
              </a:spcBef>
              <a:buFont typeface="Wingdings" pitchFamily="2" charset="2"/>
              <a:buChar char="ü"/>
            </a:pPr>
            <a:r>
              <a:rPr lang="en-IE" sz="1800">
                <a:solidFill>
                  <a:schemeClr val="tx1"/>
                </a:solidFill>
              </a:rPr>
              <a:t>Provide a </a:t>
            </a:r>
            <a:r>
              <a:rPr lang="en-IE" sz="1800" b="1">
                <a:solidFill>
                  <a:schemeClr val="tx1"/>
                </a:solidFill>
              </a:rPr>
              <a:t>single-pane-of-glass</a:t>
            </a:r>
            <a:r>
              <a:rPr lang="en-IE" sz="1800">
                <a:solidFill>
                  <a:schemeClr val="tx1"/>
                </a:solidFill>
              </a:rPr>
              <a:t> view of networking, security, users, sites, devices, applications, and traffic flows.</a:t>
            </a:r>
          </a:p>
          <a:p>
            <a:pPr defTabSz="231775">
              <a:lnSpc>
                <a:spcPts val="3200"/>
              </a:lnSpc>
              <a:spcBef>
                <a:spcPts val="0"/>
              </a:spcBef>
              <a:buFont typeface="Wingdings" pitchFamily="2" charset="2"/>
              <a:buChar char="ü"/>
            </a:pPr>
            <a:r>
              <a:rPr lang="en-IE" sz="1800">
                <a:solidFill>
                  <a:schemeClr val="tx1"/>
                </a:solidFill>
              </a:rPr>
              <a:t>Eliminate blind spots created by </a:t>
            </a:r>
            <a:r>
              <a:rPr lang="en-IE" sz="1800" b="1">
                <a:solidFill>
                  <a:schemeClr val="tx1"/>
                </a:solidFill>
              </a:rPr>
              <a:t>disparate point solutions</a:t>
            </a:r>
            <a:r>
              <a:rPr lang="en-IE" sz="1800">
                <a:solidFill>
                  <a:schemeClr val="tx1"/>
                </a:solidFill>
              </a:rPr>
              <a:t>, regional firewalls, VPN concentrators, and carrier-managed links.</a:t>
            </a:r>
            <a:endParaRPr lang="en-US" sz="1800" i="1">
              <a:solidFill>
                <a:schemeClr val="tx1"/>
              </a:solidFill>
            </a:endParaRPr>
          </a:p>
        </p:txBody>
      </p:sp>
      <p:sp>
        <p:nvSpPr>
          <p:cNvPr id="20" name="Rectangle 19">
            <a:extLst>
              <a:ext uri="{FF2B5EF4-FFF2-40B4-BE49-F238E27FC236}">
                <a16:creationId xmlns:a16="http://schemas.microsoft.com/office/drawing/2014/main" id="{BA4594E8-9F9C-D325-E298-3954296B2510}"/>
              </a:ext>
            </a:extLst>
          </p:cNvPr>
          <p:cNvSpPr/>
          <p:nvPr/>
        </p:nvSpPr>
        <p:spPr>
          <a:xfrm>
            <a:off x="585685" y="3663223"/>
            <a:ext cx="2641790" cy="245593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D01E7CDD-3A81-065C-103C-995603558E19}"/>
              </a:ext>
            </a:extLst>
          </p:cNvPr>
          <p:cNvSpPr/>
          <p:nvPr/>
        </p:nvSpPr>
        <p:spPr>
          <a:xfrm>
            <a:off x="3411222" y="3663222"/>
            <a:ext cx="7148981" cy="2455931"/>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2" name="Content Placeholder 7">
            <a:extLst>
              <a:ext uri="{FF2B5EF4-FFF2-40B4-BE49-F238E27FC236}">
                <a16:creationId xmlns:a16="http://schemas.microsoft.com/office/drawing/2014/main" id="{23FA08C5-31C5-9FFC-D177-2DA563C7FC79}"/>
              </a:ext>
            </a:extLst>
          </p:cNvPr>
          <p:cNvSpPr txBox="1">
            <a:spLocks/>
          </p:cNvSpPr>
          <p:nvPr/>
        </p:nvSpPr>
        <p:spPr>
          <a:xfrm>
            <a:off x="3496649" y="3869865"/>
            <a:ext cx="6957008" cy="215415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accent1"/>
                </a:solidFill>
                <a:latin typeface="+mn-lt"/>
                <a:ea typeface="+mn-ea"/>
                <a:cs typeface="+mn-cs"/>
              </a:defRPr>
            </a:lvl1pPr>
            <a:lvl2pPr marL="457200" indent="-223838" algn="l" defTabSz="914400" rtl="0" eaLnBrk="1" latinLnBrk="0" hangingPunct="1">
              <a:lnSpc>
                <a:spcPct val="90000"/>
              </a:lnSpc>
              <a:spcBef>
                <a:spcPts val="500"/>
              </a:spcBef>
              <a:buFont typeface="Wingdings" pitchFamily="2" charset="2"/>
              <a:buChar char="§"/>
              <a:defRPr sz="2400" b="0" kern="1200">
                <a:solidFill>
                  <a:schemeClr val="tx1"/>
                </a:solidFill>
                <a:latin typeface="+mn-lt"/>
                <a:ea typeface="+mn-ea"/>
                <a:cs typeface="+mn-cs"/>
              </a:defRPr>
            </a:lvl2pPr>
            <a:lvl3pPr marL="690563" indent="-233363" algn="l" defTabSz="914400" rtl="0" eaLnBrk="1" latinLnBrk="0" hangingPunct="1">
              <a:lnSpc>
                <a:spcPct val="90000"/>
              </a:lnSpc>
              <a:spcBef>
                <a:spcPts val="500"/>
              </a:spcBef>
              <a:buFont typeface="Wingdings" pitchFamily="2" charset="2"/>
              <a:buChar char="§"/>
              <a:defRPr sz="2000" b="0" kern="1200">
                <a:solidFill>
                  <a:schemeClr val="tx1"/>
                </a:solidFill>
                <a:latin typeface="+mn-lt"/>
                <a:ea typeface="+mn-ea"/>
                <a:cs typeface="+mn-cs"/>
              </a:defRPr>
            </a:lvl3pPr>
            <a:lvl4pPr marL="914400" indent="-223838" algn="l" defTabSz="914400" rtl="0" eaLnBrk="1" latinLnBrk="0" hangingPunct="1">
              <a:lnSpc>
                <a:spcPct val="90000"/>
              </a:lnSpc>
              <a:spcBef>
                <a:spcPts val="500"/>
              </a:spcBef>
              <a:buFont typeface="Wingdings" pitchFamily="2" charset="2"/>
              <a:buChar char="§"/>
              <a:defRPr sz="1800" b="0" kern="1200">
                <a:solidFill>
                  <a:schemeClr val="tx1"/>
                </a:solidFill>
                <a:latin typeface="+mn-lt"/>
                <a:ea typeface="+mn-ea"/>
                <a:cs typeface="+mn-cs"/>
              </a:defRPr>
            </a:lvl4pPr>
            <a:lvl5pPr marL="862013" indent="-23495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231775">
              <a:lnSpc>
                <a:spcPts val="3200"/>
              </a:lnSpc>
              <a:spcBef>
                <a:spcPts val="0"/>
              </a:spcBef>
              <a:buFont typeface="Wingdings" pitchFamily="2" charset="2"/>
              <a:buChar char="ü"/>
            </a:pPr>
            <a:r>
              <a:rPr lang="en-IE" sz="1800">
                <a:solidFill>
                  <a:schemeClr val="tx1"/>
                </a:solidFill>
              </a:rPr>
              <a:t>Faster, more accurate decision-making with a complete understanding of how the business communicates.</a:t>
            </a:r>
          </a:p>
          <a:p>
            <a:pPr defTabSz="231775">
              <a:lnSpc>
                <a:spcPts val="3200"/>
              </a:lnSpc>
              <a:spcBef>
                <a:spcPts val="0"/>
              </a:spcBef>
              <a:buFont typeface="Wingdings" pitchFamily="2" charset="2"/>
              <a:buChar char="ü"/>
            </a:pPr>
            <a:r>
              <a:rPr lang="en-IE" sz="1800">
                <a:solidFill>
                  <a:schemeClr val="tx1"/>
                </a:solidFill>
              </a:rPr>
              <a:t>Consolidates configuration, policies, analytics, troubleshooting and incident workflows, eliminating context-switching, reducing MTTD/MTTR and OPEX for networking/security teams.</a:t>
            </a:r>
            <a:endParaRPr lang="en-US" sz="1800">
              <a:solidFill>
                <a:schemeClr val="tx1"/>
              </a:solidFill>
            </a:endParaRPr>
          </a:p>
        </p:txBody>
      </p:sp>
      <p:sp>
        <p:nvSpPr>
          <p:cNvPr id="23" name="TextBox 22">
            <a:extLst>
              <a:ext uri="{FF2B5EF4-FFF2-40B4-BE49-F238E27FC236}">
                <a16:creationId xmlns:a16="http://schemas.microsoft.com/office/drawing/2014/main" id="{5CD0AAA3-FF29-33B7-2CFF-2B0CE25DE5FC}"/>
              </a:ext>
            </a:extLst>
          </p:cNvPr>
          <p:cNvSpPr txBox="1"/>
          <p:nvPr/>
        </p:nvSpPr>
        <p:spPr>
          <a:xfrm>
            <a:off x="947639" y="1346349"/>
            <a:ext cx="1947829" cy="779026"/>
          </a:xfrm>
          <a:prstGeom prst="roundRect">
            <a:avLst>
              <a:gd name="adj" fmla="val 50000"/>
            </a:avLst>
          </a:prstGeom>
          <a:solidFill>
            <a:schemeClr val="bg1"/>
          </a:solidFill>
          <a:ln>
            <a:noFill/>
          </a:ln>
          <a:scene3d>
            <a:camera prst="orthographicFront"/>
            <a:lightRig rig="threePt" dir="t"/>
          </a:scene3d>
          <a:sp3d extrusionH="76200" prstMaterial="matte">
            <a:bevelT/>
            <a:extrusionClr>
              <a:schemeClr val="bg1"/>
            </a:extrusionClr>
          </a:sp3d>
        </p:spPr>
        <p:txBody>
          <a:bodyPr wrap="squar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rgbClr val="158864"/>
                </a:solidFill>
                <a:latin typeface="Calibri" panose="020F0502020204030204"/>
              </a:rPr>
              <a:t>Business Objectives</a:t>
            </a:r>
            <a:endParaRPr kumimoji="0" lang="en-US" sz="1800" b="0" i="0" u="none" strike="noStrike" kern="1200" cap="none" spc="0" normalizeH="0" baseline="0" noProof="0">
              <a:ln>
                <a:noFill/>
              </a:ln>
              <a:solidFill>
                <a:srgbClr val="158864"/>
              </a:solidFill>
              <a:effectLst/>
              <a:uLnTx/>
              <a:uFillTx/>
              <a:latin typeface="Calibri" panose="020F0502020204030204"/>
              <a:ea typeface="+mn-ea"/>
              <a:cs typeface="+mn-cs"/>
            </a:endParaRPr>
          </a:p>
        </p:txBody>
      </p:sp>
      <p:sp>
        <p:nvSpPr>
          <p:cNvPr id="25" name="TextBox 24">
            <a:extLst>
              <a:ext uri="{FF2B5EF4-FFF2-40B4-BE49-F238E27FC236}">
                <a16:creationId xmlns:a16="http://schemas.microsoft.com/office/drawing/2014/main" id="{AF6F5BD4-C56B-20F3-6F87-3756204E4628}"/>
              </a:ext>
            </a:extLst>
          </p:cNvPr>
          <p:cNvSpPr txBox="1"/>
          <p:nvPr/>
        </p:nvSpPr>
        <p:spPr>
          <a:xfrm>
            <a:off x="932665" y="3949683"/>
            <a:ext cx="1947829" cy="779026"/>
          </a:xfrm>
          <a:prstGeom prst="roundRect">
            <a:avLst>
              <a:gd name="adj" fmla="val 50000"/>
            </a:avLst>
          </a:prstGeom>
          <a:solidFill>
            <a:schemeClr val="bg1"/>
          </a:solidFill>
          <a:ln>
            <a:noFill/>
          </a:ln>
          <a:scene3d>
            <a:camera prst="orthographicFront"/>
            <a:lightRig rig="threePt" dir="t"/>
          </a:scene3d>
          <a:sp3d extrusionH="76200" prstMaterial="matte">
            <a:bevelT/>
            <a:extrusionClr>
              <a:schemeClr val="bg1"/>
            </a:extrusionClr>
          </a:sp3d>
        </p:spPr>
        <p:txBody>
          <a:bodyPr wrap="squar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rgbClr val="158864"/>
                </a:solidFill>
                <a:latin typeface="Calibri" panose="020F0502020204030204"/>
              </a:rPr>
              <a:t>Business Outcomes</a:t>
            </a:r>
            <a:endParaRPr kumimoji="0" lang="en-US" sz="1800" b="0" i="0" u="none" strike="noStrike" kern="1200" cap="none" spc="0" normalizeH="0" baseline="0" noProof="0">
              <a:ln>
                <a:noFill/>
              </a:ln>
              <a:solidFill>
                <a:srgbClr val="158864"/>
              </a:solidFill>
              <a:effectLst/>
              <a:uLnTx/>
              <a:uFillTx/>
              <a:latin typeface="Calibri" panose="020F0502020204030204"/>
              <a:ea typeface="+mn-ea"/>
              <a:cs typeface="+mn-cs"/>
            </a:endParaRPr>
          </a:p>
        </p:txBody>
      </p:sp>
      <p:pic>
        <p:nvPicPr>
          <p:cNvPr id="4" name="Graphic 3" descr="Circles with arrows outline">
            <a:extLst>
              <a:ext uri="{FF2B5EF4-FFF2-40B4-BE49-F238E27FC236}">
                <a16:creationId xmlns:a16="http://schemas.microsoft.com/office/drawing/2014/main" id="{EE8FAC81-1652-6805-4A96-13681010877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80202">
            <a:off x="1341805" y="4842499"/>
            <a:ext cx="1057294" cy="1057294"/>
          </a:xfrm>
          <a:prstGeom prst="rect">
            <a:avLst/>
          </a:prstGeom>
        </p:spPr>
      </p:pic>
      <p:pic>
        <p:nvPicPr>
          <p:cNvPr id="35" name="Graphic 34" descr="Euro with solid fill">
            <a:extLst>
              <a:ext uri="{FF2B5EF4-FFF2-40B4-BE49-F238E27FC236}">
                <a16:creationId xmlns:a16="http://schemas.microsoft.com/office/drawing/2014/main" id="{EBF783C4-F5AE-794A-010C-818721641BE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84571" y="5277699"/>
            <a:ext cx="161091" cy="161091"/>
          </a:xfrm>
          <a:prstGeom prst="rect">
            <a:avLst/>
          </a:prstGeom>
        </p:spPr>
      </p:pic>
      <p:pic>
        <p:nvPicPr>
          <p:cNvPr id="37" name="Graphic 36" descr="Bullseye with solid fill">
            <a:extLst>
              <a:ext uri="{FF2B5EF4-FFF2-40B4-BE49-F238E27FC236}">
                <a16:creationId xmlns:a16="http://schemas.microsoft.com/office/drawing/2014/main" id="{DFC6FFF7-E2DD-8B21-A6CD-5469CCFBEDF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64353" y="2308880"/>
            <a:ext cx="914400" cy="914400"/>
          </a:xfrm>
          <a:prstGeom prst="rect">
            <a:avLst/>
          </a:prstGeom>
        </p:spPr>
      </p:pic>
      <p:pic>
        <p:nvPicPr>
          <p:cNvPr id="40" name="Graphic 39" descr="Euro with solid fill">
            <a:extLst>
              <a:ext uri="{FF2B5EF4-FFF2-40B4-BE49-F238E27FC236}">
                <a16:creationId xmlns:a16="http://schemas.microsoft.com/office/drawing/2014/main" id="{5A644757-BFEA-2118-8630-038A117869D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89905" y="5273370"/>
            <a:ext cx="161091" cy="161091"/>
          </a:xfrm>
          <a:prstGeom prst="rect">
            <a:avLst/>
          </a:prstGeom>
        </p:spPr>
      </p:pic>
      <p:pic>
        <p:nvPicPr>
          <p:cNvPr id="41" name="Graphic 40" descr="Euro with solid fill">
            <a:extLst>
              <a:ext uri="{FF2B5EF4-FFF2-40B4-BE49-F238E27FC236}">
                <a16:creationId xmlns:a16="http://schemas.microsoft.com/office/drawing/2014/main" id="{52BA29B2-E77B-4BD9-F9F2-6514773A160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01420" y="5269041"/>
            <a:ext cx="161091" cy="161091"/>
          </a:xfrm>
          <a:prstGeom prst="rect">
            <a:avLst/>
          </a:prstGeom>
        </p:spPr>
      </p:pic>
    </p:spTree>
    <p:extLst>
      <p:ext uri="{BB962C8B-B14F-4D97-AF65-F5344CB8AC3E}">
        <p14:creationId xmlns:p14="http://schemas.microsoft.com/office/powerpoint/2010/main" val="3296914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anim calcmode="lin" valueType="num">
                                      <p:cBhvr>
                                        <p:cTn id="13" dur="1000" fill="hold"/>
                                        <p:tgtEl>
                                          <p:spTgt spid="19"/>
                                        </p:tgtEl>
                                        <p:attrNameLst>
                                          <p:attrName>ppt_x</p:attrName>
                                        </p:attrNameLst>
                                      </p:cBhvr>
                                      <p:tavLst>
                                        <p:tav tm="0">
                                          <p:val>
                                            <p:strVal val="#ppt_x"/>
                                          </p:val>
                                        </p:tav>
                                        <p:tav tm="100000">
                                          <p:val>
                                            <p:strVal val="#ppt_x"/>
                                          </p:val>
                                        </p:tav>
                                      </p:tavLst>
                                    </p:anim>
                                    <p:anim calcmode="lin" valueType="num">
                                      <p:cBhvr>
                                        <p:cTn id="14" dur="1000" fill="hold"/>
                                        <p:tgtEl>
                                          <p:spTgt spid="1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1000"/>
                                        <p:tgtEl>
                                          <p:spTgt spid="23"/>
                                        </p:tgtEl>
                                      </p:cBhvr>
                                    </p:animEffect>
                                    <p:anim calcmode="lin" valueType="num">
                                      <p:cBhvr>
                                        <p:cTn id="23" dur="1000" fill="hold"/>
                                        <p:tgtEl>
                                          <p:spTgt spid="23"/>
                                        </p:tgtEl>
                                        <p:attrNameLst>
                                          <p:attrName>ppt_x</p:attrName>
                                        </p:attrNameLst>
                                      </p:cBhvr>
                                      <p:tavLst>
                                        <p:tav tm="0">
                                          <p:val>
                                            <p:strVal val="#ppt_x"/>
                                          </p:val>
                                        </p:tav>
                                        <p:tav tm="100000">
                                          <p:val>
                                            <p:strVal val="#ppt_x"/>
                                          </p:val>
                                        </p:tav>
                                      </p:tavLst>
                                    </p:anim>
                                    <p:anim calcmode="lin" valueType="num">
                                      <p:cBhvr>
                                        <p:cTn id="24" dur="1000" fill="hold"/>
                                        <p:tgtEl>
                                          <p:spTgt spid="23"/>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1000"/>
                                        <p:tgtEl>
                                          <p:spTgt spid="37"/>
                                        </p:tgtEl>
                                      </p:cBhvr>
                                    </p:animEffect>
                                    <p:anim calcmode="lin" valueType="num">
                                      <p:cBhvr>
                                        <p:cTn id="28" dur="1000" fill="hold"/>
                                        <p:tgtEl>
                                          <p:spTgt spid="37"/>
                                        </p:tgtEl>
                                        <p:attrNameLst>
                                          <p:attrName>ppt_x</p:attrName>
                                        </p:attrNameLst>
                                      </p:cBhvr>
                                      <p:tavLst>
                                        <p:tav tm="0">
                                          <p:val>
                                            <p:strVal val="#ppt_x"/>
                                          </p:val>
                                        </p:tav>
                                        <p:tav tm="100000">
                                          <p:val>
                                            <p:strVal val="#ppt_x"/>
                                          </p:val>
                                        </p:tav>
                                      </p:tavLst>
                                    </p:anim>
                                    <p:anim calcmode="lin" valueType="num">
                                      <p:cBhvr>
                                        <p:cTn id="29"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1000"/>
                                        <p:tgtEl>
                                          <p:spTgt spid="20"/>
                                        </p:tgtEl>
                                      </p:cBhvr>
                                    </p:animEffect>
                                    <p:anim calcmode="lin" valueType="num">
                                      <p:cBhvr>
                                        <p:cTn id="35" dur="1000" fill="hold"/>
                                        <p:tgtEl>
                                          <p:spTgt spid="20"/>
                                        </p:tgtEl>
                                        <p:attrNameLst>
                                          <p:attrName>ppt_x</p:attrName>
                                        </p:attrNameLst>
                                      </p:cBhvr>
                                      <p:tavLst>
                                        <p:tav tm="0">
                                          <p:val>
                                            <p:strVal val="#ppt_x"/>
                                          </p:val>
                                        </p:tav>
                                        <p:tav tm="100000">
                                          <p:val>
                                            <p:strVal val="#ppt_x"/>
                                          </p:val>
                                        </p:tav>
                                      </p:tavLst>
                                    </p:anim>
                                    <p:anim calcmode="lin" valueType="num">
                                      <p:cBhvr>
                                        <p:cTn id="36" dur="1000" fill="hold"/>
                                        <p:tgtEl>
                                          <p:spTgt spid="20"/>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1000"/>
                                        <p:tgtEl>
                                          <p:spTgt spid="21"/>
                                        </p:tgtEl>
                                      </p:cBhvr>
                                    </p:animEffect>
                                    <p:anim calcmode="lin" valueType="num">
                                      <p:cBhvr>
                                        <p:cTn id="40" dur="1000" fill="hold"/>
                                        <p:tgtEl>
                                          <p:spTgt spid="21"/>
                                        </p:tgtEl>
                                        <p:attrNameLst>
                                          <p:attrName>ppt_x</p:attrName>
                                        </p:attrNameLst>
                                      </p:cBhvr>
                                      <p:tavLst>
                                        <p:tav tm="0">
                                          <p:val>
                                            <p:strVal val="#ppt_x"/>
                                          </p:val>
                                        </p:tav>
                                        <p:tav tm="100000">
                                          <p:val>
                                            <p:strVal val="#ppt_x"/>
                                          </p:val>
                                        </p:tav>
                                      </p:tavLst>
                                    </p:anim>
                                    <p:anim calcmode="lin" valueType="num">
                                      <p:cBhvr>
                                        <p:cTn id="41" dur="1000" fill="hold"/>
                                        <p:tgtEl>
                                          <p:spTgt spid="21"/>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1000"/>
                                        <p:tgtEl>
                                          <p:spTgt spid="22"/>
                                        </p:tgtEl>
                                      </p:cBhvr>
                                    </p:animEffect>
                                    <p:anim calcmode="lin" valueType="num">
                                      <p:cBhvr>
                                        <p:cTn id="45" dur="1000" fill="hold"/>
                                        <p:tgtEl>
                                          <p:spTgt spid="22"/>
                                        </p:tgtEl>
                                        <p:attrNameLst>
                                          <p:attrName>ppt_x</p:attrName>
                                        </p:attrNameLst>
                                      </p:cBhvr>
                                      <p:tavLst>
                                        <p:tav tm="0">
                                          <p:val>
                                            <p:strVal val="#ppt_x"/>
                                          </p:val>
                                        </p:tav>
                                        <p:tav tm="100000">
                                          <p:val>
                                            <p:strVal val="#ppt_x"/>
                                          </p:val>
                                        </p:tav>
                                      </p:tavLst>
                                    </p:anim>
                                    <p:anim calcmode="lin" valueType="num">
                                      <p:cBhvr>
                                        <p:cTn id="46" dur="1000" fill="hold"/>
                                        <p:tgtEl>
                                          <p:spTgt spid="22"/>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1000"/>
                                        <p:tgtEl>
                                          <p:spTgt spid="25"/>
                                        </p:tgtEl>
                                      </p:cBhvr>
                                    </p:animEffect>
                                    <p:anim calcmode="lin" valueType="num">
                                      <p:cBhvr>
                                        <p:cTn id="50" dur="1000" fill="hold"/>
                                        <p:tgtEl>
                                          <p:spTgt spid="25"/>
                                        </p:tgtEl>
                                        <p:attrNameLst>
                                          <p:attrName>ppt_x</p:attrName>
                                        </p:attrNameLst>
                                      </p:cBhvr>
                                      <p:tavLst>
                                        <p:tav tm="0">
                                          <p:val>
                                            <p:strVal val="#ppt_x"/>
                                          </p:val>
                                        </p:tav>
                                        <p:tav tm="100000">
                                          <p:val>
                                            <p:strVal val="#ppt_x"/>
                                          </p:val>
                                        </p:tav>
                                      </p:tavLst>
                                    </p:anim>
                                    <p:anim calcmode="lin" valueType="num">
                                      <p:cBhvr>
                                        <p:cTn id="51" dur="1000" fill="hold"/>
                                        <p:tgtEl>
                                          <p:spTgt spid="25"/>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fade">
                                      <p:cBhvr>
                                        <p:cTn id="54" dur="1000"/>
                                        <p:tgtEl>
                                          <p:spTgt spid="4"/>
                                        </p:tgtEl>
                                      </p:cBhvr>
                                    </p:animEffect>
                                    <p:anim calcmode="lin" valueType="num">
                                      <p:cBhvr>
                                        <p:cTn id="55" dur="1000" fill="hold"/>
                                        <p:tgtEl>
                                          <p:spTgt spid="4"/>
                                        </p:tgtEl>
                                        <p:attrNameLst>
                                          <p:attrName>ppt_x</p:attrName>
                                        </p:attrNameLst>
                                      </p:cBhvr>
                                      <p:tavLst>
                                        <p:tav tm="0">
                                          <p:val>
                                            <p:strVal val="#ppt_x"/>
                                          </p:val>
                                        </p:tav>
                                        <p:tav tm="100000">
                                          <p:val>
                                            <p:strVal val="#ppt_x"/>
                                          </p:val>
                                        </p:tav>
                                      </p:tavLst>
                                    </p:anim>
                                    <p:anim calcmode="lin" valueType="num">
                                      <p:cBhvr>
                                        <p:cTn id="56" dur="1000" fill="hold"/>
                                        <p:tgtEl>
                                          <p:spTgt spid="4"/>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1000"/>
                                        <p:tgtEl>
                                          <p:spTgt spid="35"/>
                                        </p:tgtEl>
                                      </p:cBhvr>
                                    </p:animEffect>
                                    <p:anim calcmode="lin" valueType="num">
                                      <p:cBhvr>
                                        <p:cTn id="60" dur="1000" fill="hold"/>
                                        <p:tgtEl>
                                          <p:spTgt spid="35"/>
                                        </p:tgtEl>
                                        <p:attrNameLst>
                                          <p:attrName>ppt_x</p:attrName>
                                        </p:attrNameLst>
                                      </p:cBhvr>
                                      <p:tavLst>
                                        <p:tav tm="0">
                                          <p:val>
                                            <p:strVal val="#ppt_x"/>
                                          </p:val>
                                        </p:tav>
                                        <p:tav tm="100000">
                                          <p:val>
                                            <p:strVal val="#ppt_x"/>
                                          </p:val>
                                        </p:tav>
                                      </p:tavLst>
                                    </p:anim>
                                    <p:anim calcmode="lin" valueType="num">
                                      <p:cBhvr>
                                        <p:cTn id="61" dur="1000" fill="hold"/>
                                        <p:tgtEl>
                                          <p:spTgt spid="35"/>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1000"/>
                                        <p:tgtEl>
                                          <p:spTgt spid="40"/>
                                        </p:tgtEl>
                                      </p:cBhvr>
                                    </p:animEffect>
                                    <p:anim calcmode="lin" valueType="num">
                                      <p:cBhvr>
                                        <p:cTn id="65" dur="1000" fill="hold"/>
                                        <p:tgtEl>
                                          <p:spTgt spid="40"/>
                                        </p:tgtEl>
                                        <p:attrNameLst>
                                          <p:attrName>ppt_x</p:attrName>
                                        </p:attrNameLst>
                                      </p:cBhvr>
                                      <p:tavLst>
                                        <p:tav tm="0">
                                          <p:val>
                                            <p:strVal val="#ppt_x"/>
                                          </p:val>
                                        </p:tav>
                                        <p:tav tm="100000">
                                          <p:val>
                                            <p:strVal val="#ppt_x"/>
                                          </p:val>
                                        </p:tav>
                                      </p:tavLst>
                                    </p:anim>
                                    <p:anim calcmode="lin" valueType="num">
                                      <p:cBhvr>
                                        <p:cTn id="66" dur="1000" fill="hold"/>
                                        <p:tgtEl>
                                          <p:spTgt spid="40"/>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1000"/>
                                        <p:tgtEl>
                                          <p:spTgt spid="41"/>
                                        </p:tgtEl>
                                      </p:cBhvr>
                                    </p:animEffect>
                                    <p:anim calcmode="lin" valueType="num">
                                      <p:cBhvr>
                                        <p:cTn id="70" dur="1000" fill="hold"/>
                                        <p:tgtEl>
                                          <p:spTgt spid="41"/>
                                        </p:tgtEl>
                                        <p:attrNameLst>
                                          <p:attrName>ppt_x</p:attrName>
                                        </p:attrNameLst>
                                      </p:cBhvr>
                                      <p:tavLst>
                                        <p:tav tm="0">
                                          <p:val>
                                            <p:strVal val="#ppt_x"/>
                                          </p:val>
                                        </p:tav>
                                        <p:tav tm="100000">
                                          <p:val>
                                            <p:strVal val="#ppt_x"/>
                                          </p:val>
                                        </p:tav>
                                      </p:tavLst>
                                    </p:anim>
                                    <p:anim calcmode="lin" valueType="num">
                                      <p:cBhvr>
                                        <p:cTn id="71"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11" grpId="0"/>
      <p:bldP spid="20" grpId="0" animBg="1"/>
      <p:bldP spid="21" grpId="0" animBg="1"/>
      <p:bldP spid="22" grpId="0"/>
      <p:bldP spid="23" grpId="0" animBg="1"/>
      <p:bldP spid="2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EC9E0-55D3-31BB-C9B6-C75936C81E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507F405-C9AD-BE43-CEC5-E5972B700C42}"/>
              </a:ext>
            </a:extLst>
          </p:cNvPr>
          <p:cNvSpPr>
            <a:spLocks noGrp="1"/>
          </p:cNvSpPr>
          <p:nvPr>
            <p:ph type="title"/>
          </p:nvPr>
        </p:nvSpPr>
        <p:spPr>
          <a:xfrm>
            <a:off x="183219" y="137396"/>
            <a:ext cx="11561105" cy="424732"/>
          </a:xfrm>
        </p:spPr>
        <p:txBody>
          <a:bodyPr/>
          <a:lstStyle/>
          <a:p>
            <a:r>
              <a:rPr lang="en-US"/>
              <a:t>Leverage insights to improve threat detection </a:t>
            </a:r>
          </a:p>
        </p:txBody>
      </p:sp>
      <p:sp>
        <p:nvSpPr>
          <p:cNvPr id="2" name="Slide Number Placeholder 1">
            <a:extLst>
              <a:ext uri="{FF2B5EF4-FFF2-40B4-BE49-F238E27FC236}">
                <a16:creationId xmlns:a16="http://schemas.microsoft.com/office/drawing/2014/main" id="{41A9134D-04D0-E5FB-A867-3B0A12EDE254}"/>
              </a:ext>
            </a:extLst>
          </p:cNvPr>
          <p:cNvSpPr>
            <a:spLocks noGrp="1"/>
          </p:cNvSpPr>
          <p:nvPr>
            <p:ph type="sldNum" sz="quarter" idx="12"/>
          </p:nvPr>
        </p:nvSpPr>
        <p:spPr/>
        <p:txBody>
          <a:bodyPr/>
          <a:lstStyle/>
          <a:p>
            <a:r>
              <a:rPr lang="en-US"/>
              <a:t>| </a:t>
            </a:r>
            <a:fld id="{FEC5E14B-9965-442C-8683-0E66DD8427DC}" type="slidenum">
              <a:rPr lang="en-US" smtClean="0"/>
              <a:pPr/>
              <a:t>9</a:t>
            </a:fld>
            <a:endParaRPr lang="en-US"/>
          </a:p>
        </p:txBody>
      </p:sp>
      <p:sp>
        <p:nvSpPr>
          <p:cNvPr id="7" name="Text Placeholder 6">
            <a:extLst>
              <a:ext uri="{FF2B5EF4-FFF2-40B4-BE49-F238E27FC236}">
                <a16:creationId xmlns:a16="http://schemas.microsoft.com/office/drawing/2014/main" id="{6F2E4483-C39C-CF00-413E-2EE53C954F39}"/>
              </a:ext>
            </a:extLst>
          </p:cNvPr>
          <p:cNvSpPr>
            <a:spLocks noGrp="1"/>
          </p:cNvSpPr>
          <p:nvPr>
            <p:ph type="body" sz="quarter" idx="13"/>
          </p:nvPr>
        </p:nvSpPr>
        <p:spPr>
          <a:xfrm>
            <a:off x="183220" y="507880"/>
            <a:ext cx="11561104" cy="714375"/>
          </a:xfrm>
        </p:spPr>
        <p:txBody>
          <a:bodyPr/>
          <a:lstStyle/>
          <a:p>
            <a:r>
              <a:rPr lang="en-US"/>
              <a:t>With the Cato SASE Cloud Platform</a:t>
            </a:r>
          </a:p>
        </p:txBody>
      </p:sp>
      <p:sp>
        <p:nvSpPr>
          <p:cNvPr id="18" name="Rectangle 17">
            <a:extLst>
              <a:ext uri="{FF2B5EF4-FFF2-40B4-BE49-F238E27FC236}">
                <a16:creationId xmlns:a16="http://schemas.microsoft.com/office/drawing/2014/main" id="{AE359A61-4830-33BE-6622-39E2737B7FE1}"/>
              </a:ext>
            </a:extLst>
          </p:cNvPr>
          <p:cNvSpPr/>
          <p:nvPr/>
        </p:nvSpPr>
        <p:spPr>
          <a:xfrm>
            <a:off x="585686" y="1044181"/>
            <a:ext cx="2641790" cy="245593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784B9A54-0B9C-A44D-B2F4-3995FD7E0721}"/>
              </a:ext>
            </a:extLst>
          </p:cNvPr>
          <p:cNvSpPr/>
          <p:nvPr/>
        </p:nvSpPr>
        <p:spPr>
          <a:xfrm>
            <a:off x="3411223" y="1044180"/>
            <a:ext cx="7148981" cy="2455931"/>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 name="Content Placeholder 7">
            <a:extLst>
              <a:ext uri="{FF2B5EF4-FFF2-40B4-BE49-F238E27FC236}">
                <a16:creationId xmlns:a16="http://schemas.microsoft.com/office/drawing/2014/main" id="{BF067634-1936-3B91-6C85-FA3D466E1DDB}"/>
              </a:ext>
            </a:extLst>
          </p:cNvPr>
          <p:cNvSpPr txBox="1">
            <a:spLocks/>
          </p:cNvSpPr>
          <p:nvPr/>
        </p:nvSpPr>
        <p:spPr>
          <a:xfrm>
            <a:off x="3496650" y="1250823"/>
            <a:ext cx="6547800" cy="21541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accent1"/>
                </a:solidFill>
                <a:latin typeface="+mn-lt"/>
                <a:ea typeface="+mn-ea"/>
                <a:cs typeface="+mn-cs"/>
              </a:defRPr>
            </a:lvl1pPr>
            <a:lvl2pPr marL="457200" indent="-223838" algn="l" defTabSz="914400" rtl="0" eaLnBrk="1" latinLnBrk="0" hangingPunct="1">
              <a:lnSpc>
                <a:spcPct val="90000"/>
              </a:lnSpc>
              <a:spcBef>
                <a:spcPts val="500"/>
              </a:spcBef>
              <a:buFont typeface="Wingdings" pitchFamily="2" charset="2"/>
              <a:buChar char="§"/>
              <a:defRPr sz="2400" b="0" kern="1200">
                <a:solidFill>
                  <a:schemeClr val="tx1"/>
                </a:solidFill>
                <a:latin typeface="+mn-lt"/>
                <a:ea typeface="+mn-ea"/>
                <a:cs typeface="+mn-cs"/>
              </a:defRPr>
            </a:lvl2pPr>
            <a:lvl3pPr marL="690563" indent="-233363" algn="l" defTabSz="914400" rtl="0" eaLnBrk="1" latinLnBrk="0" hangingPunct="1">
              <a:lnSpc>
                <a:spcPct val="90000"/>
              </a:lnSpc>
              <a:spcBef>
                <a:spcPts val="500"/>
              </a:spcBef>
              <a:buFont typeface="Wingdings" pitchFamily="2" charset="2"/>
              <a:buChar char="§"/>
              <a:defRPr sz="2000" b="0" kern="1200">
                <a:solidFill>
                  <a:schemeClr val="tx1"/>
                </a:solidFill>
                <a:latin typeface="+mn-lt"/>
                <a:ea typeface="+mn-ea"/>
                <a:cs typeface="+mn-cs"/>
              </a:defRPr>
            </a:lvl3pPr>
            <a:lvl4pPr marL="914400" indent="-223838" algn="l" defTabSz="914400" rtl="0" eaLnBrk="1" latinLnBrk="0" hangingPunct="1">
              <a:lnSpc>
                <a:spcPct val="90000"/>
              </a:lnSpc>
              <a:spcBef>
                <a:spcPts val="500"/>
              </a:spcBef>
              <a:buFont typeface="Wingdings" pitchFamily="2" charset="2"/>
              <a:buChar char="§"/>
              <a:defRPr sz="1800" b="0" kern="1200">
                <a:solidFill>
                  <a:schemeClr val="tx1"/>
                </a:solidFill>
                <a:latin typeface="+mn-lt"/>
                <a:ea typeface="+mn-ea"/>
                <a:cs typeface="+mn-cs"/>
              </a:defRPr>
            </a:lvl4pPr>
            <a:lvl5pPr marL="862013" indent="-23495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231775">
              <a:lnSpc>
                <a:spcPts val="3200"/>
              </a:lnSpc>
              <a:spcBef>
                <a:spcPts val="0"/>
              </a:spcBef>
              <a:buFont typeface="Wingdings" pitchFamily="2" charset="2"/>
              <a:buChar char="ü"/>
            </a:pPr>
            <a:r>
              <a:rPr lang="en-IE" sz="1800">
                <a:solidFill>
                  <a:schemeClr val="tx1"/>
                </a:solidFill>
              </a:rPr>
              <a:t>Gain </a:t>
            </a:r>
            <a:r>
              <a:rPr lang="en-IE" sz="1800" b="1">
                <a:solidFill>
                  <a:schemeClr val="tx1"/>
                </a:solidFill>
              </a:rPr>
              <a:t>full session-level visibility</a:t>
            </a:r>
            <a:r>
              <a:rPr lang="en-IE" sz="1800">
                <a:solidFill>
                  <a:schemeClr val="tx1"/>
                </a:solidFill>
              </a:rPr>
              <a:t> for all traffic—WAN, internet, cloud, and remote users.</a:t>
            </a:r>
          </a:p>
          <a:p>
            <a:pPr defTabSz="231775">
              <a:lnSpc>
                <a:spcPts val="3200"/>
              </a:lnSpc>
              <a:spcBef>
                <a:spcPts val="0"/>
              </a:spcBef>
              <a:buFont typeface="Wingdings" pitchFamily="2" charset="2"/>
              <a:buChar char="ü"/>
            </a:pPr>
            <a:r>
              <a:rPr lang="en-IE" sz="1800">
                <a:solidFill>
                  <a:schemeClr val="tx1"/>
                </a:solidFill>
              </a:rPr>
              <a:t>Identify anomalies early through </a:t>
            </a:r>
            <a:r>
              <a:rPr lang="en-IE" sz="1800" b="1">
                <a:solidFill>
                  <a:schemeClr val="tx1"/>
                </a:solidFill>
              </a:rPr>
              <a:t>built-in threat intel</a:t>
            </a:r>
            <a:r>
              <a:rPr lang="en-IE" sz="1800">
                <a:solidFill>
                  <a:schemeClr val="tx1"/>
                </a:solidFill>
              </a:rPr>
              <a:t>, behavioural insights, and correlated events.</a:t>
            </a:r>
            <a:endParaRPr lang="en-US" sz="1800" i="1">
              <a:solidFill>
                <a:schemeClr val="tx1"/>
              </a:solidFill>
            </a:endParaRPr>
          </a:p>
        </p:txBody>
      </p:sp>
      <p:sp>
        <p:nvSpPr>
          <p:cNvPr id="20" name="Rectangle 19">
            <a:extLst>
              <a:ext uri="{FF2B5EF4-FFF2-40B4-BE49-F238E27FC236}">
                <a16:creationId xmlns:a16="http://schemas.microsoft.com/office/drawing/2014/main" id="{C0862818-A384-05A1-C3E2-51136A227E1A}"/>
              </a:ext>
            </a:extLst>
          </p:cNvPr>
          <p:cNvSpPr/>
          <p:nvPr/>
        </p:nvSpPr>
        <p:spPr>
          <a:xfrm>
            <a:off x="585685" y="3663223"/>
            <a:ext cx="2641790" cy="245593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3E07B93F-2B9D-D7E9-D5D9-33CF9370D971}"/>
              </a:ext>
            </a:extLst>
          </p:cNvPr>
          <p:cNvSpPr/>
          <p:nvPr/>
        </p:nvSpPr>
        <p:spPr>
          <a:xfrm>
            <a:off x="3411222" y="3663222"/>
            <a:ext cx="7148981" cy="2455931"/>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2" name="Content Placeholder 7">
            <a:extLst>
              <a:ext uri="{FF2B5EF4-FFF2-40B4-BE49-F238E27FC236}">
                <a16:creationId xmlns:a16="http://schemas.microsoft.com/office/drawing/2014/main" id="{FCF7657D-78FA-9940-4207-FA0AE241A10C}"/>
              </a:ext>
            </a:extLst>
          </p:cNvPr>
          <p:cNvSpPr txBox="1">
            <a:spLocks/>
          </p:cNvSpPr>
          <p:nvPr/>
        </p:nvSpPr>
        <p:spPr>
          <a:xfrm>
            <a:off x="3496649" y="3869865"/>
            <a:ext cx="6547801" cy="21541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accent1"/>
                </a:solidFill>
                <a:latin typeface="+mn-lt"/>
                <a:ea typeface="+mn-ea"/>
                <a:cs typeface="+mn-cs"/>
              </a:defRPr>
            </a:lvl1pPr>
            <a:lvl2pPr marL="457200" indent="-223838" algn="l" defTabSz="914400" rtl="0" eaLnBrk="1" latinLnBrk="0" hangingPunct="1">
              <a:lnSpc>
                <a:spcPct val="90000"/>
              </a:lnSpc>
              <a:spcBef>
                <a:spcPts val="500"/>
              </a:spcBef>
              <a:buFont typeface="Wingdings" pitchFamily="2" charset="2"/>
              <a:buChar char="§"/>
              <a:defRPr sz="2400" b="0" kern="1200">
                <a:solidFill>
                  <a:schemeClr val="tx1"/>
                </a:solidFill>
                <a:latin typeface="+mn-lt"/>
                <a:ea typeface="+mn-ea"/>
                <a:cs typeface="+mn-cs"/>
              </a:defRPr>
            </a:lvl2pPr>
            <a:lvl3pPr marL="690563" indent="-233363" algn="l" defTabSz="914400" rtl="0" eaLnBrk="1" latinLnBrk="0" hangingPunct="1">
              <a:lnSpc>
                <a:spcPct val="90000"/>
              </a:lnSpc>
              <a:spcBef>
                <a:spcPts val="500"/>
              </a:spcBef>
              <a:buFont typeface="Wingdings" pitchFamily="2" charset="2"/>
              <a:buChar char="§"/>
              <a:defRPr sz="2000" b="0" kern="1200">
                <a:solidFill>
                  <a:schemeClr val="tx1"/>
                </a:solidFill>
                <a:latin typeface="+mn-lt"/>
                <a:ea typeface="+mn-ea"/>
                <a:cs typeface="+mn-cs"/>
              </a:defRPr>
            </a:lvl3pPr>
            <a:lvl4pPr marL="914400" indent="-223838" algn="l" defTabSz="914400" rtl="0" eaLnBrk="1" latinLnBrk="0" hangingPunct="1">
              <a:lnSpc>
                <a:spcPct val="90000"/>
              </a:lnSpc>
              <a:spcBef>
                <a:spcPts val="500"/>
              </a:spcBef>
              <a:buFont typeface="Wingdings" pitchFamily="2" charset="2"/>
              <a:buChar char="§"/>
              <a:defRPr sz="1800" b="0" kern="1200">
                <a:solidFill>
                  <a:schemeClr val="tx1"/>
                </a:solidFill>
                <a:latin typeface="+mn-lt"/>
                <a:ea typeface="+mn-ea"/>
                <a:cs typeface="+mn-cs"/>
              </a:defRPr>
            </a:lvl4pPr>
            <a:lvl5pPr marL="862013" indent="-23495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231775">
              <a:lnSpc>
                <a:spcPts val="3200"/>
              </a:lnSpc>
              <a:spcBef>
                <a:spcPts val="0"/>
              </a:spcBef>
              <a:buFont typeface="Wingdings" pitchFamily="2" charset="2"/>
              <a:buChar char="ü"/>
            </a:pPr>
            <a:r>
              <a:rPr lang="en-IE" sz="1800">
                <a:solidFill>
                  <a:schemeClr val="tx1"/>
                </a:solidFill>
              </a:rPr>
              <a:t>Reduced mean time to detection (MTTD).</a:t>
            </a:r>
          </a:p>
          <a:p>
            <a:pPr defTabSz="231775">
              <a:lnSpc>
                <a:spcPts val="3200"/>
              </a:lnSpc>
              <a:spcBef>
                <a:spcPts val="0"/>
              </a:spcBef>
              <a:buFont typeface="Wingdings" pitchFamily="2" charset="2"/>
              <a:buChar char="ü"/>
            </a:pPr>
            <a:r>
              <a:rPr lang="en-IE" sz="1800">
                <a:solidFill>
                  <a:schemeClr val="tx1"/>
                </a:solidFill>
              </a:rPr>
              <a:t>A measurable decrease in security incidents.</a:t>
            </a:r>
          </a:p>
          <a:p>
            <a:pPr defTabSz="231775">
              <a:lnSpc>
                <a:spcPts val="3200"/>
              </a:lnSpc>
              <a:spcBef>
                <a:spcPts val="0"/>
              </a:spcBef>
              <a:buFont typeface="Wingdings" pitchFamily="2" charset="2"/>
              <a:buChar char="ü"/>
            </a:pPr>
            <a:r>
              <a:rPr lang="en-IE" sz="1800">
                <a:solidFill>
                  <a:schemeClr val="tx1"/>
                </a:solidFill>
              </a:rPr>
              <a:t>Consistent Security &amp; Compliance posture</a:t>
            </a:r>
          </a:p>
        </p:txBody>
      </p:sp>
      <p:sp>
        <p:nvSpPr>
          <p:cNvPr id="23" name="TextBox 22">
            <a:extLst>
              <a:ext uri="{FF2B5EF4-FFF2-40B4-BE49-F238E27FC236}">
                <a16:creationId xmlns:a16="http://schemas.microsoft.com/office/drawing/2014/main" id="{67EBC217-9AFD-CC26-127C-CCB430BF5AEA}"/>
              </a:ext>
            </a:extLst>
          </p:cNvPr>
          <p:cNvSpPr txBox="1"/>
          <p:nvPr/>
        </p:nvSpPr>
        <p:spPr>
          <a:xfrm>
            <a:off x="947639" y="1346349"/>
            <a:ext cx="1947829" cy="779026"/>
          </a:xfrm>
          <a:prstGeom prst="roundRect">
            <a:avLst>
              <a:gd name="adj" fmla="val 50000"/>
            </a:avLst>
          </a:prstGeom>
          <a:solidFill>
            <a:schemeClr val="bg1"/>
          </a:solidFill>
          <a:ln>
            <a:noFill/>
          </a:ln>
          <a:scene3d>
            <a:camera prst="orthographicFront"/>
            <a:lightRig rig="threePt" dir="t"/>
          </a:scene3d>
          <a:sp3d extrusionH="76200" prstMaterial="matte">
            <a:bevelT/>
            <a:extrusionClr>
              <a:schemeClr val="bg1"/>
            </a:extrusionClr>
          </a:sp3d>
        </p:spPr>
        <p:txBody>
          <a:bodyPr wrap="squar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rgbClr val="158864"/>
                </a:solidFill>
                <a:latin typeface="Calibri" panose="020F0502020204030204"/>
              </a:rPr>
              <a:t>Business Objectives</a:t>
            </a:r>
            <a:endParaRPr kumimoji="0" lang="en-US" sz="1800" b="0" i="0" u="none" strike="noStrike" kern="1200" cap="none" spc="0" normalizeH="0" baseline="0" noProof="0">
              <a:ln>
                <a:noFill/>
              </a:ln>
              <a:solidFill>
                <a:srgbClr val="158864"/>
              </a:solidFill>
              <a:effectLst/>
              <a:uLnTx/>
              <a:uFillTx/>
              <a:latin typeface="Calibri" panose="020F0502020204030204"/>
              <a:ea typeface="+mn-ea"/>
              <a:cs typeface="+mn-cs"/>
            </a:endParaRPr>
          </a:p>
        </p:txBody>
      </p:sp>
      <p:sp>
        <p:nvSpPr>
          <p:cNvPr id="25" name="TextBox 24">
            <a:extLst>
              <a:ext uri="{FF2B5EF4-FFF2-40B4-BE49-F238E27FC236}">
                <a16:creationId xmlns:a16="http://schemas.microsoft.com/office/drawing/2014/main" id="{3E442255-D602-6418-395A-40E683EE2FBA}"/>
              </a:ext>
            </a:extLst>
          </p:cNvPr>
          <p:cNvSpPr txBox="1"/>
          <p:nvPr/>
        </p:nvSpPr>
        <p:spPr>
          <a:xfrm>
            <a:off x="932665" y="3949683"/>
            <a:ext cx="1947829" cy="779026"/>
          </a:xfrm>
          <a:prstGeom prst="roundRect">
            <a:avLst>
              <a:gd name="adj" fmla="val 50000"/>
            </a:avLst>
          </a:prstGeom>
          <a:solidFill>
            <a:schemeClr val="bg1"/>
          </a:solidFill>
          <a:ln>
            <a:noFill/>
          </a:ln>
          <a:scene3d>
            <a:camera prst="orthographicFront"/>
            <a:lightRig rig="threePt" dir="t"/>
          </a:scene3d>
          <a:sp3d extrusionH="76200" prstMaterial="matte">
            <a:bevelT/>
            <a:extrusionClr>
              <a:schemeClr val="bg1"/>
            </a:extrusionClr>
          </a:sp3d>
        </p:spPr>
        <p:txBody>
          <a:bodyPr wrap="squar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rgbClr val="158864"/>
                </a:solidFill>
                <a:latin typeface="Calibri" panose="020F0502020204030204"/>
              </a:rPr>
              <a:t>Business Outcomes</a:t>
            </a:r>
            <a:endParaRPr kumimoji="0" lang="en-US" sz="1800" b="0" i="0" u="none" strike="noStrike" kern="1200" cap="none" spc="0" normalizeH="0" baseline="0" noProof="0">
              <a:ln>
                <a:noFill/>
              </a:ln>
              <a:solidFill>
                <a:srgbClr val="158864"/>
              </a:solidFill>
              <a:effectLst/>
              <a:uLnTx/>
              <a:uFillTx/>
              <a:latin typeface="Calibri" panose="020F0502020204030204"/>
              <a:ea typeface="+mn-ea"/>
              <a:cs typeface="+mn-cs"/>
            </a:endParaRPr>
          </a:p>
        </p:txBody>
      </p:sp>
      <p:pic>
        <p:nvPicPr>
          <p:cNvPr id="4" name="Graphic 3" descr="Circles with arrows outline">
            <a:extLst>
              <a:ext uri="{FF2B5EF4-FFF2-40B4-BE49-F238E27FC236}">
                <a16:creationId xmlns:a16="http://schemas.microsoft.com/office/drawing/2014/main" id="{F1E3C3AA-3AAB-3BF1-C8B3-06853F9B02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80202">
            <a:off x="1341805" y="4842499"/>
            <a:ext cx="1057294" cy="1057294"/>
          </a:xfrm>
          <a:prstGeom prst="rect">
            <a:avLst/>
          </a:prstGeom>
        </p:spPr>
      </p:pic>
      <p:pic>
        <p:nvPicPr>
          <p:cNvPr id="35" name="Graphic 34" descr="Euro with solid fill">
            <a:extLst>
              <a:ext uri="{FF2B5EF4-FFF2-40B4-BE49-F238E27FC236}">
                <a16:creationId xmlns:a16="http://schemas.microsoft.com/office/drawing/2014/main" id="{11F50E77-F270-2958-A48E-3EDC42A05A3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84571" y="5277699"/>
            <a:ext cx="161091" cy="161091"/>
          </a:xfrm>
          <a:prstGeom prst="rect">
            <a:avLst/>
          </a:prstGeom>
        </p:spPr>
      </p:pic>
      <p:pic>
        <p:nvPicPr>
          <p:cNvPr id="37" name="Graphic 36" descr="Bullseye with solid fill">
            <a:extLst>
              <a:ext uri="{FF2B5EF4-FFF2-40B4-BE49-F238E27FC236}">
                <a16:creationId xmlns:a16="http://schemas.microsoft.com/office/drawing/2014/main" id="{1E3D0496-3ACD-5BD4-2570-21B5B364EB0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64353" y="2308880"/>
            <a:ext cx="914400" cy="914400"/>
          </a:xfrm>
          <a:prstGeom prst="rect">
            <a:avLst/>
          </a:prstGeom>
        </p:spPr>
      </p:pic>
      <p:pic>
        <p:nvPicPr>
          <p:cNvPr id="40" name="Graphic 39" descr="Euro with solid fill">
            <a:extLst>
              <a:ext uri="{FF2B5EF4-FFF2-40B4-BE49-F238E27FC236}">
                <a16:creationId xmlns:a16="http://schemas.microsoft.com/office/drawing/2014/main" id="{C8F44882-1679-722A-C210-A70A9103E72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89905" y="5273370"/>
            <a:ext cx="161091" cy="161091"/>
          </a:xfrm>
          <a:prstGeom prst="rect">
            <a:avLst/>
          </a:prstGeom>
        </p:spPr>
      </p:pic>
      <p:pic>
        <p:nvPicPr>
          <p:cNvPr id="41" name="Graphic 40" descr="Euro with solid fill">
            <a:extLst>
              <a:ext uri="{FF2B5EF4-FFF2-40B4-BE49-F238E27FC236}">
                <a16:creationId xmlns:a16="http://schemas.microsoft.com/office/drawing/2014/main" id="{50B8628C-0737-39A4-89FE-CBFE73D00F9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01420" y="5269041"/>
            <a:ext cx="161091" cy="161091"/>
          </a:xfrm>
          <a:prstGeom prst="rect">
            <a:avLst/>
          </a:prstGeom>
        </p:spPr>
      </p:pic>
    </p:spTree>
    <p:extLst>
      <p:ext uri="{BB962C8B-B14F-4D97-AF65-F5344CB8AC3E}">
        <p14:creationId xmlns:p14="http://schemas.microsoft.com/office/powerpoint/2010/main" val="880310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anim calcmode="lin" valueType="num">
                                      <p:cBhvr>
                                        <p:cTn id="13" dur="1000" fill="hold"/>
                                        <p:tgtEl>
                                          <p:spTgt spid="19"/>
                                        </p:tgtEl>
                                        <p:attrNameLst>
                                          <p:attrName>ppt_x</p:attrName>
                                        </p:attrNameLst>
                                      </p:cBhvr>
                                      <p:tavLst>
                                        <p:tav tm="0">
                                          <p:val>
                                            <p:strVal val="#ppt_x"/>
                                          </p:val>
                                        </p:tav>
                                        <p:tav tm="100000">
                                          <p:val>
                                            <p:strVal val="#ppt_x"/>
                                          </p:val>
                                        </p:tav>
                                      </p:tavLst>
                                    </p:anim>
                                    <p:anim calcmode="lin" valueType="num">
                                      <p:cBhvr>
                                        <p:cTn id="14" dur="1000" fill="hold"/>
                                        <p:tgtEl>
                                          <p:spTgt spid="1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1000"/>
                                        <p:tgtEl>
                                          <p:spTgt spid="23"/>
                                        </p:tgtEl>
                                      </p:cBhvr>
                                    </p:animEffect>
                                    <p:anim calcmode="lin" valueType="num">
                                      <p:cBhvr>
                                        <p:cTn id="23" dur="1000" fill="hold"/>
                                        <p:tgtEl>
                                          <p:spTgt spid="23"/>
                                        </p:tgtEl>
                                        <p:attrNameLst>
                                          <p:attrName>ppt_x</p:attrName>
                                        </p:attrNameLst>
                                      </p:cBhvr>
                                      <p:tavLst>
                                        <p:tav tm="0">
                                          <p:val>
                                            <p:strVal val="#ppt_x"/>
                                          </p:val>
                                        </p:tav>
                                        <p:tav tm="100000">
                                          <p:val>
                                            <p:strVal val="#ppt_x"/>
                                          </p:val>
                                        </p:tav>
                                      </p:tavLst>
                                    </p:anim>
                                    <p:anim calcmode="lin" valueType="num">
                                      <p:cBhvr>
                                        <p:cTn id="24" dur="1000" fill="hold"/>
                                        <p:tgtEl>
                                          <p:spTgt spid="23"/>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1000"/>
                                        <p:tgtEl>
                                          <p:spTgt spid="37"/>
                                        </p:tgtEl>
                                      </p:cBhvr>
                                    </p:animEffect>
                                    <p:anim calcmode="lin" valueType="num">
                                      <p:cBhvr>
                                        <p:cTn id="28" dur="1000" fill="hold"/>
                                        <p:tgtEl>
                                          <p:spTgt spid="37"/>
                                        </p:tgtEl>
                                        <p:attrNameLst>
                                          <p:attrName>ppt_x</p:attrName>
                                        </p:attrNameLst>
                                      </p:cBhvr>
                                      <p:tavLst>
                                        <p:tav tm="0">
                                          <p:val>
                                            <p:strVal val="#ppt_x"/>
                                          </p:val>
                                        </p:tav>
                                        <p:tav tm="100000">
                                          <p:val>
                                            <p:strVal val="#ppt_x"/>
                                          </p:val>
                                        </p:tav>
                                      </p:tavLst>
                                    </p:anim>
                                    <p:anim calcmode="lin" valueType="num">
                                      <p:cBhvr>
                                        <p:cTn id="29"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1000"/>
                                        <p:tgtEl>
                                          <p:spTgt spid="20"/>
                                        </p:tgtEl>
                                      </p:cBhvr>
                                    </p:animEffect>
                                    <p:anim calcmode="lin" valueType="num">
                                      <p:cBhvr>
                                        <p:cTn id="35" dur="1000" fill="hold"/>
                                        <p:tgtEl>
                                          <p:spTgt spid="20"/>
                                        </p:tgtEl>
                                        <p:attrNameLst>
                                          <p:attrName>ppt_x</p:attrName>
                                        </p:attrNameLst>
                                      </p:cBhvr>
                                      <p:tavLst>
                                        <p:tav tm="0">
                                          <p:val>
                                            <p:strVal val="#ppt_x"/>
                                          </p:val>
                                        </p:tav>
                                        <p:tav tm="100000">
                                          <p:val>
                                            <p:strVal val="#ppt_x"/>
                                          </p:val>
                                        </p:tav>
                                      </p:tavLst>
                                    </p:anim>
                                    <p:anim calcmode="lin" valueType="num">
                                      <p:cBhvr>
                                        <p:cTn id="36" dur="1000" fill="hold"/>
                                        <p:tgtEl>
                                          <p:spTgt spid="20"/>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1000"/>
                                        <p:tgtEl>
                                          <p:spTgt spid="21"/>
                                        </p:tgtEl>
                                      </p:cBhvr>
                                    </p:animEffect>
                                    <p:anim calcmode="lin" valueType="num">
                                      <p:cBhvr>
                                        <p:cTn id="40" dur="1000" fill="hold"/>
                                        <p:tgtEl>
                                          <p:spTgt spid="21"/>
                                        </p:tgtEl>
                                        <p:attrNameLst>
                                          <p:attrName>ppt_x</p:attrName>
                                        </p:attrNameLst>
                                      </p:cBhvr>
                                      <p:tavLst>
                                        <p:tav tm="0">
                                          <p:val>
                                            <p:strVal val="#ppt_x"/>
                                          </p:val>
                                        </p:tav>
                                        <p:tav tm="100000">
                                          <p:val>
                                            <p:strVal val="#ppt_x"/>
                                          </p:val>
                                        </p:tav>
                                      </p:tavLst>
                                    </p:anim>
                                    <p:anim calcmode="lin" valueType="num">
                                      <p:cBhvr>
                                        <p:cTn id="41" dur="1000" fill="hold"/>
                                        <p:tgtEl>
                                          <p:spTgt spid="21"/>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1000"/>
                                        <p:tgtEl>
                                          <p:spTgt spid="22"/>
                                        </p:tgtEl>
                                      </p:cBhvr>
                                    </p:animEffect>
                                    <p:anim calcmode="lin" valueType="num">
                                      <p:cBhvr>
                                        <p:cTn id="45" dur="1000" fill="hold"/>
                                        <p:tgtEl>
                                          <p:spTgt spid="22"/>
                                        </p:tgtEl>
                                        <p:attrNameLst>
                                          <p:attrName>ppt_x</p:attrName>
                                        </p:attrNameLst>
                                      </p:cBhvr>
                                      <p:tavLst>
                                        <p:tav tm="0">
                                          <p:val>
                                            <p:strVal val="#ppt_x"/>
                                          </p:val>
                                        </p:tav>
                                        <p:tav tm="100000">
                                          <p:val>
                                            <p:strVal val="#ppt_x"/>
                                          </p:val>
                                        </p:tav>
                                      </p:tavLst>
                                    </p:anim>
                                    <p:anim calcmode="lin" valueType="num">
                                      <p:cBhvr>
                                        <p:cTn id="46" dur="1000" fill="hold"/>
                                        <p:tgtEl>
                                          <p:spTgt spid="22"/>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1000"/>
                                        <p:tgtEl>
                                          <p:spTgt spid="25"/>
                                        </p:tgtEl>
                                      </p:cBhvr>
                                    </p:animEffect>
                                    <p:anim calcmode="lin" valueType="num">
                                      <p:cBhvr>
                                        <p:cTn id="50" dur="1000" fill="hold"/>
                                        <p:tgtEl>
                                          <p:spTgt spid="25"/>
                                        </p:tgtEl>
                                        <p:attrNameLst>
                                          <p:attrName>ppt_x</p:attrName>
                                        </p:attrNameLst>
                                      </p:cBhvr>
                                      <p:tavLst>
                                        <p:tav tm="0">
                                          <p:val>
                                            <p:strVal val="#ppt_x"/>
                                          </p:val>
                                        </p:tav>
                                        <p:tav tm="100000">
                                          <p:val>
                                            <p:strVal val="#ppt_x"/>
                                          </p:val>
                                        </p:tav>
                                      </p:tavLst>
                                    </p:anim>
                                    <p:anim calcmode="lin" valueType="num">
                                      <p:cBhvr>
                                        <p:cTn id="51" dur="1000" fill="hold"/>
                                        <p:tgtEl>
                                          <p:spTgt spid="25"/>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fade">
                                      <p:cBhvr>
                                        <p:cTn id="54" dur="1000"/>
                                        <p:tgtEl>
                                          <p:spTgt spid="4"/>
                                        </p:tgtEl>
                                      </p:cBhvr>
                                    </p:animEffect>
                                    <p:anim calcmode="lin" valueType="num">
                                      <p:cBhvr>
                                        <p:cTn id="55" dur="1000" fill="hold"/>
                                        <p:tgtEl>
                                          <p:spTgt spid="4"/>
                                        </p:tgtEl>
                                        <p:attrNameLst>
                                          <p:attrName>ppt_x</p:attrName>
                                        </p:attrNameLst>
                                      </p:cBhvr>
                                      <p:tavLst>
                                        <p:tav tm="0">
                                          <p:val>
                                            <p:strVal val="#ppt_x"/>
                                          </p:val>
                                        </p:tav>
                                        <p:tav tm="100000">
                                          <p:val>
                                            <p:strVal val="#ppt_x"/>
                                          </p:val>
                                        </p:tav>
                                      </p:tavLst>
                                    </p:anim>
                                    <p:anim calcmode="lin" valueType="num">
                                      <p:cBhvr>
                                        <p:cTn id="56" dur="1000" fill="hold"/>
                                        <p:tgtEl>
                                          <p:spTgt spid="4"/>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1000"/>
                                        <p:tgtEl>
                                          <p:spTgt spid="35"/>
                                        </p:tgtEl>
                                      </p:cBhvr>
                                    </p:animEffect>
                                    <p:anim calcmode="lin" valueType="num">
                                      <p:cBhvr>
                                        <p:cTn id="60" dur="1000" fill="hold"/>
                                        <p:tgtEl>
                                          <p:spTgt spid="35"/>
                                        </p:tgtEl>
                                        <p:attrNameLst>
                                          <p:attrName>ppt_x</p:attrName>
                                        </p:attrNameLst>
                                      </p:cBhvr>
                                      <p:tavLst>
                                        <p:tav tm="0">
                                          <p:val>
                                            <p:strVal val="#ppt_x"/>
                                          </p:val>
                                        </p:tav>
                                        <p:tav tm="100000">
                                          <p:val>
                                            <p:strVal val="#ppt_x"/>
                                          </p:val>
                                        </p:tav>
                                      </p:tavLst>
                                    </p:anim>
                                    <p:anim calcmode="lin" valueType="num">
                                      <p:cBhvr>
                                        <p:cTn id="61" dur="1000" fill="hold"/>
                                        <p:tgtEl>
                                          <p:spTgt spid="35"/>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1000"/>
                                        <p:tgtEl>
                                          <p:spTgt spid="40"/>
                                        </p:tgtEl>
                                      </p:cBhvr>
                                    </p:animEffect>
                                    <p:anim calcmode="lin" valueType="num">
                                      <p:cBhvr>
                                        <p:cTn id="65" dur="1000" fill="hold"/>
                                        <p:tgtEl>
                                          <p:spTgt spid="40"/>
                                        </p:tgtEl>
                                        <p:attrNameLst>
                                          <p:attrName>ppt_x</p:attrName>
                                        </p:attrNameLst>
                                      </p:cBhvr>
                                      <p:tavLst>
                                        <p:tav tm="0">
                                          <p:val>
                                            <p:strVal val="#ppt_x"/>
                                          </p:val>
                                        </p:tav>
                                        <p:tav tm="100000">
                                          <p:val>
                                            <p:strVal val="#ppt_x"/>
                                          </p:val>
                                        </p:tav>
                                      </p:tavLst>
                                    </p:anim>
                                    <p:anim calcmode="lin" valueType="num">
                                      <p:cBhvr>
                                        <p:cTn id="66" dur="1000" fill="hold"/>
                                        <p:tgtEl>
                                          <p:spTgt spid="40"/>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1000"/>
                                        <p:tgtEl>
                                          <p:spTgt spid="41"/>
                                        </p:tgtEl>
                                      </p:cBhvr>
                                    </p:animEffect>
                                    <p:anim calcmode="lin" valueType="num">
                                      <p:cBhvr>
                                        <p:cTn id="70" dur="1000" fill="hold"/>
                                        <p:tgtEl>
                                          <p:spTgt spid="41"/>
                                        </p:tgtEl>
                                        <p:attrNameLst>
                                          <p:attrName>ppt_x</p:attrName>
                                        </p:attrNameLst>
                                      </p:cBhvr>
                                      <p:tavLst>
                                        <p:tav tm="0">
                                          <p:val>
                                            <p:strVal val="#ppt_x"/>
                                          </p:val>
                                        </p:tav>
                                        <p:tav tm="100000">
                                          <p:val>
                                            <p:strVal val="#ppt_x"/>
                                          </p:val>
                                        </p:tav>
                                      </p:tavLst>
                                    </p:anim>
                                    <p:anim calcmode="lin" valueType="num">
                                      <p:cBhvr>
                                        <p:cTn id="71"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11" grpId="0"/>
      <p:bldP spid="20" grpId="0" animBg="1"/>
      <p:bldP spid="21" grpId="0" animBg="1"/>
      <p:bldP spid="22" grpId="0"/>
      <p:bldP spid="23" grpId="0" animBg="1"/>
      <p:bldP spid="2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3867A-B86C-DBBB-3494-3A8423C79C0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41C2B3A-AF51-9B64-AA63-0DA8ABE75D65}"/>
              </a:ext>
            </a:extLst>
          </p:cNvPr>
          <p:cNvSpPr>
            <a:spLocks noGrp="1"/>
          </p:cNvSpPr>
          <p:nvPr>
            <p:ph type="title"/>
          </p:nvPr>
        </p:nvSpPr>
        <p:spPr>
          <a:xfrm>
            <a:off x="183219" y="137396"/>
            <a:ext cx="11561105" cy="424732"/>
          </a:xfrm>
        </p:spPr>
        <p:txBody>
          <a:bodyPr/>
          <a:lstStyle/>
          <a:p>
            <a:r>
              <a:rPr lang="en-US"/>
              <a:t>Leverage Deep Analytics to improve incident MTTR </a:t>
            </a:r>
          </a:p>
        </p:txBody>
      </p:sp>
      <p:sp>
        <p:nvSpPr>
          <p:cNvPr id="2" name="Slide Number Placeholder 1">
            <a:extLst>
              <a:ext uri="{FF2B5EF4-FFF2-40B4-BE49-F238E27FC236}">
                <a16:creationId xmlns:a16="http://schemas.microsoft.com/office/drawing/2014/main" id="{7C8A2888-E49D-9787-4CB9-051CBB8D43D3}"/>
              </a:ext>
            </a:extLst>
          </p:cNvPr>
          <p:cNvSpPr>
            <a:spLocks noGrp="1"/>
          </p:cNvSpPr>
          <p:nvPr>
            <p:ph type="sldNum" sz="quarter" idx="12"/>
          </p:nvPr>
        </p:nvSpPr>
        <p:spPr/>
        <p:txBody>
          <a:bodyPr/>
          <a:lstStyle/>
          <a:p>
            <a:r>
              <a:rPr lang="en-US"/>
              <a:t>| </a:t>
            </a:r>
            <a:fld id="{FEC5E14B-9965-442C-8683-0E66DD8427DC}" type="slidenum">
              <a:rPr lang="en-US" smtClean="0"/>
              <a:pPr/>
              <a:t>10</a:t>
            </a:fld>
            <a:endParaRPr lang="en-US"/>
          </a:p>
        </p:txBody>
      </p:sp>
      <p:sp>
        <p:nvSpPr>
          <p:cNvPr id="7" name="Text Placeholder 6">
            <a:extLst>
              <a:ext uri="{FF2B5EF4-FFF2-40B4-BE49-F238E27FC236}">
                <a16:creationId xmlns:a16="http://schemas.microsoft.com/office/drawing/2014/main" id="{41BCCE9E-81BB-1AC7-5FB2-C386A1E7F3BF}"/>
              </a:ext>
            </a:extLst>
          </p:cNvPr>
          <p:cNvSpPr>
            <a:spLocks noGrp="1"/>
          </p:cNvSpPr>
          <p:nvPr>
            <p:ph type="body" sz="quarter" idx="13"/>
          </p:nvPr>
        </p:nvSpPr>
        <p:spPr>
          <a:xfrm>
            <a:off x="183220" y="507880"/>
            <a:ext cx="11561104" cy="714375"/>
          </a:xfrm>
        </p:spPr>
        <p:txBody>
          <a:bodyPr/>
          <a:lstStyle/>
          <a:p>
            <a:r>
              <a:rPr lang="en-US"/>
              <a:t>With the Cato SASE Cloud Platform</a:t>
            </a:r>
          </a:p>
        </p:txBody>
      </p:sp>
      <p:sp>
        <p:nvSpPr>
          <p:cNvPr id="18" name="Rectangle 17">
            <a:extLst>
              <a:ext uri="{FF2B5EF4-FFF2-40B4-BE49-F238E27FC236}">
                <a16:creationId xmlns:a16="http://schemas.microsoft.com/office/drawing/2014/main" id="{92B77020-132B-E1F3-5F6F-0C4A201A77FD}"/>
              </a:ext>
            </a:extLst>
          </p:cNvPr>
          <p:cNvSpPr/>
          <p:nvPr/>
        </p:nvSpPr>
        <p:spPr>
          <a:xfrm>
            <a:off x="585686" y="1044181"/>
            <a:ext cx="2641790" cy="245593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3E233935-71E3-2F39-F9DB-914FF906FAEE}"/>
              </a:ext>
            </a:extLst>
          </p:cNvPr>
          <p:cNvSpPr/>
          <p:nvPr/>
        </p:nvSpPr>
        <p:spPr>
          <a:xfrm>
            <a:off x="3411223" y="1044180"/>
            <a:ext cx="7148981" cy="2455931"/>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 name="Content Placeholder 7">
            <a:extLst>
              <a:ext uri="{FF2B5EF4-FFF2-40B4-BE49-F238E27FC236}">
                <a16:creationId xmlns:a16="http://schemas.microsoft.com/office/drawing/2014/main" id="{07605C61-7AC2-5D86-DC0C-F9FF8BD43357}"/>
              </a:ext>
            </a:extLst>
          </p:cNvPr>
          <p:cNvSpPr txBox="1">
            <a:spLocks/>
          </p:cNvSpPr>
          <p:nvPr/>
        </p:nvSpPr>
        <p:spPr>
          <a:xfrm>
            <a:off x="3496650" y="1250823"/>
            <a:ext cx="6547800" cy="21541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accent1"/>
                </a:solidFill>
                <a:latin typeface="+mn-lt"/>
                <a:ea typeface="+mn-ea"/>
                <a:cs typeface="+mn-cs"/>
              </a:defRPr>
            </a:lvl1pPr>
            <a:lvl2pPr marL="457200" indent="-223838" algn="l" defTabSz="914400" rtl="0" eaLnBrk="1" latinLnBrk="0" hangingPunct="1">
              <a:lnSpc>
                <a:spcPct val="90000"/>
              </a:lnSpc>
              <a:spcBef>
                <a:spcPts val="500"/>
              </a:spcBef>
              <a:buFont typeface="Wingdings" pitchFamily="2" charset="2"/>
              <a:buChar char="§"/>
              <a:defRPr sz="2400" b="0" kern="1200">
                <a:solidFill>
                  <a:schemeClr val="tx1"/>
                </a:solidFill>
                <a:latin typeface="+mn-lt"/>
                <a:ea typeface="+mn-ea"/>
                <a:cs typeface="+mn-cs"/>
              </a:defRPr>
            </a:lvl2pPr>
            <a:lvl3pPr marL="690563" indent="-233363" algn="l" defTabSz="914400" rtl="0" eaLnBrk="1" latinLnBrk="0" hangingPunct="1">
              <a:lnSpc>
                <a:spcPct val="90000"/>
              </a:lnSpc>
              <a:spcBef>
                <a:spcPts val="500"/>
              </a:spcBef>
              <a:buFont typeface="Wingdings" pitchFamily="2" charset="2"/>
              <a:buChar char="§"/>
              <a:defRPr sz="2000" b="0" kern="1200">
                <a:solidFill>
                  <a:schemeClr val="tx1"/>
                </a:solidFill>
                <a:latin typeface="+mn-lt"/>
                <a:ea typeface="+mn-ea"/>
                <a:cs typeface="+mn-cs"/>
              </a:defRPr>
            </a:lvl3pPr>
            <a:lvl4pPr marL="914400" indent="-223838" algn="l" defTabSz="914400" rtl="0" eaLnBrk="1" latinLnBrk="0" hangingPunct="1">
              <a:lnSpc>
                <a:spcPct val="90000"/>
              </a:lnSpc>
              <a:spcBef>
                <a:spcPts val="500"/>
              </a:spcBef>
              <a:buFont typeface="Wingdings" pitchFamily="2" charset="2"/>
              <a:buChar char="§"/>
              <a:defRPr sz="1800" b="0" kern="1200">
                <a:solidFill>
                  <a:schemeClr val="tx1"/>
                </a:solidFill>
                <a:latin typeface="+mn-lt"/>
                <a:ea typeface="+mn-ea"/>
                <a:cs typeface="+mn-cs"/>
              </a:defRPr>
            </a:lvl4pPr>
            <a:lvl5pPr marL="862013" indent="-23495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231775">
              <a:lnSpc>
                <a:spcPts val="3200"/>
              </a:lnSpc>
              <a:spcBef>
                <a:spcPts val="0"/>
              </a:spcBef>
              <a:buFont typeface="Wingdings" pitchFamily="2" charset="2"/>
              <a:buChar char="ü"/>
            </a:pPr>
            <a:r>
              <a:rPr lang="en-IE" sz="1800">
                <a:solidFill>
                  <a:schemeClr val="tx1"/>
                </a:solidFill>
              </a:rPr>
              <a:t>Empower IT teams with </a:t>
            </a:r>
            <a:r>
              <a:rPr lang="en-IE" sz="1800" b="1">
                <a:solidFill>
                  <a:schemeClr val="tx1"/>
                </a:solidFill>
              </a:rPr>
              <a:t>real-time and historical metrics</a:t>
            </a:r>
            <a:r>
              <a:rPr lang="en-IE" sz="1800">
                <a:solidFill>
                  <a:schemeClr val="tx1"/>
                </a:solidFill>
              </a:rPr>
              <a:t> (latency, jitter, packet loss, application usage).</a:t>
            </a:r>
          </a:p>
          <a:p>
            <a:pPr defTabSz="231775">
              <a:lnSpc>
                <a:spcPts val="3200"/>
              </a:lnSpc>
              <a:spcBef>
                <a:spcPts val="0"/>
              </a:spcBef>
              <a:buFont typeface="Wingdings" pitchFamily="2" charset="2"/>
              <a:buChar char="ü"/>
            </a:pPr>
            <a:r>
              <a:rPr lang="en-IE" sz="1800">
                <a:solidFill>
                  <a:schemeClr val="tx1"/>
                </a:solidFill>
              </a:rPr>
              <a:t>Ability to converge signals from application, device, LAN, WAN &amp; Backbone to pinpoint the root cause of issues within minutes.</a:t>
            </a:r>
            <a:endParaRPr lang="en-US" sz="1800" i="1">
              <a:solidFill>
                <a:schemeClr val="tx1"/>
              </a:solidFill>
            </a:endParaRPr>
          </a:p>
        </p:txBody>
      </p:sp>
      <p:sp>
        <p:nvSpPr>
          <p:cNvPr id="20" name="Rectangle 19">
            <a:extLst>
              <a:ext uri="{FF2B5EF4-FFF2-40B4-BE49-F238E27FC236}">
                <a16:creationId xmlns:a16="http://schemas.microsoft.com/office/drawing/2014/main" id="{3E33095C-9542-D105-65B7-329B3DE02EE0}"/>
              </a:ext>
            </a:extLst>
          </p:cNvPr>
          <p:cNvSpPr/>
          <p:nvPr/>
        </p:nvSpPr>
        <p:spPr>
          <a:xfrm>
            <a:off x="585685" y="3663223"/>
            <a:ext cx="2641790" cy="245593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2FCA77FA-89A8-6FE1-F379-EAE7895BB6A3}"/>
              </a:ext>
            </a:extLst>
          </p:cNvPr>
          <p:cNvSpPr/>
          <p:nvPr/>
        </p:nvSpPr>
        <p:spPr>
          <a:xfrm>
            <a:off x="3411222" y="3663222"/>
            <a:ext cx="7148981" cy="2455931"/>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2" name="Content Placeholder 7">
            <a:extLst>
              <a:ext uri="{FF2B5EF4-FFF2-40B4-BE49-F238E27FC236}">
                <a16:creationId xmlns:a16="http://schemas.microsoft.com/office/drawing/2014/main" id="{AED382B0-0933-5BEC-CC41-B7B4D5731A32}"/>
              </a:ext>
            </a:extLst>
          </p:cNvPr>
          <p:cNvSpPr txBox="1">
            <a:spLocks/>
          </p:cNvSpPr>
          <p:nvPr/>
        </p:nvSpPr>
        <p:spPr>
          <a:xfrm>
            <a:off x="3496649" y="3869865"/>
            <a:ext cx="6547801" cy="21541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accent1"/>
                </a:solidFill>
                <a:latin typeface="+mn-lt"/>
                <a:ea typeface="+mn-ea"/>
                <a:cs typeface="+mn-cs"/>
              </a:defRPr>
            </a:lvl1pPr>
            <a:lvl2pPr marL="457200" indent="-223838" algn="l" defTabSz="914400" rtl="0" eaLnBrk="1" latinLnBrk="0" hangingPunct="1">
              <a:lnSpc>
                <a:spcPct val="90000"/>
              </a:lnSpc>
              <a:spcBef>
                <a:spcPts val="500"/>
              </a:spcBef>
              <a:buFont typeface="Wingdings" pitchFamily="2" charset="2"/>
              <a:buChar char="§"/>
              <a:defRPr sz="2400" b="0" kern="1200">
                <a:solidFill>
                  <a:schemeClr val="tx1"/>
                </a:solidFill>
                <a:latin typeface="+mn-lt"/>
                <a:ea typeface="+mn-ea"/>
                <a:cs typeface="+mn-cs"/>
              </a:defRPr>
            </a:lvl2pPr>
            <a:lvl3pPr marL="690563" indent="-233363" algn="l" defTabSz="914400" rtl="0" eaLnBrk="1" latinLnBrk="0" hangingPunct="1">
              <a:lnSpc>
                <a:spcPct val="90000"/>
              </a:lnSpc>
              <a:spcBef>
                <a:spcPts val="500"/>
              </a:spcBef>
              <a:buFont typeface="Wingdings" pitchFamily="2" charset="2"/>
              <a:buChar char="§"/>
              <a:defRPr sz="2000" b="0" kern="1200">
                <a:solidFill>
                  <a:schemeClr val="tx1"/>
                </a:solidFill>
                <a:latin typeface="+mn-lt"/>
                <a:ea typeface="+mn-ea"/>
                <a:cs typeface="+mn-cs"/>
              </a:defRPr>
            </a:lvl3pPr>
            <a:lvl4pPr marL="914400" indent="-223838" algn="l" defTabSz="914400" rtl="0" eaLnBrk="1" latinLnBrk="0" hangingPunct="1">
              <a:lnSpc>
                <a:spcPct val="90000"/>
              </a:lnSpc>
              <a:spcBef>
                <a:spcPts val="500"/>
              </a:spcBef>
              <a:buFont typeface="Wingdings" pitchFamily="2" charset="2"/>
              <a:buChar char="§"/>
              <a:defRPr sz="1800" b="0" kern="1200">
                <a:solidFill>
                  <a:schemeClr val="tx1"/>
                </a:solidFill>
                <a:latin typeface="+mn-lt"/>
                <a:ea typeface="+mn-ea"/>
                <a:cs typeface="+mn-cs"/>
              </a:defRPr>
            </a:lvl4pPr>
            <a:lvl5pPr marL="862013" indent="-23495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231775">
              <a:lnSpc>
                <a:spcPts val="3200"/>
              </a:lnSpc>
              <a:spcBef>
                <a:spcPts val="0"/>
              </a:spcBef>
              <a:buFont typeface="Wingdings" pitchFamily="2" charset="2"/>
              <a:buChar char="ü"/>
            </a:pPr>
            <a:r>
              <a:rPr lang="en-IE" sz="1800">
                <a:solidFill>
                  <a:schemeClr val="tx1"/>
                </a:solidFill>
              </a:rPr>
              <a:t>Accelerated incident remediation, higher uptime, and fewer business disruptions.</a:t>
            </a:r>
          </a:p>
        </p:txBody>
      </p:sp>
      <p:sp>
        <p:nvSpPr>
          <p:cNvPr id="23" name="TextBox 22">
            <a:extLst>
              <a:ext uri="{FF2B5EF4-FFF2-40B4-BE49-F238E27FC236}">
                <a16:creationId xmlns:a16="http://schemas.microsoft.com/office/drawing/2014/main" id="{DE94B80A-1B45-D477-42F8-4EA7F377F1EF}"/>
              </a:ext>
            </a:extLst>
          </p:cNvPr>
          <p:cNvSpPr txBox="1"/>
          <p:nvPr/>
        </p:nvSpPr>
        <p:spPr>
          <a:xfrm>
            <a:off x="947639" y="1346349"/>
            <a:ext cx="1947829" cy="779026"/>
          </a:xfrm>
          <a:prstGeom prst="roundRect">
            <a:avLst>
              <a:gd name="adj" fmla="val 50000"/>
            </a:avLst>
          </a:prstGeom>
          <a:solidFill>
            <a:schemeClr val="bg1"/>
          </a:solidFill>
          <a:ln>
            <a:noFill/>
          </a:ln>
          <a:scene3d>
            <a:camera prst="orthographicFront"/>
            <a:lightRig rig="threePt" dir="t"/>
          </a:scene3d>
          <a:sp3d extrusionH="76200" prstMaterial="matte">
            <a:bevelT/>
            <a:extrusionClr>
              <a:schemeClr val="bg1"/>
            </a:extrusionClr>
          </a:sp3d>
        </p:spPr>
        <p:txBody>
          <a:bodyPr wrap="squar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rgbClr val="158864"/>
                </a:solidFill>
                <a:latin typeface="Calibri" panose="020F0502020204030204"/>
              </a:rPr>
              <a:t>Business Objectives</a:t>
            </a:r>
            <a:endParaRPr kumimoji="0" lang="en-US" sz="1800" b="0" i="0" u="none" strike="noStrike" kern="1200" cap="none" spc="0" normalizeH="0" baseline="0" noProof="0">
              <a:ln>
                <a:noFill/>
              </a:ln>
              <a:solidFill>
                <a:srgbClr val="158864"/>
              </a:solidFill>
              <a:effectLst/>
              <a:uLnTx/>
              <a:uFillTx/>
              <a:latin typeface="Calibri" panose="020F0502020204030204"/>
              <a:ea typeface="+mn-ea"/>
              <a:cs typeface="+mn-cs"/>
            </a:endParaRPr>
          </a:p>
        </p:txBody>
      </p:sp>
      <p:sp>
        <p:nvSpPr>
          <p:cNvPr id="25" name="TextBox 24">
            <a:extLst>
              <a:ext uri="{FF2B5EF4-FFF2-40B4-BE49-F238E27FC236}">
                <a16:creationId xmlns:a16="http://schemas.microsoft.com/office/drawing/2014/main" id="{60C1F801-FF30-4765-20F3-C65FAB4B8174}"/>
              </a:ext>
            </a:extLst>
          </p:cNvPr>
          <p:cNvSpPr txBox="1"/>
          <p:nvPr/>
        </p:nvSpPr>
        <p:spPr>
          <a:xfrm>
            <a:off x="932665" y="3949683"/>
            <a:ext cx="1947829" cy="779026"/>
          </a:xfrm>
          <a:prstGeom prst="roundRect">
            <a:avLst>
              <a:gd name="adj" fmla="val 50000"/>
            </a:avLst>
          </a:prstGeom>
          <a:solidFill>
            <a:schemeClr val="bg1"/>
          </a:solidFill>
          <a:ln>
            <a:noFill/>
          </a:ln>
          <a:scene3d>
            <a:camera prst="orthographicFront"/>
            <a:lightRig rig="threePt" dir="t"/>
          </a:scene3d>
          <a:sp3d extrusionH="76200" prstMaterial="matte">
            <a:bevelT/>
            <a:extrusionClr>
              <a:schemeClr val="bg1"/>
            </a:extrusionClr>
          </a:sp3d>
        </p:spPr>
        <p:txBody>
          <a:bodyPr wrap="squar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rgbClr val="158864"/>
                </a:solidFill>
                <a:latin typeface="Calibri" panose="020F0502020204030204"/>
              </a:rPr>
              <a:t>Business Outcomes</a:t>
            </a:r>
            <a:endParaRPr kumimoji="0" lang="en-US" sz="1800" b="0" i="0" u="none" strike="noStrike" kern="1200" cap="none" spc="0" normalizeH="0" baseline="0" noProof="0">
              <a:ln>
                <a:noFill/>
              </a:ln>
              <a:solidFill>
                <a:srgbClr val="158864"/>
              </a:solidFill>
              <a:effectLst/>
              <a:uLnTx/>
              <a:uFillTx/>
              <a:latin typeface="Calibri" panose="020F0502020204030204"/>
              <a:ea typeface="+mn-ea"/>
              <a:cs typeface="+mn-cs"/>
            </a:endParaRPr>
          </a:p>
        </p:txBody>
      </p:sp>
      <p:pic>
        <p:nvPicPr>
          <p:cNvPr id="4" name="Graphic 3" descr="Circles with arrows outline">
            <a:extLst>
              <a:ext uri="{FF2B5EF4-FFF2-40B4-BE49-F238E27FC236}">
                <a16:creationId xmlns:a16="http://schemas.microsoft.com/office/drawing/2014/main" id="{977DBBA3-084C-5099-D571-EC5806018B1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80202">
            <a:off x="1341805" y="4842499"/>
            <a:ext cx="1057294" cy="1057294"/>
          </a:xfrm>
          <a:prstGeom prst="rect">
            <a:avLst/>
          </a:prstGeom>
        </p:spPr>
      </p:pic>
      <p:pic>
        <p:nvPicPr>
          <p:cNvPr id="35" name="Graphic 34" descr="Euro with solid fill">
            <a:extLst>
              <a:ext uri="{FF2B5EF4-FFF2-40B4-BE49-F238E27FC236}">
                <a16:creationId xmlns:a16="http://schemas.microsoft.com/office/drawing/2014/main" id="{18E9D362-4050-ED83-579A-C0679805FBB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84571" y="5277699"/>
            <a:ext cx="161091" cy="161091"/>
          </a:xfrm>
          <a:prstGeom prst="rect">
            <a:avLst/>
          </a:prstGeom>
        </p:spPr>
      </p:pic>
      <p:pic>
        <p:nvPicPr>
          <p:cNvPr id="37" name="Graphic 36" descr="Bullseye with solid fill">
            <a:extLst>
              <a:ext uri="{FF2B5EF4-FFF2-40B4-BE49-F238E27FC236}">
                <a16:creationId xmlns:a16="http://schemas.microsoft.com/office/drawing/2014/main" id="{9A47EEA3-BE98-D2D8-0174-A1965823328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64353" y="2308880"/>
            <a:ext cx="914400" cy="914400"/>
          </a:xfrm>
          <a:prstGeom prst="rect">
            <a:avLst/>
          </a:prstGeom>
        </p:spPr>
      </p:pic>
      <p:pic>
        <p:nvPicPr>
          <p:cNvPr id="40" name="Graphic 39" descr="Euro with solid fill">
            <a:extLst>
              <a:ext uri="{FF2B5EF4-FFF2-40B4-BE49-F238E27FC236}">
                <a16:creationId xmlns:a16="http://schemas.microsoft.com/office/drawing/2014/main" id="{4FDD2415-56B5-6437-CF1B-CC69D45CD31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89905" y="5273370"/>
            <a:ext cx="161091" cy="161091"/>
          </a:xfrm>
          <a:prstGeom prst="rect">
            <a:avLst/>
          </a:prstGeom>
        </p:spPr>
      </p:pic>
      <p:pic>
        <p:nvPicPr>
          <p:cNvPr id="41" name="Graphic 40" descr="Euro with solid fill">
            <a:extLst>
              <a:ext uri="{FF2B5EF4-FFF2-40B4-BE49-F238E27FC236}">
                <a16:creationId xmlns:a16="http://schemas.microsoft.com/office/drawing/2014/main" id="{C44F8E57-3AFC-55EE-6BE0-3CE7565BBF5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01420" y="5269041"/>
            <a:ext cx="161091" cy="161091"/>
          </a:xfrm>
          <a:prstGeom prst="rect">
            <a:avLst/>
          </a:prstGeom>
        </p:spPr>
      </p:pic>
    </p:spTree>
    <p:extLst>
      <p:ext uri="{BB962C8B-B14F-4D97-AF65-F5344CB8AC3E}">
        <p14:creationId xmlns:p14="http://schemas.microsoft.com/office/powerpoint/2010/main" val="4164453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anim calcmode="lin" valueType="num">
                                      <p:cBhvr>
                                        <p:cTn id="13" dur="1000" fill="hold"/>
                                        <p:tgtEl>
                                          <p:spTgt spid="19"/>
                                        </p:tgtEl>
                                        <p:attrNameLst>
                                          <p:attrName>ppt_x</p:attrName>
                                        </p:attrNameLst>
                                      </p:cBhvr>
                                      <p:tavLst>
                                        <p:tav tm="0">
                                          <p:val>
                                            <p:strVal val="#ppt_x"/>
                                          </p:val>
                                        </p:tav>
                                        <p:tav tm="100000">
                                          <p:val>
                                            <p:strVal val="#ppt_x"/>
                                          </p:val>
                                        </p:tav>
                                      </p:tavLst>
                                    </p:anim>
                                    <p:anim calcmode="lin" valueType="num">
                                      <p:cBhvr>
                                        <p:cTn id="14" dur="1000" fill="hold"/>
                                        <p:tgtEl>
                                          <p:spTgt spid="1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1000"/>
                                        <p:tgtEl>
                                          <p:spTgt spid="23"/>
                                        </p:tgtEl>
                                      </p:cBhvr>
                                    </p:animEffect>
                                    <p:anim calcmode="lin" valueType="num">
                                      <p:cBhvr>
                                        <p:cTn id="23" dur="1000" fill="hold"/>
                                        <p:tgtEl>
                                          <p:spTgt spid="23"/>
                                        </p:tgtEl>
                                        <p:attrNameLst>
                                          <p:attrName>ppt_x</p:attrName>
                                        </p:attrNameLst>
                                      </p:cBhvr>
                                      <p:tavLst>
                                        <p:tav tm="0">
                                          <p:val>
                                            <p:strVal val="#ppt_x"/>
                                          </p:val>
                                        </p:tav>
                                        <p:tav tm="100000">
                                          <p:val>
                                            <p:strVal val="#ppt_x"/>
                                          </p:val>
                                        </p:tav>
                                      </p:tavLst>
                                    </p:anim>
                                    <p:anim calcmode="lin" valueType="num">
                                      <p:cBhvr>
                                        <p:cTn id="24" dur="1000" fill="hold"/>
                                        <p:tgtEl>
                                          <p:spTgt spid="23"/>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1000"/>
                                        <p:tgtEl>
                                          <p:spTgt spid="37"/>
                                        </p:tgtEl>
                                      </p:cBhvr>
                                    </p:animEffect>
                                    <p:anim calcmode="lin" valueType="num">
                                      <p:cBhvr>
                                        <p:cTn id="28" dur="1000" fill="hold"/>
                                        <p:tgtEl>
                                          <p:spTgt spid="37"/>
                                        </p:tgtEl>
                                        <p:attrNameLst>
                                          <p:attrName>ppt_x</p:attrName>
                                        </p:attrNameLst>
                                      </p:cBhvr>
                                      <p:tavLst>
                                        <p:tav tm="0">
                                          <p:val>
                                            <p:strVal val="#ppt_x"/>
                                          </p:val>
                                        </p:tav>
                                        <p:tav tm="100000">
                                          <p:val>
                                            <p:strVal val="#ppt_x"/>
                                          </p:val>
                                        </p:tav>
                                      </p:tavLst>
                                    </p:anim>
                                    <p:anim calcmode="lin" valueType="num">
                                      <p:cBhvr>
                                        <p:cTn id="29"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1000"/>
                                        <p:tgtEl>
                                          <p:spTgt spid="20"/>
                                        </p:tgtEl>
                                      </p:cBhvr>
                                    </p:animEffect>
                                    <p:anim calcmode="lin" valueType="num">
                                      <p:cBhvr>
                                        <p:cTn id="35" dur="1000" fill="hold"/>
                                        <p:tgtEl>
                                          <p:spTgt spid="20"/>
                                        </p:tgtEl>
                                        <p:attrNameLst>
                                          <p:attrName>ppt_x</p:attrName>
                                        </p:attrNameLst>
                                      </p:cBhvr>
                                      <p:tavLst>
                                        <p:tav tm="0">
                                          <p:val>
                                            <p:strVal val="#ppt_x"/>
                                          </p:val>
                                        </p:tav>
                                        <p:tav tm="100000">
                                          <p:val>
                                            <p:strVal val="#ppt_x"/>
                                          </p:val>
                                        </p:tav>
                                      </p:tavLst>
                                    </p:anim>
                                    <p:anim calcmode="lin" valueType="num">
                                      <p:cBhvr>
                                        <p:cTn id="36" dur="1000" fill="hold"/>
                                        <p:tgtEl>
                                          <p:spTgt spid="20"/>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1000"/>
                                        <p:tgtEl>
                                          <p:spTgt spid="21"/>
                                        </p:tgtEl>
                                      </p:cBhvr>
                                    </p:animEffect>
                                    <p:anim calcmode="lin" valueType="num">
                                      <p:cBhvr>
                                        <p:cTn id="40" dur="1000" fill="hold"/>
                                        <p:tgtEl>
                                          <p:spTgt spid="21"/>
                                        </p:tgtEl>
                                        <p:attrNameLst>
                                          <p:attrName>ppt_x</p:attrName>
                                        </p:attrNameLst>
                                      </p:cBhvr>
                                      <p:tavLst>
                                        <p:tav tm="0">
                                          <p:val>
                                            <p:strVal val="#ppt_x"/>
                                          </p:val>
                                        </p:tav>
                                        <p:tav tm="100000">
                                          <p:val>
                                            <p:strVal val="#ppt_x"/>
                                          </p:val>
                                        </p:tav>
                                      </p:tavLst>
                                    </p:anim>
                                    <p:anim calcmode="lin" valueType="num">
                                      <p:cBhvr>
                                        <p:cTn id="41" dur="1000" fill="hold"/>
                                        <p:tgtEl>
                                          <p:spTgt spid="21"/>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1000"/>
                                        <p:tgtEl>
                                          <p:spTgt spid="22"/>
                                        </p:tgtEl>
                                      </p:cBhvr>
                                    </p:animEffect>
                                    <p:anim calcmode="lin" valueType="num">
                                      <p:cBhvr>
                                        <p:cTn id="45" dur="1000" fill="hold"/>
                                        <p:tgtEl>
                                          <p:spTgt spid="22"/>
                                        </p:tgtEl>
                                        <p:attrNameLst>
                                          <p:attrName>ppt_x</p:attrName>
                                        </p:attrNameLst>
                                      </p:cBhvr>
                                      <p:tavLst>
                                        <p:tav tm="0">
                                          <p:val>
                                            <p:strVal val="#ppt_x"/>
                                          </p:val>
                                        </p:tav>
                                        <p:tav tm="100000">
                                          <p:val>
                                            <p:strVal val="#ppt_x"/>
                                          </p:val>
                                        </p:tav>
                                      </p:tavLst>
                                    </p:anim>
                                    <p:anim calcmode="lin" valueType="num">
                                      <p:cBhvr>
                                        <p:cTn id="46" dur="1000" fill="hold"/>
                                        <p:tgtEl>
                                          <p:spTgt spid="22"/>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1000"/>
                                        <p:tgtEl>
                                          <p:spTgt spid="25"/>
                                        </p:tgtEl>
                                      </p:cBhvr>
                                    </p:animEffect>
                                    <p:anim calcmode="lin" valueType="num">
                                      <p:cBhvr>
                                        <p:cTn id="50" dur="1000" fill="hold"/>
                                        <p:tgtEl>
                                          <p:spTgt spid="25"/>
                                        </p:tgtEl>
                                        <p:attrNameLst>
                                          <p:attrName>ppt_x</p:attrName>
                                        </p:attrNameLst>
                                      </p:cBhvr>
                                      <p:tavLst>
                                        <p:tav tm="0">
                                          <p:val>
                                            <p:strVal val="#ppt_x"/>
                                          </p:val>
                                        </p:tav>
                                        <p:tav tm="100000">
                                          <p:val>
                                            <p:strVal val="#ppt_x"/>
                                          </p:val>
                                        </p:tav>
                                      </p:tavLst>
                                    </p:anim>
                                    <p:anim calcmode="lin" valueType="num">
                                      <p:cBhvr>
                                        <p:cTn id="51" dur="1000" fill="hold"/>
                                        <p:tgtEl>
                                          <p:spTgt spid="25"/>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fade">
                                      <p:cBhvr>
                                        <p:cTn id="54" dur="1000"/>
                                        <p:tgtEl>
                                          <p:spTgt spid="4"/>
                                        </p:tgtEl>
                                      </p:cBhvr>
                                    </p:animEffect>
                                    <p:anim calcmode="lin" valueType="num">
                                      <p:cBhvr>
                                        <p:cTn id="55" dur="1000" fill="hold"/>
                                        <p:tgtEl>
                                          <p:spTgt spid="4"/>
                                        </p:tgtEl>
                                        <p:attrNameLst>
                                          <p:attrName>ppt_x</p:attrName>
                                        </p:attrNameLst>
                                      </p:cBhvr>
                                      <p:tavLst>
                                        <p:tav tm="0">
                                          <p:val>
                                            <p:strVal val="#ppt_x"/>
                                          </p:val>
                                        </p:tav>
                                        <p:tav tm="100000">
                                          <p:val>
                                            <p:strVal val="#ppt_x"/>
                                          </p:val>
                                        </p:tav>
                                      </p:tavLst>
                                    </p:anim>
                                    <p:anim calcmode="lin" valueType="num">
                                      <p:cBhvr>
                                        <p:cTn id="56" dur="1000" fill="hold"/>
                                        <p:tgtEl>
                                          <p:spTgt spid="4"/>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1000"/>
                                        <p:tgtEl>
                                          <p:spTgt spid="35"/>
                                        </p:tgtEl>
                                      </p:cBhvr>
                                    </p:animEffect>
                                    <p:anim calcmode="lin" valueType="num">
                                      <p:cBhvr>
                                        <p:cTn id="60" dur="1000" fill="hold"/>
                                        <p:tgtEl>
                                          <p:spTgt spid="35"/>
                                        </p:tgtEl>
                                        <p:attrNameLst>
                                          <p:attrName>ppt_x</p:attrName>
                                        </p:attrNameLst>
                                      </p:cBhvr>
                                      <p:tavLst>
                                        <p:tav tm="0">
                                          <p:val>
                                            <p:strVal val="#ppt_x"/>
                                          </p:val>
                                        </p:tav>
                                        <p:tav tm="100000">
                                          <p:val>
                                            <p:strVal val="#ppt_x"/>
                                          </p:val>
                                        </p:tav>
                                      </p:tavLst>
                                    </p:anim>
                                    <p:anim calcmode="lin" valueType="num">
                                      <p:cBhvr>
                                        <p:cTn id="61" dur="1000" fill="hold"/>
                                        <p:tgtEl>
                                          <p:spTgt spid="35"/>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1000"/>
                                        <p:tgtEl>
                                          <p:spTgt spid="40"/>
                                        </p:tgtEl>
                                      </p:cBhvr>
                                    </p:animEffect>
                                    <p:anim calcmode="lin" valueType="num">
                                      <p:cBhvr>
                                        <p:cTn id="65" dur="1000" fill="hold"/>
                                        <p:tgtEl>
                                          <p:spTgt spid="40"/>
                                        </p:tgtEl>
                                        <p:attrNameLst>
                                          <p:attrName>ppt_x</p:attrName>
                                        </p:attrNameLst>
                                      </p:cBhvr>
                                      <p:tavLst>
                                        <p:tav tm="0">
                                          <p:val>
                                            <p:strVal val="#ppt_x"/>
                                          </p:val>
                                        </p:tav>
                                        <p:tav tm="100000">
                                          <p:val>
                                            <p:strVal val="#ppt_x"/>
                                          </p:val>
                                        </p:tav>
                                      </p:tavLst>
                                    </p:anim>
                                    <p:anim calcmode="lin" valueType="num">
                                      <p:cBhvr>
                                        <p:cTn id="66" dur="1000" fill="hold"/>
                                        <p:tgtEl>
                                          <p:spTgt spid="40"/>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1000"/>
                                        <p:tgtEl>
                                          <p:spTgt spid="41"/>
                                        </p:tgtEl>
                                      </p:cBhvr>
                                    </p:animEffect>
                                    <p:anim calcmode="lin" valueType="num">
                                      <p:cBhvr>
                                        <p:cTn id="70" dur="1000" fill="hold"/>
                                        <p:tgtEl>
                                          <p:spTgt spid="41"/>
                                        </p:tgtEl>
                                        <p:attrNameLst>
                                          <p:attrName>ppt_x</p:attrName>
                                        </p:attrNameLst>
                                      </p:cBhvr>
                                      <p:tavLst>
                                        <p:tav tm="0">
                                          <p:val>
                                            <p:strVal val="#ppt_x"/>
                                          </p:val>
                                        </p:tav>
                                        <p:tav tm="100000">
                                          <p:val>
                                            <p:strVal val="#ppt_x"/>
                                          </p:val>
                                        </p:tav>
                                      </p:tavLst>
                                    </p:anim>
                                    <p:anim calcmode="lin" valueType="num">
                                      <p:cBhvr>
                                        <p:cTn id="71"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11" grpId="0"/>
      <p:bldP spid="20" grpId="0" animBg="1"/>
      <p:bldP spid="21" grpId="0" animBg="1"/>
      <p:bldP spid="22" grpId="0"/>
      <p:bldP spid="23" grpId="0" animBg="1"/>
      <p:bldP spid="2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B878B-0CB9-3A13-DE71-26AADBEA3B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C601FDC-A1FE-1812-2B48-9DA29B4F7C67}"/>
              </a:ext>
            </a:extLst>
          </p:cNvPr>
          <p:cNvSpPr>
            <a:spLocks noGrp="1"/>
          </p:cNvSpPr>
          <p:nvPr>
            <p:ph type="title"/>
          </p:nvPr>
        </p:nvSpPr>
        <p:spPr>
          <a:xfrm>
            <a:off x="183219" y="137396"/>
            <a:ext cx="11561105" cy="424732"/>
          </a:xfrm>
        </p:spPr>
        <p:txBody>
          <a:bodyPr/>
          <a:lstStyle/>
          <a:p>
            <a:r>
              <a:rPr lang="en-IE"/>
              <a:t>Enhance Policy Governance and Compliance Visibility</a:t>
            </a:r>
            <a:endParaRPr lang="en-US"/>
          </a:p>
        </p:txBody>
      </p:sp>
      <p:sp>
        <p:nvSpPr>
          <p:cNvPr id="2" name="Slide Number Placeholder 1">
            <a:extLst>
              <a:ext uri="{FF2B5EF4-FFF2-40B4-BE49-F238E27FC236}">
                <a16:creationId xmlns:a16="http://schemas.microsoft.com/office/drawing/2014/main" id="{C88E74FE-8122-04FF-1FB2-F3C4A8196CE9}"/>
              </a:ext>
            </a:extLst>
          </p:cNvPr>
          <p:cNvSpPr>
            <a:spLocks noGrp="1"/>
          </p:cNvSpPr>
          <p:nvPr>
            <p:ph type="sldNum" sz="quarter" idx="12"/>
          </p:nvPr>
        </p:nvSpPr>
        <p:spPr/>
        <p:txBody>
          <a:bodyPr/>
          <a:lstStyle/>
          <a:p>
            <a:r>
              <a:rPr lang="en-US"/>
              <a:t>| </a:t>
            </a:r>
            <a:fld id="{FEC5E14B-9965-442C-8683-0E66DD8427DC}" type="slidenum">
              <a:rPr lang="en-US" smtClean="0"/>
              <a:pPr/>
              <a:t>11</a:t>
            </a:fld>
            <a:endParaRPr lang="en-US"/>
          </a:p>
        </p:txBody>
      </p:sp>
      <p:sp>
        <p:nvSpPr>
          <p:cNvPr id="7" name="Text Placeholder 6">
            <a:extLst>
              <a:ext uri="{FF2B5EF4-FFF2-40B4-BE49-F238E27FC236}">
                <a16:creationId xmlns:a16="http://schemas.microsoft.com/office/drawing/2014/main" id="{75AC7C3B-0848-B0F4-8A80-79E3D2E9D11A}"/>
              </a:ext>
            </a:extLst>
          </p:cNvPr>
          <p:cNvSpPr>
            <a:spLocks noGrp="1"/>
          </p:cNvSpPr>
          <p:nvPr>
            <p:ph type="body" sz="quarter" idx="13"/>
          </p:nvPr>
        </p:nvSpPr>
        <p:spPr>
          <a:xfrm>
            <a:off x="183220" y="507880"/>
            <a:ext cx="11561104" cy="714375"/>
          </a:xfrm>
        </p:spPr>
        <p:txBody>
          <a:bodyPr/>
          <a:lstStyle/>
          <a:p>
            <a:r>
              <a:rPr lang="en-US"/>
              <a:t>With the Cato SASE Cloud Platform</a:t>
            </a:r>
          </a:p>
        </p:txBody>
      </p:sp>
      <p:sp>
        <p:nvSpPr>
          <p:cNvPr id="18" name="Rectangle 17">
            <a:extLst>
              <a:ext uri="{FF2B5EF4-FFF2-40B4-BE49-F238E27FC236}">
                <a16:creationId xmlns:a16="http://schemas.microsoft.com/office/drawing/2014/main" id="{CF2AC6AA-0DCF-B71C-CFBB-DB8A320F3552}"/>
              </a:ext>
            </a:extLst>
          </p:cNvPr>
          <p:cNvSpPr/>
          <p:nvPr/>
        </p:nvSpPr>
        <p:spPr>
          <a:xfrm>
            <a:off x="585686" y="1044181"/>
            <a:ext cx="2641790" cy="245593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1F8D9250-0806-6E59-11D1-54F47D6E167A}"/>
              </a:ext>
            </a:extLst>
          </p:cNvPr>
          <p:cNvSpPr/>
          <p:nvPr/>
        </p:nvSpPr>
        <p:spPr>
          <a:xfrm>
            <a:off x="3411223" y="1044180"/>
            <a:ext cx="7148981" cy="2455931"/>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 name="Content Placeholder 7">
            <a:extLst>
              <a:ext uri="{FF2B5EF4-FFF2-40B4-BE49-F238E27FC236}">
                <a16:creationId xmlns:a16="http://schemas.microsoft.com/office/drawing/2014/main" id="{18F8B17D-8765-AFF5-6FEF-EBD73A876ADE}"/>
              </a:ext>
            </a:extLst>
          </p:cNvPr>
          <p:cNvSpPr txBox="1">
            <a:spLocks/>
          </p:cNvSpPr>
          <p:nvPr/>
        </p:nvSpPr>
        <p:spPr>
          <a:xfrm>
            <a:off x="3496650" y="1250823"/>
            <a:ext cx="6547800" cy="21541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accent1"/>
                </a:solidFill>
                <a:latin typeface="+mn-lt"/>
                <a:ea typeface="+mn-ea"/>
                <a:cs typeface="+mn-cs"/>
              </a:defRPr>
            </a:lvl1pPr>
            <a:lvl2pPr marL="457200" indent="-223838" algn="l" defTabSz="914400" rtl="0" eaLnBrk="1" latinLnBrk="0" hangingPunct="1">
              <a:lnSpc>
                <a:spcPct val="90000"/>
              </a:lnSpc>
              <a:spcBef>
                <a:spcPts val="500"/>
              </a:spcBef>
              <a:buFont typeface="Wingdings" pitchFamily="2" charset="2"/>
              <a:buChar char="§"/>
              <a:defRPr sz="2400" b="0" kern="1200">
                <a:solidFill>
                  <a:schemeClr val="tx1"/>
                </a:solidFill>
                <a:latin typeface="+mn-lt"/>
                <a:ea typeface="+mn-ea"/>
                <a:cs typeface="+mn-cs"/>
              </a:defRPr>
            </a:lvl2pPr>
            <a:lvl3pPr marL="690563" indent="-233363" algn="l" defTabSz="914400" rtl="0" eaLnBrk="1" latinLnBrk="0" hangingPunct="1">
              <a:lnSpc>
                <a:spcPct val="90000"/>
              </a:lnSpc>
              <a:spcBef>
                <a:spcPts val="500"/>
              </a:spcBef>
              <a:buFont typeface="Wingdings" pitchFamily="2" charset="2"/>
              <a:buChar char="§"/>
              <a:defRPr sz="2000" b="0" kern="1200">
                <a:solidFill>
                  <a:schemeClr val="tx1"/>
                </a:solidFill>
                <a:latin typeface="+mn-lt"/>
                <a:ea typeface="+mn-ea"/>
                <a:cs typeface="+mn-cs"/>
              </a:defRPr>
            </a:lvl3pPr>
            <a:lvl4pPr marL="914400" indent="-223838" algn="l" defTabSz="914400" rtl="0" eaLnBrk="1" latinLnBrk="0" hangingPunct="1">
              <a:lnSpc>
                <a:spcPct val="90000"/>
              </a:lnSpc>
              <a:spcBef>
                <a:spcPts val="500"/>
              </a:spcBef>
              <a:buFont typeface="Wingdings" pitchFamily="2" charset="2"/>
              <a:buChar char="§"/>
              <a:defRPr sz="1800" b="0" kern="1200">
                <a:solidFill>
                  <a:schemeClr val="tx1"/>
                </a:solidFill>
                <a:latin typeface="+mn-lt"/>
                <a:ea typeface="+mn-ea"/>
                <a:cs typeface="+mn-cs"/>
              </a:defRPr>
            </a:lvl4pPr>
            <a:lvl5pPr marL="862013" indent="-23495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231775">
              <a:lnSpc>
                <a:spcPts val="3200"/>
              </a:lnSpc>
              <a:spcBef>
                <a:spcPts val="0"/>
              </a:spcBef>
              <a:buFont typeface="Wingdings" pitchFamily="2" charset="2"/>
              <a:buChar char="ü"/>
            </a:pPr>
            <a:r>
              <a:rPr lang="en-IE" sz="1800">
                <a:solidFill>
                  <a:schemeClr val="tx1"/>
                </a:solidFill>
              </a:rPr>
              <a:t>Centralize visibility of </a:t>
            </a:r>
            <a:r>
              <a:rPr lang="en-IE" sz="1800" b="1">
                <a:solidFill>
                  <a:schemeClr val="tx1"/>
                </a:solidFill>
              </a:rPr>
              <a:t>network &amp; security policies, rule changes, and access patterns</a:t>
            </a:r>
            <a:r>
              <a:rPr lang="en-IE" sz="1800">
                <a:solidFill>
                  <a:schemeClr val="tx1"/>
                </a:solidFill>
              </a:rPr>
              <a:t>.</a:t>
            </a:r>
          </a:p>
          <a:p>
            <a:pPr defTabSz="231775">
              <a:lnSpc>
                <a:spcPts val="3200"/>
              </a:lnSpc>
              <a:spcBef>
                <a:spcPts val="0"/>
              </a:spcBef>
              <a:buFont typeface="Wingdings" pitchFamily="2" charset="2"/>
              <a:buChar char="ü"/>
            </a:pPr>
            <a:r>
              <a:rPr lang="en-IE" sz="1800">
                <a:solidFill>
                  <a:schemeClr val="tx1"/>
                </a:solidFill>
              </a:rPr>
              <a:t>Provide </a:t>
            </a:r>
            <a:r>
              <a:rPr lang="en-IE" sz="1800" b="1">
                <a:solidFill>
                  <a:schemeClr val="tx1"/>
                </a:solidFill>
              </a:rPr>
              <a:t>auditable logs and reporting</a:t>
            </a:r>
            <a:r>
              <a:rPr lang="en-IE" sz="1800">
                <a:solidFill>
                  <a:schemeClr val="tx1"/>
                </a:solidFill>
              </a:rPr>
              <a:t> that satisfy compliance frameworks (PCI, HIPAA, GDPR, SOX).</a:t>
            </a:r>
            <a:endParaRPr lang="en-US" sz="1800" i="1">
              <a:solidFill>
                <a:schemeClr val="tx1"/>
              </a:solidFill>
            </a:endParaRPr>
          </a:p>
        </p:txBody>
      </p:sp>
      <p:sp>
        <p:nvSpPr>
          <p:cNvPr id="20" name="Rectangle 19">
            <a:extLst>
              <a:ext uri="{FF2B5EF4-FFF2-40B4-BE49-F238E27FC236}">
                <a16:creationId xmlns:a16="http://schemas.microsoft.com/office/drawing/2014/main" id="{1C5130F8-0DE6-C904-2178-D6291C6CD9F3}"/>
              </a:ext>
            </a:extLst>
          </p:cNvPr>
          <p:cNvSpPr/>
          <p:nvPr/>
        </p:nvSpPr>
        <p:spPr>
          <a:xfrm>
            <a:off x="585685" y="3663223"/>
            <a:ext cx="2641790" cy="245593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0F6A7198-A4AE-D60F-253F-3095C89DE77D}"/>
              </a:ext>
            </a:extLst>
          </p:cNvPr>
          <p:cNvSpPr/>
          <p:nvPr/>
        </p:nvSpPr>
        <p:spPr>
          <a:xfrm>
            <a:off x="3411222" y="3663222"/>
            <a:ext cx="7148981" cy="2455931"/>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2" name="Content Placeholder 7">
            <a:extLst>
              <a:ext uri="{FF2B5EF4-FFF2-40B4-BE49-F238E27FC236}">
                <a16:creationId xmlns:a16="http://schemas.microsoft.com/office/drawing/2014/main" id="{E404DC3D-416B-5338-CEF1-D172666D6043}"/>
              </a:ext>
            </a:extLst>
          </p:cNvPr>
          <p:cNvSpPr txBox="1">
            <a:spLocks/>
          </p:cNvSpPr>
          <p:nvPr/>
        </p:nvSpPr>
        <p:spPr>
          <a:xfrm>
            <a:off x="3496649" y="3869865"/>
            <a:ext cx="6547801" cy="21541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accent1"/>
                </a:solidFill>
                <a:latin typeface="+mn-lt"/>
                <a:ea typeface="+mn-ea"/>
                <a:cs typeface="+mn-cs"/>
              </a:defRPr>
            </a:lvl1pPr>
            <a:lvl2pPr marL="457200" indent="-223838" algn="l" defTabSz="914400" rtl="0" eaLnBrk="1" latinLnBrk="0" hangingPunct="1">
              <a:lnSpc>
                <a:spcPct val="90000"/>
              </a:lnSpc>
              <a:spcBef>
                <a:spcPts val="500"/>
              </a:spcBef>
              <a:buFont typeface="Wingdings" pitchFamily="2" charset="2"/>
              <a:buChar char="§"/>
              <a:defRPr sz="2400" b="0" kern="1200">
                <a:solidFill>
                  <a:schemeClr val="tx1"/>
                </a:solidFill>
                <a:latin typeface="+mn-lt"/>
                <a:ea typeface="+mn-ea"/>
                <a:cs typeface="+mn-cs"/>
              </a:defRPr>
            </a:lvl2pPr>
            <a:lvl3pPr marL="690563" indent="-233363" algn="l" defTabSz="914400" rtl="0" eaLnBrk="1" latinLnBrk="0" hangingPunct="1">
              <a:lnSpc>
                <a:spcPct val="90000"/>
              </a:lnSpc>
              <a:spcBef>
                <a:spcPts val="500"/>
              </a:spcBef>
              <a:buFont typeface="Wingdings" pitchFamily="2" charset="2"/>
              <a:buChar char="§"/>
              <a:defRPr sz="2000" b="0" kern="1200">
                <a:solidFill>
                  <a:schemeClr val="tx1"/>
                </a:solidFill>
                <a:latin typeface="+mn-lt"/>
                <a:ea typeface="+mn-ea"/>
                <a:cs typeface="+mn-cs"/>
              </a:defRPr>
            </a:lvl3pPr>
            <a:lvl4pPr marL="914400" indent="-223838" algn="l" defTabSz="914400" rtl="0" eaLnBrk="1" latinLnBrk="0" hangingPunct="1">
              <a:lnSpc>
                <a:spcPct val="90000"/>
              </a:lnSpc>
              <a:spcBef>
                <a:spcPts val="500"/>
              </a:spcBef>
              <a:buFont typeface="Wingdings" pitchFamily="2" charset="2"/>
              <a:buChar char="§"/>
              <a:defRPr sz="1800" b="0" kern="1200">
                <a:solidFill>
                  <a:schemeClr val="tx1"/>
                </a:solidFill>
                <a:latin typeface="+mn-lt"/>
                <a:ea typeface="+mn-ea"/>
                <a:cs typeface="+mn-cs"/>
              </a:defRPr>
            </a:lvl4pPr>
            <a:lvl5pPr marL="862013" indent="-23495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231775">
              <a:lnSpc>
                <a:spcPts val="3200"/>
              </a:lnSpc>
              <a:spcBef>
                <a:spcPts val="0"/>
              </a:spcBef>
              <a:buFont typeface="Wingdings" pitchFamily="2" charset="2"/>
              <a:buChar char="ü"/>
            </a:pPr>
            <a:r>
              <a:rPr lang="en-IE" sz="1800">
                <a:solidFill>
                  <a:schemeClr val="tx1"/>
                </a:solidFill>
              </a:rPr>
              <a:t>Reduced compliance overhead</a:t>
            </a:r>
          </a:p>
          <a:p>
            <a:pPr defTabSz="231775">
              <a:lnSpc>
                <a:spcPts val="3200"/>
              </a:lnSpc>
              <a:spcBef>
                <a:spcPts val="0"/>
              </a:spcBef>
              <a:buFont typeface="Wingdings" pitchFamily="2" charset="2"/>
              <a:buChar char="ü"/>
            </a:pPr>
            <a:r>
              <a:rPr lang="en-IE" sz="1800">
                <a:solidFill>
                  <a:schemeClr val="tx1"/>
                </a:solidFill>
              </a:rPr>
              <a:t>SPOG for policy, posture &amp; compliance visibility</a:t>
            </a:r>
          </a:p>
          <a:p>
            <a:pPr defTabSz="231775">
              <a:lnSpc>
                <a:spcPts val="3200"/>
              </a:lnSpc>
              <a:spcBef>
                <a:spcPts val="0"/>
              </a:spcBef>
              <a:buFont typeface="Wingdings" pitchFamily="2" charset="2"/>
              <a:buChar char="ü"/>
            </a:pPr>
            <a:r>
              <a:rPr lang="en-IE" sz="1800">
                <a:solidFill>
                  <a:schemeClr val="tx1"/>
                </a:solidFill>
              </a:rPr>
              <a:t>Improved audit readiness.</a:t>
            </a:r>
          </a:p>
        </p:txBody>
      </p:sp>
      <p:sp>
        <p:nvSpPr>
          <p:cNvPr id="23" name="TextBox 22">
            <a:extLst>
              <a:ext uri="{FF2B5EF4-FFF2-40B4-BE49-F238E27FC236}">
                <a16:creationId xmlns:a16="http://schemas.microsoft.com/office/drawing/2014/main" id="{0D9BA413-B1AE-2CE0-0349-D896E6478A44}"/>
              </a:ext>
            </a:extLst>
          </p:cNvPr>
          <p:cNvSpPr txBox="1"/>
          <p:nvPr/>
        </p:nvSpPr>
        <p:spPr>
          <a:xfrm>
            <a:off x="947639" y="1346349"/>
            <a:ext cx="1947829" cy="779026"/>
          </a:xfrm>
          <a:prstGeom prst="roundRect">
            <a:avLst>
              <a:gd name="adj" fmla="val 50000"/>
            </a:avLst>
          </a:prstGeom>
          <a:solidFill>
            <a:schemeClr val="bg1"/>
          </a:solidFill>
          <a:ln>
            <a:noFill/>
          </a:ln>
          <a:scene3d>
            <a:camera prst="orthographicFront"/>
            <a:lightRig rig="threePt" dir="t"/>
          </a:scene3d>
          <a:sp3d extrusionH="76200" prstMaterial="matte">
            <a:bevelT/>
            <a:extrusionClr>
              <a:schemeClr val="bg1"/>
            </a:extrusionClr>
          </a:sp3d>
        </p:spPr>
        <p:txBody>
          <a:bodyPr wrap="squar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rgbClr val="158864"/>
                </a:solidFill>
                <a:latin typeface="Calibri" panose="020F0502020204030204"/>
              </a:rPr>
              <a:t>Business Objectives</a:t>
            </a:r>
            <a:endParaRPr kumimoji="0" lang="en-US" sz="1800" b="0" i="0" u="none" strike="noStrike" kern="1200" cap="none" spc="0" normalizeH="0" baseline="0" noProof="0">
              <a:ln>
                <a:noFill/>
              </a:ln>
              <a:solidFill>
                <a:srgbClr val="158864"/>
              </a:solidFill>
              <a:effectLst/>
              <a:uLnTx/>
              <a:uFillTx/>
              <a:latin typeface="Calibri" panose="020F0502020204030204"/>
              <a:ea typeface="+mn-ea"/>
              <a:cs typeface="+mn-cs"/>
            </a:endParaRPr>
          </a:p>
        </p:txBody>
      </p:sp>
      <p:sp>
        <p:nvSpPr>
          <p:cNvPr id="25" name="TextBox 24">
            <a:extLst>
              <a:ext uri="{FF2B5EF4-FFF2-40B4-BE49-F238E27FC236}">
                <a16:creationId xmlns:a16="http://schemas.microsoft.com/office/drawing/2014/main" id="{76946960-B021-84E3-BE38-F1707862B6A7}"/>
              </a:ext>
            </a:extLst>
          </p:cNvPr>
          <p:cNvSpPr txBox="1"/>
          <p:nvPr/>
        </p:nvSpPr>
        <p:spPr>
          <a:xfrm>
            <a:off x="932665" y="3949683"/>
            <a:ext cx="1947829" cy="779026"/>
          </a:xfrm>
          <a:prstGeom prst="roundRect">
            <a:avLst>
              <a:gd name="adj" fmla="val 50000"/>
            </a:avLst>
          </a:prstGeom>
          <a:solidFill>
            <a:schemeClr val="bg1"/>
          </a:solidFill>
          <a:ln>
            <a:noFill/>
          </a:ln>
          <a:scene3d>
            <a:camera prst="orthographicFront"/>
            <a:lightRig rig="threePt" dir="t"/>
          </a:scene3d>
          <a:sp3d extrusionH="76200" prstMaterial="matte">
            <a:bevelT/>
            <a:extrusionClr>
              <a:schemeClr val="bg1"/>
            </a:extrusionClr>
          </a:sp3d>
        </p:spPr>
        <p:txBody>
          <a:bodyPr wrap="squar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rgbClr val="158864"/>
                </a:solidFill>
                <a:latin typeface="Calibri" panose="020F0502020204030204"/>
              </a:rPr>
              <a:t>Business Outcomes</a:t>
            </a:r>
            <a:endParaRPr kumimoji="0" lang="en-US" sz="1800" b="0" i="0" u="none" strike="noStrike" kern="1200" cap="none" spc="0" normalizeH="0" baseline="0" noProof="0">
              <a:ln>
                <a:noFill/>
              </a:ln>
              <a:solidFill>
                <a:srgbClr val="158864"/>
              </a:solidFill>
              <a:effectLst/>
              <a:uLnTx/>
              <a:uFillTx/>
              <a:latin typeface="Calibri" panose="020F0502020204030204"/>
              <a:ea typeface="+mn-ea"/>
              <a:cs typeface="+mn-cs"/>
            </a:endParaRPr>
          </a:p>
        </p:txBody>
      </p:sp>
      <p:pic>
        <p:nvPicPr>
          <p:cNvPr id="4" name="Graphic 3" descr="Circles with arrows outline">
            <a:extLst>
              <a:ext uri="{FF2B5EF4-FFF2-40B4-BE49-F238E27FC236}">
                <a16:creationId xmlns:a16="http://schemas.microsoft.com/office/drawing/2014/main" id="{452E27A7-AB15-D927-976F-A2477BC35BB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80202">
            <a:off x="1341805" y="4842499"/>
            <a:ext cx="1057294" cy="1057294"/>
          </a:xfrm>
          <a:prstGeom prst="rect">
            <a:avLst/>
          </a:prstGeom>
        </p:spPr>
      </p:pic>
      <p:pic>
        <p:nvPicPr>
          <p:cNvPr id="35" name="Graphic 34" descr="Euro with solid fill">
            <a:extLst>
              <a:ext uri="{FF2B5EF4-FFF2-40B4-BE49-F238E27FC236}">
                <a16:creationId xmlns:a16="http://schemas.microsoft.com/office/drawing/2014/main" id="{FA5384CF-BE91-ED80-BBE7-B3D097A345D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84571" y="5277699"/>
            <a:ext cx="161091" cy="161091"/>
          </a:xfrm>
          <a:prstGeom prst="rect">
            <a:avLst/>
          </a:prstGeom>
        </p:spPr>
      </p:pic>
      <p:pic>
        <p:nvPicPr>
          <p:cNvPr id="37" name="Graphic 36" descr="Bullseye with solid fill">
            <a:extLst>
              <a:ext uri="{FF2B5EF4-FFF2-40B4-BE49-F238E27FC236}">
                <a16:creationId xmlns:a16="http://schemas.microsoft.com/office/drawing/2014/main" id="{8CCC3F98-DD24-17D2-7C5A-8F3E33B7915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64353" y="2308880"/>
            <a:ext cx="914400" cy="914400"/>
          </a:xfrm>
          <a:prstGeom prst="rect">
            <a:avLst/>
          </a:prstGeom>
        </p:spPr>
      </p:pic>
      <p:pic>
        <p:nvPicPr>
          <p:cNvPr id="40" name="Graphic 39" descr="Euro with solid fill">
            <a:extLst>
              <a:ext uri="{FF2B5EF4-FFF2-40B4-BE49-F238E27FC236}">
                <a16:creationId xmlns:a16="http://schemas.microsoft.com/office/drawing/2014/main" id="{9C79DE12-2CC3-865E-BEF4-2AA4E340295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89905" y="5273370"/>
            <a:ext cx="161091" cy="161091"/>
          </a:xfrm>
          <a:prstGeom prst="rect">
            <a:avLst/>
          </a:prstGeom>
        </p:spPr>
      </p:pic>
      <p:pic>
        <p:nvPicPr>
          <p:cNvPr id="41" name="Graphic 40" descr="Euro with solid fill">
            <a:extLst>
              <a:ext uri="{FF2B5EF4-FFF2-40B4-BE49-F238E27FC236}">
                <a16:creationId xmlns:a16="http://schemas.microsoft.com/office/drawing/2014/main" id="{957FF50B-1127-0BE7-8F50-15CEBC4C11C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01420" y="5269041"/>
            <a:ext cx="161091" cy="161091"/>
          </a:xfrm>
          <a:prstGeom prst="rect">
            <a:avLst/>
          </a:prstGeom>
        </p:spPr>
      </p:pic>
    </p:spTree>
    <p:extLst>
      <p:ext uri="{BB962C8B-B14F-4D97-AF65-F5344CB8AC3E}">
        <p14:creationId xmlns:p14="http://schemas.microsoft.com/office/powerpoint/2010/main" val="3107346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anim calcmode="lin" valueType="num">
                                      <p:cBhvr>
                                        <p:cTn id="13" dur="1000" fill="hold"/>
                                        <p:tgtEl>
                                          <p:spTgt spid="19"/>
                                        </p:tgtEl>
                                        <p:attrNameLst>
                                          <p:attrName>ppt_x</p:attrName>
                                        </p:attrNameLst>
                                      </p:cBhvr>
                                      <p:tavLst>
                                        <p:tav tm="0">
                                          <p:val>
                                            <p:strVal val="#ppt_x"/>
                                          </p:val>
                                        </p:tav>
                                        <p:tav tm="100000">
                                          <p:val>
                                            <p:strVal val="#ppt_x"/>
                                          </p:val>
                                        </p:tav>
                                      </p:tavLst>
                                    </p:anim>
                                    <p:anim calcmode="lin" valueType="num">
                                      <p:cBhvr>
                                        <p:cTn id="14" dur="1000" fill="hold"/>
                                        <p:tgtEl>
                                          <p:spTgt spid="1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1000"/>
                                        <p:tgtEl>
                                          <p:spTgt spid="23"/>
                                        </p:tgtEl>
                                      </p:cBhvr>
                                    </p:animEffect>
                                    <p:anim calcmode="lin" valueType="num">
                                      <p:cBhvr>
                                        <p:cTn id="23" dur="1000" fill="hold"/>
                                        <p:tgtEl>
                                          <p:spTgt spid="23"/>
                                        </p:tgtEl>
                                        <p:attrNameLst>
                                          <p:attrName>ppt_x</p:attrName>
                                        </p:attrNameLst>
                                      </p:cBhvr>
                                      <p:tavLst>
                                        <p:tav tm="0">
                                          <p:val>
                                            <p:strVal val="#ppt_x"/>
                                          </p:val>
                                        </p:tav>
                                        <p:tav tm="100000">
                                          <p:val>
                                            <p:strVal val="#ppt_x"/>
                                          </p:val>
                                        </p:tav>
                                      </p:tavLst>
                                    </p:anim>
                                    <p:anim calcmode="lin" valueType="num">
                                      <p:cBhvr>
                                        <p:cTn id="24" dur="1000" fill="hold"/>
                                        <p:tgtEl>
                                          <p:spTgt spid="23"/>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1000"/>
                                        <p:tgtEl>
                                          <p:spTgt spid="37"/>
                                        </p:tgtEl>
                                      </p:cBhvr>
                                    </p:animEffect>
                                    <p:anim calcmode="lin" valueType="num">
                                      <p:cBhvr>
                                        <p:cTn id="28" dur="1000" fill="hold"/>
                                        <p:tgtEl>
                                          <p:spTgt spid="37"/>
                                        </p:tgtEl>
                                        <p:attrNameLst>
                                          <p:attrName>ppt_x</p:attrName>
                                        </p:attrNameLst>
                                      </p:cBhvr>
                                      <p:tavLst>
                                        <p:tav tm="0">
                                          <p:val>
                                            <p:strVal val="#ppt_x"/>
                                          </p:val>
                                        </p:tav>
                                        <p:tav tm="100000">
                                          <p:val>
                                            <p:strVal val="#ppt_x"/>
                                          </p:val>
                                        </p:tav>
                                      </p:tavLst>
                                    </p:anim>
                                    <p:anim calcmode="lin" valueType="num">
                                      <p:cBhvr>
                                        <p:cTn id="29"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1000"/>
                                        <p:tgtEl>
                                          <p:spTgt spid="20"/>
                                        </p:tgtEl>
                                      </p:cBhvr>
                                    </p:animEffect>
                                    <p:anim calcmode="lin" valueType="num">
                                      <p:cBhvr>
                                        <p:cTn id="35" dur="1000" fill="hold"/>
                                        <p:tgtEl>
                                          <p:spTgt spid="20"/>
                                        </p:tgtEl>
                                        <p:attrNameLst>
                                          <p:attrName>ppt_x</p:attrName>
                                        </p:attrNameLst>
                                      </p:cBhvr>
                                      <p:tavLst>
                                        <p:tav tm="0">
                                          <p:val>
                                            <p:strVal val="#ppt_x"/>
                                          </p:val>
                                        </p:tav>
                                        <p:tav tm="100000">
                                          <p:val>
                                            <p:strVal val="#ppt_x"/>
                                          </p:val>
                                        </p:tav>
                                      </p:tavLst>
                                    </p:anim>
                                    <p:anim calcmode="lin" valueType="num">
                                      <p:cBhvr>
                                        <p:cTn id="36" dur="1000" fill="hold"/>
                                        <p:tgtEl>
                                          <p:spTgt spid="20"/>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1000"/>
                                        <p:tgtEl>
                                          <p:spTgt spid="21"/>
                                        </p:tgtEl>
                                      </p:cBhvr>
                                    </p:animEffect>
                                    <p:anim calcmode="lin" valueType="num">
                                      <p:cBhvr>
                                        <p:cTn id="40" dur="1000" fill="hold"/>
                                        <p:tgtEl>
                                          <p:spTgt spid="21"/>
                                        </p:tgtEl>
                                        <p:attrNameLst>
                                          <p:attrName>ppt_x</p:attrName>
                                        </p:attrNameLst>
                                      </p:cBhvr>
                                      <p:tavLst>
                                        <p:tav tm="0">
                                          <p:val>
                                            <p:strVal val="#ppt_x"/>
                                          </p:val>
                                        </p:tav>
                                        <p:tav tm="100000">
                                          <p:val>
                                            <p:strVal val="#ppt_x"/>
                                          </p:val>
                                        </p:tav>
                                      </p:tavLst>
                                    </p:anim>
                                    <p:anim calcmode="lin" valueType="num">
                                      <p:cBhvr>
                                        <p:cTn id="41" dur="1000" fill="hold"/>
                                        <p:tgtEl>
                                          <p:spTgt spid="21"/>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1000"/>
                                        <p:tgtEl>
                                          <p:spTgt spid="22"/>
                                        </p:tgtEl>
                                      </p:cBhvr>
                                    </p:animEffect>
                                    <p:anim calcmode="lin" valueType="num">
                                      <p:cBhvr>
                                        <p:cTn id="45" dur="1000" fill="hold"/>
                                        <p:tgtEl>
                                          <p:spTgt spid="22"/>
                                        </p:tgtEl>
                                        <p:attrNameLst>
                                          <p:attrName>ppt_x</p:attrName>
                                        </p:attrNameLst>
                                      </p:cBhvr>
                                      <p:tavLst>
                                        <p:tav tm="0">
                                          <p:val>
                                            <p:strVal val="#ppt_x"/>
                                          </p:val>
                                        </p:tav>
                                        <p:tav tm="100000">
                                          <p:val>
                                            <p:strVal val="#ppt_x"/>
                                          </p:val>
                                        </p:tav>
                                      </p:tavLst>
                                    </p:anim>
                                    <p:anim calcmode="lin" valueType="num">
                                      <p:cBhvr>
                                        <p:cTn id="46" dur="1000" fill="hold"/>
                                        <p:tgtEl>
                                          <p:spTgt spid="22"/>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1000"/>
                                        <p:tgtEl>
                                          <p:spTgt spid="25"/>
                                        </p:tgtEl>
                                      </p:cBhvr>
                                    </p:animEffect>
                                    <p:anim calcmode="lin" valueType="num">
                                      <p:cBhvr>
                                        <p:cTn id="50" dur="1000" fill="hold"/>
                                        <p:tgtEl>
                                          <p:spTgt spid="25"/>
                                        </p:tgtEl>
                                        <p:attrNameLst>
                                          <p:attrName>ppt_x</p:attrName>
                                        </p:attrNameLst>
                                      </p:cBhvr>
                                      <p:tavLst>
                                        <p:tav tm="0">
                                          <p:val>
                                            <p:strVal val="#ppt_x"/>
                                          </p:val>
                                        </p:tav>
                                        <p:tav tm="100000">
                                          <p:val>
                                            <p:strVal val="#ppt_x"/>
                                          </p:val>
                                        </p:tav>
                                      </p:tavLst>
                                    </p:anim>
                                    <p:anim calcmode="lin" valueType="num">
                                      <p:cBhvr>
                                        <p:cTn id="51" dur="1000" fill="hold"/>
                                        <p:tgtEl>
                                          <p:spTgt spid="25"/>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fade">
                                      <p:cBhvr>
                                        <p:cTn id="54" dur="1000"/>
                                        <p:tgtEl>
                                          <p:spTgt spid="4"/>
                                        </p:tgtEl>
                                      </p:cBhvr>
                                    </p:animEffect>
                                    <p:anim calcmode="lin" valueType="num">
                                      <p:cBhvr>
                                        <p:cTn id="55" dur="1000" fill="hold"/>
                                        <p:tgtEl>
                                          <p:spTgt spid="4"/>
                                        </p:tgtEl>
                                        <p:attrNameLst>
                                          <p:attrName>ppt_x</p:attrName>
                                        </p:attrNameLst>
                                      </p:cBhvr>
                                      <p:tavLst>
                                        <p:tav tm="0">
                                          <p:val>
                                            <p:strVal val="#ppt_x"/>
                                          </p:val>
                                        </p:tav>
                                        <p:tav tm="100000">
                                          <p:val>
                                            <p:strVal val="#ppt_x"/>
                                          </p:val>
                                        </p:tav>
                                      </p:tavLst>
                                    </p:anim>
                                    <p:anim calcmode="lin" valueType="num">
                                      <p:cBhvr>
                                        <p:cTn id="56" dur="1000" fill="hold"/>
                                        <p:tgtEl>
                                          <p:spTgt spid="4"/>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1000"/>
                                        <p:tgtEl>
                                          <p:spTgt spid="35"/>
                                        </p:tgtEl>
                                      </p:cBhvr>
                                    </p:animEffect>
                                    <p:anim calcmode="lin" valueType="num">
                                      <p:cBhvr>
                                        <p:cTn id="60" dur="1000" fill="hold"/>
                                        <p:tgtEl>
                                          <p:spTgt spid="35"/>
                                        </p:tgtEl>
                                        <p:attrNameLst>
                                          <p:attrName>ppt_x</p:attrName>
                                        </p:attrNameLst>
                                      </p:cBhvr>
                                      <p:tavLst>
                                        <p:tav tm="0">
                                          <p:val>
                                            <p:strVal val="#ppt_x"/>
                                          </p:val>
                                        </p:tav>
                                        <p:tav tm="100000">
                                          <p:val>
                                            <p:strVal val="#ppt_x"/>
                                          </p:val>
                                        </p:tav>
                                      </p:tavLst>
                                    </p:anim>
                                    <p:anim calcmode="lin" valueType="num">
                                      <p:cBhvr>
                                        <p:cTn id="61" dur="1000" fill="hold"/>
                                        <p:tgtEl>
                                          <p:spTgt spid="35"/>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1000"/>
                                        <p:tgtEl>
                                          <p:spTgt spid="40"/>
                                        </p:tgtEl>
                                      </p:cBhvr>
                                    </p:animEffect>
                                    <p:anim calcmode="lin" valueType="num">
                                      <p:cBhvr>
                                        <p:cTn id="65" dur="1000" fill="hold"/>
                                        <p:tgtEl>
                                          <p:spTgt spid="40"/>
                                        </p:tgtEl>
                                        <p:attrNameLst>
                                          <p:attrName>ppt_x</p:attrName>
                                        </p:attrNameLst>
                                      </p:cBhvr>
                                      <p:tavLst>
                                        <p:tav tm="0">
                                          <p:val>
                                            <p:strVal val="#ppt_x"/>
                                          </p:val>
                                        </p:tav>
                                        <p:tav tm="100000">
                                          <p:val>
                                            <p:strVal val="#ppt_x"/>
                                          </p:val>
                                        </p:tav>
                                      </p:tavLst>
                                    </p:anim>
                                    <p:anim calcmode="lin" valueType="num">
                                      <p:cBhvr>
                                        <p:cTn id="66" dur="1000" fill="hold"/>
                                        <p:tgtEl>
                                          <p:spTgt spid="40"/>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1000"/>
                                        <p:tgtEl>
                                          <p:spTgt spid="41"/>
                                        </p:tgtEl>
                                      </p:cBhvr>
                                    </p:animEffect>
                                    <p:anim calcmode="lin" valueType="num">
                                      <p:cBhvr>
                                        <p:cTn id="70" dur="1000" fill="hold"/>
                                        <p:tgtEl>
                                          <p:spTgt spid="41"/>
                                        </p:tgtEl>
                                        <p:attrNameLst>
                                          <p:attrName>ppt_x</p:attrName>
                                        </p:attrNameLst>
                                      </p:cBhvr>
                                      <p:tavLst>
                                        <p:tav tm="0">
                                          <p:val>
                                            <p:strVal val="#ppt_x"/>
                                          </p:val>
                                        </p:tav>
                                        <p:tav tm="100000">
                                          <p:val>
                                            <p:strVal val="#ppt_x"/>
                                          </p:val>
                                        </p:tav>
                                      </p:tavLst>
                                    </p:anim>
                                    <p:anim calcmode="lin" valueType="num">
                                      <p:cBhvr>
                                        <p:cTn id="71"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11" grpId="0"/>
      <p:bldP spid="20" grpId="0" animBg="1"/>
      <p:bldP spid="21" grpId="0" animBg="1"/>
      <p:bldP spid="22" grpId="0"/>
      <p:bldP spid="23" grpId="0" animBg="1"/>
      <p:bldP spid="2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0901A-5EEA-8BF5-FC79-5C25B10BE48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85766A1-E21B-C7A7-1FDE-69704F969536}"/>
              </a:ext>
            </a:extLst>
          </p:cNvPr>
          <p:cNvSpPr>
            <a:spLocks noGrp="1"/>
          </p:cNvSpPr>
          <p:nvPr>
            <p:ph type="title"/>
          </p:nvPr>
        </p:nvSpPr>
        <p:spPr>
          <a:xfrm>
            <a:off x="183219" y="137396"/>
            <a:ext cx="11561105" cy="424732"/>
          </a:xfrm>
        </p:spPr>
        <p:txBody>
          <a:bodyPr/>
          <a:lstStyle/>
          <a:p>
            <a:r>
              <a:rPr lang="en-IE"/>
              <a:t>Improve the digital experience of </a:t>
            </a:r>
            <a:r>
              <a:rPr lang="en-IE" u="sng"/>
              <a:t>ALL</a:t>
            </a:r>
            <a:r>
              <a:rPr lang="en-IE"/>
              <a:t> users</a:t>
            </a:r>
            <a:endParaRPr lang="en-US"/>
          </a:p>
        </p:txBody>
      </p:sp>
      <p:sp>
        <p:nvSpPr>
          <p:cNvPr id="2" name="Slide Number Placeholder 1">
            <a:extLst>
              <a:ext uri="{FF2B5EF4-FFF2-40B4-BE49-F238E27FC236}">
                <a16:creationId xmlns:a16="http://schemas.microsoft.com/office/drawing/2014/main" id="{29AB53BC-5251-42A1-7F3F-EE268B85BF98}"/>
              </a:ext>
            </a:extLst>
          </p:cNvPr>
          <p:cNvSpPr>
            <a:spLocks noGrp="1"/>
          </p:cNvSpPr>
          <p:nvPr>
            <p:ph type="sldNum" sz="quarter" idx="12"/>
          </p:nvPr>
        </p:nvSpPr>
        <p:spPr/>
        <p:txBody>
          <a:bodyPr/>
          <a:lstStyle/>
          <a:p>
            <a:r>
              <a:rPr lang="en-US"/>
              <a:t>| </a:t>
            </a:r>
            <a:fld id="{FEC5E14B-9965-442C-8683-0E66DD8427DC}" type="slidenum">
              <a:rPr lang="en-US" smtClean="0"/>
              <a:pPr/>
              <a:t>12</a:t>
            </a:fld>
            <a:endParaRPr lang="en-US"/>
          </a:p>
        </p:txBody>
      </p:sp>
      <p:sp>
        <p:nvSpPr>
          <p:cNvPr id="7" name="Text Placeholder 6">
            <a:extLst>
              <a:ext uri="{FF2B5EF4-FFF2-40B4-BE49-F238E27FC236}">
                <a16:creationId xmlns:a16="http://schemas.microsoft.com/office/drawing/2014/main" id="{0229E28C-C1D3-5CF4-712E-D01E4B8E7C54}"/>
              </a:ext>
            </a:extLst>
          </p:cNvPr>
          <p:cNvSpPr>
            <a:spLocks noGrp="1"/>
          </p:cNvSpPr>
          <p:nvPr>
            <p:ph type="body" sz="quarter" idx="13"/>
          </p:nvPr>
        </p:nvSpPr>
        <p:spPr>
          <a:xfrm>
            <a:off x="183220" y="507880"/>
            <a:ext cx="11561104" cy="714375"/>
          </a:xfrm>
        </p:spPr>
        <p:txBody>
          <a:bodyPr/>
          <a:lstStyle/>
          <a:p>
            <a:r>
              <a:rPr lang="en-US"/>
              <a:t>With the Cato SASE Cloud Platform</a:t>
            </a:r>
          </a:p>
        </p:txBody>
      </p:sp>
      <p:sp>
        <p:nvSpPr>
          <p:cNvPr id="18" name="Rectangle 17">
            <a:extLst>
              <a:ext uri="{FF2B5EF4-FFF2-40B4-BE49-F238E27FC236}">
                <a16:creationId xmlns:a16="http://schemas.microsoft.com/office/drawing/2014/main" id="{FDA8A931-DDB3-5403-1658-E9FA284DB395}"/>
              </a:ext>
            </a:extLst>
          </p:cNvPr>
          <p:cNvSpPr/>
          <p:nvPr/>
        </p:nvSpPr>
        <p:spPr>
          <a:xfrm>
            <a:off x="585686" y="1044181"/>
            <a:ext cx="2641790" cy="245593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25C02CDB-34FB-A35E-87CC-BD302B425052}"/>
              </a:ext>
            </a:extLst>
          </p:cNvPr>
          <p:cNvSpPr/>
          <p:nvPr/>
        </p:nvSpPr>
        <p:spPr>
          <a:xfrm>
            <a:off x="3411223" y="1044180"/>
            <a:ext cx="7148981" cy="2455931"/>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 name="Content Placeholder 7">
            <a:extLst>
              <a:ext uri="{FF2B5EF4-FFF2-40B4-BE49-F238E27FC236}">
                <a16:creationId xmlns:a16="http://schemas.microsoft.com/office/drawing/2014/main" id="{CA43D7D1-3CCC-6F29-2926-15D717734FB6}"/>
              </a:ext>
            </a:extLst>
          </p:cNvPr>
          <p:cNvSpPr txBox="1">
            <a:spLocks/>
          </p:cNvSpPr>
          <p:nvPr/>
        </p:nvSpPr>
        <p:spPr>
          <a:xfrm>
            <a:off x="3496650" y="1250823"/>
            <a:ext cx="6547800" cy="21541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accent1"/>
                </a:solidFill>
                <a:latin typeface="+mn-lt"/>
                <a:ea typeface="+mn-ea"/>
                <a:cs typeface="+mn-cs"/>
              </a:defRPr>
            </a:lvl1pPr>
            <a:lvl2pPr marL="457200" indent="-223838" algn="l" defTabSz="914400" rtl="0" eaLnBrk="1" latinLnBrk="0" hangingPunct="1">
              <a:lnSpc>
                <a:spcPct val="90000"/>
              </a:lnSpc>
              <a:spcBef>
                <a:spcPts val="500"/>
              </a:spcBef>
              <a:buFont typeface="Wingdings" pitchFamily="2" charset="2"/>
              <a:buChar char="§"/>
              <a:defRPr sz="2400" b="0" kern="1200">
                <a:solidFill>
                  <a:schemeClr val="tx1"/>
                </a:solidFill>
                <a:latin typeface="+mn-lt"/>
                <a:ea typeface="+mn-ea"/>
                <a:cs typeface="+mn-cs"/>
              </a:defRPr>
            </a:lvl2pPr>
            <a:lvl3pPr marL="690563" indent="-233363" algn="l" defTabSz="914400" rtl="0" eaLnBrk="1" latinLnBrk="0" hangingPunct="1">
              <a:lnSpc>
                <a:spcPct val="90000"/>
              </a:lnSpc>
              <a:spcBef>
                <a:spcPts val="500"/>
              </a:spcBef>
              <a:buFont typeface="Wingdings" pitchFamily="2" charset="2"/>
              <a:buChar char="§"/>
              <a:defRPr sz="2000" b="0" kern="1200">
                <a:solidFill>
                  <a:schemeClr val="tx1"/>
                </a:solidFill>
                <a:latin typeface="+mn-lt"/>
                <a:ea typeface="+mn-ea"/>
                <a:cs typeface="+mn-cs"/>
              </a:defRPr>
            </a:lvl3pPr>
            <a:lvl4pPr marL="914400" indent="-223838" algn="l" defTabSz="914400" rtl="0" eaLnBrk="1" latinLnBrk="0" hangingPunct="1">
              <a:lnSpc>
                <a:spcPct val="90000"/>
              </a:lnSpc>
              <a:spcBef>
                <a:spcPts val="500"/>
              </a:spcBef>
              <a:buFont typeface="Wingdings" pitchFamily="2" charset="2"/>
              <a:buChar char="§"/>
              <a:defRPr sz="1800" b="0" kern="1200">
                <a:solidFill>
                  <a:schemeClr val="tx1"/>
                </a:solidFill>
                <a:latin typeface="+mn-lt"/>
                <a:ea typeface="+mn-ea"/>
                <a:cs typeface="+mn-cs"/>
              </a:defRPr>
            </a:lvl4pPr>
            <a:lvl5pPr marL="862013" indent="-23495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231775">
              <a:lnSpc>
                <a:spcPts val="3200"/>
              </a:lnSpc>
              <a:spcBef>
                <a:spcPts val="0"/>
              </a:spcBef>
              <a:buFont typeface="Wingdings" pitchFamily="2" charset="2"/>
              <a:buChar char="ü"/>
            </a:pPr>
            <a:r>
              <a:rPr lang="en-IE" sz="1800">
                <a:solidFill>
                  <a:schemeClr val="tx1"/>
                </a:solidFill>
              </a:rPr>
              <a:t>Track </a:t>
            </a:r>
            <a:r>
              <a:rPr lang="en-IE" sz="1800" b="1">
                <a:solidFill>
                  <a:schemeClr val="tx1"/>
                </a:solidFill>
              </a:rPr>
              <a:t>individual user performance</a:t>
            </a:r>
            <a:r>
              <a:rPr lang="en-IE" sz="1800">
                <a:solidFill>
                  <a:schemeClr val="tx1"/>
                </a:solidFill>
              </a:rPr>
              <a:t>, app access, and device posture from a unified dashboard. </a:t>
            </a:r>
          </a:p>
          <a:p>
            <a:pPr defTabSz="231775">
              <a:lnSpc>
                <a:spcPts val="3200"/>
              </a:lnSpc>
              <a:spcBef>
                <a:spcPts val="0"/>
              </a:spcBef>
              <a:buFont typeface="Wingdings" pitchFamily="2" charset="2"/>
              <a:buChar char="ü"/>
            </a:pPr>
            <a:r>
              <a:rPr lang="en-IE" sz="1800">
                <a:solidFill>
                  <a:schemeClr val="tx1"/>
                </a:solidFill>
              </a:rPr>
              <a:t>Quickly identify whether issues relate to user device, last-mile ISP, backbone, or application.</a:t>
            </a:r>
            <a:endParaRPr lang="en-US" sz="1800" i="1">
              <a:solidFill>
                <a:schemeClr val="tx1"/>
              </a:solidFill>
            </a:endParaRPr>
          </a:p>
        </p:txBody>
      </p:sp>
      <p:sp>
        <p:nvSpPr>
          <p:cNvPr id="20" name="Rectangle 19">
            <a:extLst>
              <a:ext uri="{FF2B5EF4-FFF2-40B4-BE49-F238E27FC236}">
                <a16:creationId xmlns:a16="http://schemas.microsoft.com/office/drawing/2014/main" id="{2A13D1AE-1DFE-D774-C0B1-88CE3CA2F0FD}"/>
              </a:ext>
            </a:extLst>
          </p:cNvPr>
          <p:cNvSpPr/>
          <p:nvPr/>
        </p:nvSpPr>
        <p:spPr>
          <a:xfrm>
            <a:off x="585685" y="3663223"/>
            <a:ext cx="2641790" cy="245593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DDBDF003-5A4E-FDE0-C3DA-4D5F49D7FE02}"/>
              </a:ext>
            </a:extLst>
          </p:cNvPr>
          <p:cNvSpPr/>
          <p:nvPr/>
        </p:nvSpPr>
        <p:spPr>
          <a:xfrm>
            <a:off x="3411222" y="3663222"/>
            <a:ext cx="7148981" cy="2455931"/>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2" name="Content Placeholder 7">
            <a:extLst>
              <a:ext uri="{FF2B5EF4-FFF2-40B4-BE49-F238E27FC236}">
                <a16:creationId xmlns:a16="http://schemas.microsoft.com/office/drawing/2014/main" id="{210D9B1C-658F-B8D6-F1BB-71F37032E52F}"/>
              </a:ext>
            </a:extLst>
          </p:cNvPr>
          <p:cNvSpPr txBox="1">
            <a:spLocks/>
          </p:cNvSpPr>
          <p:nvPr/>
        </p:nvSpPr>
        <p:spPr>
          <a:xfrm>
            <a:off x="3496649" y="3869865"/>
            <a:ext cx="6547801" cy="21541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accent1"/>
                </a:solidFill>
                <a:latin typeface="+mn-lt"/>
                <a:ea typeface="+mn-ea"/>
                <a:cs typeface="+mn-cs"/>
              </a:defRPr>
            </a:lvl1pPr>
            <a:lvl2pPr marL="457200" indent="-223838" algn="l" defTabSz="914400" rtl="0" eaLnBrk="1" latinLnBrk="0" hangingPunct="1">
              <a:lnSpc>
                <a:spcPct val="90000"/>
              </a:lnSpc>
              <a:spcBef>
                <a:spcPts val="500"/>
              </a:spcBef>
              <a:buFont typeface="Wingdings" pitchFamily="2" charset="2"/>
              <a:buChar char="§"/>
              <a:defRPr sz="2400" b="0" kern="1200">
                <a:solidFill>
                  <a:schemeClr val="tx1"/>
                </a:solidFill>
                <a:latin typeface="+mn-lt"/>
                <a:ea typeface="+mn-ea"/>
                <a:cs typeface="+mn-cs"/>
              </a:defRPr>
            </a:lvl2pPr>
            <a:lvl3pPr marL="690563" indent="-233363" algn="l" defTabSz="914400" rtl="0" eaLnBrk="1" latinLnBrk="0" hangingPunct="1">
              <a:lnSpc>
                <a:spcPct val="90000"/>
              </a:lnSpc>
              <a:spcBef>
                <a:spcPts val="500"/>
              </a:spcBef>
              <a:buFont typeface="Wingdings" pitchFamily="2" charset="2"/>
              <a:buChar char="§"/>
              <a:defRPr sz="2000" b="0" kern="1200">
                <a:solidFill>
                  <a:schemeClr val="tx1"/>
                </a:solidFill>
                <a:latin typeface="+mn-lt"/>
                <a:ea typeface="+mn-ea"/>
                <a:cs typeface="+mn-cs"/>
              </a:defRPr>
            </a:lvl3pPr>
            <a:lvl4pPr marL="914400" indent="-223838" algn="l" defTabSz="914400" rtl="0" eaLnBrk="1" latinLnBrk="0" hangingPunct="1">
              <a:lnSpc>
                <a:spcPct val="90000"/>
              </a:lnSpc>
              <a:spcBef>
                <a:spcPts val="500"/>
              </a:spcBef>
              <a:buFont typeface="Wingdings" pitchFamily="2" charset="2"/>
              <a:buChar char="§"/>
              <a:defRPr sz="1800" b="0" kern="1200">
                <a:solidFill>
                  <a:schemeClr val="tx1"/>
                </a:solidFill>
                <a:latin typeface="+mn-lt"/>
                <a:ea typeface="+mn-ea"/>
                <a:cs typeface="+mn-cs"/>
              </a:defRPr>
            </a:lvl4pPr>
            <a:lvl5pPr marL="862013" indent="-23495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231775">
              <a:lnSpc>
                <a:spcPts val="3200"/>
              </a:lnSpc>
              <a:spcBef>
                <a:spcPts val="0"/>
              </a:spcBef>
              <a:buFont typeface="Wingdings" pitchFamily="2" charset="2"/>
              <a:buChar char="ü"/>
            </a:pPr>
            <a:r>
              <a:rPr lang="en-IE" sz="1800">
                <a:solidFill>
                  <a:schemeClr val="tx1"/>
                </a:solidFill>
              </a:rPr>
              <a:t>Fewer helpdesk tickets</a:t>
            </a:r>
          </a:p>
          <a:p>
            <a:pPr defTabSz="231775">
              <a:lnSpc>
                <a:spcPts val="3200"/>
              </a:lnSpc>
              <a:spcBef>
                <a:spcPts val="0"/>
              </a:spcBef>
              <a:buFont typeface="Wingdings" pitchFamily="2" charset="2"/>
              <a:buChar char="ü"/>
            </a:pPr>
            <a:r>
              <a:rPr lang="en-IE" sz="1800">
                <a:solidFill>
                  <a:schemeClr val="tx1"/>
                </a:solidFill>
              </a:rPr>
              <a:t>Improved workforce productivity.</a:t>
            </a:r>
          </a:p>
          <a:p>
            <a:pPr defTabSz="231775">
              <a:lnSpc>
                <a:spcPts val="3200"/>
              </a:lnSpc>
              <a:spcBef>
                <a:spcPts val="0"/>
              </a:spcBef>
              <a:buFont typeface="Wingdings" pitchFamily="2" charset="2"/>
              <a:buChar char="ü"/>
            </a:pPr>
            <a:r>
              <a:rPr lang="en-IE" sz="1800">
                <a:solidFill>
                  <a:schemeClr val="tx1"/>
                </a:solidFill>
              </a:rPr>
              <a:t>Minimise lost revenue from poor app performance.</a:t>
            </a:r>
          </a:p>
        </p:txBody>
      </p:sp>
      <p:sp>
        <p:nvSpPr>
          <p:cNvPr id="23" name="TextBox 22">
            <a:extLst>
              <a:ext uri="{FF2B5EF4-FFF2-40B4-BE49-F238E27FC236}">
                <a16:creationId xmlns:a16="http://schemas.microsoft.com/office/drawing/2014/main" id="{4C162B87-E67C-2A5C-EAC6-901C8450D657}"/>
              </a:ext>
            </a:extLst>
          </p:cNvPr>
          <p:cNvSpPr txBox="1"/>
          <p:nvPr/>
        </p:nvSpPr>
        <p:spPr>
          <a:xfrm>
            <a:off x="947639" y="1346349"/>
            <a:ext cx="1947829" cy="779026"/>
          </a:xfrm>
          <a:prstGeom prst="roundRect">
            <a:avLst>
              <a:gd name="adj" fmla="val 50000"/>
            </a:avLst>
          </a:prstGeom>
          <a:solidFill>
            <a:schemeClr val="bg1"/>
          </a:solidFill>
          <a:ln>
            <a:noFill/>
          </a:ln>
          <a:scene3d>
            <a:camera prst="orthographicFront"/>
            <a:lightRig rig="threePt" dir="t"/>
          </a:scene3d>
          <a:sp3d extrusionH="76200" prstMaterial="matte">
            <a:bevelT/>
            <a:extrusionClr>
              <a:schemeClr val="bg1"/>
            </a:extrusionClr>
          </a:sp3d>
        </p:spPr>
        <p:txBody>
          <a:bodyPr wrap="squar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rgbClr val="158864"/>
                </a:solidFill>
                <a:latin typeface="Calibri" panose="020F0502020204030204"/>
              </a:rPr>
              <a:t>Business Objectives</a:t>
            </a:r>
            <a:endParaRPr kumimoji="0" lang="en-US" sz="1800" b="0" i="0" u="none" strike="noStrike" kern="1200" cap="none" spc="0" normalizeH="0" baseline="0" noProof="0">
              <a:ln>
                <a:noFill/>
              </a:ln>
              <a:solidFill>
                <a:srgbClr val="158864"/>
              </a:solidFill>
              <a:effectLst/>
              <a:uLnTx/>
              <a:uFillTx/>
              <a:latin typeface="Calibri" panose="020F0502020204030204"/>
              <a:ea typeface="+mn-ea"/>
              <a:cs typeface="+mn-cs"/>
            </a:endParaRPr>
          </a:p>
        </p:txBody>
      </p:sp>
      <p:sp>
        <p:nvSpPr>
          <p:cNvPr id="25" name="TextBox 24">
            <a:extLst>
              <a:ext uri="{FF2B5EF4-FFF2-40B4-BE49-F238E27FC236}">
                <a16:creationId xmlns:a16="http://schemas.microsoft.com/office/drawing/2014/main" id="{BAF8757D-CB34-AA04-7124-304F486E1DAF}"/>
              </a:ext>
            </a:extLst>
          </p:cNvPr>
          <p:cNvSpPr txBox="1"/>
          <p:nvPr/>
        </p:nvSpPr>
        <p:spPr>
          <a:xfrm>
            <a:off x="932665" y="3949683"/>
            <a:ext cx="1947829" cy="779026"/>
          </a:xfrm>
          <a:prstGeom prst="roundRect">
            <a:avLst>
              <a:gd name="adj" fmla="val 50000"/>
            </a:avLst>
          </a:prstGeom>
          <a:solidFill>
            <a:schemeClr val="bg1"/>
          </a:solidFill>
          <a:ln>
            <a:noFill/>
          </a:ln>
          <a:scene3d>
            <a:camera prst="orthographicFront"/>
            <a:lightRig rig="threePt" dir="t"/>
          </a:scene3d>
          <a:sp3d extrusionH="76200" prstMaterial="matte">
            <a:bevelT/>
            <a:extrusionClr>
              <a:schemeClr val="bg1"/>
            </a:extrusionClr>
          </a:sp3d>
        </p:spPr>
        <p:txBody>
          <a:bodyPr wrap="squar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rgbClr val="158864"/>
                </a:solidFill>
                <a:latin typeface="Calibri" panose="020F0502020204030204"/>
              </a:rPr>
              <a:t>Business Outcomes</a:t>
            </a:r>
            <a:endParaRPr kumimoji="0" lang="en-US" sz="1800" b="0" i="0" u="none" strike="noStrike" kern="1200" cap="none" spc="0" normalizeH="0" baseline="0" noProof="0">
              <a:ln>
                <a:noFill/>
              </a:ln>
              <a:solidFill>
                <a:srgbClr val="158864"/>
              </a:solidFill>
              <a:effectLst/>
              <a:uLnTx/>
              <a:uFillTx/>
              <a:latin typeface="Calibri" panose="020F0502020204030204"/>
              <a:ea typeface="+mn-ea"/>
              <a:cs typeface="+mn-cs"/>
            </a:endParaRPr>
          </a:p>
        </p:txBody>
      </p:sp>
      <p:pic>
        <p:nvPicPr>
          <p:cNvPr id="4" name="Graphic 3" descr="Circles with arrows outline">
            <a:extLst>
              <a:ext uri="{FF2B5EF4-FFF2-40B4-BE49-F238E27FC236}">
                <a16:creationId xmlns:a16="http://schemas.microsoft.com/office/drawing/2014/main" id="{B5C5844B-1EC8-1B6E-7417-A3FC166CCAB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80202">
            <a:off x="1341805" y="4842499"/>
            <a:ext cx="1057294" cy="1057294"/>
          </a:xfrm>
          <a:prstGeom prst="rect">
            <a:avLst/>
          </a:prstGeom>
        </p:spPr>
      </p:pic>
      <p:pic>
        <p:nvPicPr>
          <p:cNvPr id="35" name="Graphic 34" descr="Euro with solid fill">
            <a:extLst>
              <a:ext uri="{FF2B5EF4-FFF2-40B4-BE49-F238E27FC236}">
                <a16:creationId xmlns:a16="http://schemas.microsoft.com/office/drawing/2014/main" id="{6BCABE6D-94B0-5232-F7A4-BA44B55C609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84571" y="5277699"/>
            <a:ext cx="161091" cy="161091"/>
          </a:xfrm>
          <a:prstGeom prst="rect">
            <a:avLst/>
          </a:prstGeom>
        </p:spPr>
      </p:pic>
      <p:pic>
        <p:nvPicPr>
          <p:cNvPr id="37" name="Graphic 36" descr="Bullseye with solid fill">
            <a:extLst>
              <a:ext uri="{FF2B5EF4-FFF2-40B4-BE49-F238E27FC236}">
                <a16:creationId xmlns:a16="http://schemas.microsoft.com/office/drawing/2014/main" id="{7DEC22C4-FCC8-B443-C69C-FA8E66FCC6A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64353" y="2308880"/>
            <a:ext cx="914400" cy="914400"/>
          </a:xfrm>
          <a:prstGeom prst="rect">
            <a:avLst/>
          </a:prstGeom>
        </p:spPr>
      </p:pic>
      <p:pic>
        <p:nvPicPr>
          <p:cNvPr id="40" name="Graphic 39" descr="Euro with solid fill">
            <a:extLst>
              <a:ext uri="{FF2B5EF4-FFF2-40B4-BE49-F238E27FC236}">
                <a16:creationId xmlns:a16="http://schemas.microsoft.com/office/drawing/2014/main" id="{1CD0B9F1-1483-B37D-85E2-C0ED6572F7E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89905" y="5273370"/>
            <a:ext cx="161091" cy="161091"/>
          </a:xfrm>
          <a:prstGeom prst="rect">
            <a:avLst/>
          </a:prstGeom>
        </p:spPr>
      </p:pic>
      <p:pic>
        <p:nvPicPr>
          <p:cNvPr id="41" name="Graphic 40" descr="Euro with solid fill">
            <a:extLst>
              <a:ext uri="{FF2B5EF4-FFF2-40B4-BE49-F238E27FC236}">
                <a16:creationId xmlns:a16="http://schemas.microsoft.com/office/drawing/2014/main" id="{CED5772B-A584-2D50-E3C4-5969AE572DE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01420" y="5269041"/>
            <a:ext cx="161091" cy="161091"/>
          </a:xfrm>
          <a:prstGeom prst="rect">
            <a:avLst/>
          </a:prstGeom>
        </p:spPr>
      </p:pic>
    </p:spTree>
    <p:extLst>
      <p:ext uri="{BB962C8B-B14F-4D97-AF65-F5344CB8AC3E}">
        <p14:creationId xmlns:p14="http://schemas.microsoft.com/office/powerpoint/2010/main" val="2478543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anim calcmode="lin" valueType="num">
                                      <p:cBhvr>
                                        <p:cTn id="13" dur="1000" fill="hold"/>
                                        <p:tgtEl>
                                          <p:spTgt spid="19"/>
                                        </p:tgtEl>
                                        <p:attrNameLst>
                                          <p:attrName>ppt_x</p:attrName>
                                        </p:attrNameLst>
                                      </p:cBhvr>
                                      <p:tavLst>
                                        <p:tav tm="0">
                                          <p:val>
                                            <p:strVal val="#ppt_x"/>
                                          </p:val>
                                        </p:tav>
                                        <p:tav tm="100000">
                                          <p:val>
                                            <p:strVal val="#ppt_x"/>
                                          </p:val>
                                        </p:tav>
                                      </p:tavLst>
                                    </p:anim>
                                    <p:anim calcmode="lin" valueType="num">
                                      <p:cBhvr>
                                        <p:cTn id="14" dur="1000" fill="hold"/>
                                        <p:tgtEl>
                                          <p:spTgt spid="1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1000"/>
                                        <p:tgtEl>
                                          <p:spTgt spid="23"/>
                                        </p:tgtEl>
                                      </p:cBhvr>
                                    </p:animEffect>
                                    <p:anim calcmode="lin" valueType="num">
                                      <p:cBhvr>
                                        <p:cTn id="23" dur="1000" fill="hold"/>
                                        <p:tgtEl>
                                          <p:spTgt spid="23"/>
                                        </p:tgtEl>
                                        <p:attrNameLst>
                                          <p:attrName>ppt_x</p:attrName>
                                        </p:attrNameLst>
                                      </p:cBhvr>
                                      <p:tavLst>
                                        <p:tav tm="0">
                                          <p:val>
                                            <p:strVal val="#ppt_x"/>
                                          </p:val>
                                        </p:tav>
                                        <p:tav tm="100000">
                                          <p:val>
                                            <p:strVal val="#ppt_x"/>
                                          </p:val>
                                        </p:tav>
                                      </p:tavLst>
                                    </p:anim>
                                    <p:anim calcmode="lin" valueType="num">
                                      <p:cBhvr>
                                        <p:cTn id="24" dur="1000" fill="hold"/>
                                        <p:tgtEl>
                                          <p:spTgt spid="23"/>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1000"/>
                                        <p:tgtEl>
                                          <p:spTgt spid="37"/>
                                        </p:tgtEl>
                                      </p:cBhvr>
                                    </p:animEffect>
                                    <p:anim calcmode="lin" valueType="num">
                                      <p:cBhvr>
                                        <p:cTn id="28" dur="1000" fill="hold"/>
                                        <p:tgtEl>
                                          <p:spTgt spid="37"/>
                                        </p:tgtEl>
                                        <p:attrNameLst>
                                          <p:attrName>ppt_x</p:attrName>
                                        </p:attrNameLst>
                                      </p:cBhvr>
                                      <p:tavLst>
                                        <p:tav tm="0">
                                          <p:val>
                                            <p:strVal val="#ppt_x"/>
                                          </p:val>
                                        </p:tav>
                                        <p:tav tm="100000">
                                          <p:val>
                                            <p:strVal val="#ppt_x"/>
                                          </p:val>
                                        </p:tav>
                                      </p:tavLst>
                                    </p:anim>
                                    <p:anim calcmode="lin" valueType="num">
                                      <p:cBhvr>
                                        <p:cTn id="29"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1000"/>
                                        <p:tgtEl>
                                          <p:spTgt spid="20"/>
                                        </p:tgtEl>
                                      </p:cBhvr>
                                    </p:animEffect>
                                    <p:anim calcmode="lin" valueType="num">
                                      <p:cBhvr>
                                        <p:cTn id="35" dur="1000" fill="hold"/>
                                        <p:tgtEl>
                                          <p:spTgt spid="20"/>
                                        </p:tgtEl>
                                        <p:attrNameLst>
                                          <p:attrName>ppt_x</p:attrName>
                                        </p:attrNameLst>
                                      </p:cBhvr>
                                      <p:tavLst>
                                        <p:tav tm="0">
                                          <p:val>
                                            <p:strVal val="#ppt_x"/>
                                          </p:val>
                                        </p:tav>
                                        <p:tav tm="100000">
                                          <p:val>
                                            <p:strVal val="#ppt_x"/>
                                          </p:val>
                                        </p:tav>
                                      </p:tavLst>
                                    </p:anim>
                                    <p:anim calcmode="lin" valueType="num">
                                      <p:cBhvr>
                                        <p:cTn id="36" dur="1000" fill="hold"/>
                                        <p:tgtEl>
                                          <p:spTgt spid="20"/>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1000"/>
                                        <p:tgtEl>
                                          <p:spTgt spid="21"/>
                                        </p:tgtEl>
                                      </p:cBhvr>
                                    </p:animEffect>
                                    <p:anim calcmode="lin" valueType="num">
                                      <p:cBhvr>
                                        <p:cTn id="40" dur="1000" fill="hold"/>
                                        <p:tgtEl>
                                          <p:spTgt spid="21"/>
                                        </p:tgtEl>
                                        <p:attrNameLst>
                                          <p:attrName>ppt_x</p:attrName>
                                        </p:attrNameLst>
                                      </p:cBhvr>
                                      <p:tavLst>
                                        <p:tav tm="0">
                                          <p:val>
                                            <p:strVal val="#ppt_x"/>
                                          </p:val>
                                        </p:tav>
                                        <p:tav tm="100000">
                                          <p:val>
                                            <p:strVal val="#ppt_x"/>
                                          </p:val>
                                        </p:tav>
                                      </p:tavLst>
                                    </p:anim>
                                    <p:anim calcmode="lin" valueType="num">
                                      <p:cBhvr>
                                        <p:cTn id="41" dur="1000" fill="hold"/>
                                        <p:tgtEl>
                                          <p:spTgt spid="21"/>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1000"/>
                                        <p:tgtEl>
                                          <p:spTgt spid="22"/>
                                        </p:tgtEl>
                                      </p:cBhvr>
                                    </p:animEffect>
                                    <p:anim calcmode="lin" valueType="num">
                                      <p:cBhvr>
                                        <p:cTn id="45" dur="1000" fill="hold"/>
                                        <p:tgtEl>
                                          <p:spTgt spid="22"/>
                                        </p:tgtEl>
                                        <p:attrNameLst>
                                          <p:attrName>ppt_x</p:attrName>
                                        </p:attrNameLst>
                                      </p:cBhvr>
                                      <p:tavLst>
                                        <p:tav tm="0">
                                          <p:val>
                                            <p:strVal val="#ppt_x"/>
                                          </p:val>
                                        </p:tav>
                                        <p:tav tm="100000">
                                          <p:val>
                                            <p:strVal val="#ppt_x"/>
                                          </p:val>
                                        </p:tav>
                                      </p:tavLst>
                                    </p:anim>
                                    <p:anim calcmode="lin" valueType="num">
                                      <p:cBhvr>
                                        <p:cTn id="46" dur="1000" fill="hold"/>
                                        <p:tgtEl>
                                          <p:spTgt spid="22"/>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1000"/>
                                        <p:tgtEl>
                                          <p:spTgt spid="25"/>
                                        </p:tgtEl>
                                      </p:cBhvr>
                                    </p:animEffect>
                                    <p:anim calcmode="lin" valueType="num">
                                      <p:cBhvr>
                                        <p:cTn id="50" dur="1000" fill="hold"/>
                                        <p:tgtEl>
                                          <p:spTgt spid="25"/>
                                        </p:tgtEl>
                                        <p:attrNameLst>
                                          <p:attrName>ppt_x</p:attrName>
                                        </p:attrNameLst>
                                      </p:cBhvr>
                                      <p:tavLst>
                                        <p:tav tm="0">
                                          <p:val>
                                            <p:strVal val="#ppt_x"/>
                                          </p:val>
                                        </p:tav>
                                        <p:tav tm="100000">
                                          <p:val>
                                            <p:strVal val="#ppt_x"/>
                                          </p:val>
                                        </p:tav>
                                      </p:tavLst>
                                    </p:anim>
                                    <p:anim calcmode="lin" valueType="num">
                                      <p:cBhvr>
                                        <p:cTn id="51" dur="1000" fill="hold"/>
                                        <p:tgtEl>
                                          <p:spTgt spid="25"/>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fade">
                                      <p:cBhvr>
                                        <p:cTn id="54" dur="1000"/>
                                        <p:tgtEl>
                                          <p:spTgt spid="4"/>
                                        </p:tgtEl>
                                      </p:cBhvr>
                                    </p:animEffect>
                                    <p:anim calcmode="lin" valueType="num">
                                      <p:cBhvr>
                                        <p:cTn id="55" dur="1000" fill="hold"/>
                                        <p:tgtEl>
                                          <p:spTgt spid="4"/>
                                        </p:tgtEl>
                                        <p:attrNameLst>
                                          <p:attrName>ppt_x</p:attrName>
                                        </p:attrNameLst>
                                      </p:cBhvr>
                                      <p:tavLst>
                                        <p:tav tm="0">
                                          <p:val>
                                            <p:strVal val="#ppt_x"/>
                                          </p:val>
                                        </p:tav>
                                        <p:tav tm="100000">
                                          <p:val>
                                            <p:strVal val="#ppt_x"/>
                                          </p:val>
                                        </p:tav>
                                      </p:tavLst>
                                    </p:anim>
                                    <p:anim calcmode="lin" valueType="num">
                                      <p:cBhvr>
                                        <p:cTn id="56" dur="1000" fill="hold"/>
                                        <p:tgtEl>
                                          <p:spTgt spid="4"/>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1000"/>
                                        <p:tgtEl>
                                          <p:spTgt spid="35"/>
                                        </p:tgtEl>
                                      </p:cBhvr>
                                    </p:animEffect>
                                    <p:anim calcmode="lin" valueType="num">
                                      <p:cBhvr>
                                        <p:cTn id="60" dur="1000" fill="hold"/>
                                        <p:tgtEl>
                                          <p:spTgt spid="35"/>
                                        </p:tgtEl>
                                        <p:attrNameLst>
                                          <p:attrName>ppt_x</p:attrName>
                                        </p:attrNameLst>
                                      </p:cBhvr>
                                      <p:tavLst>
                                        <p:tav tm="0">
                                          <p:val>
                                            <p:strVal val="#ppt_x"/>
                                          </p:val>
                                        </p:tav>
                                        <p:tav tm="100000">
                                          <p:val>
                                            <p:strVal val="#ppt_x"/>
                                          </p:val>
                                        </p:tav>
                                      </p:tavLst>
                                    </p:anim>
                                    <p:anim calcmode="lin" valueType="num">
                                      <p:cBhvr>
                                        <p:cTn id="61" dur="1000" fill="hold"/>
                                        <p:tgtEl>
                                          <p:spTgt spid="35"/>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1000"/>
                                        <p:tgtEl>
                                          <p:spTgt spid="40"/>
                                        </p:tgtEl>
                                      </p:cBhvr>
                                    </p:animEffect>
                                    <p:anim calcmode="lin" valueType="num">
                                      <p:cBhvr>
                                        <p:cTn id="65" dur="1000" fill="hold"/>
                                        <p:tgtEl>
                                          <p:spTgt spid="40"/>
                                        </p:tgtEl>
                                        <p:attrNameLst>
                                          <p:attrName>ppt_x</p:attrName>
                                        </p:attrNameLst>
                                      </p:cBhvr>
                                      <p:tavLst>
                                        <p:tav tm="0">
                                          <p:val>
                                            <p:strVal val="#ppt_x"/>
                                          </p:val>
                                        </p:tav>
                                        <p:tav tm="100000">
                                          <p:val>
                                            <p:strVal val="#ppt_x"/>
                                          </p:val>
                                        </p:tav>
                                      </p:tavLst>
                                    </p:anim>
                                    <p:anim calcmode="lin" valueType="num">
                                      <p:cBhvr>
                                        <p:cTn id="66" dur="1000" fill="hold"/>
                                        <p:tgtEl>
                                          <p:spTgt spid="40"/>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1000"/>
                                        <p:tgtEl>
                                          <p:spTgt spid="41"/>
                                        </p:tgtEl>
                                      </p:cBhvr>
                                    </p:animEffect>
                                    <p:anim calcmode="lin" valueType="num">
                                      <p:cBhvr>
                                        <p:cTn id="70" dur="1000" fill="hold"/>
                                        <p:tgtEl>
                                          <p:spTgt spid="41"/>
                                        </p:tgtEl>
                                        <p:attrNameLst>
                                          <p:attrName>ppt_x</p:attrName>
                                        </p:attrNameLst>
                                      </p:cBhvr>
                                      <p:tavLst>
                                        <p:tav tm="0">
                                          <p:val>
                                            <p:strVal val="#ppt_x"/>
                                          </p:val>
                                        </p:tav>
                                        <p:tav tm="100000">
                                          <p:val>
                                            <p:strVal val="#ppt_x"/>
                                          </p:val>
                                        </p:tav>
                                      </p:tavLst>
                                    </p:anim>
                                    <p:anim calcmode="lin" valueType="num">
                                      <p:cBhvr>
                                        <p:cTn id="71"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11" grpId="0"/>
      <p:bldP spid="20" grpId="0" animBg="1"/>
      <p:bldP spid="21" grpId="0" animBg="1"/>
      <p:bldP spid="22" grpId="0"/>
      <p:bldP spid="23" grpId="0" animBg="1"/>
      <p:bldP spid="2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184E3-36D9-4DD0-4131-64A3EDEEEF1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9BE7008-2091-BDE1-6DF6-D489256B3561}"/>
              </a:ext>
            </a:extLst>
          </p:cNvPr>
          <p:cNvSpPr>
            <a:spLocks noGrp="1"/>
          </p:cNvSpPr>
          <p:nvPr>
            <p:ph type="title"/>
          </p:nvPr>
        </p:nvSpPr>
        <p:spPr>
          <a:xfrm>
            <a:off x="183219" y="137396"/>
            <a:ext cx="11561105" cy="424732"/>
          </a:xfrm>
        </p:spPr>
        <p:txBody>
          <a:bodyPr/>
          <a:lstStyle/>
          <a:p>
            <a:r>
              <a:rPr lang="en-IE"/>
              <a:t>Gain Executive-Level Insight Into Network &amp; Security Health</a:t>
            </a:r>
            <a:endParaRPr lang="en-US"/>
          </a:p>
        </p:txBody>
      </p:sp>
      <p:sp>
        <p:nvSpPr>
          <p:cNvPr id="2" name="Slide Number Placeholder 1">
            <a:extLst>
              <a:ext uri="{FF2B5EF4-FFF2-40B4-BE49-F238E27FC236}">
                <a16:creationId xmlns:a16="http://schemas.microsoft.com/office/drawing/2014/main" id="{AF0B58FD-FA4C-BFF8-5739-38A4E16FC9BF}"/>
              </a:ext>
            </a:extLst>
          </p:cNvPr>
          <p:cNvSpPr>
            <a:spLocks noGrp="1"/>
          </p:cNvSpPr>
          <p:nvPr>
            <p:ph type="sldNum" sz="quarter" idx="12"/>
          </p:nvPr>
        </p:nvSpPr>
        <p:spPr/>
        <p:txBody>
          <a:bodyPr/>
          <a:lstStyle/>
          <a:p>
            <a:r>
              <a:rPr lang="en-US"/>
              <a:t>| </a:t>
            </a:r>
            <a:fld id="{FEC5E14B-9965-442C-8683-0E66DD8427DC}" type="slidenum">
              <a:rPr lang="en-US" smtClean="0"/>
              <a:pPr/>
              <a:t>13</a:t>
            </a:fld>
            <a:endParaRPr lang="en-US"/>
          </a:p>
        </p:txBody>
      </p:sp>
      <p:sp>
        <p:nvSpPr>
          <p:cNvPr id="7" name="Text Placeholder 6">
            <a:extLst>
              <a:ext uri="{FF2B5EF4-FFF2-40B4-BE49-F238E27FC236}">
                <a16:creationId xmlns:a16="http://schemas.microsoft.com/office/drawing/2014/main" id="{EB234E98-D26F-3E5B-E97B-97E319C62488}"/>
              </a:ext>
            </a:extLst>
          </p:cNvPr>
          <p:cNvSpPr>
            <a:spLocks noGrp="1"/>
          </p:cNvSpPr>
          <p:nvPr>
            <p:ph type="body" sz="quarter" idx="13"/>
          </p:nvPr>
        </p:nvSpPr>
        <p:spPr>
          <a:xfrm>
            <a:off x="183220" y="507880"/>
            <a:ext cx="11561104" cy="714375"/>
          </a:xfrm>
        </p:spPr>
        <p:txBody>
          <a:bodyPr/>
          <a:lstStyle/>
          <a:p>
            <a:r>
              <a:rPr lang="en-US"/>
              <a:t>With the Cato SASE Cloud Platform</a:t>
            </a:r>
          </a:p>
        </p:txBody>
      </p:sp>
      <p:sp>
        <p:nvSpPr>
          <p:cNvPr id="18" name="Rectangle 17">
            <a:extLst>
              <a:ext uri="{FF2B5EF4-FFF2-40B4-BE49-F238E27FC236}">
                <a16:creationId xmlns:a16="http://schemas.microsoft.com/office/drawing/2014/main" id="{60E71A93-E489-BBE9-2CBC-D3907344639A}"/>
              </a:ext>
            </a:extLst>
          </p:cNvPr>
          <p:cNvSpPr/>
          <p:nvPr/>
        </p:nvSpPr>
        <p:spPr>
          <a:xfrm>
            <a:off x="585686" y="1044181"/>
            <a:ext cx="2641790" cy="245593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C7DE004C-1371-1A00-F2CE-BAE09E032AEC}"/>
              </a:ext>
            </a:extLst>
          </p:cNvPr>
          <p:cNvSpPr/>
          <p:nvPr/>
        </p:nvSpPr>
        <p:spPr>
          <a:xfrm>
            <a:off x="3411223" y="1044180"/>
            <a:ext cx="7148981" cy="2455931"/>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 name="Content Placeholder 7">
            <a:extLst>
              <a:ext uri="{FF2B5EF4-FFF2-40B4-BE49-F238E27FC236}">
                <a16:creationId xmlns:a16="http://schemas.microsoft.com/office/drawing/2014/main" id="{17B44BBE-82C0-15A2-81B0-D1B606919B44}"/>
              </a:ext>
            </a:extLst>
          </p:cNvPr>
          <p:cNvSpPr txBox="1">
            <a:spLocks/>
          </p:cNvSpPr>
          <p:nvPr/>
        </p:nvSpPr>
        <p:spPr>
          <a:xfrm>
            <a:off x="3496650" y="1250823"/>
            <a:ext cx="6547800" cy="21541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accent1"/>
                </a:solidFill>
                <a:latin typeface="+mn-lt"/>
                <a:ea typeface="+mn-ea"/>
                <a:cs typeface="+mn-cs"/>
              </a:defRPr>
            </a:lvl1pPr>
            <a:lvl2pPr marL="457200" indent="-223838" algn="l" defTabSz="914400" rtl="0" eaLnBrk="1" latinLnBrk="0" hangingPunct="1">
              <a:lnSpc>
                <a:spcPct val="90000"/>
              </a:lnSpc>
              <a:spcBef>
                <a:spcPts val="500"/>
              </a:spcBef>
              <a:buFont typeface="Wingdings" pitchFamily="2" charset="2"/>
              <a:buChar char="§"/>
              <a:defRPr sz="2400" b="0" kern="1200">
                <a:solidFill>
                  <a:schemeClr val="tx1"/>
                </a:solidFill>
                <a:latin typeface="+mn-lt"/>
                <a:ea typeface="+mn-ea"/>
                <a:cs typeface="+mn-cs"/>
              </a:defRPr>
            </a:lvl2pPr>
            <a:lvl3pPr marL="690563" indent="-233363" algn="l" defTabSz="914400" rtl="0" eaLnBrk="1" latinLnBrk="0" hangingPunct="1">
              <a:lnSpc>
                <a:spcPct val="90000"/>
              </a:lnSpc>
              <a:spcBef>
                <a:spcPts val="500"/>
              </a:spcBef>
              <a:buFont typeface="Wingdings" pitchFamily="2" charset="2"/>
              <a:buChar char="§"/>
              <a:defRPr sz="2000" b="0" kern="1200">
                <a:solidFill>
                  <a:schemeClr val="tx1"/>
                </a:solidFill>
                <a:latin typeface="+mn-lt"/>
                <a:ea typeface="+mn-ea"/>
                <a:cs typeface="+mn-cs"/>
              </a:defRPr>
            </a:lvl3pPr>
            <a:lvl4pPr marL="914400" indent="-223838" algn="l" defTabSz="914400" rtl="0" eaLnBrk="1" latinLnBrk="0" hangingPunct="1">
              <a:lnSpc>
                <a:spcPct val="90000"/>
              </a:lnSpc>
              <a:spcBef>
                <a:spcPts val="500"/>
              </a:spcBef>
              <a:buFont typeface="Wingdings" pitchFamily="2" charset="2"/>
              <a:buChar char="§"/>
              <a:defRPr sz="1800" b="0" kern="1200">
                <a:solidFill>
                  <a:schemeClr val="tx1"/>
                </a:solidFill>
                <a:latin typeface="+mn-lt"/>
                <a:ea typeface="+mn-ea"/>
                <a:cs typeface="+mn-cs"/>
              </a:defRPr>
            </a:lvl4pPr>
            <a:lvl5pPr marL="862013" indent="-23495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231775">
              <a:lnSpc>
                <a:spcPts val="3200"/>
              </a:lnSpc>
              <a:spcBef>
                <a:spcPts val="0"/>
              </a:spcBef>
              <a:buFont typeface="Wingdings" pitchFamily="2" charset="2"/>
              <a:buChar char="ü"/>
            </a:pPr>
            <a:r>
              <a:rPr lang="en-IE" sz="1800">
                <a:solidFill>
                  <a:schemeClr val="tx1"/>
                </a:solidFill>
              </a:rPr>
              <a:t>Present </a:t>
            </a:r>
            <a:r>
              <a:rPr lang="en-IE" sz="1800" b="1">
                <a:solidFill>
                  <a:schemeClr val="tx1"/>
                </a:solidFill>
              </a:rPr>
              <a:t>business-friendly dashboards</a:t>
            </a:r>
            <a:r>
              <a:rPr lang="en-IE" sz="1800">
                <a:solidFill>
                  <a:schemeClr val="tx1"/>
                </a:solidFill>
              </a:rPr>
              <a:t> that show usage trends, risk posture, SLA compliance, and cost impact. </a:t>
            </a:r>
          </a:p>
          <a:p>
            <a:pPr defTabSz="231775">
              <a:lnSpc>
                <a:spcPts val="3200"/>
              </a:lnSpc>
              <a:spcBef>
                <a:spcPts val="0"/>
              </a:spcBef>
              <a:buFont typeface="Wingdings" pitchFamily="2" charset="2"/>
              <a:buChar char="ü"/>
            </a:pPr>
            <a:r>
              <a:rPr lang="en-IE" sz="1800">
                <a:solidFill>
                  <a:schemeClr val="tx1"/>
                </a:solidFill>
              </a:rPr>
              <a:t>Support strategic decision-making with </a:t>
            </a:r>
            <a:r>
              <a:rPr lang="en-IE" sz="1800" b="1">
                <a:solidFill>
                  <a:schemeClr val="tx1"/>
                </a:solidFill>
              </a:rPr>
              <a:t>data-driven performance and threat analytics</a:t>
            </a:r>
            <a:r>
              <a:rPr lang="en-IE" sz="1800">
                <a:solidFill>
                  <a:schemeClr val="tx1"/>
                </a:solidFill>
              </a:rPr>
              <a:t>.</a:t>
            </a:r>
            <a:endParaRPr lang="en-US" sz="1800" i="1">
              <a:solidFill>
                <a:schemeClr val="tx1"/>
              </a:solidFill>
            </a:endParaRPr>
          </a:p>
        </p:txBody>
      </p:sp>
      <p:sp>
        <p:nvSpPr>
          <p:cNvPr id="20" name="Rectangle 19">
            <a:extLst>
              <a:ext uri="{FF2B5EF4-FFF2-40B4-BE49-F238E27FC236}">
                <a16:creationId xmlns:a16="http://schemas.microsoft.com/office/drawing/2014/main" id="{E98787E4-F5B7-7EE8-0EA1-7493823172BA}"/>
              </a:ext>
            </a:extLst>
          </p:cNvPr>
          <p:cNvSpPr/>
          <p:nvPr/>
        </p:nvSpPr>
        <p:spPr>
          <a:xfrm>
            <a:off x="585685" y="3663223"/>
            <a:ext cx="2641790" cy="245593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14D5634B-B1C1-F230-535C-CF7FC57A5395}"/>
              </a:ext>
            </a:extLst>
          </p:cNvPr>
          <p:cNvSpPr/>
          <p:nvPr/>
        </p:nvSpPr>
        <p:spPr>
          <a:xfrm>
            <a:off x="3411222" y="3663222"/>
            <a:ext cx="7148981" cy="2455931"/>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2" name="Content Placeholder 7">
            <a:extLst>
              <a:ext uri="{FF2B5EF4-FFF2-40B4-BE49-F238E27FC236}">
                <a16:creationId xmlns:a16="http://schemas.microsoft.com/office/drawing/2014/main" id="{E8FDDCEF-00A2-968E-1FF7-2CC7632A66CD}"/>
              </a:ext>
            </a:extLst>
          </p:cNvPr>
          <p:cNvSpPr txBox="1">
            <a:spLocks/>
          </p:cNvSpPr>
          <p:nvPr/>
        </p:nvSpPr>
        <p:spPr>
          <a:xfrm>
            <a:off x="3496649" y="3869865"/>
            <a:ext cx="6547801" cy="21541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accent1"/>
                </a:solidFill>
                <a:latin typeface="+mn-lt"/>
                <a:ea typeface="+mn-ea"/>
                <a:cs typeface="+mn-cs"/>
              </a:defRPr>
            </a:lvl1pPr>
            <a:lvl2pPr marL="457200" indent="-223838" algn="l" defTabSz="914400" rtl="0" eaLnBrk="1" latinLnBrk="0" hangingPunct="1">
              <a:lnSpc>
                <a:spcPct val="90000"/>
              </a:lnSpc>
              <a:spcBef>
                <a:spcPts val="500"/>
              </a:spcBef>
              <a:buFont typeface="Wingdings" pitchFamily="2" charset="2"/>
              <a:buChar char="§"/>
              <a:defRPr sz="2400" b="0" kern="1200">
                <a:solidFill>
                  <a:schemeClr val="tx1"/>
                </a:solidFill>
                <a:latin typeface="+mn-lt"/>
                <a:ea typeface="+mn-ea"/>
                <a:cs typeface="+mn-cs"/>
              </a:defRPr>
            </a:lvl2pPr>
            <a:lvl3pPr marL="690563" indent="-233363" algn="l" defTabSz="914400" rtl="0" eaLnBrk="1" latinLnBrk="0" hangingPunct="1">
              <a:lnSpc>
                <a:spcPct val="90000"/>
              </a:lnSpc>
              <a:spcBef>
                <a:spcPts val="500"/>
              </a:spcBef>
              <a:buFont typeface="Wingdings" pitchFamily="2" charset="2"/>
              <a:buChar char="§"/>
              <a:defRPr sz="2000" b="0" kern="1200">
                <a:solidFill>
                  <a:schemeClr val="tx1"/>
                </a:solidFill>
                <a:latin typeface="+mn-lt"/>
                <a:ea typeface="+mn-ea"/>
                <a:cs typeface="+mn-cs"/>
              </a:defRPr>
            </a:lvl3pPr>
            <a:lvl4pPr marL="914400" indent="-223838" algn="l" defTabSz="914400" rtl="0" eaLnBrk="1" latinLnBrk="0" hangingPunct="1">
              <a:lnSpc>
                <a:spcPct val="90000"/>
              </a:lnSpc>
              <a:spcBef>
                <a:spcPts val="500"/>
              </a:spcBef>
              <a:buFont typeface="Wingdings" pitchFamily="2" charset="2"/>
              <a:buChar char="§"/>
              <a:defRPr sz="1800" b="0" kern="1200">
                <a:solidFill>
                  <a:schemeClr val="tx1"/>
                </a:solidFill>
                <a:latin typeface="+mn-lt"/>
                <a:ea typeface="+mn-ea"/>
                <a:cs typeface="+mn-cs"/>
              </a:defRPr>
            </a:lvl4pPr>
            <a:lvl5pPr marL="862013" indent="-23495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231775">
              <a:lnSpc>
                <a:spcPts val="3200"/>
              </a:lnSpc>
              <a:spcBef>
                <a:spcPts val="0"/>
              </a:spcBef>
              <a:buFont typeface="Wingdings" pitchFamily="2" charset="2"/>
              <a:buChar char="ü"/>
            </a:pPr>
            <a:r>
              <a:rPr lang="en-IE" sz="1800">
                <a:solidFill>
                  <a:schemeClr val="tx1"/>
                </a:solidFill>
              </a:rPr>
              <a:t>Executive stakeholders can clearly measure ROI and progress toward transformation goals. </a:t>
            </a:r>
          </a:p>
          <a:p>
            <a:pPr defTabSz="231775">
              <a:lnSpc>
                <a:spcPts val="3200"/>
              </a:lnSpc>
              <a:spcBef>
                <a:spcPts val="0"/>
              </a:spcBef>
              <a:buFont typeface="Wingdings" pitchFamily="2" charset="2"/>
              <a:buChar char="ü"/>
            </a:pPr>
            <a:r>
              <a:rPr lang="en-IE" sz="1800">
                <a:solidFill>
                  <a:schemeClr val="tx1"/>
                </a:solidFill>
              </a:rPr>
              <a:t>Executives can prioritize investments, budget, and resources based on clear visibility into risks, performance gaps, and operational needs.</a:t>
            </a:r>
          </a:p>
        </p:txBody>
      </p:sp>
      <p:sp>
        <p:nvSpPr>
          <p:cNvPr id="23" name="TextBox 22">
            <a:extLst>
              <a:ext uri="{FF2B5EF4-FFF2-40B4-BE49-F238E27FC236}">
                <a16:creationId xmlns:a16="http://schemas.microsoft.com/office/drawing/2014/main" id="{CED5AFE4-3BA3-EB80-04E6-7EA6BC77E695}"/>
              </a:ext>
            </a:extLst>
          </p:cNvPr>
          <p:cNvSpPr txBox="1"/>
          <p:nvPr/>
        </p:nvSpPr>
        <p:spPr>
          <a:xfrm>
            <a:off x="947639" y="1346349"/>
            <a:ext cx="1947829" cy="779026"/>
          </a:xfrm>
          <a:prstGeom prst="roundRect">
            <a:avLst>
              <a:gd name="adj" fmla="val 50000"/>
            </a:avLst>
          </a:prstGeom>
          <a:solidFill>
            <a:schemeClr val="bg1"/>
          </a:solidFill>
          <a:ln>
            <a:noFill/>
          </a:ln>
          <a:scene3d>
            <a:camera prst="orthographicFront"/>
            <a:lightRig rig="threePt" dir="t"/>
          </a:scene3d>
          <a:sp3d extrusionH="76200" prstMaterial="matte">
            <a:bevelT/>
            <a:extrusionClr>
              <a:schemeClr val="bg1"/>
            </a:extrusionClr>
          </a:sp3d>
        </p:spPr>
        <p:txBody>
          <a:bodyPr wrap="squar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rgbClr val="158864"/>
                </a:solidFill>
                <a:latin typeface="Calibri" panose="020F0502020204030204"/>
              </a:rPr>
              <a:t>Business Objectives</a:t>
            </a:r>
            <a:endParaRPr kumimoji="0" lang="en-US" sz="1800" b="0" i="0" u="none" strike="noStrike" kern="1200" cap="none" spc="0" normalizeH="0" baseline="0" noProof="0">
              <a:ln>
                <a:noFill/>
              </a:ln>
              <a:solidFill>
                <a:srgbClr val="158864"/>
              </a:solidFill>
              <a:effectLst/>
              <a:uLnTx/>
              <a:uFillTx/>
              <a:latin typeface="Calibri" panose="020F0502020204030204"/>
              <a:ea typeface="+mn-ea"/>
              <a:cs typeface="+mn-cs"/>
            </a:endParaRPr>
          </a:p>
        </p:txBody>
      </p:sp>
      <p:sp>
        <p:nvSpPr>
          <p:cNvPr id="25" name="TextBox 24">
            <a:extLst>
              <a:ext uri="{FF2B5EF4-FFF2-40B4-BE49-F238E27FC236}">
                <a16:creationId xmlns:a16="http://schemas.microsoft.com/office/drawing/2014/main" id="{41643772-E672-18AB-4579-BFE9B0BC7FA9}"/>
              </a:ext>
            </a:extLst>
          </p:cNvPr>
          <p:cNvSpPr txBox="1"/>
          <p:nvPr/>
        </p:nvSpPr>
        <p:spPr>
          <a:xfrm>
            <a:off x="932665" y="3949683"/>
            <a:ext cx="1947829" cy="779026"/>
          </a:xfrm>
          <a:prstGeom prst="roundRect">
            <a:avLst>
              <a:gd name="adj" fmla="val 50000"/>
            </a:avLst>
          </a:prstGeom>
          <a:solidFill>
            <a:schemeClr val="bg1"/>
          </a:solidFill>
          <a:ln>
            <a:noFill/>
          </a:ln>
          <a:scene3d>
            <a:camera prst="orthographicFront"/>
            <a:lightRig rig="threePt" dir="t"/>
          </a:scene3d>
          <a:sp3d extrusionH="76200" prstMaterial="matte">
            <a:bevelT/>
            <a:extrusionClr>
              <a:schemeClr val="bg1"/>
            </a:extrusionClr>
          </a:sp3d>
        </p:spPr>
        <p:txBody>
          <a:bodyPr wrap="squar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rgbClr val="158864"/>
                </a:solidFill>
                <a:latin typeface="Calibri" panose="020F0502020204030204"/>
              </a:rPr>
              <a:t>Business Outcomes</a:t>
            </a:r>
            <a:endParaRPr kumimoji="0" lang="en-US" sz="1800" b="0" i="0" u="none" strike="noStrike" kern="1200" cap="none" spc="0" normalizeH="0" baseline="0" noProof="0">
              <a:ln>
                <a:noFill/>
              </a:ln>
              <a:solidFill>
                <a:srgbClr val="158864"/>
              </a:solidFill>
              <a:effectLst/>
              <a:uLnTx/>
              <a:uFillTx/>
              <a:latin typeface="Calibri" panose="020F0502020204030204"/>
              <a:ea typeface="+mn-ea"/>
              <a:cs typeface="+mn-cs"/>
            </a:endParaRPr>
          </a:p>
        </p:txBody>
      </p:sp>
      <p:pic>
        <p:nvPicPr>
          <p:cNvPr id="4" name="Graphic 3" descr="Circles with arrows outline">
            <a:extLst>
              <a:ext uri="{FF2B5EF4-FFF2-40B4-BE49-F238E27FC236}">
                <a16:creationId xmlns:a16="http://schemas.microsoft.com/office/drawing/2014/main" id="{62D7267E-308A-2A36-4B70-5D01F0BA3F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80202">
            <a:off x="1341805" y="4842499"/>
            <a:ext cx="1057294" cy="1057294"/>
          </a:xfrm>
          <a:prstGeom prst="rect">
            <a:avLst/>
          </a:prstGeom>
        </p:spPr>
      </p:pic>
      <p:pic>
        <p:nvPicPr>
          <p:cNvPr id="35" name="Graphic 34" descr="Euro with solid fill">
            <a:extLst>
              <a:ext uri="{FF2B5EF4-FFF2-40B4-BE49-F238E27FC236}">
                <a16:creationId xmlns:a16="http://schemas.microsoft.com/office/drawing/2014/main" id="{2194CF55-9775-4DAF-76B4-7B722CAB742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84571" y="5277699"/>
            <a:ext cx="161091" cy="161091"/>
          </a:xfrm>
          <a:prstGeom prst="rect">
            <a:avLst/>
          </a:prstGeom>
        </p:spPr>
      </p:pic>
      <p:pic>
        <p:nvPicPr>
          <p:cNvPr id="37" name="Graphic 36" descr="Bullseye with solid fill">
            <a:extLst>
              <a:ext uri="{FF2B5EF4-FFF2-40B4-BE49-F238E27FC236}">
                <a16:creationId xmlns:a16="http://schemas.microsoft.com/office/drawing/2014/main" id="{A04808A1-1374-F293-83A1-255FDDF5502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64353" y="2308880"/>
            <a:ext cx="914400" cy="914400"/>
          </a:xfrm>
          <a:prstGeom prst="rect">
            <a:avLst/>
          </a:prstGeom>
        </p:spPr>
      </p:pic>
      <p:pic>
        <p:nvPicPr>
          <p:cNvPr id="40" name="Graphic 39" descr="Euro with solid fill">
            <a:extLst>
              <a:ext uri="{FF2B5EF4-FFF2-40B4-BE49-F238E27FC236}">
                <a16:creationId xmlns:a16="http://schemas.microsoft.com/office/drawing/2014/main" id="{AE363195-7E69-8B3B-088A-278F7938CA5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89905" y="5273370"/>
            <a:ext cx="161091" cy="161091"/>
          </a:xfrm>
          <a:prstGeom prst="rect">
            <a:avLst/>
          </a:prstGeom>
        </p:spPr>
      </p:pic>
      <p:pic>
        <p:nvPicPr>
          <p:cNvPr id="41" name="Graphic 40" descr="Euro with solid fill">
            <a:extLst>
              <a:ext uri="{FF2B5EF4-FFF2-40B4-BE49-F238E27FC236}">
                <a16:creationId xmlns:a16="http://schemas.microsoft.com/office/drawing/2014/main" id="{E909E302-A41D-19F5-F5CB-85AD81561B4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01420" y="5269041"/>
            <a:ext cx="161091" cy="161091"/>
          </a:xfrm>
          <a:prstGeom prst="rect">
            <a:avLst/>
          </a:prstGeom>
        </p:spPr>
      </p:pic>
    </p:spTree>
    <p:extLst>
      <p:ext uri="{BB962C8B-B14F-4D97-AF65-F5344CB8AC3E}">
        <p14:creationId xmlns:p14="http://schemas.microsoft.com/office/powerpoint/2010/main" val="3497276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anim calcmode="lin" valueType="num">
                                      <p:cBhvr>
                                        <p:cTn id="13" dur="1000" fill="hold"/>
                                        <p:tgtEl>
                                          <p:spTgt spid="19"/>
                                        </p:tgtEl>
                                        <p:attrNameLst>
                                          <p:attrName>ppt_x</p:attrName>
                                        </p:attrNameLst>
                                      </p:cBhvr>
                                      <p:tavLst>
                                        <p:tav tm="0">
                                          <p:val>
                                            <p:strVal val="#ppt_x"/>
                                          </p:val>
                                        </p:tav>
                                        <p:tav tm="100000">
                                          <p:val>
                                            <p:strVal val="#ppt_x"/>
                                          </p:val>
                                        </p:tav>
                                      </p:tavLst>
                                    </p:anim>
                                    <p:anim calcmode="lin" valueType="num">
                                      <p:cBhvr>
                                        <p:cTn id="14" dur="1000" fill="hold"/>
                                        <p:tgtEl>
                                          <p:spTgt spid="1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1000"/>
                                        <p:tgtEl>
                                          <p:spTgt spid="23"/>
                                        </p:tgtEl>
                                      </p:cBhvr>
                                    </p:animEffect>
                                    <p:anim calcmode="lin" valueType="num">
                                      <p:cBhvr>
                                        <p:cTn id="23" dur="1000" fill="hold"/>
                                        <p:tgtEl>
                                          <p:spTgt spid="23"/>
                                        </p:tgtEl>
                                        <p:attrNameLst>
                                          <p:attrName>ppt_x</p:attrName>
                                        </p:attrNameLst>
                                      </p:cBhvr>
                                      <p:tavLst>
                                        <p:tav tm="0">
                                          <p:val>
                                            <p:strVal val="#ppt_x"/>
                                          </p:val>
                                        </p:tav>
                                        <p:tav tm="100000">
                                          <p:val>
                                            <p:strVal val="#ppt_x"/>
                                          </p:val>
                                        </p:tav>
                                      </p:tavLst>
                                    </p:anim>
                                    <p:anim calcmode="lin" valueType="num">
                                      <p:cBhvr>
                                        <p:cTn id="24" dur="1000" fill="hold"/>
                                        <p:tgtEl>
                                          <p:spTgt spid="23"/>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1000"/>
                                        <p:tgtEl>
                                          <p:spTgt spid="37"/>
                                        </p:tgtEl>
                                      </p:cBhvr>
                                    </p:animEffect>
                                    <p:anim calcmode="lin" valueType="num">
                                      <p:cBhvr>
                                        <p:cTn id="28" dur="1000" fill="hold"/>
                                        <p:tgtEl>
                                          <p:spTgt spid="37"/>
                                        </p:tgtEl>
                                        <p:attrNameLst>
                                          <p:attrName>ppt_x</p:attrName>
                                        </p:attrNameLst>
                                      </p:cBhvr>
                                      <p:tavLst>
                                        <p:tav tm="0">
                                          <p:val>
                                            <p:strVal val="#ppt_x"/>
                                          </p:val>
                                        </p:tav>
                                        <p:tav tm="100000">
                                          <p:val>
                                            <p:strVal val="#ppt_x"/>
                                          </p:val>
                                        </p:tav>
                                      </p:tavLst>
                                    </p:anim>
                                    <p:anim calcmode="lin" valueType="num">
                                      <p:cBhvr>
                                        <p:cTn id="29"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1000"/>
                                        <p:tgtEl>
                                          <p:spTgt spid="20"/>
                                        </p:tgtEl>
                                      </p:cBhvr>
                                    </p:animEffect>
                                    <p:anim calcmode="lin" valueType="num">
                                      <p:cBhvr>
                                        <p:cTn id="35" dur="1000" fill="hold"/>
                                        <p:tgtEl>
                                          <p:spTgt spid="20"/>
                                        </p:tgtEl>
                                        <p:attrNameLst>
                                          <p:attrName>ppt_x</p:attrName>
                                        </p:attrNameLst>
                                      </p:cBhvr>
                                      <p:tavLst>
                                        <p:tav tm="0">
                                          <p:val>
                                            <p:strVal val="#ppt_x"/>
                                          </p:val>
                                        </p:tav>
                                        <p:tav tm="100000">
                                          <p:val>
                                            <p:strVal val="#ppt_x"/>
                                          </p:val>
                                        </p:tav>
                                      </p:tavLst>
                                    </p:anim>
                                    <p:anim calcmode="lin" valueType="num">
                                      <p:cBhvr>
                                        <p:cTn id="36" dur="1000" fill="hold"/>
                                        <p:tgtEl>
                                          <p:spTgt spid="20"/>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1000"/>
                                        <p:tgtEl>
                                          <p:spTgt spid="21"/>
                                        </p:tgtEl>
                                      </p:cBhvr>
                                    </p:animEffect>
                                    <p:anim calcmode="lin" valueType="num">
                                      <p:cBhvr>
                                        <p:cTn id="40" dur="1000" fill="hold"/>
                                        <p:tgtEl>
                                          <p:spTgt spid="21"/>
                                        </p:tgtEl>
                                        <p:attrNameLst>
                                          <p:attrName>ppt_x</p:attrName>
                                        </p:attrNameLst>
                                      </p:cBhvr>
                                      <p:tavLst>
                                        <p:tav tm="0">
                                          <p:val>
                                            <p:strVal val="#ppt_x"/>
                                          </p:val>
                                        </p:tav>
                                        <p:tav tm="100000">
                                          <p:val>
                                            <p:strVal val="#ppt_x"/>
                                          </p:val>
                                        </p:tav>
                                      </p:tavLst>
                                    </p:anim>
                                    <p:anim calcmode="lin" valueType="num">
                                      <p:cBhvr>
                                        <p:cTn id="41" dur="1000" fill="hold"/>
                                        <p:tgtEl>
                                          <p:spTgt spid="21"/>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1000"/>
                                        <p:tgtEl>
                                          <p:spTgt spid="22"/>
                                        </p:tgtEl>
                                      </p:cBhvr>
                                    </p:animEffect>
                                    <p:anim calcmode="lin" valueType="num">
                                      <p:cBhvr>
                                        <p:cTn id="45" dur="1000" fill="hold"/>
                                        <p:tgtEl>
                                          <p:spTgt spid="22"/>
                                        </p:tgtEl>
                                        <p:attrNameLst>
                                          <p:attrName>ppt_x</p:attrName>
                                        </p:attrNameLst>
                                      </p:cBhvr>
                                      <p:tavLst>
                                        <p:tav tm="0">
                                          <p:val>
                                            <p:strVal val="#ppt_x"/>
                                          </p:val>
                                        </p:tav>
                                        <p:tav tm="100000">
                                          <p:val>
                                            <p:strVal val="#ppt_x"/>
                                          </p:val>
                                        </p:tav>
                                      </p:tavLst>
                                    </p:anim>
                                    <p:anim calcmode="lin" valueType="num">
                                      <p:cBhvr>
                                        <p:cTn id="46" dur="1000" fill="hold"/>
                                        <p:tgtEl>
                                          <p:spTgt spid="22"/>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1000"/>
                                        <p:tgtEl>
                                          <p:spTgt spid="25"/>
                                        </p:tgtEl>
                                      </p:cBhvr>
                                    </p:animEffect>
                                    <p:anim calcmode="lin" valueType="num">
                                      <p:cBhvr>
                                        <p:cTn id="50" dur="1000" fill="hold"/>
                                        <p:tgtEl>
                                          <p:spTgt spid="25"/>
                                        </p:tgtEl>
                                        <p:attrNameLst>
                                          <p:attrName>ppt_x</p:attrName>
                                        </p:attrNameLst>
                                      </p:cBhvr>
                                      <p:tavLst>
                                        <p:tav tm="0">
                                          <p:val>
                                            <p:strVal val="#ppt_x"/>
                                          </p:val>
                                        </p:tav>
                                        <p:tav tm="100000">
                                          <p:val>
                                            <p:strVal val="#ppt_x"/>
                                          </p:val>
                                        </p:tav>
                                      </p:tavLst>
                                    </p:anim>
                                    <p:anim calcmode="lin" valueType="num">
                                      <p:cBhvr>
                                        <p:cTn id="51" dur="1000" fill="hold"/>
                                        <p:tgtEl>
                                          <p:spTgt spid="25"/>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fade">
                                      <p:cBhvr>
                                        <p:cTn id="54" dur="1000"/>
                                        <p:tgtEl>
                                          <p:spTgt spid="4"/>
                                        </p:tgtEl>
                                      </p:cBhvr>
                                    </p:animEffect>
                                    <p:anim calcmode="lin" valueType="num">
                                      <p:cBhvr>
                                        <p:cTn id="55" dur="1000" fill="hold"/>
                                        <p:tgtEl>
                                          <p:spTgt spid="4"/>
                                        </p:tgtEl>
                                        <p:attrNameLst>
                                          <p:attrName>ppt_x</p:attrName>
                                        </p:attrNameLst>
                                      </p:cBhvr>
                                      <p:tavLst>
                                        <p:tav tm="0">
                                          <p:val>
                                            <p:strVal val="#ppt_x"/>
                                          </p:val>
                                        </p:tav>
                                        <p:tav tm="100000">
                                          <p:val>
                                            <p:strVal val="#ppt_x"/>
                                          </p:val>
                                        </p:tav>
                                      </p:tavLst>
                                    </p:anim>
                                    <p:anim calcmode="lin" valueType="num">
                                      <p:cBhvr>
                                        <p:cTn id="56" dur="1000" fill="hold"/>
                                        <p:tgtEl>
                                          <p:spTgt spid="4"/>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1000"/>
                                        <p:tgtEl>
                                          <p:spTgt spid="35"/>
                                        </p:tgtEl>
                                      </p:cBhvr>
                                    </p:animEffect>
                                    <p:anim calcmode="lin" valueType="num">
                                      <p:cBhvr>
                                        <p:cTn id="60" dur="1000" fill="hold"/>
                                        <p:tgtEl>
                                          <p:spTgt spid="35"/>
                                        </p:tgtEl>
                                        <p:attrNameLst>
                                          <p:attrName>ppt_x</p:attrName>
                                        </p:attrNameLst>
                                      </p:cBhvr>
                                      <p:tavLst>
                                        <p:tav tm="0">
                                          <p:val>
                                            <p:strVal val="#ppt_x"/>
                                          </p:val>
                                        </p:tav>
                                        <p:tav tm="100000">
                                          <p:val>
                                            <p:strVal val="#ppt_x"/>
                                          </p:val>
                                        </p:tav>
                                      </p:tavLst>
                                    </p:anim>
                                    <p:anim calcmode="lin" valueType="num">
                                      <p:cBhvr>
                                        <p:cTn id="61" dur="1000" fill="hold"/>
                                        <p:tgtEl>
                                          <p:spTgt spid="35"/>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1000"/>
                                        <p:tgtEl>
                                          <p:spTgt spid="40"/>
                                        </p:tgtEl>
                                      </p:cBhvr>
                                    </p:animEffect>
                                    <p:anim calcmode="lin" valueType="num">
                                      <p:cBhvr>
                                        <p:cTn id="65" dur="1000" fill="hold"/>
                                        <p:tgtEl>
                                          <p:spTgt spid="40"/>
                                        </p:tgtEl>
                                        <p:attrNameLst>
                                          <p:attrName>ppt_x</p:attrName>
                                        </p:attrNameLst>
                                      </p:cBhvr>
                                      <p:tavLst>
                                        <p:tav tm="0">
                                          <p:val>
                                            <p:strVal val="#ppt_x"/>
                                          </p:val>
                                        </p:tav>
                                        <p:tav tm="100000">
                                          <p:val>
                                            <p:strVal val="#ppt_x"/>
                                          </p:val>
                                        </p:tav>
                                      </p:tavLst>
                                    </p:anim>
                                    <p:anim calcmode="lin" valueType="num">
                                      <p:cBhvr>
                                        <p:cTn id="66" dur="1000" fill="hold"/>
                                        <p:tgtEl>
                                          <p:spTgt spid="40"/>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1000"/>
                                        <p:tgtEl>
                                          <p:spTgt spid="41"/>
                                        </p:tgtEl>
                                      </p:cBhvr>
                                    </p:animEffect>
                                    <p:anim calcmode="lin" valueType="num">
                                      <p:cBhvr>
                                        <p:cTn id="70" dur="1000" fill="hold"/>
                                        <p:tgtEl>
                                          <p:spTgt spid="41"/>
                                        </p:tgtEl>
                                        <p:attrNameLst>
                                          <p:attrName>ppt_x</p:attrName>
                                        </p:attrNameLst>
                                      </p:cBhvr>
                                      <p:tavLst>
                                        <p:tav tm="0">
                                          <p:val>
                                            <p:strVal val="#ppt_x"/>
                                          </p:val>
                                        </p:tav>
                                        <p:tav tm="100000">
                                          <p:val>
                                            <p:strVal val="#ppt_x"/>
                                          </p:val>
                                        </p:tav>
                                      </p:tavLst>
                                    </p:anim>
                                    <p:anim calcmode="lin" valueType="num">
                                      <p:cBhvr>
                                        <p:cTn id="71"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11" grpId="0"/>
      <p:bldP spid="20" grpId="0" animBg="1"/>
      <p:bldP spid="21" grpId="0" animBg="1"/>
      <p:bldP spid="22" grpId="0"/>
      <p:bldP spid="23" grpId="0" animBg="1"/>
      <p:bldP spid="2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99B0D-C55F-19A6-4B6F-13AC0FDBE69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EB0B4CA-6789-BAE1-AB9B-6C601585C2CD}"/>
              </a:ext>
            </a:extLst>
          </p:cNvPr>
          <p:cNvSpPr>
            <a:spLocks noGrp="1"/>
          </p:cNvSpPr>
          <p:nvPr>
            <p:ph type="title"/>
          </p:nvPr>
        </p:nvSpPr>
        <p:spPr>
          <a:xfrm>
            <a:off x="183219" y="137396"/>
            <a:ext cx="11561105" cy="424732"/>
          </a:xfrm>
        </p:spPr>
        <p:txBody>
          <a:bodyPr/>
          <a:lstStyle/>
          <a:p>
            <a:r>
              <a:rPr lang="en-IE"/>
              <a:t>Enable Data-Driven Optimization and Capacity Planning</a:t>
            </a:r>
            <a:endParaRPr lang="en-US"/>
          </a:p>
        </p:txBody>
      </p:sp>
      <p:sp>
        <p:nvSpPr>
          <p:cNvPr id="2" name="Slide Number Placeholder 1">
            <a:extLst>
              <a:ext uri="{FF2B5EF4-FFF2-40B4-BE49-F238E27FC236}">
                <a16:creationId xmlns:a16="http://schemas.microsoft.com/office/drawing/2014/main" id="{151A626D-BD53-0705-6F02-986AE1C38409}"/>
              </a:ext>
            </a:extLst>
          </p:cNvPr>
          <p:cNvSpPr>
            <a:spLocks noGrp="1"/>
          </p:cNvSpPr>
          <p:nvPr>
            <p:ph type="sldNum" sz="quarter" idx="12"/>
          </p:nvPr>
        </p:nvSpPr>
        <p:spPr/>
        <p:txBody>
          <a:bodyPr/>
          <a:lstStyle/>
          <a:p>
            <a:r>
              <a:rPr lang="en-US"/>
              <a:t>| </a:t>
            </a:r>
            <a:fld id="{FEC5E14B-9965-442C-8683-0E66DD8427DC}" type="slidenum">
              <a:rPr lang="en-US" smtClean="0"/>
              <a:pPr/>
              <a:t>14</a:t>
            </a:fld>
            <a:endParaRPr lang="en-US"/>
          </a:p>
        </p:txBody>
      </p:sp>
      <p:sp>
        <p:nvSpPr>
          <p:cNvPr id="7" name="Text Placeholder 6">
            <a:extLst>
              <a:ext uri="{FF2B5EF4-FFF2-40B4-BE49-F238E27FC236}">
                <a16:creationId xmlns:a16="http://schemas.microsoft.com/office/drawing/2014/main" id="{9EDA9D02-9C39-B2E8-F5D5-7542A5861A78}"/>
              </a:ext>
            </a:extLst>
          </p:cNvPr>
          <p:cNvSpPr>
            <a:spLocks noGrp="1"/>
          </p:cNvSpPr>
          <p:nvPr>
            <p:ph type="body" sz="quarter" idx="13"/>
          </p:nvPr>
        </p:nvSpPr>
        <p:spPr>
          <a:xfrm>
            <a:off x="183220" y="507880"/>
            <a:ext cx="11561104" cy="714375"/>
          </a:xfrm>
        </p:spPr>
        <p:txBody>
          <a:bodyPr/>
          <a:lstStyle/>
          <a:p>
            <a:r>
              <a:rPr lang="en-US"/>
              <a:t>With the Cato SASE Cloud Platform</a:t>
            </a:r>
          </a:p>
        </p:txBody>
      </p:sp>
      <p:sp>
        <p:nvSpPr>
          <p:cNvPr id="18" name="Rectangle 17">
            <a:extLst>
              <a:ext uri="{FF2B5EF4-FFF2-40B4-BE49-F238E27FC236}">
                <a16:creationId xmlns:a16="http://schemas.microsoft.com/office/drawing/2014/main" id="{CDB139FC-D105-F2EE-FCB9-DDA5D181E3A6}"/>
              </a:ext>
            </a:extLst>
          </p:cNvPr>
          <p:cNvSpPr/>
          <p:nvPr/>
        </p:nvSpPr>
        <p:spPr>
          <a:xfrm>
            <a:off x="585686" y="1044181"/>
            <a:ext cx="2641790" cy="245593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398A2E07-8FCC-54EB-C5A2-0E6CF2BEA3AD}"/>
              </a:ext>
            </a:extLst>
          </p:cNvPr>
          <p:cNvSpPr/>
          <p:nvPr/>
        </p:nvSpPr>
        <p:spPr>
          <a:xfrm>
            <a:off x="3411223" y="1044180"/>
            <a:ext cx="7148981" cy="2455931"/>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 name="Content Placeholder 7">
            <a:extLst>
              <a:ext uri="{FF2B5EF4-FFF2-40B4-BE49-F238E27FC236}">
                <a16:creationId xmlns:a16="http://schemas.microsoft.com/office/drawing/2014/main" id="{1C085CB6-BFC7-4893-C012-0DFA393169AB}"/>
              </a:ext>
            </a:extLst>
          </p:cNvPr>
          <p:cNvSpPr txBox="1">
            <a:spLocks/>
          </p:cNvSpPr>
          <p:nvPr/>
        </p:nvSpPr>
        <p:spPr>
          <a:xfrm>
            <a:off x="3496650" y="1250823"/>
            <a:ext cx="6547800" cy="21541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accent1"/>
                </a:solidFill>
                <a:latin typeface="+mn-lt"/>
                <a:ea typeface="+mn-ea"/>
                <a:cs typeface="+mn-cs"/>
              </a:defRPr>
            </a:lvl1pPr>
            <a:lvl2pPr marL="457200" indent="-223838" algn="l" defTabSz="914400" rtl="0" eaLnBrk="1" latinLnBrk="0" hangingPunct="1">
              <a:lnSpc>
                <a:spcPct val="90000"/>
              </a:lnSpc>
              <a:spcBef>
                <a:spcPts val="500"/>
              </a:spcBef>
              <a:buFont typeface="Wingdings" pitchFamily="2" charset="2"/>
              <a:buChar char="§"/>
              <a:defRPr sz="2400" b="0" kern="1200">
                <a:solidFill>
                  <a:schemeClr val="tx1"/>
                </a:solidFill>
                <a:latin typeface="+mn-lt"/>
                <a:ea typeface="+mn-ea"/>
                <a:cs typeface="+mn-cs"/>
              </a:defRPr>
            </a:lvl2pPr>
            <a:lvl3pPr marL="690563" indent="-233363" algn="l" defTabSz="914400" rtl="0" eaLnBrk="1" latinLnBrk="0" hangingPunct="1">
              <a:lnSpc>
                <a:spcPct val="90000"/>
              </a:lnSpc>
              <a:spcBef>
                <a:spcPts val="500"/>
              </a:spcBef>
              <a:buFont typeface="Wingdings" pitchFamily="2" charset="2"/>
              <a:buChar char="§"/>
              <a:defRPr sz="2000" b="0" kern="1200">
                <a:solidFill>
                  <a:schemeClr val="tx1"/>
                </a:solidFill>
                <a:latin typeface="+mn-lt"/>
                <a:ea typeface="+mn-ea"/>
                <a:cs typeface="+mn-cs"/>
              </a:defRPr>
            </a:lvl3pPr>
            <a:lvl4pPr marL="914400" indent="-223838" algn="l" defTabSz="914400" rtl="0" eaLnBrk="1" latinLnBrk="0" hangingPunct="1">
              <a:lnSpc>
                <a:spcPct val="90000"/>
              </a:lnSpc>
              <a:spcBef>
                <a:spcPts val="500"/>
              </a:spcBef>
              <a:buFont typeface="Wingdings" pitchFamily="2" charset="2"/>
              <a:buChar char="§"/>
              <a:defRPr sz="1800" b="0" kern="1200">
                <a:solidFill>
                  <a:schemeClr val="tx1"/>
                </a:solidFill>
                <a:latin typeface="+mn-lt"/>
                <a:ea typeface="+mn-ea"/>
                <a:cs typeface="+mn-cs"/>
              </a:defRPr>
            </a:lvl4pPr>
            <a:lvl5pPr marL="862013" indent="-23495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231775">
              <a:lnSpc>
                <a:spcPts val="3200"/>
              </a:lnSpc>
              <a:spcBef>
                <a:spcPts val="0"/>
              </a:spcBef>
              <a:buFont typeface="Wingdings" pitchFamily="2" charset="2"/>
              <a:buChar char="ü"/>
            </a:pPr>
            <a:r>
              <a:rPr lang="en-IE" sz="1800">
                <a:solidFill>
                  <a:schemeClr val="tx1"/>
                </a:solidFill>
              </a:rPr>
              <a:t>Use visibility data to forecast </a:t>
            </a:r>
            <a:r>
              <a:rPr lang="en-IE" sz="1800" b="1">
                <a:solidFill>
                  <a:schemeClr val="tx1"/>
                </a:solidFill>
              </a:rPr>
              <a:t>bandwidth requirements</a:t>
            </a:r>
            <a:r>
              <a:rPr lang="en-IE" sz="1800">
                <a:solidFill>
                  <a:schemeClr val="tx1"/>
                </a:solidFill>
              </a:rPr>
              <a:t>, usage spikes, and peak traffic patterns. </a:t>
            </a:r>
          </a:p>
          <a:p>
            <a:pPr defTabSz="231775">
              <a:lnSpc>
                <a:spcPts val="3200"/>
              </a:lnSpc>
              <a:spcBef>
                <a:spcPts val="0"/>
              </a:spcBef>
              <a:buFont typeface="Wingdings" pitchFamily="2" charset="2"/>
              <a:buChar char="ü"/>
            </a:pPr>
            <a:r>
              <a:rPr lang="en-IE" sz="1800">
                <a:solidFill>
                  <a:schemeClr val="tx1"/>
                </a:solidFill>
              </a:rPr>
              <a:t>Optimize costs by reallocating capacity based on real utilization and application priorities.</a:t>
            </a:r>
            <a:endParaRPr lang="en-US" sz="1800" i="1">
              <a:solidFill>
                <a:schemeClr val="tx1"/>
              </a:solidFill>
            </a:endParaRPr>
          </a:p>
        </p:txBody>
      </p:sp>
      <p:sp>
        <p:nvSpPr>
          <p:cNvPr id="20" name="Rectangle 19">
            <a:extLst>
              <a:ext uri="{FF2B5EF4-FFF2-40B4-BE49-F238E27FC236}">
                <a16:creationId xmlns:a16="http://schemas.microsoft.com/office/drawing/2014/main" id="{DBB72FE8-BAAC-C9A7-B2C7-3A1DB4BC5697}"/>
              </a:ext>
            </a:extLst>
          </p:cNvPr>
          <p:cNvSpPr/>
          <p:nvPr/>
        </p:nvSpPr>
        <p:spPr>
          <a:xfrm>
            <a:off x="585685" y="3663223"/>
            <a:ext cx="2641790" cy="245593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24E748EF-CBB3-BC9D-B2F0-C0F849727278}"/>
              </a:ext>
            </a:extLst>
          </p:cNvPr>
          <p:cNvSpPr/>
          <p:nvPr/>
        </p:nvSpPr>
        <p:spPr>
          <a:xfrm>
            <a:off x="3411222" y="3663222"/>
            <a:ext cx="7148981" cy="2455931"/>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2" name="Content Placeholder 7">
            <a:extLst>
              <a:ext uri="{FF2B5EF4-FFF2-40B4-BE49-F238E27FC236}">
                <a16:creationId xmlns:a16="http://schemas.microsoft.com/office/drawing/2014/main" id="{30AE6A9B-BD00-D698-1277-8B9209EF16FF}"/>
              </a:ext>
            </a:extLst>
          </p:cNvPr>
          <p:cNvSpPr txBox="1">
            <a:spLocks/>
          </p:cNvSpPr>
          <p:nvPr/>
        </p:nvSpPr>
        <p:spPr>
          <a:xfrm>
            <a:off x="3496649" y="3869865"/>
            <a:ext cx="6547801" cy="21541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accent1"/>
                </a:solidFill>
                <a:latin typeface="+mn-lt"/>
                <a:ea typeface="+mn-ea"/>
                <a:cs typeface="+mn-cs"/>
              </a:defRPr>
            </a:lvl1pPr>
            <a:lvl2pPr marL="457200" indent="-223838" algn="l" defTabSz="914400" rtl="0" eaLnBrk="1" latinLnBrk="0" hangingPunct="1">
              <a:lnSpc>
                <a:spcPct val="90000"/>
              </a:lnSpc>
              <a:spcBef>
                <a:spcPts val="500"/>
              </a:spcBef>
              <a:buFont typeface="Wingdings" pitchFamily="2" charset="2"/>
              <a:buChar char="§"/>
              <a:defRPr sz="2400" b="0" kern="1200">
                <a:solidFill>
                  <a:schemeClr val="tx1"/>
                </a:solidFill>
                <a:latin typeface="+mn-lt"/>
                <a:ea typeface="+mn-ea"/>
                <a:cs typeface="+mn-cs"/>
              </a:defRPr>
            </a:lvl2pPr>
            <a:lvl3pPr marL="690563" indent="-233363" algn="l" defTabSz="914400" rtl="0" eaLnBrk="1" latinLnBrk="0" hangingPunct="1">
              <a:lnSpc>
                <a:spcPct val="90000"/>
              </a:lnSpc>
              <a:spcBef>
                <a:spcPts val="500"/>
              </a:spcBef>
              <a:buFont typeface="Wingdings" pitchFamily="2" charset="2"/>
              <a:buChar char="§"/>
              <a:defRPr sz="2000" b="0" kern="1200">
                <a:solidFill>
                  <a:schemeClr val="tx1"/>
                </a:solidFill>
                <a:latin typeface="+mn-lt"/>
                <a:ea typeface="+mn-ea"/>
                <a:cs typeface="+mn-cs"/>
              </a:defRPr>
            </a:lvl3pPr>
            <a:lvl4pPr marL="914400" indent="-223838" algn="l" defTabSz="914400" rtl="0" eaLnBrk="1" latinLnBrk="0" hangingPunct="1">
              <a:lnSpc>
                <a:spcPct val="90000"/>
              </a:lnSpc>
              <a:spcBef>
                <a:spcPts val="500"/>
              </a:spcBef>
              <a:buFont typeface="Wingdings" pitchFamily="2" charset="2"/>
              <a:buChar char="§"/>
              <a:defRPr sz="1800" b="0" kern="1200">
                <a:solidFill>
                  <a:schemeClr val="tx1"/>
                </a:solidFill>
                <a:latin typeface="+mn-lt"/>
                <a:ea typeface="+mn-ea"/>
                <a:cs typeface="+mn-cs"/>
              </a:defRPr>
            </a:lvl4pPr>
            <a:lvl5pPr marL="862013" indent="-23495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231775">
              <a:lnSpc>
                <a:spcPts val="3200"/>
              </a:lnSpc>
              <a:spcBef>
                <a:spcPts val="0"/>
              </a:spcBef>
              <a:buFont typeface="Wingdings" pitchFamily="2" charset="2"/>
              <a:buChar char="ü"/>
            </a:pPr>
            <a:r>
              <a:rPr lang="en-IE" sz="1800">
                <a:solidFill>
                  <a:schemeClr val="tx1"/>
                </a:solidFill>
              </a:rPr>
              <a:t>Better budget planning</a:t>
            </a:r>
          </a:p>
          <a:p>
            <a:pPr defTabSz="231775">
              <a:lnSpc>
                <a:spcPts val="3200"/>
              </a:lnSpc>
              <a:spcBef>
                <a:spcPts val="0"/>
              </a:spcBef>
              <a:buFont typeface="Wingdings" pitchFamily="2" charset="2"/>
              <a:buChar char="ü"/>
            </a:pPr>
            <a:r>
              <a:rPr lang="en-IE" sz="1800">
                <a:solidFill>
                  <a:schemeClr val="tx1"/>
                </a:solidFill>
              </a:rPr>
              <a:t>Elimination of over-provisioning &amp; associated costs.</a:t>
            </a:r>
          </a:p>
          <a:p>
            <a:pPr defTabSz="231775">
              <a:lnSpc>
                <a:spcPts val="3200"/>
              </a:lnSpc>
              <a:spcBef>
                <a:spcPts val="0"/>
              </a:spcBef>
              <a:buFont typeface="Wingdings" pitchFamily="2" charset="2"/>
              <a:buChar char="ü"/>
            </a:pPr>
            <a:r>
              <a:rPr lang="en-IE" sz="1800">
                <a:solidFill>
                  <a:schemeClr val="tx1"/>
                </a:solidFill>
              </a:rPr>
              <a:t>Plan capacity, technology refresh cycles, cloud migrations, and digital transformation initiatives more effectively.</a:t>
            </a:r>
          </a:p>
        </p:txBody>
      </p:sp>
      <p:sp>
        <p:nvSpPr>
          <p:cNvPr id="23" name="TextBox 22">
            <a:extLst>
              <a:ext uri="{FF2B5EF4-FFF2-40B4-BE49-F238E27FC236}">
                <a16:creationId xmlns:a16="http://schemas.microsoft.com/office/drawing/2014/main" id="{5CF835CB-FAEA-922B-55D2-415A74CF82DB}"/>
              </a:ext>
            </a:extLst>
          </p:cNvPr>
          <p:cNvSpPr txBox="1"/>
          <p:nvPr/>
        </p:nvSpPr>
        <p:spPr>
          <a:xfrm>
            <a:off x="947639" y="1346349"/>
            <a:ext cx="1947829" cy="779026"/>
          </a:xfrm>
          <a:prstGeom prst="roundRect">
            <a:avLst>
              <a:gd name="adj" fmla="val 50000"/>
            </a:avLst>
          </a:prstGeom>
          <a:solidFill>
            <a:schemeClr val="bg1"/>
          </a:solidFill>
          <a:ln>
            <a:noFill/>
          </a:ln>
          <a:scene3d>
            <a:camera prst="orthographicFront"/>
            <a:lightRig rig="threePt" dir="t"/>
          </a:scene3d>
          <a:sp3d extrusionH="76200" prstMaterial="matte">
            <a:bevelT/>
            <a:extrusionClr>
              <a:schemeClr val="bg1"/>
            </a:extrusionClr>
          </a:sp3d>
        </p:spPr>
        <p:txBody>
          <a:bodyPr wrap="squar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rgbClr val="158864"/>
                </a:solidFill>
                <a:latin typeface="Calibri" panose="020F0502020204030204"/>
              </a:rPr>
              <a:t>Business Objectives</a:t>
            </a:r>
            <a:endParaRPr kumimoji="0" lang="en-US" sz="1800" b="0" i="0" u="none" strike="noStrike" kern="1200" cap="none" spc="0" normalizeH="0" baseline="0" noProof="0">
              <a:ln>
                <a:noFill/>
              </a:ln>
              <a:solidFill>
                <a:srgbClr val="158864"/>
              </a:solidFill>
              <a:effectLst/>
              <a:uLnTx/>
              <a:uFillTx/>
              <a:latin typeface="Calibri" panose="020F0502020204030204"/>
              <a:ea typeface="+mn-ea"/>
              <a:cs typeface="+mn-cs"/>
            </a:endParaRPr>
          </a:p>
        </p:txBody>
      </p:sp>
      <p:sp>
        <p:nvSpPr>
          <p:cNvPr id="25" name="TextBox 24">
            <a:extLst>
              <a:ext uri="{FF2B5EF4-FFF2-40B4-BE49-F238E27FC236}">
                <a16:creationId xmlns:a16="http://schemas.microsoft.com/office/drawing/2014/main" id="{0A66F670-E0F1-6587-71CA-CA8449442176}"/>
              </a:ext>
            </a:extLst>
          </p:cNvPr>
          <p:cNvSpPr txBox="1"/>
          <p:nvPr/>
        </p:nvSpPr>
        <p:spPr>
          <a:xfrm>
            <a:off x="932665" y="3949683"/>
            <a:ext cx="1947829" cy="779026"/>
          </a:xfrm>
          <a:prstGeom prst="roundRect">
            <a:avLst>
              <a:gd name="adj" fmla="val 50000"/>
            </a:avLst>
          </a:prstGeom>
          <a:solidFill>
            <a:schemeClr val="bg1"/>
          </a:solidFill>
          <a:ln>
            <a:noFill/>
          </a:ln>
          <a:scene3d>
            <a:camera prst="orthographicFront"/>
            <a:lightRig rig="threePt" dir="t"/>
          </a:scene3d>
          <a:sp3d extrusionH="76200" prstMaterial="matte">
            <a:bevelT/>
            <a:extrusionClr>
              <a:schemeClr val="bg1"/>
            </a:extrusionClr>
          </a:sp3d>
        </p:spPr>
        <p:txBody>
          <a:bodyPr wrap="squar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rgbClr val="158864"/>
                </a:solidFill>
                <a:latin typeface="Calibri" panose="020F0502020204030204"/>
              </a:rPr>
              <a:t>Business Outcomes</a:t>
            </a:r>
            <a:endParaRPr kumimoji="0" lang="en-US" sz="1800" b="0" i="0" u="none" strike="noStrike" kern="1200" cap="none" spc="0" normalizeH="0" baseline="0" noProof="0">
              <a:ln>
                <a:noFill/>
              </a:ln>
              <a:solidFill>
                <a:srgbClr val="158864"/>
              </a:solidFill>
              <a:effectLst/>
              <a:uLnTx/>
              <a:uFillTx/>
              <a:latin typeface="Calibri" panose="020F0502020204030204"/>
              <a:ea typeface="+mn-ea"/>
              <a:cs typeface="+mn-cs"/>
            </a:endParaRPr>
          </a:p>
        </p:txBody>
      </p:sp>
      <p:pic>
        <p:nvPicPr>
          <p:cNvPr id="4" name="Graphic 3" descr="Circles with arrows outline">
            <a:extLst>
              <a:ext uri="{FF2B5EF4-FFF2-40B4-BE49-F238E27FC236}">
                <a16:creationId xmlns:a16="http://schemas.microsoft.com/office/drawing/2014/main" id="{4F59684D-5CE2-8869-C85F-C6DC2B75099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80202">
            <a:off x="1341805" y="4842499"/>
            <a:ext cx="1057294" cy="1057294"/>
          </a:xfrm>
          <a:prstGeom prst="rect">
            <a:avLst/>
          </a:prstGeom>
        </p:spPr>
      </p:pic>
      <p:pic>
        <p:nvPicPr>
          <p:cNvPr id="35" name="Graphic 34" descr="Euro with solid fill">
            <a:extLst>
              <a:ext uri="{FF2B5EF4-FFF2-40B4-BE49-F238E27FC236}">
                <a16:creationId xmlns:a16="http://schemas.microsoft.com/office/drawing/2014/main" id="{5315CCD4-53E0-751D-F79A-E9BCFB04DD4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84571" y="5277699"/>
            <a:ext cx="161091" cy="161091"/>
          </a:xfrm>
          <a:prstGeom prst="rect">
            <a:avLst/>
          </a:prstGeom>
        </p:spPr>
      </p:pic>
      <p:pic>
        <p:nvPicPr>
          <p:cNvPr id="37" name="Graphic 36" descr="Bullseye with solid fill">
            <a:extLst>
              <a:ext uri="{FF2B5EF4-FFF2-40B4-BE49-F238E27FC236}">
                <a16:creationId xmlns:a16="http://schemas.microsoft.com/office/drawing/2014/main" id="{8496327E-3393-F299-6F0C-DC716949570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64353" y="2308880"/>
            <a:ext cx="914400" cy="914400"/>
          </a:xfrm>
          <a:prstGeom prst="rect">
            <a:avLst/>
          </a:prstGeom>
        </p:spPr>
      </p:pic>
      <p:pic>
        <p:nvPicPr>
          <p:cNvPr id="40" name="Graphic 39" descr="Euro with solid fill">
            <a:extLst>
              <a:ext uri="{FF2B5EF4-FFF2-40B4-BE49-F238E27FC236}">
                <a16:creationId xmlns:a16="http://schemas.microsoft.com/office/drawing/2014/main" id="{4BB2100B-EBC4-7039-147F-4904E9C3804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89905" y="5273370"/>
            <a:ext cx="161091" cy="161091"/>
          </a:xfrm>
          <a:prstGeom prst="rect">
            <a:avLst/>
          </a:prstGeom>
        </p:spPr>
      </p:pic>
      <p:pic>
        <p:nvPicPr>
          <p:cNvPr id="41" name="Graphic 40" descr="Euro with solid fill">
            <a:extLst>
              <a:ext uri="{FF2B5EF4-FFF2-40B4-BE49-F238E27FC236}">
                <a16:creationId xmlns:a16="http://schemas.microsoft.com/office/drawing/2014/main" id="{630478C1-E802-272F-E6BD-BC2727824DC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01420" y="5269041"/>
            <a:ext cx="161091" cy="161091"/>
          </a:xfrm>
          <a:prstGeom prst="rect">
            <a:avLst/>
          </a:prstGeom>
        </p:spPr>
      </p:pic>
    </p:spTree>
    <p:extLst>
      <p:ext uri="{BB962C8B-B14F-4D97-AF65-F5344CB8AC3E}">
        <p14:creationId xmlns:p14="http://schemas.microsoft.com/office/powerpoint/2010/main" val="1253593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anim calcmode="lin" valueType="num">
                                      <p:cBhvr>
                                        <p:cTn id="13" dur="1000" fill="hold"/>
                                        <p:tgtEl>
                                          <p:spTgt spid="19"/>
                                        </p:tgtEl>
                                        <p:attrNameLst>
                                          <p:attrName>ppt_x</p:attrName>
                                        </p:attrNameLst>
                                      </p:cBhvr>
                                      <p:tavLst>
                                        <p:tav tm="0">
                                          <p:val>
                                            <p:strVal val="#ppt_x"/>
                                          </p:val>
                                        </p:tav>
                                        <p:tav tm="100000">
                                          <p:val>
                                            <p:strVal val="#ppt_x"/>
                                          </p:val>
                                        </p:tav>
                                      </p:tavLst>
                                    </p:anim>
                                    <p:anim calcmode="lin" valueType="num">
                                      <p:cBhvr>
                                        <p:cTn id="14" dur="1000" fill="hold"/>
                                        <p:tgtEl>
                                          <p:spTgt spid="1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1000"/>
                                        <p:tgtEl>
                                          <p:spTgt spid="23"/>
                                        </p:tgtEl>
                                      </p:cBhvr>
                                    </p:animEffect>
                                    <p:anim calcmode="lin" valueType="num">
                                      <p:cBhvr>
                                        <p:cTn id="23" dur="1000" fill="hold"/>
                                        <p:tgtEl>
                                          <p:spTgt spid="23"/>
                                        </p:tgtEl>
                                        <p:attrNameLst>
                                          <p:attrName>ppt_x</p:attrName>
                                        </p:attrNameLst>
                                      </p:cBhvr>
                                      <p:tavLst>
                                        <p:tav tm="0">
                                          <p:val>
                                            <p:strVal val="#ppt_x"/>
                                          </p:val>
                                        </p:tav>
                                        <p:tav tm="100000">
                                          <p:val>
                                            <p:strVal val="#ppt_x"/>
                                          </p:val>
                                        </p:tav>
                                      </p:tavLst>
                                    </p:anim>
                                    <p:anim calcmode="lin" valueType="num">
                                      <p:cBhvr>
                                        <p:cTn id="24" dur="1000" fill="hold"/>
                                        <p:tgtEl>
                                          <p:spTgt spid="23"/>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1000"/>
                                        <p:tgtEl>
                                          <p:spTgt spid="37"/>
                                        </p:tgtEl>
                                      </p:cBhvr>
                                    </p:animEffect>
                                    <p:anim calcmode="lin" valueType="num">
                                      <p:cBhvr>
                                        <p:cTn id="28" dur="1000" fill="hold"/>
                                        <p:tgtEl>
                                          <p:spTgt spid="37"/>
                                        </p:tgtEl>
                                        <p:attrNameLst>
                                          <p:attrName>ppt_x</p:attrName>
                                        </p:attrNameLst>
                                      </p:cBhvr>
                                      <p:tavLst>
                                        <p:tav tm="0">
                                          <p:val>
                                            <p:strVal val="#ppt_x"/>
                                          </p:val>
                                        </p:tav>
                                        <p:tav tm="100000">
                                          <p:val>
                                            <p:strVal val="#ppt_x"/>
                                          </p:val>
                                        </p:tav>
                                      </p:tavLst>
                                    </p:anim>
                                    <p:anim calcmode="lin" valueType="num">
                                      <p:cBhvr>
                                        <p:cTn id="29"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1000"/>
                                        <p:tgtEl>
                                          <p:spTgt spid="20"/>
                                        </p:tgtEl>
                                      </p:cBhvr>
                                    </p:animEffect>
                                    <p:anim calcmode="lin" valueType="num">
                                      <p:cBhvr>
                                        <p:cTn id="35" dur="1000" fill="hold"/>
                                        <p:tgtEl>
                                          <p:spTgt spid="20"/>
                                        </p:tgtEl>
                                        <p:attrNameLst>
                                          <p:attrName>ppt_x</p:attrName>
                                        </p:attrNameLst>
                                      </p:cBhvr>
                                      <p:tavLst>
                                        <p:tav tm="0">
                                          <p:val>
                                            <p:strVal val="#ppt_x"/>
                                          </p:val>
                                        </p:tav>
                                        <p:tav tm="100000">
                                          <p:val>
                                            <p:strVal val="#ppt_x"/>
                                          </p:val>
                                        </p:tav>
                                      </p:tavLst>
                                    </p:anim>
                                    <p:anim calcmode="lin" valueType="num">
                                      <p:cBhvr>
                                        <p:cTn id="36" dur="1000" fill="hold"/>
                                        <p:tgtEl>
                                          <p:spTgt spid="20"/>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1000"/>
                                        <p:tgtEl>
                                          <p:spTgt spid="21"/>
                                        </p:tgtEl>
                                      </p:cBhvr>
                                    </p:animEffect>
                                    <p:anim calcmode="lin" valueType="num">
                                      <p:cBhvr>
                                        <p:cTn id="40" dur="1000" fill="hold"/>
                                        <p:tgtEl>
                                          <p:spTgt spid="21"/>
                                        </p:tgtEl>
                                        <p:attrNameLst>
                                          <p:attrName>ppt_x</p:attrName>
                                        </p:attrNameLst>
                                      </p:cBhvr>
                                      <p:tavLst>
                                        <p:tav tm="0">
                                          <p:val>
                                            <p:strVal val="#ppt_x"/>
                                          </p:val>
                                        </p:tav>
                                        <p:tav tm="100000">
                                          <p:val>
                                            <p:strVal val="#ppt_x"/>
                                          </p:val>
                                        </p:tav>
                                      </p:tavLst>
                                    </p:anim>
                                    <p:anim calcmode="lin" valueType="num">
                                      <p:cBhvr>
                                        <p:cTn id="41" dur="1000" fill="hold"/>
                                        <p:tgtEl>
                                          <p:spTgt spid="21"/>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1000"/>
                                        <p:tgtEl>
                                          <p:spTgt spid="22"/>
                                        </p:tgtEl>
                                      </p:cBhvr>
                                    </p:animEffect>
                                    <p:anim calcmode="lin" valueType="num">
                                      <p:cBhvr>
                                        <p:cTn id="45" dur="1000" fill="hold"/>
                                        <p:tgtEl>
                                          <p:spTgt spid="22"/>
                                        </p:tgtEl>
                                        <p:attrNameLst>
                                          <p:attrName>ppt_x</p:attrName>
                                        </p:attrNameLst>
                                      </p:cBhvr>
                                      <p:tavLst>
                                        <p:tav tm="0">
                                          <p:val>
                                            <p:strVal val="#ppt_x"/>
                                          </p:val>
                                        </p:tav>
                                        <p:tav tm="100000">
                                          <p:val>
                                            <p:strVal val="#ppt_x"/>
                                          </p:val>
                                        </p:tav>
                                      </p:tavLst>
                                    </p:anim>
                                    <p:anim calcmode="lin" valueType="num">
                                      <p:cBhvr>
                                        <p:cTn id="46" dur="1000" fill="hold"/>
                                        <p:tgtEl>
                                          <p:spTgt spid="22"/>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1000"/>
                                        <p:tgtEl>
                                          <p:spTgt spid="25"/>
                                        </p:tgtEl>
                                      </p:cBhvr>
                                    </p:animEffect>
                                    <p:anim calcmode="lin" valueType="num">
                                      <p:cBhvr>
                                        <p:cTn id="50" dur="1000" fill="hold"/>
                                        <p:tgtEl>
                                          <p:spTgt spid="25"/>
                                        </p:tgtEl>
                                        <p:attrNameLst>
                                          <p:attrName>ppt_x</p:attrName>
                                        </p:attrNameLst>
                                      </p:cBhvr>
                                      <p:tavLst>
                                        <p:tav tm="0">
                                          <p:val>
                                            <p:strVal val="#ppt_x"/>
                                          </p:val>
                                        </p:tav>
                                        <p:tav tm="100000">
                                          <p:val>
                                            <p:strVal val="#ppt_x"/>
                                          </p:val>
                                        </p:tav>
                                      </p:tavLst>
                                    </p:anim>
                                    <p:anim calcmode="lin" valueType="num">
                                      <p:cBhvr>
                                        <p:cTn id="51" dur="1000" fill="hold"/>
                                        <p:tgtEl>
                                          <p:spTgt spid="25"/>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fade">
                                      <p:cBhvr>
                                        <p:cTn id="54" dur="1000"/>
                                        <p:tgtEl>
                                          <p:spTgt spid="4"/>
                                        </p:tgtEl>
                                      </p:cBhvr>
                                    </p:animEffect>
                                    <p:anim calcmode="lin" valueType="num">
                                      <p:cBhvr>
                                        <p:cTn id="55" dur="1000" fill="hold"/>
                                        <p:tgtEl>
                                          <p:spTgt spid="4"/>
                                        </p:tgtEl>
                                        <p:attrNameLst>
                                          <p:attrName>ppt_x</p:attrName>
                                        </p:attrNameLst>
                                      </p:cBhvr>
                                      <p:tavLst>
                                        <p:tav tm="0">
                                          <p:val>
                                            <p:strVal val="#ppt_x"/>
                                          </p:val>
                                        </p:tav>
                                        <p:tav tm="100000">
                                          <p:val>
                                            <p:strVal val="#ppt_x"/>
                                          </p:val>
                                        </p:tav>
                                      </p:tavLst>
                                    </p:anim>
                                    <p:anim calcmode="lin" valueType="num">
                                      <p:cBhvr>
                                        <p:cTn id="56" dur="1000" fill="hold"/>
                                        <p:tgtEl>
                                          <p:spTgt spid="4"/>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1000"/>
                                        <p:tgtEl>
                                          <p:spTgt spid="35"/>
                                        </p:tgtEl>
                                      </p:cBhvr>
                                    </p:animEffect>
                                    <p:anim calcmode="lin" valueType="num">
                                      <p:cBhvr>
                                        <p:cTn id="60" dur="1000" fill="hold"/>
                                        <p:tgtEl>
                                          <p:spTgt spid="35"/>
                                        </p:tgtEl>
                                        <p:attrNameLst>
                                          <p:attrName>ppt_x</p:attrName>
                                        </p:attrNameLst>
                                      </p:cBhvr>
                                      <p:tavLst>
                                        <p:tav tm="0">
                                          <p:val>
                                            <p:strVal val="#ppt_x"/>
                                          </p:val>
                                        </p:tav>
                                        <p:tav tm="100000">
                                          <p:val>
                                            <p:strVal val="#ppt_x"/>
                                          </p:val>
                                        </p:tav>
                                      </p:tavLst>
                                    </p:anim>
                                    <p:anim calcmode="lin" valueType="num">
                                      <p:cBhvr>
                                        <p:cTn id="61" dur="1000" fill="hold"/>
                                        <p:tgtEl>
                                          <p:spTgt spid="35"/>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1000"/>
                                        <p:tgtEl>
                                          <p:spTgt spid="40"/>
                                        </p:tgtEl>
                                      </p:cBhvr>
                                    </p:animEffect>
                                    <p:anim calcmode="lin" valueType="num">
                                      <p:cBhvr>
                                        <p:cTn id="65" dur="1000" fill="hold"/>
                                        <p:tgtEl>
                                          <p:spTgt spid="40"/>
                                        </p:tgtEl>
                                        <p:attrNameLst>
                                          <p:attrName>ppt_x</p:attrName>
                                        </p:attrNameLst>
                                      </p:cBhvr>
                                      <p:tavLst>
                                        <p:tav tm="0">
                                          <p:val>
                                            <p:strVal val="#ppt_x"/>
                                          </p:val>
                                        </p:tav>
                                        <p:tav tm="100000">
                                          <p:val>
                                            <p:strVal val="#ppt_x"/>
                                          </p:val>
                                        </p:tav>
                                      </p:tavLst>
                                    </p:anim>
                                    <p:anim calcmode="lin" valueType="num">
                                      <p:cBhvr>
                                        <p:cTn id="66" dur="1000" fill="hold"/>
                                        <p:tgtEl>
                                          <p:spTgt spid="40"/>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1000"/>
                                        <p:tgtEl>
                                          <p:spTgt spid="41"/>
                                        </p:tgtEl>
                                      </p:cBhvr>
                                    </p:animEffect>
                                    <p:anim calcmode="lin" valueType="num">
                                      <p:cBhvr>
                                        <p:cTn id="70" dur="1000" fill="hold"/>
                                        <p:tgtEl>
                                          <p:spTgt spid="41"/>
                                        </p:tgtEl>
                                        <p:attrNameLst>
                                          <p:attrName>ppt_x</p:attrName>
                                        </p:attrNameLst>
                                      </p:cBhvr>
                                      <p:tavLst>
                                        <p:tav tm="0">
                                          <p:val>
                                            <p:strVal val="#ppt_x"/>
                                          </p:val>
                                        </p:tav>
                                        <p:tav tm="100000">
                                          <p:val>
                                            <p:strVal val="#ppt_x"/>
                                          </p:val>
                                        </p:tav>
                                      </p:tavLst>
                                    </p:anim>
                                    <p:anim calcmode="lin" valueType="num">
                                      <p:cBhvr>
                                        <p:cTn id="71"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11" grpId="0"/>
      <p:bldP spid="20" grpId="0" animBg="1"/>
      <p:bldP spid="21" grpId="0" animBg="1"/>
      <p:bldP spid="22" grpId="0"/>
      <p:bldP spid="23" grpId="0" animBg="1"/>
      <p:bldP spid="2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D836B-0E01-B9BB-AA7D-B2D42D41FAC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F5FC59-4DE0-60BD-01FB-48E42E27E2E0}"/>
              </a:ext>
            </a:extLst>
          </p:cNvPr>
          <p:cNvSpPr>
            <a:spLocks noGrp="1"/>
          </p:cNvSpPr>
          <p:nvPr>
            <p:ph type="title"/>
          </p:nvPr>
        </p:nvSpPr>
        <p:spPr>
          <a:xfrm>
            <a:off x="183219" y="137396"/>
            <a:ext cx="11561105" cy="424732"/>
          </a:xfrm>
        </p:spPr>
        <p:txBody>
          <a:bodyPr/>
          <a:lstStyle/>
          <a:p>
            <a:r>
              <a:rPr lang="en-IE"/>
              <a:t>Reduce Operational Complexity via Centralized Observability</a:t>
            </a:r>
            <a:endParaRPr lang="en-US"/>
          </a:p>
        </p:txBody>
      </p:sp>
      <p:sp>
        <p:nvSpPr>
          <p:cNvPr id="2" name="Slide Number Placeholder 1">
            <a:extLst>
              <a:ext uri="{FF2B5EF4-FFF2-40B4-BE49-F238E27FC236}">
                <a16:creationId xmlns:a16="http://schemas.microsoft.com/office/drawing/2014/main" id="{D7AF6B84-9B4A-815A-4ED9-D349E2FED4E5}"/>
              </a:ext>
            </a:extLst>
          </p:cNvPr>
          <p:cNvSpPr>
            <a:spLocks noGrp="1"/>
          </p:cNvSpPr>
          <p:nvPr>
            <p:ph type="sldNum" sz="quarter" idx="12"/>
          </p:nvPr>
        </p:nvSpPr>
        <p:spPr/>
        <p:txBody>
          <a:bodyPr/>
          <a:lstStyle/>
          <a:p>
            <a:r>
              <a:rPr lang="en-US"/>
              <a:t>| </a:t>
            </a:r>
            <a:fld id="{FEC5E14B-9965-442C-8683-0E66DD8427DC}" type="slidenum">
              <a:rPr lang="en-US" smtClean="0"/>
              <a:pPr/>
              <a:t>15</a:t>
            </a:fld>
            <a:endParaRPr lang="en-US"/>
          </a:p>
        </p:txBody>
      </p:sp>
      <p:sp>
        <p:nvSpPr>
          <p:cNvPr id="7" name="Text Placeholder 6">
            <a:extLst>
              <a:ext uri="{FF2B5EF4-FFF2-40B4-BE49-F238E27FC236}">
                <a16:creationId xmlns:a16="http://schemas.microsoft.com/office/drawing/2014/main" id="{CEBAD239-F99C-A88D-942A-6ABE00737675}"/>
              </a:ext>
            </a:extLst>
          </p:cNvPr>
          <p:cNvSpPr>
            <a:spLocks noGrp="1"/>
          </p:cNvSpPr>
          <p:nvPr>
            <p:ph type="body" sz="quarter" idx="13"/>
          </p:nvPr>
        </p:nvSpPr>
        <p:spPr>
          <a:xfrm>
            <a:off x="183220" y="507880"/>
            <a:ext cx="11561104" cy="714375"/>
          </a:xfrm>
        </p:spPr>
        <p:txBody>
          <a:bodyPr/>
          <a:lstStyle/>
          <a:p>
            <a:r>
              <a:rPr lang="en-US"/>
              <a:t>With the Cato SASE Cloud Platform</a:t>
            </a:r>
          </a:p>
        </p:txBody>
      </p:sp>
      <p:sp>
        <p:nvSpPr>
          <p:cNvPr id="18" name="Rectangle 17">
            <a:extLst>
              <a:ext uri="{FF2B5EF4-FFF2-40B4-BE49-F238E27FC236}">
                <a16:creationId xmlns:a16="http://schemas.microsoft.com/office/drawing/2014/main" id="{BFF47DEF-3CB0-592D-A8E8-5DF3D9C5F2EB}"/>
              </a:ext>
            </a:extLst>
          </p:cNvPr>
          <p:cNvSpPr/>
          <p:nvPr/>
        </p:nvSpPr>
        <p:spPr>
          <a:xfrm>
            <a:off x="585686" y="1044181"/>
            <a:ext cx="2641790" cy="245593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37F7C39E-044D-7D42-DF32-9DDA925B98B2}"/>
              </a:ext>
            </a:extLst>
          </p:cNvPr>
          <p:cNvSpPr/>
          <p:nvPr/>
        </p:nvSpPr>
        <p:spPr>
          <a:xfrm>
            <a:off x="3411223" y="1044180"/>
            <a:ext cx="7148981" cy="2455931"/>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 name="Content Placeholder 7">
            <a:extLst>
              <a:ext uri="{FF2B5EF4-FFF2-40B4-BE49-F238E27FC236}">
                <a16:creationId xmlns:a16="http://schemas.microsoft.com/office/drawing/2014/main" id="{A0017049-E01B-B52F-9354-0EB36F5EFCBD}"/>
              </a:ext>
            </a:extLst>
          </p:cNvPr>
          <p:cNvSpPr txBox="1">
            <a:spLocks/>
          </p:cNvSpPr>
          <p:nvPr/>
        </p:nvSpPr>
        <p:spPr>
          <a:xfrm>
            <a:off x="3496650" y="1250823"/>
            <a:ext cx="6547800" cy="21541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accent1"/>
                </a:solidFill>
                <a:latin typeface="+mn-lt"/>
                <a:ea typeface="+mn-ea"/>
                <a:cs typeface="+mn-cs"/>
              </a:defRPr>
            </a:lvl1pPr>
            <a:lvl2pPr marL="457200" indent="-223838" algn="l" defTabSz="914400" rtl="0" eaLnBrk="1" latinLnBrk="0" hangingPunct="1">
              <a:lnSpc>
                <a:spcPct val="90000"/>
              </a:lnSpc>
              <a:spcBef>
                <a:spcPts val="500"/>
              </a:spcBef>
              <a:buFont typeface="Wingdings" pitchFamily="2" charset="2"/>
              <a:buChar char="§"/>
              <a:defRPr sz="2400" b="0" kern="1200">
                <a:solidFill>
                  <a:schemeClr val="tx1"/>
                </a:solidFill>
                <a:latin typeface="+mn-lt"/>
                <a:ea typeface="+mn-ea"/>
                <a:cs typeface="+mn-cs"/>
              </a:defRPr>
            </a:lvl2pPr>
            <a:lvl3pPr marL="690563" indent="-233363" algn="l" defTabSz="914400" rtl="0" eaLnBrk="1" latinLnBrk="0" hangingPunct="1">
              <a:lnSpc>
                <a:spcPct val="90000"/>
              </a:lnSpc>
              <a:spcBef>
                <a:spcPts val="500"/>
              </a:spcBef>
              <a:buFont typeface="Wingdings" pitchFamily="2" charset="2"/>
              <a:buChar char="§"/>
              <a:defRPr sz="2000" b="0" kern="1200">
                <a:solidFill>
                  <a:schemeClr val="tx1"/>
                </a:solidFill>
                <a:latin typeface="+mn-lt"/>
                <a:ea typeface="+mn-ea"/>
                <a:cs typeface="+mn-cs"/>
              </a:defRPr>
            </a:lvl3pPr>
            <a:lvl4pPr marL="914400" indent="-223838" algn="l" defTabSz="914400" rtl="0" eaLnBrk="1" latinLnBrk="0" hangingPunct="1">
              <a:lnSpc>
                <a:spcPct val="90000"/>
              </a:lnSpc>
              <a:spcBef>
                <a:spcPts val="500"/>
              </a:spcBef>
              <a:buFont typeface="Wingdings" pitchFamily="2" charset="2"/>
              <a:buChar char="§"/>
              <a:defRPr sz="1800" b="0" kern="1200">
                <a:solidFill>
                  <a:schemeClr val="tx1"/>
                </a:solidFill>
                <a:latin typeface="+mn-lt"/>
                <a:ea typeface="+mn-ea"/>
                <a:cs typeface="+mn-cs"/>
              </a:defRPr>
            </a:lvl4pPr>
            <a:lvl5pPr marL="862013" indent="-23495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231775">
              <a:lnSpc>
                <a:spcPts val="3200"/>
              </a:lnSpc>
              <a:spcBef>
                <a:spcPts val="0"/>
              </a:spcBef>
              <a:buFont typeface="Wingdings" pitchFamily="2" charset="2"/>
              <a:buChar char="ü"/>
            </a:pPr>
            <a:r>
              <a:rPr lang="en-IE" sz="1800">
                <a:solidFill>
                  <a:schemeClr val="tx1"/>
                </a:solidFill>
              </a:rPr>
              <a:t>Replace multiple monitoring tools with a </a:t>
            </a:r>
            <a:r>
              <a:rPr lang="en-IE" sz="1800" b="1">
                <a:solidFill>
                  <a:schemeClr val="tx1"/>
                </a:solidFill>
              </a:rPr>
              <a:t>single, cloud-native observability platform</a:t>
            </a:r>
            <a:r>
              <a:rPr lang="en-IE" sz="1800">
                <a:solidFill>
                  <a:schemeClr val="tx1"/>
                </a:solidFill>
              </a:rPr>
              <a:t>. </a:t>
            </a:r>
          </a:p>
          <a:p>
            <a:pPr defTabSz="231775">
              <a:lnSpc>
                <a:spcPts val="3200"/>
              </a:lnSpc>
              <a:spcBef>
                <a:spcPts val="0"/>
              </a:spcBef>
              <a:buFont typeface="Wingdings" pitchFamily="2" charset="2"/>
              <a:buChar char="ü"/>
            </a:pPr>
            <a:r>
              <a:rPr lang="en-IE" sz="1800">
                <a:solidFill>
                  <a:schemeClr val="tx1"/>
                </a:solidFill>
              </a:rPr>
              <a:t>Eliminate manual correlation across firewall logs, SD-WAN appliances, VPN logs, and cloud security tools.</a:t>
            </a:r>
            <a:endParaRPr lang="en-US" sz="1800" i="1">
              <a:solidFill>
                <a:schemeClr val="tx1"/>
              </a:solidFill>
            </a:endParaRPr>
          </a:p>
        </p:txBody>
      </p:sp>
      <p:sp>
        <p:nvSpPr>
          <p:cNvPr id="20" name="Rectangle 19">
            <a:extLst>
              <a:ext uri="{FF2B5EF4-FFF2-40B4-BE49-F238E27FC236}">
                <a16:creationId xmlns:a16="http://schemas.microsoft.com/office/drawing/2014/main" id="{EB3D4183-7EE2-C1E2-5C52-853E0A2025D7}"/>
              </a:ext>
            </a:extLst>
          </p:cNvPr>
          <p:cNvSpPr/>
          <p:nvPr/>
        </p:nvSpPr>
        <p:spPr>
          <a:xfrm>
            <a:off x="585685" y="3663223"/>
            <a:ext cx="2641790" cy="245593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20B94E41-B22A-5F54-F866-434391E12947}"/>
              </a:ext>
            </a:extLst>
          </p:cNvPr>
          <p:cNvSpPr/>
          <p:nvPr/>
        </p:nvSpPr>
        <p:spPr>
          <a:xfrm>
            <a:off x="3411222" y="3663222"/>
            <a:ext cx="7148981" cy="2455931"/>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2" name="Content Placeholder 7">
            <a:extLst>
              <a:ext uri="{FF2B5EF4-FFF2-40B4-BE49-F238E27FC236}">
                <a16:creationId xmlns:a16="http://schemas.microsoft.com/office/drawing/2014/main" id="{DDEDD743-F05F-F60E-B8E5-8857B7780D05}"/>
              </a:ext>
            </a:extLst>
          </p:cNvPr>
          <p:cNvSpPr txBox="1">
            <a:spLocks/>
          </p:cNvSpPr>
          <p:nvPr/>
        </p:nvSpPr>
        <p:spPr>
          <a:xfrm>
            <a:off x="3496649" y="3869865"/>
            <a:ext cx="6547801" cy="21541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accent1"/>
                </a:solidFill>
                <a:latin typeface="+mn-lt"/>
                <a:ea typeface="+mn-ea"/>
                <a:cs typeface="+mn-cs"/>
              </a:defRPr>
            </a:lvl1pPr>
            <a:lvl2pPr marL="457200" indent="-223838" algn="l" defTabSz="914400" rtl="0" eaLnBrk="1" latinLnBrk="0" hangingPunct="1">
              <a:lnSpc>
                <a:spcPct val="90000"/>
              </a:lnSpc>
              <a:spcBef>
                <a:spcPts val="500"/>
              </a:spcBef>
              <a:buFont typeface="Wingdings" pitchFamily="2" charset="2"/>
              <a:buChar char="§"/>
              <a:defRPr sz="2400" b="0" kern="1200">
                <a:solidFill>
                  <a:schemeClr val="tx1"/>
                </a:solidFill>
                <a:latin typeface="+mn-lt"/>
                <a:ea typeface="+mn-ea"/>
                <a:cs typeface="+mn-cs"/>
              </a:defRPr>
            </a:lvl2pPr>
            <a:lvl3pPr marL="690563" indent="-233363" algn="l" defTabSz="914400" rtl="0" eaLnBrk="1" latinLnBrk="0" hangingPunct="1">
              <a:lnSpc>
                <a:spcPct val="90000"/>
              </a:lnSpc>
              <a:spcBef>
                <a:spcPts val="500"/>
              </a:spcBef>
              <a:buFont typeface="Wingdings" pitchFamily="2" charset="2"/>
              <a:buChar char="§"/>
              <a:defRPr sz="2000" b="0" kern="1200">
                <a:solidFill>
                  <a:schemeClr val="tx1"/>
                </a:solidFill>
                <a:latin typeface="+mn-lt"/>
                <a:ea typeface="+mn-ea"/>
                <a:cs typeface="+mn-cs"/>
              </a:defRPr>
            </a:lvl3pPr>
            <a:lvl4pPr marL="914400" indent="-223838" algn="l" defTabSz="914400" rtl="0" eaLnBrk="1" latinLnBrk="0" hangingPunct="1">
              <a:lnSpc>
                <a:spcPct val="90000"/>
              </a:lnSpc>
              <a:spcBef>
                <a:spcPts val="500"/>
              </a:spcBef>
              <a:buFont typeface="Wingdings" pitchFamily="2" charset="2"/>
              <a:buChar char="§"/>
              <a:defRPr sz="1800" b="0" kern="1200">
                <a:solidFill>
                  <a:schemeClr val="tx1"/>
                </a:solidFill>
                <a:latin typeface="+mn-lt"/>
                <a:ea typeface="+mn-ea"/>
                <a:cs typeface="+mn-cs"/>
              </a:defRPr>
            </a:lvl4pPr>
            <a:lvl5pPr marL="862013" indent="-23495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231775">
              <a:lnSpc>
                <a:spcPts val="3200"/>
              </a:lnSpc>
              <a:spcBef>
                <a:spcPts val="0"/>
              </a:spcBef>
              <a:buFont typeface="Wingdings" pitchFamily="2" charset="2"/>
              <a:buChar char="ü"/>
            </a:pPr>
            <a:r>
              <a:rPr lang="en-IE" sz="1800">
                <a:solidFill>
                  <a:schemeClr val="tx1"/>
                </a:solidFill>
              </a:rPr>
              <a:t>Simplified operations and lower operational expenditure (</a:t>
            </a:r>
            <a:r>
              <a:rPr lang="en-IE" sz="1800" err="1">
                <a:solidFill>
                  <a:schemeClr val="tx1"/>
                </a:solidFill>
              </a:rPr>
              <a:t>OpEx</a:t>
            </a:r>
            <a:r>
              <a:rPr lang="en-IE" sz="1800">
                <a:solidFill>
                  <a:schemeClr val="tx1"/>
                </a:solidFill>
              </a:rPr>
              <a:t>).</a:t>
            </a:r>
          </a:p>
          <a:p>
            <a:pPr defTabSz="231775">
              <a:lnSpc>
                <a:spcPts val="3200"/>
              </a:lnSpc>
              <a:spcBef>
                <a:spcPts val="0"/>
              </a:spcBef>
              <a:buFont typeface="Wingdings" pitchFamily="2" charset="2"/>
              <a:buChar char="ü"/>
            </a:pPr>
            <a:r>
              <a:rPr lang="en-IE" sz="1800">
                <a:solidFill>
                  <a:schemeClr val="tx1"/>
                </a:solidFill>
              </a:rPr>
              <a:t>Reduced MTTD &amp; MTTR</a:t>
            </a:r>
          </a:p>
          <a:p>
            <a:pPr defTabSz="231775">
              <a:lnSpc>
                <a:spcPts val="3200"/>
              </a:lnSpc>
              <a:spcBef>
                <a:spcPts val="0"/>
              </a:spcBef>
              <a:buFont typeface="Wingdings" pitchFamily="2" charset="2"/>
              <a:buChar char="ü"/>
            </a:pPr>
            <a:r>
              <a:rPr lang="en-IE" sz="1800">
                <a:solidFill>
                  <a:schemeClr val="tx1"/>
                </a:solidFill>
              </a:rPr>
              <a:t>Improved service reliability and performance</a:t>
            </a:r>
          </a:p>
          <a:p>
            <a:pPr defTabSz="231775">
              <a:lnSpc>
                <a:spcPts val="3200"/>
              </a:lnSpc>
              <a:spcBef>
                <a:spcPts val="0"/>
              </a:spcBef>
              <a:buFont typeface="Wingdings" pitchFamily="2" charset="2"/>
              <a:buChar char="ü"/>
            </a:pPr>
            <a:r>
              <a:rPr lang="en-IE" sz="1800">
                <a:solidFill>
                  <a:schemeClr val="tx1"/>
                </a:solidFill>
              </a:rPr>
              <a:t>Increased productivity, enables focus on high value activities</a:t>
            </a:r>
          </a:p>
          <a:p>
            <a:pPr defTabSz="231775">
              <a:lnSpc>
                <a:spcPts val="3200"/>
              </a:lnSpc>
              <a:spcBef>
                <a:spcPts val="0"/>
              </a:spcBef>
              <a:buFont typeface="Wingdings" pitchFamily="2" charset="2"/>
              <a:buChar char="ü"/>
            </a:pPr>
            <a:endParaRPr lang="en-IE" sz="1800">
              <a:solidFill>
                <a:schemeClr val="tx1"/>
              </a:solidFill>
            </a:endParaRPr>
          </a:p>
        </p:txBody>
      </p:sp>
      <p:sp>
        <p:nvSpPr>
          <p:cNvPr id="23" name="TextBox 22">
            <a:extLst>
              <a:ext uri="{FF2B5EF4-FFF2-40B4-BE49-F238E27FC236}">
                <a16:creationId xmlns:a16="http://schemas.microsoft.com/office/drawing/2014/main" id="{22D3B713-0019-1AB3-5283-6F1AAA6DDE17}"/>
              </a:ext>
            </a:extLst>
          </p:cNvPr>
          <p:cNvSpPr txBox="1"/>
          <p:nvPr/>
        </p:nvSpPr>
        <p:spPr>
          <a:xfrm>
            <a:off x="947639" y="1346349"/>
            <a:ext cx="1947829" cy="779026"/>
          </a:xfrm>
          <a:prstGeom prst="roundRect">
            <a:avLst>
              <a:gd name="adj" fmla="val 50000"/>
            </a:avLst>
          </a:prstGeom>
          <a:solidFill>
            <a:schemeClr val="bg1"/>
          </a:solidFill>
          <a:ln>
            <a:noFill/>
          </a:ln>
          <a:scene3d>
            <a:camera prst="orthographicFront"/>
            <a:lightRig rig="threePt" dir="t"/>
          </a:scene3d>
          <a:sp3d extrusionH="76200" prstMaterial="matte">
            <a:bevelT/>
            <a:extrusionClr>
              <a:schemeClr val="bg1"/>
            </a:extrusionClr>
          </a:sp3d>
        </p:spPr>
        <p:txBody>
          <a:bodyPr wrap="squar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rgbClr val="158864"/>
                </a:solidFill>
                <a:latin typeface="Calibri" panose="020F0502020204030204"/>
              </a:rPr>
              <a:t>Business Objectives</a:t>
            </a:r>
            <a:endParaRPr kumimoji="0" lang="en-US" sz="1800" b="0" i="0" u="none" strike="noStrike" kern="1200" cap="none" spc="0" normalizeH="0" baseline="0" noProof="0">
              <a:ln>
                <a:noFill/>
              </a:ln>
              <a:solidFill>
                <a:srgbClr val="158864"/>
              </a:solidFill>
              <a:effectLst/>
              <a:uLnTx/>
              <a:uFillTx/>
              <a:latin typeface="Calibri" panose="020F0502020204030204"/>
              <a:ea typeface="+mn-ea"/>
              <a:cs typeface="+mn-cs"/>
            </a:endParaRPr>
          </a:p>
        </p:txBody>
      </p:sp>
      <p:sp>
        <p:nvSpPr>
          <p:cNvPr id="25" name="TextBox 24">
            <a:extLst>
              <a:ext uri="{FF2B5EF4-FFF2-40B4-BE49-F238E27FC236}">
                <a16:creationId xmlns:a16="http://schemas.microsoft.com/office/drawing/2014/main" id="{0F0E8ED2-1726-19EC-D261-7B778C12815A}"/>
              </a:ext>
            </a:extLst>
          </p:cNvPr>
          <p:cNvSpPr txBox="1"/>
          <p:nvPr/>
        </p:nvSpPr>
        <p:spPr>
          <a:xfrm>
            <a:off x="932665" y="3949683"/>
            <a:ext cx="1947829" cy="779026"/>
          </a:xfrm>
          <a:prstGeom prst="roundRect">
            <a:avLst>
              <a:gd name="adj" fmla="val 50000"/>
            </a:avLst>
          </a:prstGeom>
          <a:solidFill>
            <a:schemeClr val="bg1"/>
          </a:solidFill>
          <a:ln>
            <a:noFill/>
          </a:ln>
          <a:scene3d>
            <a:camera prst="orthographicFront"/>
            <a:lightRig rig="threePt" dir="t"/>
          </a:scene3d>
          <a:sp3d extrusionH="76200" prstMaterial="matte">
            <a:bevelT/>
            <a:extrusionClr>
              <a:schemeClr val="bg1"/>
            </a:extrusionClr>
          </a:sp3d>
        </p:spPr>
        <p:txBody>
          <a:bodyPr wrap="squar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rgbClr val="158864"/>
                </a:solidFill>
                <a:latin typeface="Calibri" panose="020F0502020204030204"/>
              </a:rPr>
              <a:t>Business Outcomes</a:t>
            </a:r>
            <a:endParaRPr kumimoji="0" lang="en-US" sz="1800" b="0" i="0" u="none" strike="noStrike" kern="1200" cap="none" spc="0" normalizeH="0" baseline="0" noProof="0">
              <a:ln>
                <a:noFill/>
              </a:ln>
              <a:solidFill>
                <a:srgbClr val="158864"/>
              </a:solidFill>
              <a:effectLst/>
              <a:uLnTx/>
              <a:uFillTx/>
              <a:latin typeface="Calibri" panose="020F0502020204030204"/>
              <a:ea typeface="+mn-ea"/>
              <a:cs typeface="+mn-cs"/>
            </a:endParaRPr>
          </a:p>
        </p:txBody>
      </p:sp>
      <p:pic>
        <p:nvPicPr>
          <p:cNvPr id="4" name="Graphic 3" descr="Circles with arrows outline">
            <a:extLst>
              <a:ext uri="{FF2B5EF4-FFF2-40B4-BE49-F238E27FC236}">
                <a16:creationId xmlns:a16="http://schemas.microsoft.com/office/drawing/2014/main" id="{5C3D3ECB-FCF7-5755-B102-3F840237AB2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80202">
            <a:off x="1341805" y="4842499"/>
            <a:ext cx="1057294" cy="1057294"/>
          </a:xfrm>
          <a:prstGeom prst="rect">
            <a:avLst/>
          </a:prstGeom>
        </p:spPr>
      </p:pic>
      <p:pic>
        <p:nvPicPr>
          <p:cNvPr id="35" name="Graphic 34" descr="Euro with solid fill">
            <a:extLst>
              <a:ext uri="{FF2B5EF4-FFF2-40B4-BE49-F238E27FC236}">
                <a16:creationId xmlns:a16="http://schemas.microsoft.com/office/drawing/2014/main" id="{D2838591-CE26-9635-A989-CB229CD8DAF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84571" y="5277699"/>
            <a:ext cx="161091" cy="161091"/>
          </a:xfrm>
          <a:prstGeom prst="rect">
            <a:avLst/>
          </a:prstGeom>
        </p:spPr>
      </p:pic>
      <p:pic>
        <p:nvPicPr>
          <p:cNvPr id="37" name="Graphic 36" descr="Bullseye with solid fill">
            <a:extLst>
              <a:ext uri="{FF2B5EF4-FFF2-40B4-BE49-F238E27FC236}">
                <a16:creationId xmlns:a16="http://schemas.microsoft.com/office/drawing/2014/main" id="{625FEC01-AE80-A416-5D74-685ECDCFD79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64353" y="2308880"/>
            <a:ext cx="914400" cy="914400"/>
          </a:xfrm>
          <a:prstGeom prst="rect">
            <a:avLst/>
          </a:prstGeom>
        </p:spPr>
      </p:pic>
      <p:pic>
        <p:nvPicPr>
          <p:cNvPr id="40" name="Graphic 39" descr="Euro with solid fill">
            <a:extLst>
              <a:ext uri="{FF2B5EF4-FFF2-40B4-BE49-F238E27FC236}">
                <a16:creationId xmlns:a16="http://schemas.microsoft.com/office/drawing/2014/main" id="{59B9F39D-41A4-4037-B891-988B8DD6D12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89905" y="5273370"/>
            <a:ext cx="161091" cy="161091"/>
          </a:xfrm>
          <a:prstGeom prst="rect">
            <a:avLst/>
          </a:prstGeom>
        </p:spPr>
      </p:pic>
      <p:pic>
        <p:nvPicPr>
          <p:cNvPr id="41" name="Graphic 40" descr="Euro with solid fill">
            <a:extLst>
              <a:ext uri="{FF2B5EF4-FFF2-40B4-BE49-F238E27FC236}">
                <a16:creationId xmlns:a16="http://schemas.microsoft.com/office/drawing/2014/main" id="{C1B7A07D-7A60-E71F-7F9D-6A49FAB8A22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01420" y="5269041"/>
            <a:ext cx="161091" cy="161091"/>
          </a:xfrm>
          <a:prstGeom prst="rect">
            <a:avLst/>
          </a:prstGeom>
        </p:spPr>
      </p:pic>
    </p:spTree>
    <p:extLst>
      <p:ext uri="{BB962C8B-B14F-4D97-AF65-F5344CB8AC3E}">
        <p14:creationId xmlns:p14="http://schemas.microsoft.com/office/powerpoint/2010/main" val="1221978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anim calcmode="lin" valueType="num">
                                      <p:cBhvr>
                                        <p:cTn id="13" dur="1000" fill="hold"/>
                                        <p:tgtEl>
                                          <p:spTgt spid="19"/>
                                        </p:tgtEl>
                                        <p:attrNameLst>
                                          <p:attrName>ppt_x</p:attrName>
                                        </p:attrNameLst>
                                      </p:cBhvr>
                                      <p:tavLst>
                                        <p:tav tm="0">
                                          <p:val>
                                            <p:strVal val="#ppt_x"/>
                                          </p:val>
                                        </p:tav>
                                        <p:tav tm="100000">
                                          <p:val>
                                            <p:strVal val="#ppt_x"/>
                                          </p:val>
                                        </p:tav>
                                      </p:tavLst>
                                    </p:anim>
                                    <p:anim calcmode="lin" valueType="num">
                                      <p:cBhvr>
                                        <p:cTn id="14" dur="1000" fill="hold"/>
                                        <p:tgtEl>
                                          <p:spTgt spid="1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1000"/>
                                        <p:tgtEl>
                                          <p:spTgt spid="23"/>
                                        </p:tgtEl>
                                      </p:cBhvr>
                                    </p:animEffect>
                                    <p:anim calcmode="lin" valueType="num">
                                      <p:cBhvr>
                                        <p:cTn id="23" dur="1000" fill="hold"/>
                                        <p:tgtEl>
                                          <p:spTgt spid="23"/>
                                        </p:tgtEl>
                                        <p:attrNameLst>
                                          <p:attrName>ppt_x</p:attrName>
                                        </p:attrNameLst>
                                      </p:cBhvr>
                                      <p:tavLst>
                                        <p:tav tm="0">
                                          <p:val>
                                            <p:strVal val="#ppt_x"/>
                                          </p:val>
                                        </p:tav>
                                        <p:tav tm="100000">
                                          <p:val>
                                            <p:strVal val="#ppt_x"/>
                                          </p:val>
                                        </p:tav>
                                      </p:tavLst>
                                    </p:anim>
                                    <p:anim calcmode="lin" valueType="num">
                                      <p:cBhvr>
                                        <p:cTn id="24" dur="1000" fill="hold"/>
                                        <p:tgtEl>
                                          <p:spTgt spid="23"/>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1000"/>
                                        <p:tgtEl>
                                          <p:spTgt spid="37"/>
                                        </p:tgtEl>
                                      </p:cBhvr>
                                    </p:animEffect>
                                    <p:anim calcmode="lin" valueType="num">
                                      <p:cBhvr>
                                        <p:cTn id="28" dur="1000" fill="hold"/>
                                        <p:tgtEl>
                                          <p:spTgt spid="37"/>
                                        </p:tgtEl>
                                        <p:attrNameLst>
                                          <p:attrName>ppt_x</p:attrName>
                                        </p:attrNameLst>
                                      </p:cBhvr>
                                      <p:tavLst>
                                        <p:tav tm="0">
                                          <p:val>
                                            <p:strVal val="#ppt_x"/>
                                          </p:val>
                                        </p:tav>
                                        <p:tav tm="100000">
                                          <p:val>
                                            <p:strVal val="#ppt_x"/>
                                          </p:val>
                                        </p:tav>
                                      </p:tavLst>
                                    </p:anim>
                                    <p:anim calcmode="lin" valueType="num">
                                      <p:cBhvr>
                                        <p:cTn id="29"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1000"/>
                                        <p:tgtEl>
                                          <p:spTgt spid="20"/>
                                        </p:tgtEl>
                                      </p:cBhvr>
                                    </p:animEffect>
                                    <p:anim calcmode="lin" valueType="num">
                                      <p:cBhvr>
                                        <p:cTn id="35" dur="1000" fill="hold"/>
                                        <p:tgtEl>
                                          <p:spTgt spid="20"/>
                                        </p:tgtEl>
                                        <p:attrNameLst>
                                          <p:attrName>ppt_x</p:attrName>
                                        </p:attrNameLst>
                                      </p:cBhvr>
                                      <p:tavLst>
                                        <p:tav tm="0">
                                          <p:val>
                                            <p:strVal val="#ppt_x"/>
                                          </p:val>
                                        </p:tav>
                                        <p:tav tm="100000">
                                          <p:val>
                                            <p:strVal val="#ppt_x"/>
                                          </p:val>
                                        </p:tav>
                                      </p:tavLst>
                                    </p:anim>
                                    <p:anim calcmode="lin" valueType="num">
                                      <p:cBhvr>
                                        <p:cTn id="36" dur="1000" fill="hold"/>
                                        <p:tgtEl>
                                          <p:spTgt spid="20"/>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1000"/>
                                        <p:tgtEl>
                                          <p:spTgt spid="21"/>
                                        </p:tgtEl>
                                      </p:cBhvr>
                                    </p:animEffect>
                                    <p:anim calcmode="lin" valueType="num">
                                      <p:cBhvr>
                                        <p:cTn id="40" dur="1000" fill="hold"/>
                                        <p:tgtEl>
                                          <p:spTgt spid="21"/>
                                        </p:tgtEl>
                                        <p:attrNameLst>
                                          <p:attrName>ppt_x</p:attrName>
                                        </p:attrNameLst>
                                      </p:cBhvr>
                                      <p:tavLst>
                                        <p:tav tm="0">
                                          <p:val>
                                            <p:strVal val="#ppt_x"/>
                                          </p:val>
                                        </p:tav>
                                        <p:tav tm="100000">
                                          <p:val>
                                            <p:strVal val="#ppt_x"/>
                                          </p:val>
                                        </p:tav>
                                      </p:tavLst>
                                    </p:anim>
                                    <p:anim calcmode="lin" valueType="num">
                                      <p:cBhvr>
                                        <p:cTn id="41" dur="1000" fill="hold"/>
                                        <p:tgtEl>
                                          <p:spTgt spid="21"/>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1000"/>
                                        <p:tgtEl>
                                          <p:spTgt spid="22"/>
                                        </p:tgtEl>
                                      </p:cBhvr>
                                    </p:animEffect>
                                    <p:anim calcmode="lin" valueType="num">
                                      <p:cBhvr>
                                        <p:cTn id="45" dur="1000" fill="hold"/>
                                        <p:tgtEl>
                                          <p:spTgt spid="22"/>
                                        </p:tgtEl>
                                        <p:attrNameLst>
                                          <p:attrName>ppt_x</p:attrName>
                                        </p:attrNameLst>
                                      </p:cBhvr>
                                      <p:tavLst>
                                        <p:tav tm="0">
                                          <p:val>
                                            <p:strVal val="#ppt_x"/>
                                          </p:val>
                                        </p:tav>
                                        <p:tav tm="100000">
                                          <p:val>
                                            <p:strVal val="#ppt_x"/>
                                          </p:val>
                                        </p:tav>
                                      </p:tavLst>
                                    </p:anim>
                                    <p:anim calcmode="lin" valueType="num">
                                      <p:cBhvr>
                                        <p:cTn id="46" dur="1000" fill="hold"/>
                                        <p:tgtEl>
                                          <p:spTgt spid="22"/>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1000"/>
                                        <p:tgtEl>
                                          <p:spTgt spid="25"/>
                                        </p:tgtEl>
                                      </p:cBhvr>
                                    </p:animEffect>
                                    <p:anim calcmode="lin" valueType="num">
                                      <p:cBhvr>
                                        <p:cTn id="50" dur="1000" fill="hold"/>
                                        <p:tgtEl>
                                          <p:spTgt spid="25"/>
                                        </p:tgtEl>
                                        <p:attrNameLst>
                                          <p:attrName>ppt_x</p:attrName>
                                        </p:attrNameLst>
                                      </p:cBhvr>
                                      <p:tavLst>
                                        <p:tav tm="0">
                                          <p:val>
                                            <p:strVal val="#ppt_x"/>
                                          </p:val>
                                        </p:tav>
                                        <p:tav tm="100000">
                                          <p:val>
                                            <p:strVal val="#ppt_x"/>
                                          </p:val>
                                        </p:tav>
                                      </p:tavLst>
                                    </p:anim>
                                    <p:anim calcmode="lin" valueType="num">
                                      <p:cBhvr>
                                        <p:cTn id="51" dur="1000" fill="hold"/>
                                        <p:tgtEl>
                                          <p:spTgt spid="25"/>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fade">
                                      <p:cBhvr>
                                        <p:cTn id="54" dur="1000"/>
                                        <p:tgtEl>
                                          <p:spTgt spid="4"/>
                                        </p:tgtEl>
                                      </p:cBhvr>
                                    </p:animEffect>
                                    <p:anim calcmode="lin" valueType="num">
                                      <p:cBhvr>
                                        <p:cTn id="55" dur="1000" fill="hold"/>
                                        <p:tgtEl>
                                          <p:spTgt spid="4"/>
                                        </p:tgtEl>
                                        <p:attrNameLst>
                                          <p:attrName>ppt_x</p:attrName>
                                        </p:attrNameLst>
                                      </p:cBhvr>
                                      <p:tavLst>
                                        <p:tav tm="0">
                                          <p:val>
                                            <p:strVal val="#ppt_x"/>
                                          </p:val>
                                        </p:tav>
                                        <p:tav tm="100000">
                                          <p:val>
                                            <p:strVal val="#ppt_x"/>
                                          </p:val>
                                        </p:tav>
                                      </p:tavLst>
                                    </p:anim>
                                    <p:anim calcmode="lin" valueType="num">
                                      <p:cBhvr>
                                        <p:cTn id="56" dur="1000" fill="hold"/>
                                        <p:tgtEl>
                                          <p:spTgt spid="4"/>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1000"/>
                                        <p:tgtEl>
                                          <p:spTgt spid="35"/>
                                        </p:tgtEl>
                                      </p:cBhvr>
                                    </p:animEffect>
                                    <p:anim calcmode="lin" valueType="num">
                                      <p:cBhvr>
                                        <p:cTn id="60" dur="1000" fill="hold"/>
                                        <p:tgtEl>
                                          <p:spTgt spid="35"/>
                                        </p:tgtEl>
                                        <p:attrNameLst>
                                          <p:attrName>ppt_x</p:attrName>
                                        </p:attrNameLst>
                                      </p:cBhvr>
                                      <p:tavLst>
                                        <p:tav tm="0">
                                          <p:val>
                                            <p:strVal val="#ppt_x"/>
                                          </p:val>
                                        </p:tav>
                                        <p:tav tm="100000">
                                          <p:val>
                                            <p:strVal val="#ppt_x"/>
                                          </p:val>
                                        </p:tav>
                                      </p:tavLst>
                                    </p:anim>
                                    <p:anim calcmode="lin" valueType="num">
                                      <p:cBhvr>
                                        <p:cTn id="61" dur="1000" fill="hold"/>
                                        <p:tgtEl>
                                          <p:spTgt spid="35"/>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1000"/>
                                        <p:tgtEl>
                                          <p:spTgt spid="40"/>
                                        </p:tgtEl>
                                      </p:cBhvr>
                                    </p:animEffect>
                                    <p:anim calcmode="lin" valueType="num">
                                      <p:cBhvr>
                                        <p:cTn id="65" dur="1000" fill="hold"/>
                                        <p:tgtEl>
                                          <p:spTgt spid="40"/>
                                        </p:tgtEl>
                                        <p:attrNameLst>
                                          <p:attrName>ppt_x</p:attrName>
                                        </p:attrNameLst>
                                      </p:cBhvr>
                                      <p:tavLst>
                                        <p:tav tm="0">
                                          <p:val>
                                            <p:strVal val="#ppt_x"/>
                                          </p:val>
                                        </p:tav>
                                        <p:tav tm="100000">
                                          <p:val>
                                            <p:strVal val="#ppt_x"/>
                                          </p:val>
                                        </p:tav>
                                      </p:tavLst>
                                    </p:anim>
                                    <p:anim calcmode="lin" valueType="num">
                                      <p:cBhvr>
                                        <p:cTn id="66" dur="1000" fill="hold"/>
                                        <p:tgtEl>
                                          <p:spTgt spid="40"/>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1000"/>
                                        <p:tgtEl>
                                          <p:spTgt spid="41"/>
                                        </p:tgtEl>
                                      </p:cBhvr>
                                    </p:animEffect>
                                    <p:anim calcmode="lin" valueType="num">
                                      <p:cBhvr>
                                        <p:cTn id="70" dur="1000" fill="hold"/>
                                        <p:tgtEl>
                                          <p:spTgt spid="41"/>
                                        </p:tgtEl>
                                        <p:attrNameLst>
                                          <p:attrName>ppt_x</p:attrName>
                                        </p:attrNameLst>
                                      </p:cBhvr>
                                      <p:tavLst>
                                        <p:tav tm="0">
                                          <p:val>
                                            <p:strVal val="#ppt_x"/>
                                          </p:val>
                                        </p:tav>
                                        <p:tav tm="100000">
                                          <p:val>
                                            <p:strVal val="#ppt_x"/>
                                          </p:val>
                                        </p:tav>
                                      </p:tavLst>
                                    </p:anim>
                                    <p:anim calcmode="lin" valueType="num">
                                      <p:cBhvr>
                                        <p:cTn id="71"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11" grpId="0"/>
      <p:bldP spid="20" grpId="0" animBg="1"/>
      <p:bldP spid="21" grpId="0" animBg="1"/>
      <p:bldP spid="22" grpId="0"/>
      <p:bldP spid="23" grpId="0" animBg="1"/>
      <p:bldP spid="2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3" name="Picture 342">
            <a:extLst>
              <a:ext uri="{FF2B5EF4-FFF2-40B4-BE49-F238E27FC236}">
                <a16:creationId xmlns:a16="http://schemas.microsoft.com/office/drawing/2014/main" id="{DA1AFE9B-E3B6-628A-F9AB-0C14EBAF706B}"/>
              </a:ext>
            </a:extLst>
          </p:cNvPr>
          <p:cNvPicPr>
            <a:picLocks noChangeAspect="1"/>
          </p:cNvPicPr>
          <p:nvPr/>
        </p:nvPicPr>
        <p:blipFill>
          <a:blip r:embed="rId3"/>
          <a:stretch>
            <a:fillRect/>
          </a:stretch>
        </p:blipFill>
        <p:spPr>
          <a:xfrm>
            <a:off x="4382764" y="5147518"/>
            <a:ext cx="325416" cy="297573"/>
          </a:xfrm>
          <a:prstGeom prst="rect">
            <a:avLst/>
          </a:prstGeom>
        </p:spPr>
      </p:pic>
      <p:pic>
        <p:nvPicPr>
          <p:cNvPr id="308" name="Picture 307">
            <a:extLst>
              <a:ext uri="{FF2B5EF4-FFF2-40B4-BE49-F238E27FC236}">
                <a16:creationId xmlns:a16="http://schemas.microsoft.com/office/drawing/2014/main" id="{27407FE1-16F0-212F-FCF8-9D9BBDC715B1}"/>
              </a:ext>
            </a:extLst>
          </p:cNvPr>
          <p:cNvPicPr>
            <a:picLocks noChangeAspect="1"/>
          </p:cNvPicPr>
          <p:nvPr/>
        </p:nvPicPr>
        <p:blipFill>
          <a:blip r:embed="rId4"/>
          <a:stretch>
            <a:fillRect/>
          </a:stretch>
        </p:blipFill>
        <p:spPr>
          <a:xfrm>
            <a:off x="1186738" y="5677412"/>
            <a:ext cx="326060" cy="351291"/>
          </a:xfrm>
          <a:prstGeom prst="rect">
            <a:avLst/>
          </a:prstGeom>
          <a:ln>
            <a:noFill/>
          </a:ln>
          <a:effectLst>
            <a:glow rad="63500">
              <a:schemeClr val="accent4">
                <a:satMod val="175000"/>
                <a:alpha val="40000"/>
              </a:schemeClr>
            </a:glow>
          </a:effectLst>
        </p:spPr>
      </p:pic>
      <p:pic>
        <p:nvPicPr>
          <p:cNvPr id="309" name="Graphic 308" descr="Close with solid fill">
            <a:extLst>
              <a:ext uri="{FF2B5EF4-FFF2-40B4-BE49-F238E27FC236}">
                <a16:creationId xmlns:a16="http://schemas.microsoft.com/office/drawing/2014/main" id="{E03FAFEC-AA4E-98F5-1729-9EFCB2927B0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2126" y="5746213"/>
            <a:ext cx="200830" cy="200830"/>
          </a:xfrm>
          <a:prstGeom prst="rect">
            <a:avLst/>
          </a:prstGeom>
        </p:spPr>
      </p:pic>
      <p:pic>
        <p:nvPicPr>
          <p:cNvPr id="292" name="Picture 291">
            <a:extLst>
              <a:ext uri="{FF2B5EF4-FFF2-40B4-BE49-F238E27FC236}">
                <a16:creationId xmlns:a16="http://schemas.microsoft.com/office/drawing/2014/main" id="{510D1DE5-3B67-E364-5359-C4C48FBD7176}"/>
              </a:ext>
            </a:extLst>
          </p:cNvPr>
          <p:cNvPicPr>
            <a:picLocks noChangeAspect="1"/>
          </p:cNvPicPr>
          <p:nvPr/>
        </p:nvPicPr>
        <p:blipFill>
          <a:blip r:embed="rId4"/>
          <a:stretch>
            <a:fillRect/>
          </a:stretch>
        </p:blipFill>
        <p:spPr>
          <a:xfrm>
            <a:off x="9266480" y="5379157"/>
            <a:ext cx="326060" cy="351291"/>
          </a:xfrm>
          <a:prstGeom prst="rect">
            <a:avLst/>
          </a:prstGeom>
          <a:ln>
            <a:noFill/>
          </a:ln>
          <a:effectLst>
            <a:glow rad="63500">
              <a:schemeClr val="accent4">
                <a:satMod val="175000"/>
                <a:alpha val="40000"/>
              </a:schemeClr>
            </a:glow>
          </a:effectLst>
        </p:spPr>
      </p:pic>
      <p:pic>
        <p:nvPicPr>
          <p:cNvPr id="264" name="Picture 263">
            <a:extLst>
              <a:ext uri="{FF2B5EF4-FFF2-40B4-BE49-F238E27FC236}">
                <a16:creationId xmlns:a16="http://schemas.microsoft.com/office/drawing/2014/main" id="{5D35D694-8E2B-B07C-515D-5B490F01AA59}"/>
              </a:ext>
            </a:extLst>
          </p:cNvPr>
          <p:cNvPicPr>
            <a:picLocks noChangeAspect="1"/>
          </p:cNvPicPr>
          <p:nvPr/>
        </p:nvPicPr>
        <p:blipFill>
          <a:blip r:embed="rId7"/>
          <a:stretch>
            <a:fillRect/>
          </a:stretch>
        </p:blipFill>
        <p:spPr>
          <a:xfrm>
            <a:off x="10356133" y="2898961"/>
            <a:ext cx="500711" cy="322333"/>
          </a:xfrm>
          <a:prstGeom prst="rect">
            <a:avLst/>
          </a:prstGeom>
        </p:spPr>
      </p:pic>
      <p:pic>
        <p:nvPicPr>
          <p:cNvPr id="259" name="Graphic 258" descr="Cloud with solid fill">
            <a:extLst>
              <a:ext uri="{FF2B5EF4-FFF2-40B4-BE49-F238E27FC236}">
                <a16:creationId xmlns:a16="http://schemas.microsoft.com/office/drawing/2014/main" id="{45A2E575-A7F1-1167-3180-E97FB007B46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805015" y="2441761"/>
            <a:ext cx="914400" cy="914400"/>
          </a:xfrm>
          <a:prstGeom prst="rect">
            <a:avLst/>
          </a:prstGeom>
          <a:effectLst>
            <a:glow rad="101600">
              <a:srgbClr val="7030A0">
                <a:alpha val="60000"/>
              </a:srgbClr>
            </a:glow>
          </a:effectLst>
        </p:spPr>
      </p:pic>
      <p:sp>
        <p:nvSpPr>
          <p:cNvPr id="234" name="Freeform: Shape 814">
            <a:extLst>
              <a:ext uri="{FF2B5EF4-FFF2-40B4-BE49-F238E27FC236}">
                <a16:creationId xmlns:a16="http://schemas.microsoft.com/office/drawing/2014/main" id="{6E67C88A-2AD5-3EC0-F702-E6E9313C9677}"/>
              </a:ext>
            </a:extLst>
          </p:cNvPr>
          <p:cNvSpPr/>
          <p:nvPr/>
        </p:nvSpPr>
        <p:spPr>
          <a:xfrm>
            <a:off x="5728807" y="3941168"/>
            <a:ext cx="742428" cy="805260"/>
          </a:xfrm>
          <a:custGeom>
            <a:avLst/>
            <a:gdLst>
              <a:gd name="connsiteX0" fmla="*/ 676656 w 782764"/>
              <a:gd name="connsiteY0" fmla="*/ 533019 h 849010"/>
              <a:gd name="connsiteX1" fmla="*/ 747046 w 782764"/>
              <a:gd name="connsiteY1" fmla="*/ 547116 h 849010"/>
              <a:gd name="connsiteX2" fmla="*/ 782764 w 782764"/>
              <a:gd name="connsiteY2" fmla="*/ 391382 h 849010"/>
              <a:gd name="connsiteX3" fmla="*/ 745903 w 782764"/>
              <a:gd name="connsiteY3" fmla="*/ 225552 h 849010"/>
              <a:gd name="connsiteX4" fmla="*/ 701040 w 782764"/>
              <a:gd name="connsiteY4" fmla="*/ 152210 h 849010"/>
              <a:gd name="connsiteX5" fmla="*/ 391382 w 782764"/>
              <a:gd name="connsiteY5" fmla="*/ 0 h 849010"/>
              <a:gd name="connsiteX6" fmla="*/ 0 w 782764"/>
              <a:gd name="connsiteY6" fmla="*/ 391382 h 849010"/>
              <a:gd name="connsiteX7" fmla="*/ 307467 w 782764"/>
              <a:gd name="connsiteY7" fmla="*/ 819150 h 849010"/>
              <a:gd name="connsiteX8" fmla="*/ 475297 w 782764"/>
              <a:gd name="connsiteY8" fmla="*/ 819150 h 849010"/>
              <a:gd name="connsiteX9" fmla="*/ 701135 w 782764"/>
              <a:gd name="connsiteY9" fmla="*/ 619887 h 849010"/>
              <a:gd name="connsiteX10" fmla="*/ 659797 w 782764"/>
              <a:gd name="connsiteY10" fmla="*/ 611410 h 849010"/>
              <a:gd name="connsiteX11" fmla="*/ 519779 w 782764"/>
              <a:gd name="connsiteY11" fmla="*/ 575881 h 849010"/>
              <a:gd name="connsiteX12" fmla="*/ 387763 w 782764"/>
              <a:gd name="connsiteY12" fmla="*/ 617887 h 849010"/>
              <a:gd name="connsiteX13" fmla="*/ 157925 w 782764"/>
              <a:gd name="connsiteY13" fmla="*/ 388048 h 849010"/>
              <a:gd name="connsiteX14" fmla="*/ 387763 w 782764"/>
              <a:gd name="connsiteY14" fmla="*/ 158210 h 849010"/>
              <a:gd name="connsiteX15" fmla="*/ 516731 w 782764"/>
              <a:gd name="connsiteY15" fmla="*/ 197929 h 849010"/>
              <a:gd name="connsiteX16" fmla="*/ 580263 w 782764"/>
              <a:gd name="connsiteY16" fmla="*/ 262699 h 849010"/>
              <a:gd name="connsiteX17" fmla="*/ 617601 w 782764"/>
              <a:gd name="connsiteY17" fmla="*/ 387953 h 849010"/>
              <a:gd name="connsiteX18" fmla="*/ 582263 w 782764"/>
              <a:gd name="connsiteY18" fmla="*/ 510254 h 849010"/>
              <a:gd name="connsiteX19" fmla="*/ 676656 w 782764"/>
              <a:gd name="connsiteY19" fmla="*/ 533114 h 84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2764" h="849010">
                <a:moveTo>
                  <a:pt x="676656" y="533019"/>
                </a:moveTo>
                <a:cubicBezTo>
                  <a:pt x="698754" y="537686"/>
                  <a:pt x="722281" y="542449"/>
                  <a:pt x="747046" y="547116"/>
                </a:cubicBezTo>
                <a:cubicBezTo>
                  <a:pt x="769144" y="501777"/>
                  <a:pt x="782764" y="450437"/>
                  <a:pt x="782764" y="391382"/>
                </a:cubicBezTo>
                <a:cubicBezTo>
                  <a:pt x="782764" y="332327"/>
                  <a:pt x="769525" y="275939"/>
                  <a:pt x="745903" y="225552"/>
                </a:cubicBezTo>
                <a:cubicBezTo>
                  <a:pt x="733616" y="199454"/>
                  <a:pt x="718566" y="174784"/>
                  <a:pt x="701040" y="152210"/>
                </a:cubicBezTo>
                <a:cubicBezTo>
                  <a:pt x="629412" y="59531"/>
                  <a:pt x="517112" y="0"/>
                  <a:pt x="391382" y="0"/>
                </a:cubicBezTo>
                <a:cubicBezTo>
                  <a:pt x="175070" y="0"/>
                  <a:pt x="0" y="175070"/>
                  <a:pt x="0" y="391382"/>
                </a:cubicBezTo>
                <a:cubicBezTo>
                  <a:pt x="0" y="607695"/>
                  <a:pt x="192119" y="726567"/>
                  <a:pt x="307467" y="819150"/>
                </a:cubicBezTo>
                <a:cubicBezTo>
                  <a:pt x="356521" y="858964"/>
                  <a:pt x="426244" y="858964"/>
                  <a:pt x="475297" y="819150"/>
                </a:cubicBezTo>
                <a:cubicBezTo>
                  <a:pt x="542163" y="765429"/>
                  <a:pt x="635032" y="704755"/>
                  <a:pt x="701135" y="619887"/>
                </a:cubicBezTo>
                <a:cubicBezTo>
                  <a:pt x="686943" y="617125"/>
                  <a:pt x="673132" y="614267"/>
                  <a:pt x="659797" y="611410"/>
                </a:cubicBezTo>
                <a:cubicBezTo>
                  <a:pt x="620459" y="602932"/>
                  <a:pt x="569976" y="591979"/>
                  <a:pt x="519779" y="575881"/>
                </a:cubicBezTo>
                <a:cubicBezTo>
                  <a:pt x="482441" y="602361"/>
                  <a:pt x="436817" y="617887"/>
                  <a:pt x="387763" y="617887"/>
                </a:cubicBezTo>
                <a:cubicBezTo>
                  <a:pt x="261175" y="617887"/>
                  <a:pt x="157925" y="514731"/>
                  <a:pt x="157925" y="388048"/>
                </a:cubicBezTo>
                <a:cubicBezTo>
                  <a:pt x="157925" y="261366"/>
                  <a:pt x="261175" y="158210"/>
                  <a:pt x="387763" y="158210"/>
                </a:cubicBezTo>
                <a:cubicBezTo>
                  <a:pt x="435578" y="158210"/>
                  <a:pt x="479870" y="172974"/>
                  <a:pt x="516731" y="197929"/>
                </a:cubicBezTo>
                <a:cubicBezTo>
                  <a:pt x="541972" y="215074"/>
                  <a:pt x="563594" y="237077"/>
                  <a:pt x="580263" y="262699"/>
                </a:cubicBezTo>
                <a:cubicBezTo>
                  <a:pt x="603885" y="298799"/>
                  <a:pt x="617601" y="341757"/>
                  <a:pt x="617601" y="387953"/>
                </a:cubicBezTo>
                <a:cubicBezTo>
                  <a:pt x="617601" y="434149"/>
                  <a:pt x="604647" y="474821"/>
                  <a:pt x="582263" y="510254"/>
                </a:cubicBezTo>
                <a:cubicBezTo>
                  <a:pt x="613315" y="518827"/>
                  <a:pt x="645414" y="526352"/>
                  <a:pt x="676656" y="533114"/>
                </a:cubicBez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pic>
        <p:nvPicPr>
          <p:cNvPr id="232" name="Picture 231">
            <a:extLst>
              <a:ext uri="{FF2B5EF4-FFF2-40B4-BE49-F238E27FC236}">
                <a16:creationId xmlns:a16="http://schemas.microsoft.com/office/drawing/2014/main" id="{5A7464FA-1293-9D1B-F413-B1E59A8392C1}"/>
              </a:ext>
            </a:extLst>
          </p:cNvPr>
          <p:cNvPicPr>
            <a:picLocks noChangeAspect="1"/>
          </p:cNvPicPr>
          <p:nvPr/>
        </p:nvPicPr>
        <p:blipFill>
          <a:blip r:embed="rId4"/>
          <a:stretch>
            <a:fillRect/>
          </a:stretch>
        </p:blipFill>
        <p:spPr>
          <a:xfrm>
            <a:off x="10646049" y="3876114"/>
            <a:ext cx="326060" cy="351291"/>
          </a:xfrm>
          <a:prstGeom prst="rect">
            <a:avLst/>
          </a:prstGeom>
        </p:spPr>
      </p:pic>
      <p:pic>
        <p:nvPicPr>
          <p:cNvPr id="231" name="Picture 230">
            <a:extLst>
              <a:ext uri="{FF2B5EF4-FFF2-40B4-BE49-F238E27FC236}">
                <a16:creationId xmlns:a16="http://schemas.microsoft.com/office/drawing/2014/main" id="{76FE8A61-5A1B-CD98-FD92-E1B8180AF740}"/>
              </a:ext>
            </a:extLst>
          </p:cNvPr>
          <p:cNvPicPr>
            <a:picLocks noChangeAspect="1"/>
          </p:cNvPicPr>
          <p:nvPr/>
        </p:nvPicPr>
        <p:blipFill>
          <a:blip r:embed="rId4"/>
          <a:stretch>
            <a:fillRect/>
          </a:stretch>
        </p:blipFill>
        <p:spPr>
          <a:xfrm>
            <a:off x="6283102" y="5077286"/>
            <a:ext cx="326060" cy="351291"/>
          </a:xfrm>
          <a:prstGeom prst="rect">
            <a:avLst/>
          </a:prstGeom>
        </p:spPr>
      </p:pic>
      <p:sp>
        <p:nvSpPr>
          <p:cNvPr id="216" name="Freeform: Shape 927">
            <a:extLst>
              <a:ext uri="{FF2B5EF4-FFF2-40B4-BE49-F238E27FC236}">
                <a16:creationId xmlns:a16="http://schemas.microsoft.com/office/drawing/2014/main" id="{4063BA3A-E46A-1E6E-D235-73A57D8CCF47}"/>
              </a:ext>
            </a:extLst>
          </p:cNvPr>
          <p:cNvSpPr/>
          <p:nvPr/>
        </p:nvSpPr>
        <p:spPr>
          <a:xfrm>
            <a:off x="10795966" y="4085841"/>
            <a:ext cx="493989" cy="493988"/>
          </a:xfrm>
          <a:custGeom>
            <a:avLst/>
            <a:gdLst>
              <a:gd name="connsiteX0" fmla="*/ 520827 w 520827"/>
              <a:gd name="connsiteY0" fmla="*/ 260414 h 520826"/>
              <a:gd name="connsiteX1" fmla="*/ 260413 w 520827"/>
              <a:gd name="connsiteY1" fmla="*/ 520827 h 520826"/>
              <a:gd name="connsiteX2" fmla="*/ -1 w 520827"/>
              <a:gd name="connsiteY2" fmla="*/ 260414 h 520826"/>
              <a:gd name="connsiteX3" fmla="*/ 260413 w 520827"/>
              <a:gd name="connsiteY3" fmla="*/ 0 h 520826"/>
              <a:gd name="connsiteX4" fmla="*/ 520827 w 520827"/>
              <a:gd name="connsiteY4" fmla="*/ 260414 h 520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27" h="520826">
                <a:moveTo>
                  <a:pt x="520827" y="260414"/>
                </a:moveTo>
                <a:cubicBezTo>
                  <a:pt x="520827" y="404236"/>
                  <a:pt x="404236" y="520827"/>
                  <a:pt x="260413" y="520827"/>
                </a:cubicBezTo>
                <a:cubicBezTo>
                  <a:pt x="116590" y="520827"/>
                  <a:pt x="-1" y="404236"/>
                  <a:pt x="-1" y="260414"/>
                </a:cubicBezTo>
                <a:cubicBezTo>
                  <a:pt x="-1" y="116591"/>
                  <a:pt x="116590" y="0"/>
                  <a:pt x="260413" y="0"/>
                </a:cubicBezTo>
                <a:cubicBezTo>
                  <a:pt x="404235" y="0"/>
                  <a:pt x="520827" y="116591"/>
                  <a:pt x="520827" y="260414"/>
                </a:cubicBezTo>
                <a:close/>
              </a:path>
            </a:pathLst>
          </a:custGeom>
          <a:solidFill>
            <a:srgbClr val="FF5255"/>
          </a:solidFill>
          <a:ln w="3175" cap="flat">
            <a:solidFill>
              <a:srgbClr val="7030A0"/>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143" name="Freeform: Shape 739">
            <a:extLst>
              <a:ext uri="{FF2B5EF4-FFF2-40B4-BE49-F238E27FC236}">
                <a16:creationId xmlns:a16="http://schemas.microsoft.com/office/drawing/2014/main" id="{088F39FF-2235-5996-FB1A-6371B9B97891}"/>
              </a:ext>
            </a:extLst>
          </p:cNvPr>
          <p:cNvSpPr/>
          <p:nvPr/>
        </p:nvSpPr>
        <p:spPr>
          <a:xfrm>
            <a:off x="609869" y="4713548"/>
            <a:ext cx="493988" cy="493988"/>
          </a:xfrm>
          <a:custGeom>
            <a:avLst/>
            <a:gdLst>
              <a:gd name="connsiteX0" fmla="*/ 520827 w 520826"/>
              <a:gd name="connsiteY0" fmla="*/ 260413 h 520826"/>
              <a:gd name="connsiteX1" fmla="*/ 260413 w 520826"/>
              <a:gd name="connsiteY1" fmla="*/ 520827 h 520826"/>
              <a:gd name="connsiteX2" fmla="*/ 0 w 520826"/>
              <a:gd name="connsiteY2" fmla="*/ 260413 h 520826"/>
              <a:gd name="connsiteX3" fmla="*/ 260413 w 520826"/>
              <a:gd name="connsiteY3" fmla="*/ 0 h 520826"/>
              <a:gd name="connsiteX4" fmla="*/ 520827 w 520826"/>
              <a:gd name="connsiteY4" fmla="*/ 260413 h 520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26" h="520826">
                <a:moveTo>
                  <a:pt x="520827" y="260413"/>
                </a:moveTo>
                <a:cubicBezTo>
                  <a:pt x="520827" y="404236"/>
                  <a:pt x="404236" y="520827"/>
                  <a:pt x="260413" y="520827"/>
                </a:cubicBezTo>
                <a:cubicBezTo>
                  <a:pt x="116591" y="520827"/>
                  <a:pt x="0" y="404236"/>
                  <a:pt x="0" y="260413"/>
                </a:cubicBezTo>
                <a:cubicBezTo>
                  <a:pt x="0" y="116591"/>
                  <a:pt x="116591" y="0"/>
                  <a:pt x="260413" y="0"/>
                </a:cubicBezTo>
                <a:cubicBezTo>
                  <a:pt x="404236" y="0"/>
                  <a:pt x="520827" y="116591"/>
                  <a:pt x="520827" y="260413"/>
                </a:cubicBezTo>
                <a:close/>
              </a:path>
            </a:pathLst>
          </a:custGeom>
          <a:solidFill>
            <a:srgbClr val="222C3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pic>
        <p:nvPicPr>
          <p:cNvPr id="131" name="Graphic 130">
            <a:extLst>
              <a:ext uri="{FF2B5EF4-FFF2-40B4-BE49-F238E27FC236}">
                <a16:creationId xmlns:a16="http://schemas.microsoft.com/office/drawing/2014/main" id="{0A21DFF5-B952-6952-F8B6-6D5FC383CBD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484722" y="5572932"/>
            <a:ext cx="444631" cy="444631"/>
          </a:xfrm>
          <a:prstGeom prst="rect">
            <a:avLst/>
          </a:prstGeom>
        </p:spPr>
      </p:pic>
      <p:pic>
        <p:nvPicPr>
          <p:cNvPr id="5" name="Picture 4">
            <a:extLst>
              <a:ext uri="{FF2B5EF4-FFF2-40B4-BE49-F238E27FC236}">
                <a16:creationId xmlns:a16="http://schemas.microsoft.com/office/drawing/2014/main" id="{A1051AF3-9469-1961-DFD2-A552A589FC74}"/>
              </a:ext>
            </a:extLst>
          </p:cNvPr>
          <p:cNvPicPr>
            <a:picLocks noChangeAspect="1"/>
          </p:cNvPicPr>
          <p:nvPr/>
        </p:nvPicPr>
        <p:blipFill>
          <a:blip r:embed="rId12"/>
          <a:stretch>
            <a:fillRect/>
          </a:stretch>
        </p:blipFill>
        <p:spPr>
          <a:xfrm>
            <a:off x="3802269" y="2876155"/>
            <a:ext cx="4755678" cy="2372329"/>
          </a:xfrm>
          <a:prstGeom prst="rect">
            <a:avLst/>
          </a:prstGeom>
        </p:spPr>
      </p:pic>
      <p:grpSp>
        <p:nvGrpSpPr>
          <p:cNvPr id="15" name="Group 14">
            <a:extLst>
              <a:ext uri="{FF2B5EF4-FFF2-40B4-BE49-F238E27FC236}">
                <a16:creationId xmlns:a16="http://schemas.microsoft.com/office/drawing/2014/main" id="{5E002E46-12BB-BADD-92D1-8D67D65DF2B1}"/>
              </a:ext>
            </a:extLst>
          </p:cNvPr>
          <p:cNvGrpSpPr/>
          <p:nvPr/>
        </p:nvGrpSpPr>
        <p:grpSpPr>
          <a:xfrm>
            <a:off x="2803503" y="3386775"/>
            <a:ext cx="6722239" cy="888784"/>
            <a:chOff x="2672140" y="3354251"/>
            <a:chExt cx="6722239" cy="888784"/>
          </a:xfrm>
        </p:grpSpPr>
        <p:sp>
          <p:nvSpPr>
            <p:cNvPr id="16" name="Freeform: Shape 811">
              <a:extLst>
                <a:ext uri="{FF2B5EF4-FFF2-40B4-BE49-F238E27FC236}">
                  <a16:creationId xmlns:a16="http://schemas.microsoft.com/office/drawing/2014/main" id="{95FB36AA-EA04-ED4A-4061-12C6BE42AAD5}"/>
                </a:ext>
              </a:extLst>
            </p:cNvPr>
            <p:cNvSpPr/>
            <p:nvPr/>
          </p:nvSpPr>
          <p:spPr>
            <a:xfrm>
              <a:off x="2971172" y="3354251"/>
              <a:ext cx="6120924" cy="759593"/>
            </a:xfrm>
            <a:custGeom>
              <a:avLst/>
              <a:gdLst>
                <a:gd name="connsiteX0" fmla="*/ 2791206 w 6453472"/>
                <a:gd name="connsiteY0" fmla="*/ 798100 h 800862"/>
                <a:gd name="connsiteX1" fmla="*/ 2313337 w 6453472"/>
                <a:gd name="connsiteY1" fmla="*/ 788479 h 800862"/>
                <a:gd name="connsiteX2" fmla="*/ 1025271 w 6453472"/>
                <a:gd name="connsiteY2" fmla="*/ 717709 h 800862"/>
                <a:gd name="connsiteX3" fmla="*/ 385858 w 6453472"/>
                <a:gd name="connsiteY3" fmla="*/ 633984 h 800862"/>
                <a:gd name="connsiteX4" fmla="*/ 344519 w 6453472"/>
                <a:gd name="connsiteY4" fmla="*/ 625507 h 800862"/>
                <a:gd name="connsiteX5" fmla="*/ 204502 w 6453472"/>
                <a:gd name="connsiteY5" fmla="*/ 589978 h 800862"/>
                <a:gd name="connsiteX6" fmla="*/ 0 w 6453472"/>
                <a:gd name="connsiteY6" fmla="*/ 400526 h 800862"/>
                <a:gd name="connsiteX7" fmla="*/ 201549 w 6453472"/>
                <a:gd name="connsiteY7" fmla="*/ 212026 h 800862"/>
                <a:gd name="connsiteX8" fmla="*/ 385858 w 6453472"/>
                <a:gd name="connsiteY8" fmla="*/ 166497 h 800862"/>
                <a:gd name="connsiteX9" fmla="*/ 553307 w 6453472"/>
                <a:gd name="connsiteY9" fmla="*/ 138112 h 800862"/>
                <a:gd name="connsiteX10" fmla="*/ 2315432 w 6453472"/>
                <a:gd name="connsiteY10" fmla="*/ 12287 h 800862"/>
                <a:gd name="connsiteX11" fmla="*/ 2796064 w 6453472"/>
                <a:gd name="connsiteY11" fmla="*/ 2667 h 800862"/>
                <a:gd name="connsiteX12" fmla="*/ 3226785 w 6453472"/>
                <a:gd name="connsiteY12" fmla="*/ 0 h 800862"/>
                <a:gd name="connsiteX13" fmla="*/ 3665696 w 6453472"/>
                <a:gd name="connsiteY13" fmla="*/ 2762 h 800862"/>
                <a:gd name="connsiteX14" fmla="*/ 4164616 w 6453472"/>
                <a:gd name="connsiteY14" fmla="*/ 12954 h 800862"/>
                <a:gd name="connsiteX15" fmla="*/ 5900166 w 6453472"/>
                <a:gd name="connsiteY15" fmla="*/ 138017 h 800862"/>
                <a:gd name="connsiteX16" fmla="*/ 6070473 w 6453472"/>
                <a:gd name="connsiteY16" fmla="*/ 166973 h 800862"/>
                <a:gd name="connsiteX17" fmla="*/ 6249448 w 6453472"/>
                <a:gd name="connsiteY17" fmla="*/ 211169 h 800862"/>
                <a:gd name="connsiteX18" fmla="*/ 6453473 w 6453472"/>
                <a:gd name="connsiteY18" fmla="*/ 400431 h 800862"/>
                <a:gd name="connsiteX19" fmla="*/ 6246495 w 6453472"/>
                <a:gd name="connsiteY19" fmla="*/ 590836 h 800862"/>
                <a:gd name="connsiteX20" fmla="*/ 6108954 w 6453472"/>
                <a:gd name="connsiteY20" fmla="*/ 625507 h 800862"/>
                <a:gd name="connsiteX21" fmla="*/ 6070663 w 6453472"/>
                <a:gd name="connsiteY21" fmla="*/ 633412 h 800862"/>
                <a:gd name="connsiteX22" fmla="*/ 5428203 w 6453472"/>
                <a:gd name="connsiteY22" fmla="*/ 717709 h 800862"/>
                <a:gd name="connsiteX23" fmla="*/ 4166902 w 6453472"/>
                <a:gd name="connsiteY23" fmla="*/ 787813 h 800862"/>
                <a:gd name="connsiteX24" fmla="*/ 3670554 w 6453472"/>
                <a:gd name="connsiteY24" fmla="*/ 798004 h 800862"/>
                <a:gd name="connsiteX25" fmla="*/ 3226879 w 6453472"/>
                <a:gd name="connsiteY25" fmla="*/ 800862 h 800862"/>
                <a:gd name="connsiteX26" fmla="*/ 2791301 w 6453472"/>
                <a:gd name="connsiteY26" fmla="*/ 798100 h 800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453472" h="800862">
                  <a:moveTo>
                    <a:pt x="2791206" y="798100"/>
                  </a:moveTo>
                  <a:cubicBezTo>
                    <a:pt x="2628519" y="796100"/>
                    <a:pt x="2468785" y="792861"/>
                    <a:pt x="2313337" y="788479"/>
                  </a:cubicBezTo>
                  <a:cubicBezTo>
                    <a:pt x="1832420" y="775144"/>
                    <a:pt x="1391412" y="751046"/>
                    <a:pt x="1025271" y="717709"/>
                  </a:cubicBezTo>
                  <a:cubicBezTo>
                    <a:pt x="759142" y="693515"/>
                    <a:pt x="544354" y="665321"/>
                    <a:pt x="385858" y="633984"/>
                  </a:cubicBezTo>
                  <a:cubicBezTo>
                    <a:pt x="371665" y="631222"/>
                    <a:pt x="357854" y="628364"/>
                    <a:pt x="344519" y="625507"/>
                  </a:cubicBezTo>
                  <a:cubicBezTo>
                    <a:pt x="305181" y="617029"/>
                    <a:pt x="254698" y="606076"/>
                    <a:pt x="204502" y="589978"/>
                  </a:cubicBezTo>
                  <a:cubicBezTo>
                    <a:pt x="101441" y="557022"/>
                    <a:pt x="0" y="501967"/>
                    <a:pt x="0" y="400526"/>
                  </a:cubicBezTo>
                  <a:cubicBezTo>
                    <a:pt x="0" y="311944"/>
                    <a:pt x="70961" y="254889"/>
                    <a:pt x="201549" y="212026"/>
                  </a:cubicBezTo>
                  <a:cubicBezTo>
                    <a:pt x="253651" y="194882"/>
                    <a:pt x="315277" y="180118"/>
                    <a:pt x="385858" y="166497"/>
                  </a:cubicBezTo>
                  <a:cubicBezTo>
                    <a:pt x="437102" y="156591"/>
                    <a:pt x="493014" y="147257"/>
                    <a:pt x="553307" y="138112"/>
                  </a:cubicBezTo>
                  <a:cubicBezTo>
                    <a:pt x="962501" y="76295"/>
                    <a:pt x="1589246" y="32385"/>
                    <a:pt x="2315432" y="12287"/>
                  </a:cubicBezTo>
                  <a:cubicBezTo>
                    <a:pt x="2471452" y="7906"/>
                    <a:pt x="2632043" y="4667"/>
                    <a:pt x="2796064" y="2667"/>
                  </a:cubicBezTo>
                  <a:cubicBezTo>
                    <a:pt x="2937415" y="857"/>
                    <a:pt x="3081242" y="0"/>
                    <a:pt x="3226785" y="0"/>
                  </a:cubicBezTo>
                  <a:cubicBezTo>
                    <a:pt x="3372326" y="0"/>
                    <a:pt x="3521774" y="857"/>
                    <a:pt x="3665696" y="2762"/>
                  </a:cubicBezTo>
                  <a:cubicBezTo>
                    <a:pt x="3836194" y="4858"/>
                    <a:pt x="4002881" y="8382"/>
                    <a:pt x="4164616" y="12954"/>
                  </a:cubicBezTo>
                  <a:cubicBezTo>
                    <a:pt x="4879372" y="33433"/>
                    <a:pt x="5495925" y="76962"/>
                    <a:pt x="5900166" y="138017"/>
                  </a:cubicBezTo>
                  <a:cubicBezTo>
                    <a:pt x="5961603" y="147352"/>
                    <a:pt x="6018467" y="156782"/>
                    <a:pt x="6070473" y="166973"/>
                  </a:cubicBezTo>
                  <a:cubicBezTo>
                    <a:pt x="6182106" y="189071"/>
                    <a:pt x="6249448" y="211169"/>
                    <a:pt x="6249448" y="211169"/>
                  </a:cubicBezTo>
                  <a:cubicBezTo>
                    <a:pt x="6381560" y="254127"/>
                    <a:pt x="6453473" y="311467"/>
                    <a:pt x="6453473" y="400431"/>
                  </a:cubicBezTo>
                  <a:cubicBezTo>
                    <a:pt x="6453473" y="502825"/>
                    <a:pt x="6350318" y="557879"/>
                    <a:pt x="6246495" y="590836"/>
                  </a:cubicBezTo>
                  <a:cubicBezTo>
                    <a:pt x="6197251" y="606457"/>
                    <a:pt x="6147721" y="617029"/>
                    <a:pt x="6108954" y="625507"/>
                  </a:cubicBezTo>
                  <a:cubicBezTo>
                    <a:pt x="6096667" y="628174"/>
                    <a:pt x="6083808" y="630841"/>
                    <a:pt x="6070663" y="633412"/>
                  </a:cubicBezTo>
                  <a:cubicBezTo>
                    <a:pt x="5911882" y="664940"/>
                    <a:pt x="5696046" y="693325"/>
                    <a:pt x="5428203" y="717709"/>
                  </a:cubicBezTo>
                  <a:cubicBezTo>
                    <a:pt x="5068729" y="750475"/>
                    <a:pt x="4637437" y="774287"/>
                    <a:pt x="4166902" y="787813"/>
                  </a:cubicBezTo>
                  <a:cubicBezTo>
                    <a:pt x="4005643" y="792385"/>
                    <a:pt x="3839718" y="795909"/>
                    <a:pt x="3670554" y="798004"/>
                  </a:cubicBezTo>
                  <a:cubicBezTo>
                    <a:pt x="3524822" y="799909"/>
                    <a:pt x="3376613" y="800862"/>
                    <a:pt x="3226879" y="800862"/>
                  </a:cubicBezTo>
                  <a:cubicBezTo>
                    <a:pt x="3077147" y="800862"/>
                    <a:pt x="2934462" y="800005"/>
                    <a:pt x="2791301" y="798100"/>
                  </a:cubicBezTo>
                </a:path>
              </a:pathLst>
            </a:custGeom>
            <a:noFill/>
            <a:ln w="9525" cap="flat">
              <a:solidFill>
                <a:srgbClr val="15886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17" name="Freeform: Shape 813">
              <a:extLst>
                <a:ext uri="{FF2B5EF4-FFF2-40B4-BE49-F238E27FC236}">
                  <a16:creationId xmlns:a16="http://schemas.microsoft.com/office/drawing/2014/main" id="{09F898C3-589B-066F-B9AE-31BF82F11F95}"/>
                </a:ext>
              </a:extLst>
            </p:cNvPr>
            <p:cNvSpPr/>
            <p:nvPr/>
          </p:nvSpPr>
          <p:spPr>
            <a:xfrm>
              <a:off x="3047059" y="3429867"/>
              <a:ext cx="5968970" cy="607909"/>
            </a:xfrm>
            <a:custGeom>
              <a:avLst/>
              <a:gdLst>
                <a:gd name="connsiteX0" fmla="*/ 6293263 w 6293262"/>
                <a:gd name="connsiteY0" fmla="*/ 320611 h 640937"/>
                <a:gd name="connsiteX1" fmla="*/ 6103239 w 6293262"/>
                <a:gd name="connsiteY1" fmla="*/ 445389 h 640937"/>
                <a:gd name="connsiteX2" fmla="*/ 6011990 w 6293262"/>
                <a:gd name="connsiteY2" fmla="*/ 467297 h 640937"/>
                <a:gd name="connsiteX3" fmla="*/ 5944743 w 6293262"/>
                <a:gd name="connsiteY3" fmla="*/ 480822 h 640937"/>
                <a:gd name="connsiteX4" fmla="*/ 5340858 w 6293262"/>
                <a:gd name="connsiteY4" fmla="*/ 558070 h 640937"/>
                <a:gd name="connsiteX5" fmla="*/ 4118991 w 6293262"/>
                <a:gd name="connsiteY5" fmla="*/ 626840 h 640937"/>
                <a:gd name="connsiteX6" fmla="*/ 3651600 w 6293262"/>
                <a:gd name="connsiteY6" fmla="*/ 637127 h 640937"/>
                <a:gd name="connsiteX7" fmla="*/ 3146679 w 6293262"/>
                <a:gd name="connsiteY7" fmla="*/ 640937 h 640937"/>
                <a:gd name="connsiteX8" fmla="*/ 2649950 w 6293262"/>
                <a:gd name="connsiteY8" fmla="*/ 637318 h 640937"/>
                <a:gd name="connsiteX9" fmla="*/ 2201132 w 6293262"/>
                <a:gd name="connsiteY9" fmla="*/ 627507 h 640937"/>
                <a:gd name="connsiteX10" fmla="*/ 952405 w 6293262"/>
                <a:gd name="connsiteY10" fmla="*/ 557975 h 640937"/>
                <a:gd name="connsiteX11" fmla="*/ 351663 w 6293262"/>
                <a:gd name="connsiteY11" fmla="*/ 481393 h 640937"/>
                <a:gd name="connsiteX12" fmla="*/ 281273 w 6293262"/>
                <a:gd name="connsiteY12" fmla="*/ 467297 h 640937"/>
                <a:gd name="connsiteX13" fmla="*/ 186880 w 6293262"/>
                <a:gd name="connsiteY13" fmla="*/ 444436 h 640937"/>
                <a:gd name="connsiteX14" fmla="*/ 0 w 6293262"/>
                <a:gd name="connsiteY14" fmla="*/ 320516 h 640937"/>
                <a:gd name="connsiteX15" fmla="*/ 184880 w 6293262"/>
                <a:gd name="connsiteY15" fmla="*/ 196786 h 640937"/>
                <a:gd name="connsiteX16" fmla="*/ 350520 w 6293262"/>
                <a:gd name="connsiteY16" fmla="*/ 159734 h 640937"/>
                <a:gd name="connsiteX17" fmla="*/ 485108 w 6293262"/>
                <a:gd name="connsiteY17" fmla="*/ 137255 h 640937"/>
                <a:gd name="connsiteX18" fmla="*/ 2204371 w 6293262"/>
                <a:gd name="connsiteY18" fmla="*/ 13145 h 640937"/>
                <a:gd name="connsiteX19" fmla="*/ 2653189 w 6293262"/>
                <a:gd name="connsiteY19" fmla="*/ 3524 h 640937"/>
                <a:gd name="connsiteX20" fmla="*/ 3146679 w 6293262"/>
                <a:gd name="connsiteY20" fmla="*/ 0 h 640937"/>
                <a:gd name="connsiteX21" fmla="*/ 3648170 w 6293262"/>
                <a:gd name="connsiteY21" fmla="*/ 3620 h 640937"/>
                <a:gd name="connsiteX22" fmla="*/ 4115467 w 6293262"/>
                <a:gd name="connsiteY22" fmla="*/ 13907 h 640937"/>
                <a:gd name="connsiteX23" fmla="*/ 5808059 w 6293262"/>
                <a:gd name="connsiteY23" fmla="*/ 137160 h 640937"/>
                <a:gd name="connsiteX24" fmla="*/ 5945791 w 6293262"/>
                <a:gd name="connsiteY24" fmla="*/ 160115 h 640937"/>
                <a:gd name="connsiteX25" fmla="*/ 6105240 w 6293262"/>
                <a:gd name="connsiteY25" fmla="*/ 195739 h 640937"/>
                <a:gd name="connsiteX26" fmla="*/ 6293263 w 6293262"/>
                <a:gd name="connsiteY26" fmla="*/ 320326 h 640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293262" h="640937">
                  <a:moveTo>
                    <a:pt x="6293263" y="320611"/>
                  </a:moveTo>
                  <a:cubicBezTo>
                    <a:pt x="6293263" y="379381"/>
                    <a:pt x="6204109" y="417862"/>
                    <a:pt x="6103239" y="445389"/>
                  </a:cubicBezTo>
                  <a:cubicBezTo>
                    <a:pt x="6073236" y="453581"/>
                    <a:pt x="6042089" y="460819"/>
                    <a:pt x="6011990" y="467297"/>
                  </a:cubicBezTo>
                  <a:cubicBezTo>
                    <a:pt x="5990749" y="471773"/>
                    <a:pt x="5968461" y="476345"/>
                    <a:pt x="5944743" y="480822"/>
                  </a:cubicBezTo>
                  <a:cubicBezTo>
                    <a:pt x="5791867" y="509492"/>
                    <a:pt x="5589270" y="535495"/>
                    <a:pt x="5340858" y="558070"/>
                  </a:cubicBezTo>
                  <a:cubicBezTo>
                    <a:pt x="4991862" y="589883"/>
                    <a:pt x="4574477" y="613219"/>
                    <a:pt x="4118991" y="626840"/>
                  </a:cubicBezTo>
                  <a:cubicBezTo>
                    <a:pt x="3967068" y="631317"/>
                    <a:pt x="3810953" y="634841"/>
                    <a:pt x="3651600" y="637127"/>
                  </a:cubicBezTo>
                  <a:cubicBezTo>
                    <a:pt x="3486245" y="639604"/>
                    <a:pt x="3317558" y="640937"/>
                    <a:pt x="3146679" y="640937"/>
                  </a:cubicBezTo>
                  <a:cubicBezTo>
                    <a:pt x="2975801" y="640937"/>
                    <a:pt x="2812637" y="639699"/>
                    <a:pt x="2649950" y="637318"/>
                  </a:cubicBezTo>
                  <a:cubicBezTo>
                    <a:pt x="2497170" y="635127"/>
                    <a:pt x="2347246" y="631793"/>
                    <a:pt x="2201132" y="627507"/>
                  </a:cubicBezTo>
                  <a:cubicBezTo>
                    <a:pt x="1735264" y="614077"/>
                    <a:pt x="1308259" y="590455"/>
                    <a:pt x="952405" y="557975"/>
                  </a:cubicBezTo>
                  <a:cubicBezTo>
                    <a:pt x="705612" y="535495"/>
                    <a:pt x="504158" y="509778"/>
                    <a:pt x="351663" y="481393"/>
                  </a:cubicBezTo>
                  <a:cubicBezTo>
                    <a:pt x="326898" y="476726"/>
                    <a:pt x="303371" y="471964"/>
                    <a:pt x="281273" y="467297"/>
                  </a:cubicBezTo>
                  <a:cubicBezTo>
                    <a:pt x="250126" y="460629"/>
                    <a:pt x="217932" y="453104"/>
                    <a:pt x="186880" y="444436"/>
                  </a:cubicBezTo>
                  <a:cubicBezTo>
                    <a:pt x="87439" y="417100"/>
                    <a:pt x="0" y="378714"/>
                    <a:pt x="0" y="320516"/>
                  </a:cubicBezTo>
                  <a:cubicBezTo>
                    <a:pt x="0" y="271939"/>
                    <a:pt x="57531" y="232315"/>
                    <a:pt x="184880" y="196786"/>
                  </a:cubicBezTo>
                  <a:cubicBezTo>
                    <a:pt x="230886" y="183833"/>
                    <a:pt x="285845" y="171641"/>
                    <a:pt x="350520" y="159734"/>
                  </a:cubicBezTo>
                  <a:cubicBezTo>
                    <a:pt x="391382" y="152114"/>
                    <a:pt x="436245" y="144685"/>
                    <a:pt x="485108" y="137255"/>
                  </a:cubicBezTo>
                  <a:cubicBezTo>
                    <a:pt x="885158" y="76867"/>
                    <a:pt x="1495615" y="33623"/>
                    <a:pt x="2204371" y="13145"/>
                  </a:cubicBezTo>
                  <a:cubicBezTo>
                    <a:pt x="2350103" y="8954"/>
                    <a:pt x="2500027" y="5715"/>
                    <a:pt x="2653189" y="3524"/>
                  </a:cubicBezTo>
                  <a:cubicBezTo>
                    <a:pt x="2814542" y="1238"/>
                    <a:pt x="2979420" y="0"/>
                    <a:pt x="3146679" y="0"/>
                  </a:cubicBezTo>
                  <a:cubicBezTo>
                    <a:pt x="3313938" y="0"/>
                    <a:pt x="3484245" y="1238"/>
                    <a:pt x="3648170" y="3620"/>
                  </a:cubicBezTo>
                  <a:cubicBezTo>
                    <a:pt x="3807809" y="6001"/>
                    <a:pt x="3963924" y="9430"/>
                    <a:pt x="4115467" y="13907"/>
                  </a:cubicBezTo>
                  <a:cubicBezTo>
                    <a:pt x="4812792" y="34671"/>
                    <a:pt x="5413058" y="77533"/>
                    <a:pt x="5808059" y="137160"/>
                  </a:cubicBezTo>
                  <a:cubicBezTo>
                    <a:pt x="5858161" y="144685"/>
                    <a:pt x="5903976" y="152400"/>
                    <a:pt x="5945791" y="160115"/>
                  </a:cubicBezTo>
                  <a:cubicBezTo>
                    <a:pt x="6007704" y="171641"/>
                    <a:pt x="6060758" y="183451"/>
                    <a:pt x="6105240" y="195739"/>
                  </a:cubicBezTo>
                  <a:cubicBezTo>
                    <a:pt x="6234875" y="231458"/>
                    <a:pt x="6293263" y="271367"/>
                    <a:pt x="6293263" y="320326"/>
                  </a:cubicBezTo>
                  <a:close/>
                </a:path>
              </a:pathLst>
            </a:custGeom>
            <a:noFill/>
            <a:ln w="9525" cap="flat">
              <a:solidFill>
                <a:srgbClr val="15886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18" name="Freeform: Shape 812">
              <a:extLst>
                <a:ext uri="{FF2B5EF4-FFF2-40B4-BE49-F238E27FC236}">
                  <a16:creationId xmlns:a16="http://schemas.microsoft.com/office/drawing/2014/main" id="{F7C1EA74-E2E3-AB3D-BDBC-59F9D1F568AD}"/>
                </a:ext>
              </a:extLst>
            </p:cNvPr>
            <p:cNvSpPr/>
            <p:nvPr/>
          </p:nvSpPr>
          <p:spPr>
            <a:xfrm>
              <a:off x="3009295" y="3392104"/>
              <a:ext cx="6044947" cy="683705"/>
            </a:xfrm>
            <a:custGeom>
              <a:avLst/>
              <a:gdLst>
                <a:gd name="connsiteX0" fmla="*/ 3186589 w 6373367"/>
                <a:gd name="connsiteY0" fmla="*/ 720852 h 720851"/>
                <a:gd name="connsiteX1" fmla="*/ 988790 w 6373367"/>
                <a:gd name="connsiteY1" fmla="*/ 637794 h 720851"/>
                <a:gd name="connsiteX2" fmla="*/ 312801 w 6373367"/>
                <a:gd name="connsiteY2" fmla="*/ 546259 h 720851"/>
                <a:gd name="connsiteX3" fmla="*/ 0 w 6373367"/>
                <a:gd name="connsiteY3" fmla="*/ 360426 h 720851"/>
                <a:gd name="connsiteX4" fmla="*/ 519208 w 6373367"/>
                <a:gd name="connsiteY4" fmla="*/ 137636 h 720851"/>
                <a:gd name="connsiteX5" fmla="*/ 3186684 w 6373367"/>
                <a:gd name="connsiteY5" fmla="*/ 0 h 720851"/>
                <a:gd name="connsiteX6" fmla="*/ 5854161 w 6373367"/>
                <a:gd name="connsiteY6" fmla="*/ 137636 h 720851"/>
                <a:gd name="connsiteX7" fmla="*/ 6373368 w 6373367"/>
                <a:gd name="connsiteY7" fmla="*/ 360426 h 720851"/>
                <a:gd name="connsiteX8" fmla="*/ 6060472 w 6373367"/>
                <a:gd name="connsiteY8" fmla="*/ 546259 h 720851"/>
                <a:gd name="connsiteX9" fmla="*/ 5384483 w 6373367"/>
                <a:gd name="connsiteY9" fmla="*/ 637794 h 720851"/>
                <a:gd name="connsiteX10" fmla="*/ 3186684 w 6373367"/>
                <a:gd name="connsiteY10" fmla="*/ 720852 h 720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73367" h="720851">
                  <a:moveTo>
                    <a:pt x="3186589" y="720852"/>
                  </a:moveTo>
                  <a:cubicBezTo>
                    <a:pt x="2356866" y="720852"/>
                    <a:pt x="1576388" y="691325"/>
                    <a:pt x="988790" y="637794"/>
                  </a:cubicBezTo>
                  <a:cubicBezTo>
                    <a:pt x="700278" y="611505"/>
                    <a:pt x="472916" y="580739"/>
                    <a:pt x="312801" y="546259"/>
                  </a:cubicBezTo>
                  <a:cubicBezTo>
                    <a:pt x="150305" y="511302"/>
                    <a:pt x="0" y="464534"/>
                    <a:pt x="0" y="360426"/>
                  </a:cubicBezTo>
                  <a:cubicBezTo>
                    <a:pt x="0" y="256318"/>
                    <a:pt x="140684" y="194786"/>
                    <a:pt x="519208" y="137636"/>
                  </a:cubicBezTo>
                  <a:cubicBezTo>
                    <a:pt x="1090232" y="51435"/>
                    <a:pt x="2087309" y="0"/>
                    <a:pt x="3186684" y="0"/>
                  </a:cubicBezTo>
                  <a:cubicBezTo>
                    <a:pt x="4286060" y="0"/>
                    <a:pt x="5283137" y="51435"/>
                    <a:pt x="5854161" y="137636"/>
                  </a:cubicBezTo>
                  <a:cubicBezTo>
                    <a:pt x="6232589" y="194786"/>
                    <a:pt x="6373368" y="255175"/>
                    <a:pt x="6373368" y="360426"/>
                  </a:cubicBezTo>
                  <a:cubicBezTo>
                    <a:pt x="6373368" y="465677"/>
                    <a:pt x="6222969" y="511302"/>
                    <a:pt x="6060472" y="546259"/>
                  </a:cubicBezTo>
                  <a:cubicBezTo>
                    <a:pt x="5900452" y="580739"/>
                    <a:pt x="5672995" y="611505"/>
                    <a:pt x="5384483" y="637794"/>
                  </a:cubicBezTo>
                  <a:cubicBezTo>
                    <a:pt x="4796886" y="691325"/>
                    <a:pt x="4016312" y="720852"/>
                    <a:pt x="3186684" y="720852"/>
                  </a:cubicBezTo>
                  <a:close/>
                </a:path>
              </a:pathLst>
            </a:custGeom>
            <a:noFill/>
            <a:ln w="28575" cap="flat">
              <a:solidFill>
                <a:srgbClr val="15886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19" name="Freeform: Shape 815">
              <a:extLst>
                <a:ext uri="{FF2B5EF4-FFF2-40B4-BE49-F238E27FC236}">
                  <a16:creationId xmlns:a16="http://schemas.microsoft.com/office/drawing/2014/main" id="{0B508940-F5FF-11A2-06FC-B25EE5B6346D}"/>
                </a:ext>
              </a:extLst>
            </p:cNvPr>
            <p:cNvSpPr/>
            <p:nvPr/>
          </p:nvSpPr>
          <p:spPr>
            <a:xfrm>
              <a:off x="8651951" y="3367532"/>
              <a:ext cx="742428" cy="805260"/>
            </a:xfrm>
            <a:custGeom>
              <a:avLst/>
              <a:gdLst>
                <a:gd name="connsiteX0" fmla="*/ 200501 w 782764"/>
                <a:gd name="connsiteY0" fmla="*/ 510254 h 849010"/>
                <a:gd name="connsiteX1" fmla="*/ 165163 w 782764"/>
                <a:gd name="connsiteY1" fmla="*/ 387953 h 849010"/>
                <a:gd name="connsiteX2" fmla="*/ 202502 w 782764"/>
                <a:gd name="connsiteY2" fmla="*/ 262700 h 849010"/>
                <a:gd name="connsiteX3" fmla="*/ 266033 w 782764"/>
                <a:gd name="connsiteY3" fmla="*/ 197929 h 849010"/>
                <a:gd name="connsiteX4" fmla="*/ 395001 w 782764"/>
                <a:gd name="connsiteY4" fmla="*/ 158210 h 849010"/>
                <a:gd name="connsiteX5" fmla="*/ 624840 w 782764"/>
                <a:gd name="connsiteY5" fmla="*/ 388049 h 849010"/>
                <a:gd name="connsiteX6" fmla="*/ 395001 w 782764"/>
                <a:gd name="connsiteY6" fmla="*/ 617887 h 849010"/>
                <a:gd name="connsiteX7" fmla="*/ 262985 w 782764"/>
                <a:gd name="connsiteY7" fmla="*/ 575882 h 849010"/>
                <a:gd name="connsiteX8" fmla="*/ 122967 w 782764"/>
                <a:gd name="connsiteY8" fmla="*/ 611410 h 849010"/>
                <a:gd name="connsiteX9" fmla="*/ 81629 w 782764"/>
                <a:gd name="connsiteY9" fmla="*/ 619887 h 849010"/>
                <a:gd name="connsiteX10" fmla="*/ 307467 w 782764"/>
                <a:gd name="connsiteY10" fmla="*/ 819150 h 849010"/>
                <a:gd name="connsiteX11" fmla="*/ 475298 w 782764"/>
                <a:gd name="connsiteY11" fmla="*/ 819150 h 849010"/>
                <a:gd name="connsiteX12" fmla="*/ 782764 w 782764"/>
                <a:gd name="connsiteY12" fmla="*/ 391382 h 849010"/>
                <a:gd name="connsiteX13" fmla="*/ 391382 w 782764"/>
                <a:gd name="connsiteY13" fmla="*/ 0 h 849010"/>
                <a:gd name="connsiteX14" fmla="*/ 81725 w 782764"/>
                <a:gd name="connsiteY14" fmla="*/ 152209 h 849010"/>
                <a:gd name="connsiteX15" fmla="*/ 36862 w 782764"/>
                <a:gd name="connsiteY15" fmla="*/ 225552 h 849010"/>
                <a:gd name="connsiteX16" fmla="*/ 0 w 782764"/>
                <a:gd name="connsiteY16" fmla="*/ 391382 h 849010"/>
                <a:gd name="connsiteX17" fmla="*/ 35719 w 782764"/>
                <a:gd name="connsiteY17" fmla="*/ 547116 h 849010"/>
                <a:gd name="connsiteX18" fmla="*/ 106109 w 782764"/>
                <a:gd name="connsiteY18" fmla="*/ 533019 h 849010"/>
                <a:gd name="connsiteX19" fmla="*/ 200501 w 782764"/>
                <a:gd name="connsiteY19" fmla="*/ 510159 h 84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2764" h="849010">
                  <a:moveTo>
                    <a:pt x="200501" y="510254"/>
                  </a:moveTo>
                  <a:cubicBezTo>
                    <a:pt x="178022" y="474821"/>
                    <a:pt x="165163" y="432911"/>
                    <a:pt x="165163" y="387953"/>
                  </a:cubicBezTo>
                  <a:cubicBezTo>
                    <a:pt x="165163" y="341662"/>
                    <a:pt x="178879" y="298704"/>
                    <a:pt x="202502" y="262700"/>
                  </a:cubicBezTo>
                  <a:cubicBezTo>
                    <a:pt x="219170" y="237077"/>
                    <a:pt x="240792" y="215075"/>
                    <a:pt x="266033" y="197929"/>
                  </a:cubicBezTo>
                  <a:cubicBezTo>
                    <a:pt x="302895" y="172879"/>
                    <a:pt x="347282" y="158210"/>
                    <a:pt x="395001" y="158210"/>
                  </a:cubicBezTo>
                  <a:cubicBezTo>
                    <a:pt x="521589" y="158210"/>
                    <a:pt x="624840" y="261366"/>
                    <a:pt x="624840" y="388049"/>
                  </a:cubicBezTo>
                  <a:cubicBezTo>
                    <a:pt x="624840" y="514731"/>
                    <a:pt x="521589" y="617887"/>
                    <a:pt x="395001" y="617887"/>
                  </a:cubicBezTo>
                  <a:cubicBezTo>
                    <a:pt x="345948" y="617887"/>
                    <a:pt x="300323" y="602361"/>
                    <a:pt x="262985" y="575882"/>
                  </a:cubicBezTo>
                  <a:cubicBezTo>
                    <a:pt x="212788" y="591979"/>
                    <a:pt x="162306" y="602933"/>
                    <a:pt x="122967" y="611410"/>
                  </a:cubicBezTo>
                  <a:cubicBezTo>
                    <a:pt x="109633" y="614267"/>
                    <a:pt x="95821" y="617125"/>
                    <a:pt x="81629" y="619887"/>
                  </a:cubicBezTo>
                  <a:cubicBezTo>
                    <a:pt x="147733" y="704850"/>
                    <a:pt x="240602" y="765524"/>
                    <a:pt x="307467" y="819150"/>
                  </a:cubicBezTo>
                  <a:cubicBezTo>
                    <a:pt x="356521" y="858965"/>
                    <a:pt x="426244" y="858965"/>
                    <a:pt x="475298" y="819150"/>
                  </a:cubicBezTo>
                  <a:cubicBezTo>
                    <a:pt x="590645" y="726567"/>
                    <a:pt x="782764" y="613410"/>
                    <a:pt x="782764" y="391382"/>
                  </a:cubicBezTo>
                  <a:cubicBezTo>
                    <a:pt x="782764" y="175069"/>
                    <a:pt x="607695" y="0"/>
                    <a:pt x="391382" y="0"/>
                  </a:cubicBezTo>
                  <a:cubicBezTo>
                    <a:pt x="265557" y="0"/>
                    <a:pt x="153352" y="59626"/>
                    <a:pt x="81725" y="152209"/>
                  </a:cubicBezTo>
                  <a:cubicBezTo>
                    <a:pt x="64198" y="174784"/>
                    <a:pt x="49149" y="199358"/>
                    <a:pt x="36862" y="225552"/>
                  </a:cubicBezTo>
                  <a:cubicBezTo>
                    <a:pt x="13240" y="275939"/>
                    <a:pt x="0" y="332137"/>
                    <a:pt x="0" y="391382"/>
                  </a:cubicBezTo>
                  <a:cubicBezTo>
                    <a:pt x="0" y="450437"/>
                    <a:pt x="13621" y="501777"/>
                    <a:pt x="35719" y="547116"/>
                  </a:cubicBezTo>
                  <a:cubicBezTo>
                    <a:pt x="60484" y="542449"/>
                    <a:pt x="84011" y="537686"/>
                    <a:pt x="106109" y="533019"/>
                  </a:cubicBezTo>
                  <a:cubicBezTo>
                    <a:pt x="137255" y="526351"/>
                    <a:pt x="169450" y="518827"/>
                    <a:pt x="200501" y="510159"/>
                  </a:cubicBez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0" name="Freeform: Shape 814">
              <a:extLst>
                <a:ext uri="{FF2B5EF4-FFF2-40B4-BE49-F238E27FC236}">
                  <a16:creationId xmlns:a16="http://schemas.microsoft.com/office/drawing/2014/main" id="{4353F578-5D38-16C5-1200-B4899689993E}"/>
                </a:ext>
              </a:extLst>
            </p:cNvPr>
            <p:cNvSpPr/>
            <p:nvPr/>
          </p:nvSpPr>
          <p:spPr>
            <a:xfrm>
              <a:off x="2672140" y="3367622"/>
              <a:ext cx="742428" cy="805260"/>
            </a:xfrm>
            <a:custGeom>
              <a:avLst/>
              <a:gdLst>
                <a:gd name="connsiteX0" fmla="*/ 676656 w 782764"/>
                <a:gd name="connsiteY0" fmla="*/ 533019 h 849010"/>
                <a:gd name="connsiteX1" fmla="*/ 747046 w 782764"/>
                <a:gd name="connsiteY1" fmla="*/ 547116 h 849010"/>
                <a:gd name="connsiteX2" fmla="*/ 782764 w 782764"/>
                <a:gd name="connsiteY2" fmla="*/ 391382 h 849010"/>
                <a:gd name="connsiteX3" fmla="*/ 745903 w 782764"/>
                <a:gd name="connsiteY3" fmla="*/ 225552 h 849010"/>
                <a:gd name="connsiteX4" fmla="*/ 701040 w 782764"/>
                <a:gd name="connsiteY4" fmla="*/ 152210 h 849010"/>
                <a:gd name="connsiteX5" fmla="*/ 391382 w 782764"/>
                <a:gd name="connsiteY5" fmla="*/ 0 h 849010"/>
                <a:gd name="connsiteX6" fmla="*/ 0 w 782764"/>
                <a:gd name="connsiteY6" fmla="*/ 391382 h 849010"/>
                <a:gd name="connsiteX7" fmla="*/ 307467 w 782764"/>
                <a:gd name="connsiteY7" fmla="*/ 819150 h 849010"/>
                <a:gd name="connsiteX8" fmla="*/ 475297 w 782764"/>
                <a:gd name="connsiteY8" fmla="*/ 819150 h 849010"/>
                <a:gd name="connsiteX9" fmla="*/ 701135 w 782764"/>
                <a:gd name="connsiteY9" fmla="*/ 619887 h 849010"/>
                <a:gd name="connsiteX10" fmla="*/ 659797 w 782764"/>
                <a:gd name="connsiteY10" fmla="*/ 611410 h 849010"/>
                <a:gd name="connsiteX11" fmla="*/ 519779 w 782764"/>
                <a:gd name="connsiteY11" fmla="*/ 575881 h 849010"/>
                <a:gd name="connsiteX12" fmla="*/ 387763 w 782764"/>
                <a:gd name="connsiteY12" fmla="*/ 617887 h 849010"/>
                <a:gd name="connsiteX13" fmla="*/ 157925 w 782764"/>
                <a:gd name="connsiteY13" fmla="*/ 388048 h 849010"/>
                <a:gd name="connsiteX14" fmla="*/ 387763 w 782764"/>
                <a:gd name="connsiteY14" fmla="*/ 158210 h 849010"/>
                <a:gd name="connsiteX15" fmla="*/ 516731 w 782764"/>
                <a:gd name="connsiteY15" fmla="*/ 197929 h 849010"/>
                <a:gd name="connsiteX16" fmla="*/ 580263 w 782764"/>
                <a:gd name="connsiteY16" fmla="*/ 262699 h 849010"/>
                <a:gd name="connsiteX17" fmla="*/ 617601 w 782764"/>
                <a:gd name="connsiteY17" fmla="*/ 387953 h 849010"/>
                <a:gd name="connsiteX18" fmla="*/ 582263 w 782764"/>
                <a:gd name="connsiteY18" fmla="*/ 510254 h 849010"/>
                <a:gd name="connsiteX19" fmla="*/ 676656 w 782764"/>
                <a:gd name="connsiteY19" fmla="*/ 533114 h 84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2764" h="849010">
                  <a:moveTo>
                    <a:pt x="676656" y="533019"/>
                  </a:moveTo>
                  <a:cubicBezTo>
                    <a:pt x="698754" y="537686"/>
                    <a:pt x="722281" y="542449"/>
                    <a:pt x="747046" y="547116"/>
                  </a:cubicBezTo>
                  <a:cubicBezTo>
                    <a:pt x="769144" y="501777"/>
                    <a:pt x="782764" y="450437"/>
                    <a:pt x="782764" y="391382"/>
                  </a:cubicBezTo>
                  <a:cubicBezTo>
                    <a:pt x="782764" y="332327"/>
                    <a:pt x="769525" y="275939"/>
                    <a:pt x="745903" y="225552"/>
                  </a:cubicBezTo>
                  <a:cubicBezTo>
                    <a:pt x="733616" y="199454"/>
                    <a:pt x="718566" y="174784"/>
                    <a:pt x="701040" y="152210"/>
                  </a:cubicBezTo>
                  <a:cubicBezTo>
                    <a:pt x="629412" y="59531"/>
                    <a:pt x="517112" y="0"/>
                    <a:pt x="391382" y="0"/>
                  </a:cubicBezTo>
                  <a:cubicBezTo>
                    <a:pt x="175070" y="0"/>
                    <a:pt x="0" y="175070"/>
                    <a:pt x="0" y="391382"/>
                  </a:cubicBezTo>
                  <a:cubicBezTo>
                    <a:pt x="0" y="607695"/>
                    <a:pt x="192119" y="726567"/>
                    <a:pt x="307467" y="819150"/>
                  </a:cubicBezTo>
                  <a:cubicBezTo>
                    <a:pt x="356521" y="858964"/>
                    <a:pt x="426244" y="858964"/>
                    <a:pt x="475297" y="819150"/>
                  </a:cubicBezTo>
                  <a:cubicBezTo>
                    <a:pt x="542163" y="765429"/>
                    <a:pt x="635032" y="704755"/>
                    <a:pt x="701135" y="619887"/>
                  </a:cubicBezTo>
                  <a:cubicBezTo>
                    <a:pt x="686943" y="617125"/>
                    <a:pt x="673132" y="614267"/>
                    <a:pt x="659797" y="611410"/>
                  </a:cubicBezTo>
                  <a:cubicBezTo>
                    <a:pt x="620459" y="602932"/>
                    <a:pt x="569976" y="591979"/>
                    <a:pt x="519779" y="575881"/>
                  </a:cubicBezTo>
                  <a:cubicBezTo>
                    <a:pt x="482441" y="602361"/>
                    <a:pt x="436817" y="617887"/>
                    <a:pt x="387763" y="617887"/>
                  </a:cubicBezTo>
                  <a:cubicBezTo>
                    <a:pt x="261175" y="617887"/>
                    <a:pt x="157925" y="514731"/>
                    <a:pt x="157925" y="388048"/>
                  </a:cubicBezTo>
                  <a:cubicBezTo>
                    <a:pt x="157925" y="261366"/>
                    <a:pt x="261175" y="158210"/>
                    <a:pt x="387763" y="158210"/>
                  </a:cubicBezTo>
                  <a:cubicBezTo>
                    <a:pt x="435578" y="158210"/>
                    <a:pt x="479870" y="172974"/>
                    <a:pt x="516731" y="197929"/>
                  </a:cubicBezTo>
                  <a:cubicBezTo>
                    <a:pt x="541972" y="215074"/>
                    <a:pt x="563594" y="237077"/>
                    <a:pt x="580263" y="262699"/>
                  </a:cubicBezTo>
                  <a:cubicBezTo>
                    <a:pt x="603885" y="298799"/>
                    <a:pt x="617601" y="341757"/>
                    <a:pt x="617601" y="387953"/>
                  </a:cubicBezTo>
                  <a:cubicBezTo>
                    <a:pt x="617601" y="434149"/>
                    <a:pt x="604647" y="474821"/>
                    <a:pt x="582263" y="510254"/>
                  </a:cubicBezTo>
                  <a:cubicBezTo>
                    <a:pt x="613315" y="518827"/>
                    <a:pt x="645414" y="526352"/>
                    <a:pt x="676656" y="533114"/>
                  </a:cubicBez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pic>
          <p:nvPicPr>
            <p:cNvPr id="21" name="Graphic 20">
              <a:extLst>
                <a:ext uri="{FF2B5EF4-FFF2-40B4-BE49-F238E27FC236}">
                  <a16:creationId xmlns:a16="http://schemas.microsoft.com/office/drawing/2014/main" id="{C0746A9C-AACE-60DA-D754-EBB6F414087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383631" y="4053317"/>
              <a:ext cx="1346092" cy="189718"/>
            </a:xfrm>
            <a:prstGeom prst="rect">
              <a:avLst/>
            </a:prstGeom>
          </p:spPr>
        </p:pic>
      </p:grpSp>
      <p:grpSp>
        <p:nvGrpSpPr>
          <p:cNvPr id="24" name="Group 23">
            <a:extLst>
              <a:ext uri="{FF2B5EF4-FFF2-40B4-BE49-F238E27FC236}">
                <a16:creationId xmlns:a16="http://schemas.microsoft.com/office/drawing/2014/main" id="{9647E19F-969E-95D8-EC96-88ABE853F1A6}"/>
              </a:ext>
            </a:extLst>
          </p:cNvPr>
          <p:cNvGrpSpPr/>
          <p:nvPr/>
        </p:nvGrpSpPr>
        <p:grpSpPr>
          <a:xfrm>
            <a:off x="5516163" y="2192231"/>
            <a:ext cx="1079242" cy="1175617"/>
            <a:chOff x="5069087" y="2630424"/>
            <a:chExt cx="1947406" cy="2111399"/>
          </a:xfrm>
        </p:grpSpPr>
        <p:sp>
          <p:nvSpPr>
            <p:cNvPr id="25" name="Freeform: Shape 816">
              <a:extLst>
                <a:ext uri="{FF2B5EF4-FFF2-40B4-BE49-F238E27FC236}">
                  <a16:creationId xmlns:a16="http://schemas.microsoft.com/office/drawing/2014/main" id="{629861D8-D06C-7399-4690-2C320E685D57}"/>
                </a:ext>
              </a:extLst>
            </p:cNvPr>
            <p:cNvSpPr/>
            <p:nvPr/>
          </p:nvSpPr>
          <p:spPr>
            <a:xfrm>
              <a:off x="5382212" y="2878618"/>
              <a:ext cx="1330914" cy="1330915"/>
            </a:xfrm>
            <a:custGeom>
              <a:avLst/>
              <a:gdLst>
                <a:gd name="connsiteX0" fmla="*/ 1403223 w 1403222"/>
                <a:gd name="connsiteY0" fmla="*/ 701612 h 1403223"/>
                <a:gd name="connsiteX1" fmla="*/ 701612 w 1403222"/>
                <a:gd name="connsiteY1" fmla="*/ 1403223 h 1403223"/>
                <a:gd name="connsiteX2" fmla="*/ 0 w 1403222"/>
                <a:gd name="connsiteY2" fmla="*/ 701612 h 1403223"/>
                <a:gd name="connsiteX3" fmla="*/ 701612 w 1403222"/>
                <a:gd name="connsiteY3" fmla="*/ 0 h 1403223"/>
                <a:gd name="connsiteX4" fmla="*/ 1403223 w 1403222"/>
                <a:gd name="connsiteY4" fmla="*/ 701612 h 1403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3222" h="1403223">
                  <a:moveTo>
                    <a:pt x="1403223" y="701612"/>
                  </a:moveTo>
                  <a:cubicBezTo>
                    <a:pt x="1403223" y="1089101"/>
                    <a:pt x="1089101" y="1403223"/>
                    <a:pt x="701612" y="1403223"/>
                  </a:cubicBezTo>
                  <a:cubicBezTo>
                    <a:pt x="314123" y="1403223"/>
                    <a:pt x="0" y="1089101"/>
                    <a:pt x="0" y="701612"/>
                  </a:cubicBezTo>
                  <a:cubicBezTo>
                    <a:pt x="0" y="314122"/>
                    <a:pt x="314123" y="0"/>
                    <a:pt x="701612" y="0"/>
                  </a:cubicBezTo>
                  <a:cubicBezTo>
                    <a:pt x="1089101" y="0"/>
                    <a:pt x="1403223" y="314122"/>
                    <a:pt x="1403223" y="701612"/>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6" name="Freeform: Shape 817">
              <a:extLst>
                <a:ext uri="{FF2B5EF4-FFF2-40B4-BE49-F238E27FC236}">
                  <a16:creationId xmlns:a16="http://schemas.microsoft.com/office/drawing/2014/main" id="{B133BC35-0BB0-4BBF-C6F7-713018D2379F}"/>
                </a:ext>
              </a:extLst>
            </p:cNvPr>
            <p:cNvSpPr/>
            <p:nvPr/>
          </p:nvSpPr>
          <p:spPr>
            <a:xfrm>
              <a:off x="5069087" y="2630424"/>
              <a:ext cx="1947406" cy="2111399"/>
            </a:xfrm>
            <a:custGeom>
              <a:avLst/>
              <a:gdLst>
                <a:gd name="connsiteX0" fmla="*/ 1026605 w 2053208"/>
                <a:gd name="connsiteY0" fmla="*/ 0 h 2226111"/>
                <a:gd name="connsiteX1" fmla="*/ 0 w 2053208"/>
                <a:gd name="connsiteY1" fmla="*/ 1026605 h 2226111"/>
                <a:gd name="connsiteX2" fmla="*/ 806387 w 2053208"/>
                <a:gd name="connsiteY2" fmla="*/ 2147888 h 2226111"/>
                <a:gd name="connsiteX3" fmla="*/ 1246823 w 2053208"/>
                <a:gd name="connsiteY3" fmla="*/ 2147888 h 2226111"/>
                <a:gd name="connsiteX4" fmla="*/ 2053209 w 2053208"/>
                <a:gd name="connsiteY4" fmla="*/ 1026605 h 2226111"/>
                <a:gd name="connsiteX5" fmla="*/ 1026605 w 2053208"/>
                <a:gd name="connsiteY5" fmla="*/ 0 h 2226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3208" h="2226111">
                  <a:moveTo>
                    <a:pt x="1026605" y="0"/>
                  </a:moveTo>
                  <a:cubicBezTo>
                    <a:pt x="459581" y="0"/>
                    <a:pt x="0" y="459581"/>
                    <a:pt x="0" y="1026605"/>
                  </a:cubicBezTo>
                  <a:cubicBezTo>
                    <a:pt x="0" y="1593628"/>
                    <a:pt x="504254" y="1905286"/>
                    <a:pt x="806387" y="2147888"/>
                  </a:cubicBezTo>
                  <a:cubicBezTo>
                    <a:pt x="935069" y="2252186"/>
                    <a:pt x="1118044" y="2252186"/>
                    <a:pt x="1246823" y="2147888"/>
                  </a:cubicBezTo>
                  <a:cubicBezTo>
                    <a:pt x="1548955" y="1905381"/>
                    <a:pt x="2053209" y="1608582"/>
                    <a:pt x="2053209" y="1026605"/>
                  </a:cubicBezTo>
                  <a:cubicBezTo>
                    <a:pt x="2053209" y="444627"/>
                    <a:pt x="1591532" y="0"/>
                    <a:pt x="1026605" y="0"/>
                  </a:cubicBezTo>
                  <a:close/>
                </a:path>
              </a:pathLst>
            </a:custGeom>
            <a:solidFill>
              <a:srgbClr val="158864"/>
            </a:solidFill>
            <a:ln w="9525" cap="flat">
              <a:solidFill>
                <a:srgbClr val="15886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7" name="Freeform: Shape 818">
              <a:extLst>
                <a:ext uri="{FF2B5EF4-FFF2-40B4-BE49-F238E27FC236}">
                  <a16:creationId xmlns:a16="http://schemas.microsoft.com/office/drawing/2014/main" id="{11679C3A-8714-AADB-3F48-DEFFFA0FCDA6}"/>
                </a:ext>
              </a:extLst>
            </p:cNvPr>
            <p:cNvSpPr/>
            <p:nvPr/>
          </p:nvSpPr>
          <p:spPr>
            <a:xfrm>
              <a:off x="5377876" y="2934359"/>
              <a:ext cx="1329831" cy="1329830"/>
            </a:xfrm>
            <a:custGeom>
              <a:avLst/>
              <a:gdLst>
                <a:gd name="connsiteX0" fmla="*/ 1402080 w 1402080"/>
                <a:gd name="connsiteY0" fmla="*/ 701040 h 1402080"/>
                <a:gd name="connsiteX1" fmla="*/ 701040 w 1402080"/>
                <a:gd name="connsiteY1" fmla="*/ 1402080 h 1402080"/>
                <a:gd name="connsiteX2" fmla="*/ 0 w 1402080"/>
                <a:gd name="connsiteY2" fmla="*/ 701040 h 1402080"/>
                <a:gd name="connsiteX3" fmla="*/ 701040 w 1402080"/>
                <a:gd name="connsiteY3" fmla="*/ 0 h 1402080"/>
                <a:gd name="connsiteX4" fmla="*/ 1402080 w 1402080"/>
                <a:gd name="connsiteY4" fmla="*/ 701040 h 14020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2080" h="1402080">
                  <a:moveTo>
                    <a:pt x="1402080" y="701040"/>
                  </a:moveTo>
                  <a:cubicBezTo>
                    <a:pt x="1402080" y="1088214"/>
                    <a:pt x="1088214" y="1402080"/>
                    <a:pt x="701040" y="1402080"/>
                  </a:cubicBezTo>
                  <a:cubicBezTo>
                    <a:pt x="313866" y="1402080"/>
                    <a:pt x="0" y="1088214"/>
                    <a:pt x="0" y="701040"/>
                  </a:cubicBezTo>
                  <a:cubicBezTo>
                    <a:pt x="0" y="313866"/>
                    <a:pt x="313866" y="0"/>
                    <a:pt x="701040" y="0"/>
                  </a:cubicBezTo>
                  <a:cubicBezTo>
                    <a:pt x="1088214" y="0"/>
                    <a:pt x="1402080" y="313866"/>
                    <a:pt x="1402080" y="701040"/>
                  </a:cubicBezTo>
                  <a:close/>
                </a:path>
              </a:pathLst>
            </a:custGeom>
            <a:solidFill>
              <a:srgbClr val="FFFFFF"/>
            </a:solidFill>
            <a:ln w="9525" cap="flat">
              <a:solidFill>
                <a:srgbClr val="15886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827FF435-5193-A736-6084-A95795BB8175}"/>
                </a:ext>
              </a:extLst>
            </p:cNvPr>
            <p:cNvSpPr txBox="1"/>
            <p:nvPr/>
          </p:nvSpPr>
          <p:spPr>
            <a:xfrm>
              <a:off x="5668358" y="2809908"/>
              <a:ext cx="715865" cy="262725"/>
            </a:xfrm>
            <a:prstGeom prst="rect">
              <a:avLst/>
            </a:prstGeom>
            <a:noFill/>
          </p:spPr>
          <p:txBody>
            <a:bodyPr wrap="none" rtlCol="0">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Calibri" panose="020F0502020204030204"/>
                  <a:ea typeface="+mn-ea"/>
                  <a:cs typeface="+mn-cs"/>
                </a:rPr>
                <a:t>Frankfurt POP</a:t>
              </a: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29" name="TextBox 28">
            <a:extLst>
              <a:ext uri="{FF2B5EF4-FFF2-40B4-BE49-F238E27FC236}">
                <a16:creationId xmlns:a16="http://schemas.microsoft.com/office/drawing/2014/main" id="{69C6390F-56B4-86E9-6C54-E833F0107575}"/>
              </a:ext>
            </a:extLst>
          </p:cNvPr>
          <p:cNvSpPr txBox="1"/>
          <p:nvPr/>
        </p:nvSpPr>
        <p:spPr>
          <a:xfrm>
            <a:off x="2976352" y="3517717"/>
            <a:ext cx="396729" cy="146284"/>
          </a:xfrm>
          <a:prstGeom prst="rect">
            <a:avLst/>
          </a:prstGeom>
          <a:noFill/>
        </p:spPr>
        <p:txBody>
          <a:bodyPr wrap="none" rtlCol="0">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rgbClr val="FFFFFF"/>
                </a:solidFill>
                <a:latin typeface="Calibri" panose="020F0502020204030204"/>
              </a:rPr>
              <a:t>      LA POP     </a:t>
            </a:r>
            <a:endParaRPr kumimoji="0" lang="en-US" sz="1000" b="1"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3C59DC8E-BD0F-04E3-8808-6C08DE910557}"/>
              </a:ext>
            </a:extLst>
          </p:cNvPr>
          <p:cNvSpPr txBox="1"/>
          <p:nvPr/>
        </p:nvSpPr>
        <p:spPr>
          <a:xfrm>
            <a:off x="8968134" y="3517717"/>
            <a:ext cx="396729" cy="146284"/>
          </a:xfrm>
          <a:prstGeom prst="rect">
            <a:avLst/>
          </a:prstGeom>
          <a:noFill/>
        </p:spPr>
        <p:txBody>
          <a:bodyPr wrap="none" rtlCol="0">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Calibri" panose="020F0502020204030204"/>
                <a:ea typeface="+mn-ea"/>
                <a:cs typeface="+mn-cs"/>
              </a:rPr>
              <a:t>Auckland POP</a:t>
            </a: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34" name="Group 33">
            <a:extLst>
              <a:ext uri="{FF2B5EF4-FFF2-40B4-BE49-F238E27FC236}">
                <a16:creationId xmlns:a16="http://schemas.microsoft.com/office/drawing/2014/main" id="{CDF90039-38A8-1FA5-C8E8-550B5B4D73B7}"/>
              </a:ext>
            </a:extLst>
          </p:cNvPr>
          <p:cNvGrpSpPr/>
          <p:nvPr/>
        </p:nvGrpSpPr>
        <p:grpSpPr>
          <a:xfrm>
            <a:off x="5759207" y="2401352"/>
            <a:ext cx="593153" cy="660659"/>
            <a:chOff x="5662814" y="3231025"/>
            <a:chExt cx="759955" cy="759864"/>
          </a:xfrm>
        </p:grpSpPr>
        <p:grpSp>
          <p:nvGrpSpPr>
            <p:cNvPr id="35" name="Graphic 726">
              <a:extLst>
                <a:ext uri="{FF2B5EF4-FFF2-40B4-BE49-F238E27FC236}">
                  <a16:creationId xmlns:a16="http://schemas.microsoft.com/office/drawing/2014/main" id="{AF67F63C-ECB8-27EA-16F5-ACB1BC677C18}"/>
                </a:ext>
              </a:extLst>
            </p:cNvPr>
            <p:cNvGrpSpPr/>
            <p:nvPr/>
          </p:nvGrpSpPr>
          <p:grpSpPr>
            <a:xfrm>
              <a:off x="5662814" y="3231025"/>
              <a:ext cx="759955" cy="759864"/>
              <a:chOff x="5676994" y="2789396"/>
              <a:chExt cx="801243" cy="801147"/>
            </a:xfrm>
            <a:solidFill>
              <a:srgbClr val="158864"/>
            </a:solidFill>
          </p:grpSpPr>
          <p:grpSp>
            <p:nvGrpSpPr>
              <p:cNvPr id="38" name="Graphic 726">
                <a:extLst>
                  <a:ext uri="{FF2B5EF4-FFF2-40B4-BE49-F238E27FC236}">
                    <a16:creationId xmlns:a16="http://schemas.microsoft.com/office/drawing/2014/main" id="{E2F7FFB5-98A7-A6F2-6695-B87F453F0D15}"/>
                  </a:ext>
                </a:extLst>
              </p:cNvPr>
              <p:cNvGrpSpPr/>
              <p:nvPr/>
            </p:nvGrpSpPr>
            <p:grpSpPr>
              <a:xfrm>
                <a:off x="6002753" y="2794515"/>
                <a:ext cx="149594" cy="790897"/>
                <a:chOff x="6002753" y="2794515"/>
                <a:chExt cx="149594" cy="790897"/>
              </a:xfrm>
              <a:solidFill>
                <a:srgbClr val="158864"/>
              </a:solidFill>
            </p:grpSpPr>
            <p:sp>
              <p:nvSpPr>
                <p:cNvPr id="90" name="Freeform: Shape 821">
                  <a:extLst>
                    <a:ext uri="{FF2B5EF4-FFF2-40B4-BE49-F238E27FC236}">
                      <a16:creationId xmlns:a16="http://schemas.microsoft.com/office/drawing/2014/main" id="{1ED63D01-1646-2E9B-4842-0CEEB0042FF4}"/>
                    </a:ext>
                  </a:extLst>
                </p:cNvPr>
                <p:cNvSpPr/>
                <p:nvPr/>
              </p:nvSpPr>
              <p:spPr>
                <a:xfrm rot="-4800001">
                  <a:off x="5940394" y="3498575"/>
                  <a:ext cx="163639" cy="10668"/>
                </a:xfrm>
                <a:custGeom>
                  <a:avLst/>
                  <a:gdLst>
                    <a:gd name="connsiteX0" fmla="*/ 0 w 163639"/>
                    <a:gd name="connsiteY0" fmla="*/ 0 h 10668"/>
                    <a:gd name="connsiteX1" fmla="*/ 163640 w 163639"/>
                    <a:gd name="connsiteY1" fmla="*/ 0 h 10668"/>
                    <a:gd name="connsiteX2" fmla="*/ 163640 w 163639"/>
                    <a:gd name="connsiteY2" fmla="*/ 10668 h 10668"/>
                    <a:gd name="connsiteX3" fmla="*/ 0 w 163639"/>
                    <a:gd name="connsiteY3" fmla="*/ 10668 h 10668"/>
                  </a:gdLst>
                  <a:ahLst/>
                  <a:cxnLst>
                    <a:cxn ang="0">
                      <a:pos x="connsiteX0" y="connsiteY0"/>
                    </a:cxn>
                    <a:cxn ang="0">
                      <a:pos x="connsiteX1" y="connsiteY1"/>
                    </a:cxn>
                    <a:cxn ang="0">
                      <a:pos x="connsiteX2" y="connsiteY2"/>
                    </a:cxn>
                    <a:cxn ang="0">
                      <a:pos x="connsiteX3" y="connsiteY3"/>
                    </a:cxn>
                  </a:cxnLst>
                  <a:rect l="l" t="t" r="r" b="b"/>
                  <a:pathLst>
                    <a:path w="163639" h="10668">
                      <a:moveTo>
                        <a:pt x="0" y="0"/>
                      </a:moveTo>
                      <a:lnTo>
                        <a:pt x="163640" y="0"/>
                      </a:lnTo>
                      <a:lnTo>
                        <a:pt x="163640"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91" name="Freeform: Shape 822">
                  <a:extLst>
                    <a:ext uri="{FF2B5EF4-FFF2-40B4-BE49-F238E27FC236}">
                      <a16:creationId xmlns:a16="http://schemas.microsoft.com/office/drawing/2014/main" id="{54692DFB-063F-CA23-9F50-21270550341C}"/>
                    </a:ext>
                  </a:extLst>
                </p:cNvPr>
                <p:cNvSpPr/>
                <p:nvPr/>
              </p:nvSpPr>
              <p:spPr>
                <a:xfrm rot="-4800001">
                  <a:off x="6051067" y="2870684"/>
                  <a:ext cx="163639" cy="10668"/>
                </a:xfrm>
                <a:custGeom>
                  <a:avLst/>
                  <a:gdLst>
                    <a:gd name="connsiteX0" fmla="*/ 0 w 163639"/>
                    <a:gd name="connsiteY0" fmla="*/ 0 h 10668"/>
                    <a:gd name="connsiteX1" fmla="*/ 163639 w 163639"/>
                    <a:gd name="connsiteY1" fmla="*/ 0 h 10668"/>
                    <a:gd name="connsiteX2" fmla="*/ 163639 w 163639"/>
                    <a:gd name="connsiteY2" fmla="*/ 10668 h 10668"/>
                    <a:gd name="connsiteX3" fmla="*/ 0 w 163639"/>
                    <a:gd name="connsiteY3" fmla="*/ 10668 h 10668"/>
                  </a:gdLst>
                  <a:ahLst/>
                  <a:cxnLst>
                    <a:cxn ang="0">
                      <a:pos x="connsiteX0" y="connsiteY0"/>
                    </a:cxn>
                    <a:cxn ang="0">
                      <a:pos x="connsiteX1" y="connsiteY1"/>
                    </a:cxn>
                    <a:cxn ang="0">
                      <a:pos x="connsiteX2" y="connsiteY2"/>
                    </a:cxn>
                    <a:cxn ang="0">
                      <a:pos x="connsiteX3" y="connsiteY3"/>
                    </a:cxn>
                  </a:cxnLst>
                  <a:rect l="l" t="t" r="r" b="b"/>
                  <a:pathLst>
                    <a:path w="163639" h="10668">
                      <a:moveTo>
                        <a:pt x="0" y="0"/>
                      </a:moveTo>
                      <a:lnTo>
                        <a:pt x="163639" y="0"/>
                      </a:lnTo>
                      <a:lnTo>
                        <a:pt x="163639"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39" name="Graphic 726">
                <a:extLst>
                  <a:ext uri="{FF2B5EF4-FFF2-40B4-BE49-F238E27FC236}">
                    <a16:creationId xmlns:a16="http://schemas.microsoft.com/office/drawing/2014/main" id="{7B674528-76A0-83A4-62F4-CF13EA495605}"/>
                  </a:ext>
                </a:extLst>
              </p:cNvPr>
              <p:cNvGrpSpPr/>
              <p:nvPr/>
            </p:nvGrpSpPr>
            <p:grpSpPr>
              <a:xfrm>
                <a:off x="5935476" y="2811657"/>
                <a:ext cx="284168" cy="756561"/>
                <a:chOff x="5935476" y="2811657"/>
                <a:chExt cx="284168" cy="756561"/>
              </a:xfrm>
              <a:solidFill>
                <a:srgbClr val="158864"/>
              </a:solidFill>
            </p:grpSpPr>
            <p:sp>
              <p:nvSpPr>
                <p:cNvPr id="88" name="Freeform: Shape 824">
                  <a:extLst>
                    <a:ext uri="{FF2B5EF4-FFF2-40B4-BE49-F238E27FC236}">
                      <a16:creationId xmlns:a16="http://schemas.microsoft.com/office/drawing/2014/main" id="{E02E43E7-EBC0-15CE-3F5A-6DE0A9F4DAA8}"/>
                    </a:ext>
                  </a:extLst>
                </p:cNvPr>
                <p:cNvSpPr/>
                <p:nvPr/>
              </p:nvSpPr>
              <p:spPr>
                <a:xfrm rot="-4200001">
                  <a:off x="5886652" y="3484174"/>
                  <a:ext cx="163639" cy="10668"/>
                </a:xfrm>
                <a:custGeom>
                  <a:avLst/>
                  <a:gdLst>
                    <a:gd name="connsiteX0" fmla="*/ 0 w 163639"/>
                    <a:gd name="connsiteY0" fmla="*/ 0 h 10668"/>
                    <a:gd name="connsiteX1" fmla="*/ 163640 w 163639"/>
                    <a:gd name="connsiteY1" fmla="*/ 0 h 10668"/>
                    <a:gd name="connsiteX2" fmla="*/ 163640 w 163639"/>
                    <a:gd name="connsiteY2" fmla="*/ 10668 h 10668"/>
                    <a:gd name="connsiteX3" fmla="*/ 0 w 163639"/>
                    <a:gd name="connsiteY3" fmla="*/ 10668 h 10668"/>
                  </a:gdLst>
                  <a:ahLst/>
                  <a:cxnLst>
                    <a:cxn ang="0">
                      <a:pos x="connsiteX0" y="connsiteY0"/>
                    </a:cxn>
                    <a:cxn ang="0">
                      <a:pos x="connsiteX1" y="connsiteY1"/>
                    </a:cxn>
                    <a:cxn ang="0">
                      <a:pos x="connsiteX2" y="connsiteY2"/>
                    </a:cxn>
                    <a:cxn ang="0">
                      <a:pos x="connsiteX3" y="connsiteY3"/>
                    </a:cxn>
                  </a:cxnLst>
                  <a:rect l="l" t="t" r="r" b="b"/>
                  <a:pathLst>
                    <a:path w="163639" h="10668">
                      <a:moveTo>
                        <a:pt x="0" y="0"/>
                      </a:moveTo>
                      <a:lnTo>
                        <a:pt x="163640" y="0"/>
                      </a:lnTo>
                      <a:lnTo>
                        <a:pt x="163640"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89" name="Freeform: Shape 825">
                  <a:extLst>
                    <a:ext uri="{FF2B5EF4-FFF2-40B4-BE49-F238E27FC236}">
                      <a16:creationId xmlns:a16="http://schemas.microsoft.com/office/drawing/2014/main" id="{7924850E-D62A-4DDE-2A2A-4DE08433C306}"/>
                    </a:ext>
                  </a:extLst>
                </p:cNvPr>
                <p:cNvSpPr/>
                <p:nvPr/>
              </p:nvSpPr>
              <p:spPr>
                <a:xfrm rot="-4200001">
                  <a:off x="6104828" y="2885033"/>
                  <a:ext cx="163639" cy="10668"/>
                </a:xfrm>
                <a:custGeom>
                  <a:avLst/>
                  <a:gdLst>
                    <a:gd name="connsiteX0" fmla="*/ 0 w 163639"/>
                    <a:gd name="connsiteY0" fmla="*/ 0 h 10668"/>
                    <a:gd name="connsiteX1" fmla="*/ 163639 w 163639"/>
                    <a:gd name="connsiteY1" fmla="*/ 0 h 10668"/>
                    <a:gd name="connsiteX2" fmla="*/ 163639 w 163639"/>
                    <a:gd name="connsiteY2" fmla="*/ 10668 h 10668"/>
                    <a:gd name="connsiteX3" fmla="*/ 0 w 163639"/>
                    <a:gd name="connsiteY3" fmla="*/ 10668 h 10668"/>
                  </a:gdLst>
                  <a:ahLst/>
                  <a:cxnLst>
                    <a:cxn ang="0">
                      <a:pos x="connsiteX0" y="connsiteY0"/>
                    </a:cxn>
                    <a:cxn ang="0">
                      <a:pos x="connsiteX1" y="connsiteY1"/>
                    </a:cxn>
                    <a:cxn ang="0">
                      <a:pos x="connsiteX2" y="connsiteY2"/>
                    </a:cxn>
                    <a:cxn ang="0">
                      <a:pos x="connsiteX3" y="connsiteY3"/>
                    </a:cxn>
                  </a:cxnLst>
                  <a:rect l="l" t="t" r="r" b="b"/>
                  <a:pathLst>
                    <a:path w="163639" h="10668">
                      <a:moveTo>
                        <a:pt x="0" y="0"/>
                      </a:moveTo>
                      <a:lnTo>
                        <a:pt x="163639" y="0"/>
                      </a:lnTo>
                      <a:lnTo>
                        <a:pt x="163639"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40" name="Graphic 726">
                <a:extLst>
                  <a:ext uri="{FF2B5EF4-FFF2-40B4-BE49-F238E27FC236}">
                    <a16:creationId xmlns:a16="http://schemas.microsoft.com/office/drawing/2014/main" id="{8EB6C5BE-AA62-939D-32D3-F616D1B77BDB}"/>
                  </a:ext>
                </a:extLst>
              </p:cNvPr>
              <p:cNvGrpSpPr/>
              <p:nvPr/>
            </p:nvGrpSpPr>
            <p:grpSpPr>
              <a:xfrm>
                <a:off x="5872612" y="2840427"/>
                <a:ext cx="409874" cy="699222"/>
                <a:chOff x="5872612" y="2840427"/>
                <a:chExt cx="409874" cy="699222"/>
              </a:xfrm>
              <a:solidFill>
                <a:srgbClr val="158864"/>
              </a:solidFill>
            </p:grpSpPr>
            <p:sp>
              <p:nvSpPr>
                <p:cNvPr id="86" name="Freeform: Shape 827">
                  <a:extLst>
                    <a:ext uri="{FF2B5EF4-FFF2-40B4-BE49-F238E27FC236}">
                      <a16:creationId xmlns:a16="http://schemas.microsoft.com/office/drawing/2014/main" id="{A411DF90-09D7-3A6B-323B-7444225457D1}"/>
                    </a:ext>
                  </a:extLst>
                </p:cNvPr>
                <p:cNvSpPr/>
                <p:nvPr/>
              </p:nvSpPr>
              <p:spPr>
                <a:xfrm rot="-3599999">
                  <a:off x="5836321" y="3460791"/>
                  <a:ext cx="163639" cy="10667"/>
                </a:xfrm>
                <a:custGeom>
                  <a:avLst/>
                  <a:gdLst>
                    <a:gd name="connsiteX0" fmla="*/ 0 w 163639"/>
                    <a:gd name="connsiteY0" fmla="*/ 0 h 10667"/>
                    <a:gd name="connsiteX1" fmla="*/ 163639 w 163639"/>
                    <a:gd name="connsiteY1" fmla="*/ 0 h 10667"/>
                    <a:gd name="connsiteX2" fmla="*/ 163639 w 163639"/>
                    <a:gd name="connsiteY2" fmla="*/ 10668 h 10667"/>
                    <a:gd name="connsiteX3" fmla="*/ 0 w 163639"/>
                    <a:gd name="connsiteY3" fmla="*/ 10668 h 10667"/>
                  </a:gdLst>
                  <a:ahLst/>
                  <a:cxnLst>
                    <a:cxn ang="0">
                      <a:pos x="connsiteX0" y="connsiteY0"/>
                    </a:cxn>
                    <a:cxn ang="0">
                      <a:pos x="connsiteX1" y="connsiteY1"/>
                    </a:cxn>
                    <a:cxn ang="0">
                      <a:pos x="connsiteX2" y="connsiteY2"/>
                    </a:cxn>
                    <a:cxn ang="0">
                      <a:pos x="connsiteX3" y="connsiteY3"/>
                    </a:cxn>
                  </a:cxnLst>
                  <a:rect l="l" t="t" r="r" b="b"/>
                  <a:pathLst>
                    <a:path w="163639" h="10667">
                      <a:moveTo>
                        <a:pt x="0" y="0"/>
                      </a:moveTo>
                      <a:lnTo>
                        <a:pt x="163639" y="0"/>
                      </a:lnTo>
                      <a:lnTo>
                        <a:pt x="163639"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87" name="Freeform: Shape 828">
                  <a:extLst>
                    <a:ext uri="{FF2B5EF4-FFF2-40B4-BE49-F238E27FC236}">
                      <a16:creationId xmlns:a16="http://schemas.microsoft.com/office/drawing/2014/main" id="{AB308A59-E73D-86DA-D57E-D21918C3180D}"/>
                    </a:ext>
                  </a:extLst>
                </p:cNvPr>
                <p:cNvSpPr/>
                <p:nvPr/>
              </p:nvSpPr>
              <p:spPr>
                <a:xfrm rot="-3599999">
                  <a:off x="6155138" y="2908618"/>
                  <a:ext cx="163639" cy="10667"/>
                </a:xfrm>
                <a:custGeom>
                  <a:avLst/>
                  <a:gdLst>
                    <a:gd name="connsiteX0" fmla="*/ 0 w 163639"/>
                    <a:gd name="connsiteY0" fmla="*/ 0 h 10667"/>
                    <a:gd name="connsiteX1" fmla="*/ 163640 w 163639"/>
                    <a:gd name="connsiteY1" fmla="*/ 0 h 10667"/>
                    <a:gd name="connsiteX2" fmla="*/ 163640 w 163639"/>
                    <a:gd name="connsiteY2" fmla="*/ 10668 h 10667"/>
                    <a:gd name="connsiteX3" fmla="*/ 0 w 163639"/>
                    <a:gd name="connsiteY3" fmla="*/ 10668 h 10667"/>
                  </a:gdLst>
                  <a:ahLst/>
                  <a:cxnLst>
                    <a:cxn ang="0">
                      <a:pos x="connsiteX0" y="connsiteY0"/>
                    </a:cxn>
                    <a:cxn ang="0">
                      <a:pos x="connsiteX1" y="connsiteY1"/>
                    </a:cxn>
                    <a:cxn ang="0">
                      <a:pos x="connsiteX2" y="connsiteY2"/>
                    </a:cxn>
                    <a:cxn ang="0">
                      <a:pos x="connsiteX3" y="connsiteY3"/>
                    </a:cxn>
                  </a:cxnLst>
                  <a:rect l="l" t="t" r="r" b="b"/>
                  <a:pathLst>
                    <a:path w="163639" h="10667">
                      <a:moveTo>
                        <a:pt x="0" y="0"/>
                      </a:moveTo>
                      <a:lnTo>
                        <a:pt x="163640" y="0"/>
                      </a:lnTo>
                      <a:lnTo>
                        <a:pt x="163640"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41" name="Graphic 726">
                <a:extLst>
                  <a:ext uri="{FF2B5EF4-FFF2-40B4-BE49-F238E27FC236}">
                    <a16:creationId xmlns:a16="http://schemas.microsoft.com/office/drawing/2014/main" id="{E2FA2D97-8BB9-A6E1-A52D-7F30F7684F93}"/>
                  </a:ext>
                </a:extLst>
              </p:cNvPr>
              <p:cNvGrpSpPr/>
              <p:nvPr/>
            </p:nvGrpSpPr>
            <p:grpSpPr>
              <a:xfrm>
                <a:off x="5815963" y="2879644"/>
                <a:ext cx="523184" cy="620607"/>
                <a:chOff x="5815963" y="2879644"/>
                <a:chExt cx="523184" cy="620607"/>
              </a:xfrm>
              <a:solidFill>
                <a:srgbClr val="158864"/>
              </a:solidFill>
            </p:grpSpPr>
            <p:sp>
              <p:nvSpPr>
                <p:cNvPr id="84" name="Freeform: Shape 830">
                  <a:extLst>
                    <a:ext uri="{FF2B5EF4-FFF2-40B4-BE49-F238E27FC236}">
                      <a16:creationId xmlns:a16="http://schemas.microsoft.com/office/drawing/2014/main" id="{8342BD12-8C61-BB2C-D8EE-22CA90402969}"/>
                    </a:ext>
                  </a:extLst>
                </p:cNvPr>
                <p:cNvSpPr/>
                <p:nvPr/>
              </p:nvSpPr>
              <p:spPr>
                <a:xfrm rot="-2999998">
                  <a:off x="5790822" y="3428811"/>
                  <a:ext cx="163639" cy="10667"/>
                </a:xfrm>
                <a:custGeom>
                  <a:avLst/>
                  <a:gdLst>
                    <a:gd name="connsiteX0" fmla="*/ 0 w 163639"/>
                    <a:gd name="connsiteY0" fmla="*/ 0 h 10667"/>
                    <a:gd name="connsiteX1" fmla="*/ 163639 w 163639"/>
                    <a:gd name="connsiteY1" fmla="*/ 0 h 10667"/>
                    <a:gd name="connsiteX2" fmla="*/ 163639 w 163639"/>
                    <a:gd name="connsiteY2" fmla="*/ 10668 h 10667"/>
                    <a:gd name="connsiteX3" fmla="*/ 0 w 163639"/>
                    <a:gd name="connsiteY3" fmla="*/ 10668 h 10667"/>
                  </a:gdLst>
                  <a:ahLst/>
                  <a:cxnLst>
                    <a:cxn ang="0">
                      <a:pos x="connsiteX0" y="connsiteY0"/>
                    </a:cxn>
                    <a:cxn ang="0">
                      <a:pos x="connsiteX1" y="connsiteY1"/>
                    </a:cxn>
                    <a:cxn ang="0">
                      <a:pos x="connsiteX2" y="connsiteY2"/>
                    </a:cxn>
                    <a:cxn ang="0">
                      <a:pos x="connsiteX3" y="connsiteY3"/>
                    </a:cxn>
                  </a:cxnLst>
                  <a:rect l="l" t="t" r="r" b="b"/>
                  <a:pathLst>
                    <a:path w="163639" h="10667">
                      <a:moveTo>
                        <a:pt x="0" y="0"/>
                      </a:moveTo>
                      <a:lnTo>
                        <a:pt x="163639" y="0"/>
                      </a:lnTo>
                      <a:lnTo>
                        <a:pt x="163639"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85" name="Freeform: Shape 831">
                  <a:extLst>
                    <a:ext uri="{FF2B5EF4-FFF2-40B4-BE49-F238E27FC236}">
                      <a16:creationId xmlns:a16="http://schemas.microsoft.com/office/drawing/2014/main" id="{407484AC-4129-1017-5909-A04A5D210270}"/>
                    </a:ext>
                  </a:extLst>
                </p:cNvPr>
                <p:cNvSpPr/>
                <p:nvPr/>
              </p:nvSpPr>
              <p:spPr>
                <a:xfrm rot="-2999998">
                  <a:off x="6200649" y="2940416"/>
                  <a:ext cx="163639" cy="10667"/>
                </a:xfrm>
                <a:custGeom>
                  <a:avLst/>
                  <a:gdLst>
                    <a:gd name="connsiteX0" fmla="*/ 0 w 163639"/>
                    <a:gd name="connsiteY0" fmla="*/ 0 h 10667"/>
                    <a:gd name="connsiteX1" fmla="*/ 163639 w 163639"/>
                    <a:gd name="connsiteY1" fmla="*/ 0 h 10667"/>
                    <a:gd name="connsiteX2" fmla="*/ 163639 w 163639"/>
                    <a:gd name="connsiteY2" fmla="*/ 10668 h 10667"/>
                    <a:gd name="connsiteX3" fmla="*/ 0 w 163639"/>
                    <a:gd name="connsiteY3" fmla="*/ 10668 h 10667"/>
                  </a:gdLst>
                  <a:ahLst/>
                  <a:cxnLst>
                    <a:cxn ang="0">
                      <a:pos x="connsiteX0" y="connsiteY0"/>
                    </a:cxn>
                    <a:cxn ang="0">
                      <a:pos x="connsiteX1" y="connsiteY1"/>
                    </a:cxn>
                    <a:cxn ang="0">
                      <a:pos x="connsiteX2" y="connsiteY2"/>
                    </a:cxn>
                    <a:cxn ang="0">
                      <a:pos x="connsiteX3" y="connsiteY3"/>
                    </a:cxn>
                  </a:cxnLst>
                  <a:rect l="l" t="t" r="r" b="b"/>
                  <a:pathLst>
                    <a:path w="163639" h="10667">
                      <a:moveTo>
                        <a:pt x="0" y="0"/>
                      </a:moveTo>
                      <a:lnTo>
                        <a:pt x="163639" y="0"/>
                      </a:lnTo>
                      <a:lnTo>
                        <a:pt x="163639"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42" name="Graphic 726">
                <a:extLst>
                  <a:ext uri="{FF2B5EF4-FFF2-40B4-BE49-F238E27FC236}">
                    <a16:creationId xmlns:a16="http://schemas.microsoft.com/office/drawing/2014/main" id="{E8FE9B5B-3CFA-16C8-5019-7BC1AAA76897}"/>
                  </a:ext>
                </a:extLst>
              </p:cNvPr>
              <p:cNvGrpSpPr/>
              <p:nvPr/>
            </p:nvGrpSpPr>
            <p:grpSpPr>
              <a:xfrm>
                <a:off x="5767290" y="2928380"/>
                <a:ext cx="620593" cy="523171"/>
                <a:chOff x="5767290" y="2928380"/>
                <a:chExt cx="620593" cy="523171"/>
              </a:xfrm>
              <a:solidFill>
                <a:srgbClr val="158864"/>
              </a:solidFill>
            </p:grpSpPr>
            <p:sp>
              <p:nvSpPr>
                <p:cNvPr id="82" name="Freeform: Shape 833">
                  <a:extLst>
                    <a:ext uri="{FF2B5EF4-FFF2-40B4-BE49-F238E27FC236}">
                      <a16:creationId xmlns:a16="http://schemas.microsoft.com/office/drawing/2014/main" id="{381F7E3F-B002-F423-14EC-123A082EED47}"/>
                    </a:ext>
                  </a:extLst>
                </p:cNvPr>
                <p:cNvSpPr/>
                <p:nvPr/>
              </p:nvSpPr>
              <p:spPr>
                <a:xfrm rot="-2400002">
                  <a:off x="5751576" y="3389538"/>
                  <a:ext cx="163639" cy="10667"/>
                </a:xfrm>
                <a:custGeom>
                  <a:avLst/>
                  <a:gdLst>
                    <a:gd name="connsiteX0" fmla="*/ 0 w 163639"/>
                    <a:gd name="connsiteY0" fmla="*/ 0 h 10667"/>
                    <a:gd name="connsiteX1" fmla="*/ 163639 w 163639"/>
                    <a:gd name="connsiteY1" fmla="*/ 0 h 10667"/>
                    <a:gd name="connsiteX2" fmla="*/ 163639 w 163639"/>
                    <a:gd name="connsiteY2" fmla="*/ 10668 h 10667"/>
                    <a:gd name="connsiteX3" fmla="*/ 0 w 163639"/>
                    <a:gd name="connsiteY3" fmla="*/ 10668 h 10667"/>
                  </a:gdLst>
                  <a:ahLst/>
                  <a:cxnLst>
                    <a:cxn ang="0">
                      <a:pos x="connsiteX0" y="connsiteY0"/>
                    </a:cxn>
                    <a:cxn ang="0">
                      <a:pos x="connsiteX1" y="connsiteY1"/>
                    </a:cxn>
                    <a:cxn ang="0">
                      <a:pos x="connsiteX2" y="connsiteY2"/>
                    </a:cxn>
                    <a:cxn ang="0">
                      <a:pos x="connsiteX3" y="connsiteY3"/>
                    </a:cxn>
                  </a:cxnLst>
                  <a:rect l="l" t="t" r="r" b="b"/>
                  <a:pathLst>
                    <a:path w="163639" h="10667">
                      <a:moveTo>
                        <a:pt x="0" y="0"/>
                      </a:moveTo>
                      <a:lnTo>
                        <a:pt x="163639" y="0"/>
                      </a:lnTo>
                      <a:lnTo>
                        <a:pt x="163639"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83" name="Freeform: Shape 834">
                  <a:extLst>
                    <a:ext uri="{FF2B5EF4-FFF2-40B4-BE49-F238E27FC236}">
                      <a16:creationId xmlns:a16="http://schemas.microsoft.com/office/drawing/2014/main" id="{CB9C5946-4B46-A64A-93FF-B1E8009F53A9}"/>
                    </a:ext>
                  </a:extLst>
                </p:cNvPr>
                <p:cNvSpPr/>
                <p:nvPr/>
              </p:nvSpPr>
              <p:spPr>
                <a:xfrm rot="-2400002">
                  <a:off x="6239957" y="2979725"/>
                  <a:ext cx="163639" cy="10667"/>
                </a:xfrm>
                <a:custGeom>
                  <a:avLst/>
                  <a:gdLst>
                    <a:gd name="connsiteX0" fmla="*/ 0 w 163639"/>
                    <a:gd name="connsiteY0" fmla="*/ 0 h 10667"/>
                    <a:gd name="connsiteX1" fmla="*/ 163639 w 163639"/>
                    <a:gd name="connsiteY1" fmla="*/ 0 h 10667"/>
                    <a:gd name="connsiteX2" fmla="*/ 163639 w 163639"/>
                    <a:gd name="connsiteY2" fmla="*/ 10668 h 10667"/>
                    <a:gd name="connsiteX3" fmla="*/ 0 w 163639"/>
                    <a:gd name="connsiteY3" fmla="*/ 10668 h 10667"/>
                  </a:gdLst>
                  <a:ahLst/>
                  <a:cxnLst>
                    <a:cxn ang="0">
                      <a:pos x="connsiteX0" y="connsiteY0"/>
                    </a:cxn>
                    <a:cxn ang="0">
                      <a:pos x="connsiteX1" y="connsiteY1"/>
                    </a:cxn>
                    <a:cxn ang="0">
                      <a:pos x="connsiteX2" y="connsiteY2"/>
                    </a:cxn>
                    <a:cxn ang="0">
                      <a:pos x="connsiteX3" y="connsiteY3"/>
                    </a:cxn>
                  </a:cxnLst>
                  <a:rect l="l" t="t" r="r" b="b"/>
                  <a:pathLst>
                    <a:path w="163639" h="10667">
                      <a:moveTo>
                        <a:pt x="0" y="0"/>
                      </a:moveTo>
                      <a:lnTo>
                        <a:pt x="163639" y="0"/>
                      </a:lnTo>
                      <a:lnTo>
                        <a:pt x="163639"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43" name="Graphic 726">
                <a:extLst>
                  <a:ext uri="{FF2B5EF4-FFF2-40B4-BE49-F238E27FC236}">
                    <a16:creationId xmlns:a16="http://schemas.microsoft.com/office/drawing/2014/main" id="{0F0C9E3C-3A95-7C3F-A326-9E77F782F8F9}"/>
                  </a:ext>
                </a:extLst>
              </p:cNvPr>
              <p:cNvGrpSpPr/>
              <p:nvPr/>
            </p:nvGrpSpPr>
            <p:grpSpPr>
              <a:xfrm>
                <a:off x="5727947" y="2985064"/>
                <a:ext cx="699199" cy="409868"/>
                <a:chOff x="5727947" y="2985064"/>
                <a:chExt cx="699199" cy="409868"/>
              </a:xfrm>
              <a:solidFill>
                <a:srgbClr val="158864"/>
              </a:solidFill>
            </p:grpSpPr>
            <p:sp>
              <p:nvSpPr>
                <p:cNvPr id="80" name="Freeform: Shape 836">
                  <a:extLst>
                    <a:ext uri="{FF2B5EF4-FFF2-40B4-BE49-F238E27FC236}">
                      <a16:creationId xmlns:a16="http://schemas.microsoft.com/office/drawing/2014/main" id="{B3F5AA60-57D2-3644-ECF7-6B46FBBE107C}"/>
                    </a:ext>
                  </a:extLst>
                </p:cNvPr>
                <p:cNvSpPr/>
                <p:nvPr/>
              </p:nvSpPr>
              <p:spPr>
                <a:xfrm rot="-1800001">
                  <a:off x="5719652" y="3344069"/>
                  <a:ext cx="163639" cy="10667"/>
                </a:xfrm>
                <a:custGeom>
                  <a:avLst/>
                  <a:gdLst>
                    <a:gd name="connsiteX0" fmla="*/ 0 w 163639"/>
                    <a:gd name="connsiteY0" fmla="*/ 0 h 10667"/>
                    <a:gd name="connsiteX1" fmla="*/ 163639 w 163639"/>
                    <a:gd name="connsiteY1" fmla="*/ 0 h 10667"/>
                    <a:gd name="connsiteX2" fmla="*/ 163639 w 163639"/>
                    <a:gd name="connsiteY2" fmla="*/ 10668 h 10667"/>
                    <a:gd name="connsiteX3" fmla="*/ 0 w 163639"/>
                    <a:gd name="connsiteY3" fmla="*/ 10668 h 10667"/>
                  </a:gdLst>
                  <a:ahLst/>
                  <a:cxnLst>
                    <a:cxn ang="0">
                      <a:pos x="connsiteX0" y="connsiteY0"/>
                    </a:cxn>
                    <a:cxn ang="0">
                      <a:pos x="connsiteX1" y="connsiteY1"/>
                    </a:cxn>
                    <a:cxn ang="0">
                      <a:pos x="connsiteX2" y="connsiteY2"/>
                    </a:cxn>
                    <a:cxn ang="0">
                      <a:pos x="connsiteX3" y="connsiteY3"/>
                    </a:cxn>
                  </a:cxnLst>
                  <a:rect l="l" t="t" r="r" b="b"/>
                  <a:pathLst>
                    <a:path w="163639" h="10667">
                      <a:moveTo>
                        <a:pt x="0" y="0"/>
                      </a:moveTo>
                      <a:lnTo>
                        <a:pt x="163639" y="0"/>
                      </a:lnTo>
                      <a:lnTo>
                        <a:pt x="163639"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81" name="Freeform: Shape 837">
                  <a:extLst>
                    <a:ext uri="{FF2B5EF4-FFF2-40B4-BE49-F238E27FC236}">
                      <a16:creationId xmlns:a16="http://schemas.microsoft.com/office/drawing/2014/main" id="{C5E8C83D-3FBC-34AE-EC38-730871BC012F}"/>
                    </a:ext>
                  </a:extLst>
                </p:cNvPr>
                <p:cNvSpPr/>
                <p:nvPr/>
              </p:nvSpPr>
              <p:spPr>
                <a:xfrm rot="-1800001">
                  <a:off x="6271802" y="3025259"/>
                  <a:ext cx="163639" cy="10667"/>
                </a:xfrm>
                <a:custGeom>
                  <a:avLst/>
                  <a:gdLst>
                    <a:gd name="connsiteX0" fmla="*/ 0 w 163639"/>
                    <a:gd name="connsiteY0" fmla="*/ 0 h 10667"/>
                    <a:gd name="connsiteX1" fmla="*/ 163640 w 163639"/>
                    <a:gd name="connsiteY1" fmla="*/ 0 h 10667"/>
                    <a:gd name="connsiteX2" fmla="*/ 163640 w 163639"/>
                    <a:gd name="connsiteY2" fmla="*/ 10668 h 10667"/>
                    <a:gd name="connsiteX3" fmla="*/ 0 w 163639"/>
                    <a:gd name="connsiteY3" fmla="*/ 10668 h 10667"/>
                  </a:gdLst>
                  <a:ahLst/>
                  <a:cxnLst>
                    <a:cxn ang="0">
                      <a:pos x="connsiteX0" y="connsiteY0"/>
                    </a:cxn>
                    <a:cxn ang="0">
                      <a:pos x="connsiteX1" y="connsiteY1"/>
                    </a:cxn>
                    <a:cxn ang="0">
                      <a:pos x="connsiteX2" y="connsiteY2"/>
                    </a:cxn>
                    <a:cxn ang="0">
                      <a:pos x="connsiteX3" y="connsiteY3"/>
                    </a:cxn>
                  </a:cxnLst>
                  <a:rect l="l" t="t" r="r" b="b"/>
                  <a:pathLst>
                    <a:path w="163639" h="10667">
                      <a:moveTo>
                        <a:pt x="0" y="0"/>
                      </a:moveTo>
                      <a:lnTo>
                        <a:pt x="163640" y="0"/>
                      </a:lnTo>
                      <a:lnTo>
                        <a:pt x="163640"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44" name="Graphic 726">
                <a:extLst>
                  <a:ext uri="{FF2B5EF4-FFF2-40B4-BE49-F238E27FC236}">
                    <a16:creationId xmlns:a16="http://schemas.microsoft.com/office/drawing/2014/main" id="{64222A21-7AC6-8293-0E44-0A75DB60541C}"/>
                  </a:ext>
                </a:extLst>
              </p:cNvPr>
              <p:cNvGrpSpPr/>
              <p:nvPr/>
            </p:nvGrpSpPr>
            <p:grpSpPr>
              <a:xfrm>
                <a:off x="5699369" y="3047911"/>
                <a:ext cx="756521" cy="284044"/>
                <a:chOff x="5699369" y="3047911"/>
                <a:chExt cx="756521" cy="284044"/>
              </a:xfrm>
              <a:solidFill>
                <a:srgbClr val="158864"/>
              </a:solidFill>
            </p:grpSpPr>
            <p:sp>
              <p:nvSpPr>
                <p:cNvPr id="78" name="Freeform: Shape 839">
                  <a:extLst>
                    <a:ext uri="{FF2B5EF4-FFF2-40B4-BE49-F238E27FC236}">
                      <a16:creationId xmlns:a16="http://schemas.microsoft.com/office/drawing/2014/main" id="{C460BDFC-F63E-33EA-5A2A-FEB698C87927}"/>
                    </a:ext>
                  </a:extLst>
                </p:cNvPr>
                <p:cNvSpPr/>
                <p:nvPr/>
              </p:nvSpPr>
              <p:spPr>
                <a:xfrm rot="-1199999">
                  <a:off x="5696260" y="3293626"/>
                  <a:ext cx="163639" cy="10668"/>
                </a:xfrm>
                <a:custGeom>
                  <a:avLst/>
                  <a:gdLst>
                    <a:gd name="connsiteX0" fmla="*/ 0 w 163639"/>
                    <a:gd name="connsiteY0" fmla="*/ 0 h 10668"/>
                    <a:gd name="connsiteX1" fmla="*/ 163639 w 163639"/>
                    <a:gd name="connsiteY1" fmla="*/ 0 h 10668"/>
                    <a:gd name="connsiteX2" fmla="*/ 163639 w 163639"/>
                    <a:gd name="connsiteY2" fmla="*/ 10668 h 10668"/>
                    <a:gd name="connsiteX3" fmla="*/ 0 w 163639"/>
                    <a:gd name="connsiteY3" fmla="*/ 10668 h 10668"/>
                  </a:gdLst>
                  <a:ahLst/>
                  <a:cxnLst>
                    <a:cxn ang="0">
                      <a:pos x="connsiteX0" y="connsiteY0"/>
                    </a:cxn>
                    <a:cxn ang="0">
                      <a:pos x="connsiteX1" y="connsiteY1"/>
                    </a:cxn>
                    <a:cxn ang="0">
                      <a:pos x="connsiteX2" y="connsiteY2"/>
                    </a:cxn>
                    <a:cxn ang="0">
                      <a:pos x="connsiteX3" y="connsiteY3"/>
                    </a:cxn>
                  </a:cxnLst>
                  <a:rect l="l" t="t" r="r" b="b"/>
                  <a:pathLst>
                    <a:path w="163639" h="10668">
                      <a:moveTo>
                        <a:pt x="0" y="0"/>
                      </a:moveTo>
                      <a:lnTo>
                        <a:pt x="163639" y="0"/>
                      </a:lnTo>
                      <a:lnTo>
                        <a:pt x="163639"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79" name="Freeform: Shape 840">
                  <a:extLst>
                    <a:ext uri="{FF2B5EF4-FFF2-40B4-BE49-F238E27FC236}">
                      <a16:creationId xmlns:a16="http://schemas.microsoft.com/office/drawing/2014/main" id="{0EBF88B0-BB35-9261-AAF1-5B50EFBA6C6D}"/>
                    </a:ext>
                  </a:extLst>
                </p:cNvPr>
                <p:cNvSpPr/>
                <p:nvPr/>
              </p:nvSpPr>
              <p:spPr>
                <a:xfrm rot="-1199999">
                  <a:off x="6295362" y="3075573"/>
                  <a:ext cx="163639" cy="10668"/>
                </a:xfrm>
                <a:custGeom>
                  <a:avLst/>
                  <a:gdLst>
                    <a:gd name="connsiteX0" fmla="*/ 0 w 163639"/>
                    <a:gd name="connsiteY0" fmla="*/ 0 h 10668"/>
                    <a:gd name="connsiteX1" fmla="*/ 163639 w 163639"/>
                    <a:gd name="connsiteY1" fmla="*/ 0 h 10668"/>
                    <a:gd name="connsiteX2" fmla="*/ 163639 w 163639"/>
                    <a:gd name="connsiteY2" fmla="*/ 10668 h 10668"/>
                    <a:gd name="connsiteX3" fmla="*/ 0 w 163639"/>
                    <a:gd name="connsiteY3" fmla="*/ 10668 h 10668"/>
                  </a:gdLst>
                  <a:ahLst/>
                  <a:cxnLst>
                    <a:cxn ang="0">
                      <a:pos x="connsiteX0" y="connsiteY0"/>
                    </a:cxn>
                    <a:cxn ang="0">
                      <a:pos x="connsiteX1" y="connsiteY1"/>
                    </a:cxn>
                    <a:cxn ang="0">
                      <a:pos x="connsiteX2" y="connsiteY2"/>
                    </a:cxn>
                    <a:cxn ang="0">
                      <a:pos x="connsiteX3" y="connsiteY3"/>
                    </a:cxn>
                  </a:cxnLst>
                  <a:rect l="l" t="t" r="r" b="b"/>
                  <a:pathLst>
                    <a:path w="163639" h="10668">
                      <a:moveTo>
                        <a:pt x="0" y="0"/>
                      </a:moveTo>
                      <a:lnTo>
                        <a:pt x="163639" y="0"/>
                      </a:lnTo>
                      <a:lnTo>
                        <a:pt x="163639"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45" name="Graphic 726">
                <a:extLst>
                  <a:ext uri="{FF2B5EF4-FFF2-40B4-BE49-F238E27FC236}">
                    <a16:creationId xmlns:a16="http://schemas.microsoft.com/office/drawing/2014/main" id="{FDD8977B-F81D-47A3-3781-A6A53E79DCDE}"/>
                  </a:ext>
                </a:extLst>
              </p:cNvPr>
              <p:cNvGrpSpPr/>
              <p:nvPr/>
            </p:nvGrpSpPr>
            <p:grpSpPr>
              <a:xfrm>
                <a:off x="5682195" y="3115127"/>
                <a:ext cx="790901" cy="149605"/>
                <a:chOff x="5682195" y="3115127"/>
                <a:chExt cx="790901" cy="149605"/>
              </a:xfrm>
              <a:solidFill>
                <a:srgbClr val="158864"/>
              </a:solidFill>
            </p:grpSpPr>
            <p:sp>
              <p:nvSpPr>
                <p:cNvPr id="76" name="Freeform: Shape 842">
                  <a:extLst>
                    <a:ext uri="{FF2B5EF4-FFF2-40B4-BE49-F238E27FC236}">
                      <a16:creationId xmlns:a16="http://schemas.microsoft.com/office/drawing/2014/main" id="{6E06AF5D-BFE6-1ADF-CEA1-C9DD537B3911}"/>
                    </a:ext>
                  </a:extLst>
                </p:cNvPr>
                <p:cNvSpPr/>
                <p:nvPr/>
              </p:nvSpPr>
              <p:spPr>
                <a:xfrm rot="-599999">
                  <a:off x="5681878" y="3239938"/>
                  <a:ext cx="163639" cy="10668"/>
                </a:xfrm>
                <a:custGeom>
                  <a:avLst/>
                  <a:gdLst>
                    <a:gd name="connsiteX0" fmla="*/ 0 w 163639"/>
                    <a:gd name="connsiteY0" fmla="*/ 0 h 10668"/>
                    <a:gd name="connsiteX1" fmla="*/ 163639 w 163639"/>
                    <a:gd name="connsiteY1" fmla="*/ 0 h 10668"/>
                    <a:gd name="connsiteX2" fmla="*/ 163639 w 163639"/>
                    <a:gd name="connsiteY2" fmla="*/ 10668 h 10668"/>
                    <a:gd name="connsiteX3" fmla="*/ 0 w 163639"/>
                    <a:gd name="connsiteY3" fmla="*/ 10668 h 10668"/>
                  </a:gdLst>
                  <a:ahLst/>
                  <a:cxnLst>
                    <a:cxn ang="0">
                      <a:pos x="connsiteX0" y="connsiteY0"/>
                    </a:cxn>
                    <a:cxn ang="0">
                      <a:pos x="connsiteX1" y="connsiteY1"/>
                    </a:cxn>
                    <a:cxn ang="0">
                      <a:pos x="connsiteX2" y="connsiteY2"/>
                    </a:cxn>
                    <a:cxn ang="0">
                      <a:pos x="connsiteX3" y="connsiteY3"/>
                    </a:cxn>
                  </a:cxnLst>
                  <a:rect l="l" t="t" r="r" b="b"/>
                  <a:pathLst>
                    <a:path w="163639" h="10668">
                      <a:moveTo>
                        <a:pt x="0" y="0"/>
                      </a:moveTo>
                      <a:lnTo>
                        <a:pt x="163639" y="0"/>
                      </a:lnTo>
                      <a:lnTo>
                        <a:pt x="163639"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77" name="Freeform: Shape 843">
                  <a:extLst>
                    <a:ext uri="{FF2B5EF4-FFF2-40B4-BE49-F238E27FC236}">
                      <a16:creationId xmlns:a16="http://schemas.microsoft.com/office/drawing/2014/main" id="{37C9F601-02A9-9450-5C57-E599752C02D1}"/>
                    </a:ext>
                  </a:extLst>
                </p:cNvPr>
                <p:cNvSpPr/>
                <p:nvPr/>
              </p:nvSpPr>
              <p:spPr>
                <a:xfrm rot="-599999">
                  <a:off x="6309773" y="3129254"/>
                  <a:ext cx="163639" cy="10668"/>
                </a:xfrm>
                <a:custGeom>
                  <a:avLst/>
                  <a:gdLst>
                    <a:gd name="connsiteX0" fmla="*/ 0 w 163639"/>
                    <a:gd name="connsiteY0" fmla="*/ 0 h 10668"/>
                    <a:gd name="connsiteX1" fmla="*/ 163639 w 163639"/>
                    <a:gd name="connsiteY1" fmla="*/ 0 h 10668"/>
                    <a:gd name="connsiteX2" fmla="*/ 163639 w 163639"/>
                    <a:gd name="connsiteY2" fmla="*/ 10668 h 10668"/>
                    <a:gd name="connsiteX3" fmla="*/ 0 w 163639"/>
                    <a:gd name="connsiteY3" fmla="*/ 10668 h 10668"/>
                  </a:gdLst>
                  <a:ahLst/>
                  <a:cxnLst>
                    <a:cxn ang="0">
                      <a:pos x="connsiteX0" y="connsiteY0"/>
                    </a:cxn>
                    <a:cxn ang="0">
                      <a:pos x="connsiteX1" y="connsiteY1"/>
                    </a:cxn>
                    <a:cxn ang="0">
                      <a:pos x="connsiteX2" y="connsiteY2"/>
                    </a:cxn>
                    <a:cxn ang="0">
                      <a:pos x="connsiteX3" y="connsiteY3"/>
                    </a:cxn>
                  </a:cxnLst>
                  <a:rect l="l" t="t" r="r" b="b"/>
                  <a:pathLst>
                    <a:path w="163639" h="10668">
                      <a:moveTo>
                        <a:pt x="0" y="0"/>
                      </a:moveTo>
                      <a:lnTo>
                        <a:pt x="163639" y="0"/>
                      </a:lnTo>
                      <a:lnTo>
                        <a:pt x="163639"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46" name="Graphic 726">
                <a:extLst>
                  <a:ext uri="{FF2B5EF4-FFF2-40B4-BE49-F238E27FC236}">
                    <a16:creationId xmlns:a16="http://schemas.microsoft.com/office/drawing/2014/main" id="{24614ADD-A2EC-A8AA-C805-CAAC709ADA31}"/>
                  </a:ext>
                </a:extLst>
              </p:cNvPr>
              <p:cNvGrpSpPr/>
              <p:nvPr/>
            </p:nvGrpSpPr>
            <p:grpSpPr>
              <a:xfrm>
                <a:off x="5676994" y="3184588"/>
                <a:ext cx="801243" cy="10668"/>
                <a:chOff x="5676994" y="3184588"/>
                <a:chExt cx="801243" cy="10668"/>
              </a:xfrm>
              <a:solidFill>
                <a:srgbClr val="158864"/>
              </a:solidFill>
            </p:grpSpPr>
            <p:sp>
              <p:nvSpPr>
                <p:cNvPr id="74" name="Freeform: Shape 845">
                  <a:extLst>
                    <a:ext uri="{FF2B5EF4-FFF2-40B4-BE49-F238E27FC236}">
                      <a16:creationId xmlns:a16="http://schemas.microsoft.com/office/drawing/2014/main" id="{40484942-B5FF-55B8-47D8-6AB5BF29BA59}"/>
                    </a:ext>
                  </a:extLst>
                </p:cNvPr>
                <p:cNvSpPr/>
                <p:nvPr/>
              </p:nvSpPr>
              <p:spPr>
                <a:xfrm>
                  <a:off x="5676994" y="3184588"/>
                  <a:ext cx="163639" cy="10668"/>
                </a:xfrm>
                <a:custGeom>
                  <a:avLst/>
                  <a:gdLst>
                    <a:gd name="connsiteX0" fmla="*/ 0 w 163639"/>
                    <a:gd name="connsiteY0" fmla="*/ 0 h 10668"/>
                    <a:gd name="connsiteX1" fmla="*/ 163640 w 163639"/>
                    <a:gd name="connsiteY1" fmla="*/ 0 h 10668"/>
                    <a:gd name="connsiteX2" fmla="*/ 163640 w 163639"/>
                    <a:gd name="connsiteY2" fmla="*/ 10668 h 10668"/>
                    <a:gd name="connsiteX3" fmla="*/ 0 w 163639"/>
                    <a:gd name="connsiteY3" fmla="*/ 10668 h 10668"/>
                  </a:gdLst>
                  <a:ahLst/>
                  <a:cxnLst>
                    <a:cxn ang="0">
                      <a:pos x="connsiteX0" y="connsiteY0"/>
                    </a:cxn>
                    <a:cxn ang="0">
                      <a:pos x="connsiteX1" y="connsiteY1"/>
                    </a:cxn>
                    <a:cxn ang="0">
                      <a:pos x="connsiteX2" y="connsiteY2"/>
                    </a:cxn>
                    <a:cxn ang="0">
                      <a:pos x="connsiteX3" y="connsiteY3"/>
                    </a:cxn>
                  </a:cxnLst>
                  <a:rect l="l" t="t" r="r" b="b"/>
                  <a:pathLst>
                    <a:path w="163639" h="10668">
                      <a:moveTo>
                        <a:pt x="0" y="0"/>
                      </a:moveTo>
                      <a:lnTo>
                        <a:pt x="163640" y="0"/>
                      </a:lnTo>
                      <a:lnTo>
                        <a:pt x="163640"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75" name="Freeform: Shape 846">
                  <a:extLst>
                    <a:ext uri="{FF2B5EF4-FFF2-40B4-BE49-F238E27FC236}">
                      <a16:creationId xmlns:a16="http://schemas.microsoft.com/office/drawing/2014/main" id="{CEF43CF8-70D0-7FCF-4AFC-A6BFB86A2EFA}"/>
                    </a:ext>
                  </a:extLst>
                </p:cNvPr>
                <p:cNvSpPr/>
                <p:nvPr/>
              </p:nvSpPr>
              <p:spPr>
                <a:xfrm>
                  <a:off x="6314598" y="3184588"/>
                  <a:ext cx="163639" cy="10668"/>
                </a:xfrm>
                <a:custGeom>
                  <a:avLst/>
                  <a:gdLst>
                    <a:gd name="connsiteX0" fmla="*/ 0 w 163639"/>
                    <a:gd name="connsiteY0" fmla="*/ 0 h 10668"/>
                    <a:gd name="connsiteX1" fmla="*/ 163640 w 163639"/>
                    <a:gd name="connsiteY1" fmla="*/ 0 h 10668"/>
                    <a:gd name="connsiteX2" fmla="*/ 163640 w 163639"/>
                    <a:gd name="connsiteY2" fmla="*/ 10668 h 10668"/>
                    <a:gd name="connsiteX3" fmla="*/ 0 w 163639"/>
                    <a:gd name="connsiteY3" fmla="*/ 10668 h 10668"/>
                  </a:gdLst>
                  <a:ahLst/>
                  <a:cxnLst>
                    <a:cxn ang="0">
                      <a:pos x="connsiteX0" y="connsiteY0"/>
                    </a:cxn>
                    <a:cxn ang="0">
                      <a:pos x="connsiteX1" y="connsiteY1"/>
                    </a:cxn>
                    <a:cxn ang="0">
                      <a:pos x="connsiteX2" y="connsiteY2"/>
                    </a:cxn>
                    <a:cxn ang="0">
                      <a:pos x="connsiteX3" y="connsiteY3"/>
                    </a:cxn>
                  </a:cxnLst>
                  <a:rect l="l" t="t" r="r" b="b"/>
                  <a:pathLst>
                    <a:path w="163639" h="10668">
                      <a:moveTo>
                        <a:pt x="0" y="0"/>
                      </a:moveTo>
                      <a:lnTo>
                        <a:pt x="163640" y="0"/>
                      </a:lnTo>
                      <a:lnTo>
                        <a:pt x="163640"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47" name="Graphic 726">
                <a:extLst>
                  <a:ext uri="{FF2B5EF4-FFF2-40B4-BE49-F238E27FC236}">
                    <a16:creationId xmlns:a16="http://schemas.microsoft.com/office/drawing/2014/main" id="{C7C6BA8B-7FD3-65E3-FC17-299BD07AC9B5}"/>
                  </a:ext>
                </a:extLst>
              </p:cNvPr>
              <p:cNvGrpSpPr/>
              <p:nvPr/>
            </p:nvGrpSpPr>
            <p:grpSpPr>
              <a:xfrm>
                <a:off x="5682149" y="3115118"/>
                <a:ext cx="790895" cy="149611"/>
                <a:chOff x="5682149" y="3115118"/>
                <a:chExt cx="790895" cy="149611"/>
              </a:xfrm>
              <a:solidFill>
                <a:srgbClr val="158864"/>
              </a:solidFill>
            </p:grpSpPr>
            <p:sp>
              <p:nvSpPr>
                <p:cNvPr id="72" name="Freeform: Shape 848">
                  <a:extLst>
                    <a:ext uri="{FF2B5EF4-FFF2-40B4-BE49-F238E27FC236}">
                      <a16:creationId xmlns:a16="http://schemas.microsoft.com/office/drawing/2014/main" id="{D7424E1C-1752-D880-13C9-66D667FDBA5D}"/>
                    </a:ext>
                  </a:extLst>
                </p:cNvPr>
                <p:cNvSpPr/>
                <p:nvPr/>
              </p:nvSpPr>
              <p:spPr>
                <a:xfrm rot="-4800001">
                  <a:off x="5758318" y="3052759"/>
                  <a:ext cx="10668" cy="163639"/>
                </a:xfrm>
                <a:custGeom>
                  <a:avLst/>
                  <a:gdLst>
                    <a:gd name="connsiteX0" fmla="*/ 0 w 10668"/>
                    <a:gd name="connsiteY0" fmla="*/ 0 h 163639"/>
                    <a:gd name="connsiteX1" fmla="*/ 10668 w 10668"/>
                    <a:gd name="connsiteY1" fmla="*/ 0 h 163639"/>
                    <a:gd name="connsiteX2" fmla="*/ 10668 w 10668"/>
                    <a:gd name="connsiteY2" fmla="*/ 163639 h 163639"/>
                    <a:gd name="connsiteX3" fmla="*/ 0 w 10668"/>
                    <a:gd name="connsiteY3" fmla="*/ 163639 h 163639"/>
                  </a:gdLst>
                  <a:ahLst/>
                  <a:cxnLst>
                    <a:cxn ang="0">
                      <a:pos x="connsiteX0" y="connsiteY0"/>
                    </a:cxn>
                    <a:cxn ang="0">
                      <a:pos x="connsiteX1" y="connsiteY1"/>
                    </a:cxn>
                    <a:cxn ang="0">
                      <a:pos x="connsiteX2" y="connsiteY2"/>
                    </a:cxn>
                    <a:cxn ang="0">
                      <a:pos x="connsiteX3" y="connsiteY3"/>
                    </a:cxn>
                  </a:cxnLst>
                  <a:rect l="l" t="t" r="r" b="b"/>
                  <a:pathLst>
                    <a:path w="10668" h="163639">
                      <a:moveTo>
                        <a:pt x="0" y="0"/>
                      </a:moveTo>
                      <a:lnTo>
                        <a:pt x="10668" y="0"/>
                      </a:lnTo>
                      <a:lnTo>
                        <a:pt x="10668" y="163639"/>
                      </a:lnTo>
                      <a:lnTo>
                        <a:pt x="0" y="163639"/>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73" name="Freeform: Shape 849">
                  <a:extLst>
                    <a:ext uri="{FF2B5EF4-FFF2-40B4-BE49-F238E27FC236}">
                      <a16:creationId xmlns:a16="http://schemas.microsoft.com/office/drawing/2014/main" id="{B76540AC-3646-6B17-72FB-3ECA193FE7CD}"/>
                    </a:ext>
                  </a:extLst>
                </p:cNvPr>
                <p:cNvSpPr/>
                <p:nvPr/>
              </p:nvSpPr>
              <p:spPr>
                <a:xfrm rot="-4800001">
                  <a:off x="6386208" y="3163449"/>
                  <a:ext cx="10668" cy="163639"/>
                </a:xfrm>
                <a:custGeom>
                  <a:avLst/>
                  <a:gdLst>
                    <a:gd name="connsiteX0" fmla="*/ 0 w 10668"/>
                    <a:gd name="connsiteY0" fmla="*/ 0 h 163639"/>
                    <a:gd name="connsiteX1" fmla="*/ 10668 w 10668"/>
                    <a:gd name="connsiteY1" fmla="*/ 0 h 163639"/>
                    <a:gd name="connsiteX2" fmla="*/ 10668 w 10668"/>
                    <a:gd name="connsiteY2" fmla="*/ 163640 h 163639"/>
                    <a:gd name="connsiteX3" fmla="*/ 0 w 10668"/>
                    <a:gd name="connsiteY3" fmla="*/ 163640 h 163639"/>
                  </a:gdLst>
                  <a:ahLst/>
                  <a:cxnLst>
                    <a:cxn ang="0">
                      <a:pos x="connsiteX0" y="connsiteY0"/>
                    </a:cxn>
                    <a:cxn ang="0">
                      <a:pos x="connsiteX1" y="connsiteY1"/>
                    </a:cxn>
                    <a:cxn ang="0">
                      <a:pos x="connsiteX2" y="connsiteY2"/>
                    </a:cxn>
                    <a:cxn ang="0">
                      <a:pos x="connsiteX3" y="connsiteY3"/>
                    </a:cxn>
                  </a:cxnLst>
                  <a:rect l="l" t="t" r="r" b="b"/>
                  <a:pathLst>
                    <a:path w="10668" h="163639">
                      <a:moveTo>
                        <a:pt x="0" y="0"/>
                      </a:moveTo>
                      <a:lnTo>
                        <a:pt x="10668" y="0"/>
                      </a:lnTo>
                      <a:lnTo>
                        <a:pt x="10668" y="163640"/>
                      </a:lnTo>
                      <a:lnTo>
                        <a:pt x="0" y="163640"/>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48" name="Graphic 726">
                <a:extLst>
                  <a:ext uri="{FF2B5EF4-FFF2-40B4-BE49-F238E27FC236}">
                    <a16:creationId xmlns:a16="http://schemas.microsoft.com/office/drawing/2014/main" id="{03A4AD38-00FF-5C6B-F02D-D0FBA3627941}"/>
                  </a:ext>
                </a:extLst>
              </p:cNvPr>
              <p:cNvGrpSpPr/>
              <p:nvPr/>
            </p:nvGrpSpPr>
            <p:grpSpPr>
              <a:xfrm>
                <a:off x="5699321" y="3047934"/>
                <a:ext cx="756567" cy="284040"/>
                <a:chOff x="5699321" y="3047934"/>
                <a:chExt cx="756567" cy="284040"/>
              </a:xfrm>
              <a:solidFill>
                <a:srgbClr val="158864"/>
              </a:solidFill>
            </p:grpSpPr>
            <p:sp>
              <p:nvSpPr>
                <p:cNvPr id="70" name="Freeform: Shape 851">
                  <a:extLst>
                    <a:ext uri="{FF2B5EF4-FFF2-40B4-BE49-F238E27FC236}">
                      <a16:creationId xmlns:a16="http://schemas.microsoft.com/office/drawing/2014/main" id="{150EB46E-4D7A-DBD2-3BFD-2968E89F0E5B}"/>
                    </a:ext>
                  </a:extLst>
                </p:cNvPr>
                <p:cNvSpPr/>
                <p:nvPr/>
              </p:nvSpPr>
              <p:spPr>
                <a:xfrm rot="-4200001">
                  <a:off x="5772697" y="2999110"/>
                  <a:ext cx="10668" cy="163639"/>
                </a:xfrm>
                <a:custGeom>
                  <a:avLst/>
                  <a:gdLst>
                    <a:gd name="connsiteX0" fmla="*/ 0 w 10668"/>
                    <a:gd name="connsiteY0" fmla="*/ 0 h 163639"/>
                    <a:gd name="connsiteX1" fmla="*/ 10668 w 10668"/>
                    <a:gd name="connsiteY1" fmla="*/ 0 h 163639"/>
                    <a:gd name="connsiteX2" fmla="*/ 10668 w 10668"/>
                    <a:gd name="connsiteY2" fmla="*/ 163639 h 163639"/>
                    <a:gd name="connsiteX3" fmla="*/ 0 w 10668"/>
                    <a:gd name="connsiteY3" fmla="*/ 163639 h 163639"/>
                  </a:gdLst>
                  <a:ahLst/>
                  <a:cxnLst>
                    <a:cxn ang="0">
                      <a:pos x="connsiteX0" y="connsiteY0"/>
                    </a:cxn>
                    <a:cxn ang="0">
                      <a:pos x="connsiteX1" y="connsiteY1"/>
                    </a:cxn>
                    <a:cxn ang="0">
                      <a:pos x="connsiteX2" y="connsiteY2"/>
                    </a:cxn>
                    <a:cxn ang="0">
                      <a:pos x="connsiteX3" y="connsiteY3"/>
                    </a:cxn>
                  </a:cxnLst>
                  <a:rect l="l" t="t" r="r" b="b"/>
                  <a:pathLst>
                    <a:path w="10668" h="163639">
                      <a:moveTo>
                        <a:pt x="0" y="0"/>
                      </a:moveTo>
                      <a:lnTo>
                        <a:pt x="10668" y="0"/>
                      </a:lnTo>
                      <a:lnTo>
                        <a:pt x="10668" y="163639"/>
                      </a:lnTo>
                      <a:lnTo>
                        <a:pt x="0" y="163639"/>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71" name="Freeform: Shape 852">
                  <a:extLst>
                    <a:ext uri="{FF2B5EF4-FFF2-40B4-BE49-F238E27FC236}">
                      <a16:creationId xmlns:a16="http://schemas.microsoft.com/office/drawing/2014/main" id="{0A5DF405-1419-E4D6-708E-6C8D8B12325D}"/>
                    </a:ext>
                  </a:extLst>
                </p:cNvPr>
                <p:cNvSpPr/>
                <p:nvPr/>
              </p:nvSpPr>
              <p:spPr>
                <a:xfrm rot="-4200001">
                  <a:off x="6371845" y="3217158"/>
                  <a:ext cx="10668" cy="163639"/>
                </a:xfrm>
                <a:custGeom>
                  <a:avLst/>
                  <a:gdLst>
                    <a:gd name="connsiteX0" fmla="*/ 0 w 10668"/>
                    <a:gd name="connsiteY0" fmla="*/ 0 h 163639"/>
                    <a:gd name="connsiteX1" fmla="*/ 10668 w 10668"/>
                    <a:gd name="connsiteY1" fmla="*/ 0 h 163639"/>
                    <a:gd name="connsiteX2" fmla="*/ 10668 w 10668"/>
                    <a:gd name="connsiteY2" fmla="*/ 163640 h 163639"/>
                    <a:gd name="connsiteX3" fmla="*/ 0 w 10668"/>
                    <a:gd name="connsiteY3" fmla="*/ 163640 h 163639"/>
                  </a:gdLst>
                  <a:ahLst/>
                  <a:cxnLst>
                    <a:cxn ang="0">
                      <a:pos x="connsiteX0" y="connsiteY0"/>
                    </a:cxn>
                    <a:cxn ang="0">
                      <a:pos x="connsiteX1" y="connsiteY1"/>
                    </a:cxn>
                    <a:cxn ang="0">
                      <a:pos x="connsiteX2" y="connsiteY2"/>
                    </a:cxn>
                    <a:cxn ang="0">
                      <a:pos x="connsiteX3" y="connsiteY3"/>
                    </a:cxn>
                  </a:cxnLst>
                  <a:rect l="l" t="t" r="r" b="b"/>
                  <a:pathLst>
                    <a:path w="10668" h="163639">
                      <a:moveTo>
                        <a:pt x="0" y="0"/>
                      </a:moveTo>
                      <a:lnTo>
                        <a:pt x="10668" y="0"/>
                      </a:lnTo>
                      <a:lnTo>
                        <a:pt x="10668" y="163640"/>
                      </a:lnTo>
                      <a:lnTo>
                        <a:pt x="0" y="163640"/>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49" name="Graphic 726">
                <a:extLst>
                  <a:ext uri="{FF2B5EF4-FFF2-40B4-BE49-F238E27FC236}">
                    <a16:creationId xmlns:a16="http://schemas.microsoft.com/office/drawing/2014/main" id="{78EC2C0C-EC5D-77A6-2324-C854EF0D106D}"/>
                  </a:ext>
                </a:extLst>
              </p:cNvPr>
              <p:cNvGrpSpPr/>
              <p:nvPr/>
            </p:nvGrpSpPr>
            <p:grpSpPr>
              <a:xfrm>
                <a:off x="5727938" y="2985101"/>
                <a:ext cx="699222" cy="409779"/>
                <a:chOff x="5727938" y="2985101"/>
                <a:chExt cx="699222" cy="409779"/>
              </a:xfrm>
              <a:solidFill>
                <a:srgbClr val="158864"/>
              </a:solidFill>
            </p:grpSpPr>
            <p:sp>
              <p:nvSpPr>
                <p:cNvPr id="68" name="Freeform: Shape 854">
                  <a:extLst>
                    <a:ext uri="{FF2B5EF4-FFF2-40B4-BE49-F238E27FC236}">
                      <a16:creationId xmlns:a16="http://schemas.microsoft.com/office/drawing/2014/main" id="{7CFB2A91-FE68-D626-BD29-FB40D7F9FF43}"/>
                    </a:ext>
                  </a:extLst>
                </p:cNvPr>
                <p:cNvSpPr/>
                <p:nvPr/>
              </p:nvSpPr>
              <p:spPr>
                <a:xfrm rot="-3599999">
                  <a:off x="5796129" y="2948811"/>
                  <a:ext cx="10667" cy="163639"/>
                </a:xfrm>
                <a:custGeom>
                  <a:avLst/>
                  <a:gdLst>
                    <a:gd name="connsiteX0" fmla="*/ 0 w 10667"/>
                    <a:gd name="connsiteY0" fmla="*/ 0 h 163639"/>
                    <a:gd name="connsiteX1" fmla="*/ 10668 w 10667"/>
                    <a:gd name="connsiteY1" fmla="*/ 0 h 163639"/>
                    <a:gd name="connsiteX2" fmla="*/ 10668 w 10667"/>
                    <a:gd name="connsiteY2" fmla="*/ 163640 h 163639"/>
                    <a:gd name="connsiteX3" fmla="*/ 0 w 10667"/>
                    <a:gd name="connsiteY3" fmla="*/ 163640 h 163639"/>
                  </a:gdLst>
                  <a:ahLst/>
                  <a:cxnLst>
                    <a:cxn ang="0">
                      <a:pos x="connsiteX0" y="connsiteY0"/>
                    </a:cxn>
                    <a:cxn ang="0">
                      <a:pos x="connsiteX1" y="connsiteY1"/>
                    </a:cxn>
                    <a:cxn ang="0">
                      <a:pos x="connsiteX2" y="connsiteY2"/>
                    </a:cxn>
                    <a:cxn ang="0">
                      <a:pos x="connsiteX3" y="connsiteY3"/>
                    </a:cxn>
                  </a:cxnLst>
                  <a:rect l="l" t="t" r="r" b="b"/>
                  <a:pathLst>
                    <a:path w="10667" h="163639">
                      <a:moveTo>
                        <a:pt x="0" y="0"/>
                      </a:moveTo>
                      <a:lnTo>
                        <a:pt x="10668" y="0"/>
                      </a:lnTo>
                      <a:lnTo>
                        <a:pt x="10668" y="163640"/>
                      </a:lnTo>
                      <a:lnTo>
                        <a:pt x="0" y="163640"/>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69" name="Freeform: Shape 855">
                  <a:extLst>
                    <a:ext uri="{FF2B5EF4-FFF2-40B4-BE49-F238E27FC236}">
                      <a16:creationId xmlns:a16="http://schemas.microsoft.com/office/drawing/2014/main" id="{FE1F099B-90E5-4B7B-E2FC-FCA13B7F1343}"/>
                    </a:ext>
                  </a:extLst>
                </p:cNvPr>
                <p:cNvSpPr/>
                <p:nvPr/>
              </p:nvSpPr>
              <p:spPr>
                <a:xfrm rot="-3599999">
                  <a:off x="6348301" y="3267532"/>
                  <a:ext cx="10667" cy="163639"/>
                </a:xfrm>
                <a:custGeom>
                  <a:avLst/>
                  <a:gdLst>
                    <a:gd name="connsiteX0" fmla="*/ 0 w 10667"/>
                    <a:gd name="connsiteY0" fmla="*/ 0 h 163639"/>
                    <a:gd name="connsiteX1" fmla="*/ 10668 w 10667"/>
                    <a:gd name="connsiteY1" fmla="*/ 0 h 163639"/>
                    <a:gd name="connsiteX2" fmla="*/ 10668 w 10667"/>
                    <a:gd name="connsiteY2" fmla="*/ 163639 h 163639"/>
                    <a:gd name="connsiteX3" fmla="*/ 0 w 10667"/>
                    <a:gd name="connsiteY3" fmla="*/ 163639 h 163639"/>
                  </a:gdLst>
                  <a:ahLst/>
                  <a:cxnLst>
                    <a:cxn ang="0">
                      <a:pos x="connsiteX0" y="connsiteY0"/>
                    </a:cxn>
                    <a:cxn ang="0">
                      <a:pos x="connsiteX1" y="connsiteY1"/>
                    </a:cxn>
                    <a:cxn ang="0">
                      <a:pos x="connsiteX2" y="connsiteY2"/>
                    </a:cxn>
                    <a:cxn ang="0">
                      <a:pos x="connsiteX3" y="connsiteY3"/>
                    </a:cxn>
                  </a:cxnLst>
                  <a:rect l="l" t="t" r="r" b="b"/>
                  <a:pathLst>
                    <a:path w="10667" h="163639">
                      <a:moveTo>
                        <a:pt x="0" y="0"/>
                      </a:moveTo>
                      <a:lnTo>
                        <a:pt x="10668" y="0"/>
                      </a:lnTo>
                      <a:lnTo>
                        <a:pt x="10668" y="163639"/>
                      </a:lnTo>
                      <a:lnTo>
                        <a:pt x="0" y="163639"/>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50" name="Graphic 726">
                <a:extLst>
                  <a:ext uri="{FF2B5EF4-FFF2-40B4-BE49-F238E27FC236}">
                    <a16:creationId xmlns:a16="http://schemas.microsoft.com/office/drawing/2014/main" id="{F589B511-9128-D2D5-18B9-52EBA716F555}"/>
                  </a:ext>
                </a:extLst>
              </p:cNvPr>
              <p:cNvGrpSpPr/>
              <p:nvPr/>
            </p:nvGrpSpPr>
            <p:grpSpPr>
              <a:xfrm>
                <a:off x="5767319" y="2928349"/>
                <a:ext cx="620545" cy="523257"/>
                <a:chOff x="5767319" y="2928349"/>
                <a:chExt cx="620545" cy="523257"/>
              </a:xfrm>
              <a:solidFill>
                <a:srgbClr val="158864"/>
              </a:solidFill>
            </p:grpSpPr>
            <p:sp>
              <p:nvSpPr>
                <p:cNvPr id="66" name="Freeform: Shape 857">
                  <a:extLst>
                    <a:ext uri="{FF2B5EF4-FFF2-40B4-BE49-F238E27FC236}">
                      <a16:creationId xmlns:a16="http://schemas.microsoft.com/office/drawing/2014/main" id="{6395FDDA-EC47-A04D-594B-3B679357654E}"/>
                    </a:ext>
                  </a:extLst>
                </p:cNvPr>
                <p:cNvSpPr/>
                <p:nvPr/>
              </p:nvSpPr>
              <p:spPr>
                <a:xfrm rot="-2999998">
                  <a:off x="5828091" y="2903208"/>
                  <a:ext cx="10667" cy="163639"/>
                </a:xfrm>
                <a:custGeom>
                  <a:avLst/>
                  <a:gdLst>
                    <a:gd name="connsiteX0" fmla="*/ 0 w 10667"/>
                    <a:gd name="connsiteY0" fmla="*/ 0 h 163639"/>
                    <a:gd name="connsiteX1" fmla="*/ 10668 w 10667"/>
                    <a:gd name="connsiteY1" fmla="*/ 0 h 163639"/>
                    <a:gd name="connsiteX2" fmla="*/ 10668 w 10667"/>
                    <a:gd name="connsiteY2" fmla="*/ 163640 h 163639"/>
                    <a:gd name="connsiteX3" fmla="*/ 0 w 10667"/>
                    <a:gd name="connsiteY3" fmla="*/ 163640 h 163639"/>
                  </a:gdLst>
                  <a:ahLst/>
                  <a:cxnLst>
                    <a:cxn ang="0">
                      <a:pos x="connsiteX0" y="connsiteY0"/>
                    </a:cxn>
                    <a:cxn ang="0">
                      <a:pos x="connsiteX1" y="connsiteY1"/>
                    </a:cxn>
                    <a:cxn ang="0">
                      <a:pos x="connsiteX2" y="connsiteY2"/>
                    </a:cxn>
                    <a:cxn ang="0">
                      <a:pos x="connsiteX3" y="connsiteY3"/>
                    </a:cxn>
                  </a:cxnLst>
                  <a:rect l="l" t="t" r="r" b="b"/>
                  <a:pathLst>
                    <a:path w="10667" h="163639">
                      <a:moveTo>
                        <a:pt x="0" y="0"/>
                      </a:moveTo>
                      <a:lnTo>
                        <a:pt x="10668" y="0"/>
                      </a:lnTo>
                      <a:lnTo>
                        <a:pt x="10668" y="163640"/>
                      </a:lnTo>
                      <a:lnTo>
                        <a:pt x="0" y="163640"/>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67" name="Freeform: Shape 858">
                  <a:extLst>
                    <a:ext uri="{FF2B5EF4-FFF2-40B4-BE49-F238E27FC236}">
                      <a16:creationId xmlns:a16="http://schemas.microsoft.com/office/drawing/2014/main" id="{31D58EB1-BE5C-3EEB-C1D2-2A4C96B8ACF2}"/>
                    </a:ext>
                  </a:extLst>
                </p:cNvPr>
                <p:cNvSpPr/>
                <p:nvPr/>
              </p:nvSpPr>
              <p:spPr>
                <a:xfrm rot="-2999998">
                  <a:off x="6316425" y="3313108"/>
                  <a:ext cx="10667" cy="163639"/>
                </a:xfrm>
                <a:custGeom>
                  <a:avLst/>
                  <a:gdLst>
                    <a:gd name="connsiteX0" fmla="*/ 0 w 10667"/>
                    <a:gd name="connsiteY0" fmla="*/ 0 h 163639"/>
                    <a:gd name="connsiteX1" fmla="*/ 10668 w 10667"/>
                    <a:gd name="connsiteY1" fmla="*/ 0 h 163639"/>
                    <a:gd name="connsiteX2" fmla="*/ 10668 w 10667"/>
                    <a:gd name="connsiteY2" fmla="*/ 163639 h 163639"/>
                    <a:gd name="connsiteX3" fmla="*/ 0 w 10667"/>
                    <a:gd name="connsiteY3" fmla="*/ 163639 h 163639"/>
                  </a:gdLst>
                  <a:ahLst/>
                  <a:cxnLst>
                    <a:cxn ang="0">
                      <a:pos x="connsiteX0" y="connsiteY0"/>
                    </a:cxn>
                    <a:cxn ang="0">
                      <a:pos x="connsiteX1" y="connsiteY1"/>
                    </a:cxn>
                    <a:cxn ang="0">
                      <a:pos x="connsiteX2" y="connsiteY2"/>
                    </a:cxn>
                    <a:cxn ang="0">
                      <a:pos x="connsiteX3" y="connsiteY3"/>
                    </a:cxn>
                  </a:cxnLst>
                  <a:rect l="l" t="t" r="r" b="b"/>
                  <a:pathLst>
                    <a:path w="10667" h="163639">
                      <a:moveTo>
                        <a:pt x="0" y="0"/>
                      </a:moveTo>
                      <a:lnTo>
                        <a:pt x="10668" y="0"/>
                      </a:lnTo>
                      <a:lnTo>
                        <a:pt x="10668" y="163639"/>
                      </a:lnTo>
                      <a:lnTo>
                        <a:pt x="0" y="163639"/>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51" name="Graphic 726">
                <a:extLst>
                  <a:ext uri="{FF2B5EF4-FFF2-40B4-BE49-F238E27FC236}">
                    <a16:creationId xmlns:a16="http://schemas.microsoft.com/office/drawing/2014/main" id="{EEEB9FCA-E643-DDD4-B541-481B332F4EC3}"/>
                  </a:ext>
                </a:extLst>
              </p:cNvPr>
              <p:cNvGrpSpPr/>
              <p:nvPr/>
            </p:nvGrpSpPr>
            <p:grpSpPr>
              <a:xfrm>
                <a:off x="5816043" y="2879689"/>
                <a:ext cx="523109" cy="620615"/>
                <a:chOff x="5816043" y="2879689"/>
                <a:chExt cx="523109" cy="620615"/>
              </a:xfrm>
              <a:solidFill>
                <a:srgbClr val="158864"/>
              </a:solidFill>
            </p:grpSpPr>
            <p:sp>
              <p:nvSpPr>
                <p:cNvPr id="64" name="Freeform: Shape 860">
                  <a:extLst>
                    <a:ext uri="{FF2B5EF4-FFF2-40B4-BE49-F238E27FC236}">
                      <a16:creationId xmlns:a16="http://schemas.microsoft.com/office/drawing/2014/main" id="{333F1613-62D1-DA8F-1DB1-86F7871D2537}"/>
                    </a:ext>
                  </a:extLst>
                </p:cNvPr>
                <p:cNvSpPr/>
                <p:nvPr/>
              </p:nvSpPr>
              <p:spPr>
                <a:xfrm rot="-2400002">
                  <a:off x="5867387" y="2863975"/>
                  <a:ext cx="10667" cy="163639"/>
                </a:xfrm>
                <a:custGeom>
                  <a:avLst/>
                  <a:gdLst>
                    <a:gd name="connsiteX0" fmla="*/ 0 w 10667"/>
                    <a:gd name="connsiteY0" fmla="*/ 0 h 163639"/>
                    <a:gd name="connsiteX1" fmla="*/ 10668 w 10667"/>
                    <a:gd name="connsiteY1" fmla="*/ 0 h 163639"/>
                    <a:gd name="connsiteX2" fmla="*/ 10668 w 10667"/>
                    <a:gd name="connsiteY2" fmla="*/ 163639 h 163639"/>
                    <a:gd name="connsiteX3" fmla="*/ 0 w 10667"/>
                    <a:gd name="connsiteY3" fmla="*/ 163639 h 163639"/>
                  </a:gdLst>
                  <a:ahLst/>
                  <a:cxnLst>
                    <a:cxn ang="0">
                      <a:pos x="connsiteX0" y="connsiteY0"/>
                    </a:cxn>
                    <a:cxn ang="0">
                      <a:pos x="connsiteX1" y="connsiteY1"/>
                    </a:cxn>
                    <a:cxn ang="0">
                      <a:pos x="connsiteX2" y="connsiteY2"/>
                    </a:cxn>
                    <a:cxn ang="0">
                      <a:pos x="connsiteX3" y="connsiteY3"/>
                    </a:cxn>
                  </a:cxnLst>
                  <a:rect l="l" t="t" r="r" b="b"/>
                  <a:pathLst>
                    <a:path w="10667" h="163639">
                      <a:moveTo>
                        <a:pt x="0" y="0"/>
                      </a:moveTo>
                      <a:lnTo>
                        <a:pt x="10668" y="0"/>
                      </a:lnTo>
                      <a:lnTo>
                        <a:pt x="10668" y="163639"/>
                      </a:lnTo>
                      <a:lnTo>
                        <a:pt x="0" y="163639"/>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65" name="Freeform: Shape 861">
                  <a:extLst>
                    <a:ext uri="{FF2B5EF4-FFF2-40B4-BE49-F238E27FC236}">
                      <a16:creationId xmlns:a16="http://schemas.microsoft.com/office/drawing/2014/main" id="{0FDD0046-8AF5-10C2-1883-DC3DB806D75B}"/>
                    </a:ext>
                  </a:extLst>
                </p:cNvPr>
                <p:cNvSpPr/>
                <p:nvPr/>
              </p:nvSpPr>
              <p:spPr>
                <a:xfrm rot="-2400002">
                  <a:off x="6277140" y="3352378"/>
                  <a:ext cx="10667" cy="163639"/>
                </a:xfrm>
                <a:custGeom>
                  <a:avLst/>
                  <a:gdLst>
                    <a:gd name="connsiteX0" fmla="*/ 0 w 10667"/>
                    <a:gd name="connsiteY0" fmla="*/ 0 h 163639"/>
                    <a:gd name="connsiteX1" fmla="*/ 10668 w 10667"/>
                    <a:gd name="connsiteY1" fmla="*/ 0 h 163639"/>
                    <a:gd name="connsiteX2" fmla="*/ 10668 w 10667"/>
                    <a:gd name="connsiteY2" fmla="*/ 163640 h 163639"/>
                    <a:gd name="connsiteX3" fmla="*/ 0 w 10667"/>
                    <a:gd name="connsiteY3" fmla="*/ 163640 h 163639"/>
                  </a:gdLst>
                  <a:ahLst/>
                  <a:cxnLst>
                    <a:cxn ang="0">
                      <a:pos x="connsiteX0" y="connsiteY0"/>
                    </a:cxn>
                    <a:cxn ang="0">
                      <a:pos x="connsiteX1" y="connsiteY1"/>
                    </a:cxn>
                    <a:cxn ang="0">
                      <a:pos x="connsiteX2" y="connsiteY2"/>
                    </a:cxn>
                    <a:cxn ang="0">
                      <a:pos x="connsiteX3" y="connsiteY3"/>
                    </a:cxn>
                  </a:cxnLst>
                  <a:rect l="l" t="t" r="r" b="b"/>
                  <a:pathLst>
                    <a:path w="10667" h="163639">
                      <a:moveTo>
                        <a:pt x="0" y="0"/>
                      </a:moveTo>
                      <a:lnTo>
                        <a:pt x="10668" y="0"/>
                      </a:lnTo>
                      <a:lnTo>
                        <a:pt x="10668" y="163640"/>
                      </a:lnTo>
                      <a:lnTo>
                        <a:pt x="0" y="163640"/>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52" name="Graphic 726">
                <a:extLst>
                  <a:ext uri="{FF2B5EF4-FFF2-40B4-BE49-F238E27FC236}">
                    <a16:creationId xmlns:a16="http://schemas.microsoft.com/office/drawing/2014/main" id="{E5340BD4-F215-BBC1-D76C-46E86EC4377C}"/>
                  </a:ext>
                </a:extLst>
              </p:cNvPr>
              <p:cNvGrpSpPr/>
              <p:nvPr/>
            </p:nvGrpSpPr>
            <p:grpSpPr>
              <a:xfrm>
                <a:off x="5872613" y="2840398"/>
                <a:ext cx="409868" cy="699199"/>
                <a:chOff x="5872613" y="2840398"/>
                <a:chExt cx="409868" cy="699199"/>
              </a:xfrm>
              <a:solidFill>
                <a:srgbClr val="158864"/>
              </a:solidFill>
            </p:grpSpPr>
            <p:sp>
              <p:nvSpPr>
                <p:cNvPr id="62" name="Freeform: Shape 863">
                  <a:extLst>
                    <a:ext uri="{FF2B5EF4-FFF2-40B4-BE49-F238E27FC236}">
                      <a16:creationId xmlns:a16="http://schemas.microsoft.com/office/drawing/2014/main" id="{3B8C9D03-1FFA-847D-A203-DB9A0BABA67F}"/>
                    </a:ext>
                  </a:extLst>
                </p:cNvPr>
                <p:cNvSpPr/>
                <p:nvPr/>
              </p:nvSpPr>
              <p:spPr>
                <a:xfrm rot="-1800001">
                  <a:off x="5912808" y="2832104"/>
                  <a:ext cx="10667" cy="163639"/>
                </a:xfrm>
                <a:custGeom>
                  <a:avLst/>
                  <a:gdLst>
                    <a:gd name="connsiteX0" fmla="*/ 0 w 10667"/>
                    <a:gd name="connsiteY0" fmla="*/ 0 h 163639"/>
                    <a:gd name="connsiteX1" fmla="*/ 10668 w 10667"/>
                    <a:gd name="connsiteY1" fmla="*/ 0 h 163639"/>
                    <a:gd name="connsiteX2" fmla="*/ 10668 w 10667"/>
                    <a:gd name="connsiteY2" fmla="*/ 163639 h 163639"/>
                    <a:gd name="connsiteX3" fmla="*/ 0 w 10667"/>
                    <a:gd name="connsiteY3" fmla="*/ 163639 h 163639"/>
                  </a:gdLst>
                  <a:ahLst/>
                  <a:cxnLst>
                    <a:cxn ang="0">
                      <a:pos x="connsiteX0" y="connsiteY0"/>
                    </a:cxn>
                    <a:cxn ang="0">
                      <a:pos x="connsiteX1" y="connsiteY1"/>
                    </a:cxn>
                    <a:cxn ang="0">
                      <a:pos x="connsiteX2" y="connsiteY2"/>
                    </a:cxn>
                    <a:cxn ang="0">
                      <a:pos x="connsiteX3" y="connsiteY3"/>
                    </a:cxn>
                  </a:cxnLst>
                  <a:rect l="l" t="t" r="r" b="b"/>
                  <a:pathLst>
                    <a:path w="10667" h="163639">
                      <a:moveTo>
                        <a:pt x="0" y="0"/>
                      </a:moveTo>
                      <a:lnTo>
                        <a:pt x="10668" y="0"/>
                      </a:lnTo>
                      <a:lnTo>
                        <a:pt x="10668" y="163639"/>
                      </a:lnTo>
                      <a:lnTo>
                        <a:pt x="0" y="163639"/>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63" name="Freeform: Shape 864">
                  <a:extLst>
                    <a:ext uri="{FF2B5EF4-FFF2-40B4-BE49-F238E27FC236}">
                      <a16:creationId xmlns:a16="http://schemas.microsoft.com/office/drawing/2014/main" id="{734A6B66-BDE0-4EA2-55F6-648A087816AB}"/>
                    </a:ext>
                  </a:extLst>
                </p:cNvPr>
                <p:cNvSpPr/>
                <p:nvPr/>
              </p:nvSpPr>
              <p:spPr>
                <a:xfrm rot="-1800001">
                  <a:off x="6231618" y="3384253"/>
                  <a:ext cx="10667" cy="163639"/>
                </a:xfrm>
                <a:custGeom>
                  <a:avLst/>
                  <a:gdLst>
                    <a:gd name="connsiteX0" fmla="*/ 0 w 10667"/>
                    <a:gd name="connsiteY0" fmla="*/ 0 h 163639"/>
                    <a:gd name="connsiteX1" fmla="*/ 10668 w 10667"/>
                    <a:gd name="connsiteY1" fmla="*/ 0 h 163639"/>
                    <a:gd name="connsiteX2" fmla="*/ 10668 w 10667"/>
                    <a:gd name="connsiteY2" fmla="*/ 163639 h 163639"/>
                    <a:gd name="connsiteX3" fmla="*/ 0 w 10667"/>
                    <a:gd name="connsiteY3" fmla="*/ 163639 h 163639"/>
                  </a:gdLst>
                  <a:ahLst/>
                  <a:cxnLst>
                    <a:cxn ang="0">
                      <a:pos x="connsiteX0" y="connsiteY0"/>
                    </a:cxn>
                    <a:cxn ang="0">
                      <a:pos x="connsiteX1" y="connsiteY1"/>
                    </a:cxn>
                    <a:cxn ang="0">
                      <a:pos x="connsiteX2" y="connsiteY2"/>
                    </a:cxn>
                    <a:cxn ang="0">
                      <a:pos x="connsiteX3" y="connsiteY3"/>
                    </a:cxn>
                  </a:cxnLst>
                  <a:rect l="l" t="t" r="r" b="b"/>
                  <a:pathLst>
                    <a:path w="10667" h="163639">
                      <a:moveTo>
                        <a:pt x="0" y="0"/>
                      </a:moveTo>
                      <a:lnTo>
                        <a:pt x="10668" y="0"/>
                      </a:lnTo>
                      <a:lnTo>
                        <a:pt x="10668" y="163639"/>
                      </a:lnTo>
                      <a:lnTo>
                        <a:pt x="0" y="163639"/>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53" name="Graphic 726">
                <a:extLst>
                  <a:ext uri="{FF2B5EF4-FFF2-40B4-BE49-F238E27FC236}">
                    <a16:creationId xmlns:a16="http://schemas.microsoft.com/office/drawing/2014/main" id="{B1CD89FA-EC83-D348-CD9E-48AA00AAA94C}"/>
                  </a:ext>
                </a:extLst>
              </p:cNvPr>
              <p:cNvGrpSpPr/>
              <p:nvPr/>
            </p:nvGrpSpPr>
            <p:grpSpPr>
              <a:xfrm>
                <a:off x="5935594" y="2811692"/>
                <a:ext cx="283949" cy="756521"/>
                <a:chOff x="5935594" y="2811692"/>
                <a:chExt cx="283949" cy="756521"/>
              </a:xfrm>
              <a:solidFill>
                <a:srgbClr val="158864"/>
              </a:solidFill>
            </p:grpSpPr>
            <p:sp>
              <p:nvSpPr>
                <p:cNvPr id="60" name="Freeform: Shape 866">
                  <a:extLst>
                    <a:ext uri="{FF2B5EF4-FFF2-40B4-BE49-F238E27FC236}">
                      <a16:creationId xmlns:a16="http://schemas.microsoft.com/office/drawing/2014/main" id="{12377343-E2C4-D109-693D-01A443353819}"/>
                    </a:ext>
                  </a:extLst>
                </p:cNvPr>
                <p:cNvSpPr/>
                <p:nvPr/>
              </p:nvSpPr>
              <p:spPr>
                <a:xfrm rot="-1199999">
                  <a:off x="5963257" y="2808582"/>
                  <a:ext cx="10668" cy="163639"/>
                </a:xfrm>
                <a:custGeom>
                  <a:avLst/>
                  <a:gdLst>
                    <a:gd name="connsiteX0" fmla="*/ 0 w 10668"/>
                    <a:gd name="connsiteY0" fmla="*/ 0 h 163639"/>
                    <a:gd name="connsiteX1" fmla="*/ 10668 w 10668"/>
                    <a:gd name="connsiteY1" fmla="*/ 0 h 163639"/>
                    <a:gd name="connsiteX2" fmla="*/ 10668 w 10668"/>
                    <a:gd name="connsiteY2" fmla="*/ 163639 h 163639"/>
                    <a:gd name="connsiteX3" fmla="*/ 0 w 10668"/>
                    <a:gd name="connsiteY3" fmla="*/ 163639 h 163639"/>
                  </a:gdLst>
                  <a:ahLst/>
                  <a:cxnLst>
                    <a:cxn ang="0">
                      <a:pos x="connsiteX0" y="connsiteY0"/>
                    </a:cxn>
                    <a:cxn ang="0">
                      <a:pos x="connsiteX1" y="connsiteY1"/>
                    </a:cxn>
                    <a:cxn ang="0">
                      <a:pos x="connsiteX2" y="connsiteY2"/>
                    </a:cxn>
                    <a:cxn ang="0">
                      <a:pos x="connsiteX3" y="connsiteY3"/>
                    </a:cxn>
                  </a:cxnLst>
                  <a:rect l="l" t="t" r="r" b="b"/>
                  <a:pathLst>
                    <a:path w="10668" h="163639">
                      <a:moveTo>
                        <a:pt x="0" y="0"/>
                      </a:moveTo>
                      <a:lnTo>
                        <a:pt x="10668" y="0"/>
                      </a:lnTo>
                      <a:lnTo>
                        <a:pt x="10668" y="163639"/>
                      </a:lnTo>
                      <a:lnTo>
                        <a:pt x="0" y="163639"/>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61" name="Freeform: Shape 867">
                  <a:extLst>
                    <a:ext uri="{FF2B5EF4-FFF2-40B4-BE49-F238E27FC236}">
                      <a16:creationId xmlns:a16="http://schemas.microsoft.com/office/drawing/2014/main" id="{2C0D1720-9370-7889-51FA-5A791C6D4121}"/>
                    </a:ext>
                  </a:extLst>
                </p:cNvPr>
                <p:cNvSpPr/>
                <p:nvPr/>
              </p:nvSpPr>
              <p:spPr>
                <a:xfrm rot="-1199999">
                  <a:off x="6181214" y="3407684"/>
                  <a:ext cx="10668" cy="163639"/>
                </a:xfrm>
                <a:custGeom>
                  <a:avLst/>
                  <a:gdLst>
                    <a:gd name="connsiteX0" fmla="*/ 0 w 10668"/>
                    <a:gd name="connsiteY0" fmla="*/ 0 h 163639"/>
                    <a:gd name="connsiteX1" fmla="*/ 10668 w 10668"/>
                    <a:gd name="connsiteY1" fmla="*/ 0 h 163639"/>
                    <a:gd name="connsiteX2" fmla="*/ 10668 w 10668"/>
                    <a:gd name="connsiteY2" fmla="*/ 163640 h 163639"/>
                    <a:gd name="connsiteX3" fmla="*/ 0 w 10668"/>
                    <a:gd name="connsiteY3" fmla="*/ 163640 h 163639"/>
                  </a:gdLst>
                  <a:ahLst/>
                  <a:cxnLst>
                    <a:cxn ang="0">
                      <a:pos x="connsiteX0" y="connsiteY0"/>
                    </a:cxn>
                    <a:cxn ang="0">
                      <a:pos x="connsiteX1" y="connsiteY1"/>
                    </a:cxn>
                    <a:cxn ang="0">
                      <a:pos x="connsiteX2" y="connsiteY2"/>
                    </a:cxn>
                    <a:cxn ang="0">
                      <a:pos x="connsiteX3" y="connsiteY3"/>
                    </a:cxn>
                  </a:cxnLst>
                  <a:rect l="l" t="t" r="r" b="b"/>
                  <a:pathLst>
                    <a:path w="10668" h="163639">
                      <a:moveTo>
                        <a:pt x="0" y="0"/>
                      </a:moveTo>
                      <a:lnTo>
                        <a:pt x="10668" y="0"/>
                      </a:lnTo>
                      <a:lnTo>
                        <a:pt x="10668" y="163640"/>
                      </a:lnTo>
                      <a:lnTo>
                        <a:pt x="0" y="163640"/>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54" name="Graphic 726">
                <a:extLst>
                  <a:ext uri="{FF2B5EF4-FFF2-40B4-BE49-F238E27FC236}">
                    <a16:creationId xmlns:a16="http://schemas.microsoft.com/office/drawing/2014/main" id="{FB7B1049-2924-4A61-3052-F494F05F31C9}"/>
                  </a:ext>
                </a:extLst>
              </p:cNvPr>
              <p:cNvGrpSpPr/>
              <p:nvPr/>
            </p:nvGrpSpPr>
            <p:grpSpPr>
              <a:xfrm>
                <a:off x="6002701" y="2794448"/>
                <a:ext cx="149699" cy="790884"/>
                <a:chOff x="6002701" y="2794448"/>
                <a:chExt cx="149699" cy="790884"/>
              </a:xfrm>
              <a:solidFill>
                <a:srgbClr val="158864"/>
              </a:solidFill>
            </p:grpSpPr>
            <p:sp>
              <p:nvSpPr>
                <p:cNvPr id="58" name="Freeform: Shape 869">
                  <a:extLst>
                    <a:ext uri="{FF2B5EF4-FFF2-40B4-BE49-F238E27FC236}">
                      <a16:creationId xmlns:a16="http://schemas.microsoft.com/office/drawing/2014/main" id="{5F7521D6-E943-A0B0-B489-DCD3C564C2F3}"/>
                    </a:ext>
                  </a:extLst>
                </p:cNvPr>
                <p:cNvSpPr/>
                <p:nvPr/>
              </p:nvSpPr>
              <p:spPr>
                <a:xfrm rot="-599999">
                  <a:off x="6016828" y="2794132"/>
                  <a:ext cx="10668" cy="163639"/>
                </a:xfrm>
                <a:custGeom>
                  <a:avLst/>
                  <a:gdLst>
                    <a:gd name="connsiteX0" fmla="*/ 0 w 10668"/>
                    <a:gd name="connsiteY0" fmla="*/ 0 h 163639"/>
                    <a:gd name="connsiteX1" fmla="*/ 10668 w 10668"/>
                    <a:gd name="connsiteY1" fmla="*/ 0 h 163639"/>
                    <a:gd name="connsiteX2" fmla="*/ 10668 w 10668"/>
                    <a:gd name="connsiteY2" fmla="*/ 163640 h 163639"/>
                    <a:gd name="connsiteX3" fmla="*/ 0 w 10668"/>
                    <a:gd name="connsiteY3" fmla="*/ 163640 h 163639"/>
                  </a:gdLst>
                  <a:ahLst/>
                  <a:cxnLst>
                    <a:cxn ang="0">
                      <a:pos x="connsiteX0" y="connsiteY0"/>
                    </a:cxn>
                    <a:cxn ang="0">
                      <a:pos x="connsiteX1" y="connsiteY1"/>
                    </a:cxn>
                    <a:cxn ang="0">
                      <a:pos x="connsiteX2" y="connsiteY2"/>
                    </a:cxn>
                    <a:cxn ang="0">
                      <a:pos x="connsiteX3" y="connsiteY3"/>
                    </a:cxn>
                  </a:cxnLst>
                  <a:rect l="l" t="t" r="r" b="b"/>
                  <a:pathLst>
                    <a:path w="10668" h="163639">
                      <a:moveTo>
                        <a:pt x="0" y="0"/>
                      </a:moveTo>
                      <a:lnTo>
                        <a:pt x="10668" y="0"/>
                      </a:lnTo>
                      <a:lnTo>
                        <a:pt x="10668" y="163640"/>
                      </a:lnTo>
                      <a:lnTo>
                        <a:pt x="0" y="163640"/>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59" name="Freeform: Shape 870">
                  <a:extLst>
                    <a:ext uri="{FF2B5EF4-FFF2-40B4-BE49-F238E27FC236}">
                      <a16:creationId xmlns:a16="http://schemas.microsoft.com/office/drawing/2014/main" id="{5109A284-1914-3B3C-16C5-B1FC72B9169B}"/>
                    </a:ext>
                  </a:extLst>
                </p:cNvPr>
                <p:cNvSpPr/>
                <p:nvPr/>
              </p:nvSpPr>
              <p:spPr>
                <a:xfrm rot="-599999">
                  <a:off x="6127606" y="3422010"/>
                  <a:ext cx="10668" cy="163639"/>
                </a:xfrm>
                <a:custGeom>
                  <a:avLst/>
                  <a:gdLst>
                    <a:gd name="connsiteX0" fmla="*/ 0 w 10668"/>
                    <a:gd name="connsiteY0" fmla="*/ 0 h 163639"/>
                    <a:gd name="connsiteX1" fmla="*/ 10668 w 10668"/>
                    <a:gd name="connsiteY1" fmla="*/ 0 h 163639"/>
                    <a:gd name="connsiteX2" fmla="*/ 10668 w 10668"/>
                    <a:gd name="connsiteY2" fmla="*/ 163639 h 163639"/>
                    <a:gd name="connsiteX3" fmla="*/ 0 w 10668"/>
                    <a:gd name="connsiteY3" fmla="*/ 163639 h 163639"/>
                  </a:gdLst>
                  <a:ahLst/>
                  <a:cxnLst>
                    <a:cxn ang="0">
                      <a:pos x="connsiteX0" y="connsiteY0"/>
                    </a:cxn>
                    <a:cxn ang="0">
                      <a:pos x="connsiteX1" y="connsiteY1"/>
                    </a:cxn>
                    <a:cxn ang="0">
                      <a:pos x="connsiteX2" y="connsiteY2"/>
                    </a:cxn>
                    <a:cxn ang="0">
                      <a:pos x="connsiteX3" y="connsiteY3"/>
                    </a:cxn>
                  </a:cxnLst>
                  <a:rect l="l" t="t" r="r" b="b"/>
                  <a:pathLst>
                    <a:path w="10668" h="163639">
                      <a:moveTo>
                        <a:pt x="0" y="0"/>
                      </a:moveTo>
                      <a:lnTo>
                        <a:pt x="10668" y="0"/>
                      </a:lnTo>
                      <a:lnTo>
                        <a:pt x="10668" y="163639"/>
                      </a:lnTo>
                      <a:lnTo>
                        <a:pt x="0" y="163639"/>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55" name="Graphic 726">
                <a:extLst>
                  <a:ext uri="{FF2B5EF4-FFF2-40B4-BE49-F238E27FC236}">
                    <a16:creationId xmlns:a16="http://schemas.microsoft.com/office/drawing/2014/main" id="{B8488598-579B-FFB2-2D6F-450487CE4CA6}"/>
                  </a:ext>
                </a:extLst>
              </p:cNvPr>
              <p:cNvGrpSpPr/>
              <p:nvPr/>
            </p:nvGrpSpPr>
            <p:grpSpPr>
              <a:xfrm>
                <a:off x="6072282" y="2789396"/>
                <a:ext cx="10668" cy="801147"/>
                <a:chOff x="6072282" y="2789396"/>
                <a:chExt cx="10668" cy="801147"/>
              </a:xfrm>
              <a:solidFill>
                <a:srgbClr val="158864"/>
              </a:solidFill>
            </p:grpSpPr>
            <p:sp>
              <p:nvSpPr>
                <p:cNvPr id="56" name="Freeform: Shape 872">
                  <a:extLst>
                    <a:ext uri="{FF2B5EF4-FFF2-40B4-BE49-F238E27FC236}">
                      <a16:creationId xmlns:a16="http://schemas.microsoft.com/office/drawing/2014/main" id="{B5DE4935-BCFC-52A5-82B3-936061C3C5BB}"/>
                    </a:ext>
                  </a:extLst>
                </p:cNvPr>
                <p:cNvSpPr/>
                <p:nvPr/>
              </p:nvSpPr>
              <p:spPr>
                <a:xfrm>
                  <a:off x="6072282" y="2789396"/>
                  <a:ext cx="10668" cy="163639"/>
                </a:xfrm>
                <a:custGeom>
                  <a:avLst/>
                  <a:gdLst>
                    <a:gd name="connsiteX0" fmla="*/ 0 w 10668"/>
                    <a:gd name="connsiteY0" fmla="*/ 0 h 163639"/>
                    <a:gd name="connsiteX1" fmla="*/ 10668 w 10668"/>
                    <a:gd name="connsiteY1" fmla="*/ 0 h 163639"/>
                    <a:gd name="connsiteX2" fmla="*/ 10668 w 10668"/>
                    <a:gd name="connsiteY2" fmla="*/ 163639 h 163639"/>
                    <a:gd name="connsiteX3" fmla="*/ 0 w 10668"/>
                    <a:gd name="connsiteY3" fmla="*/ 163639 h 163639"/>
                  </a:gdLst>
                  <a:ahLst/>
                  <a:cxnLst>
                    <a:cxn ang="0">
                      <a:pos x="connsiteX0" y="connsiteY0"/>
                    </a:cxn>
                    <a:cxn ang="0">
                      <a:pos x="connsiteX1" y="connsiteY1"/>
                    </a:cxn>
                    <a:cxn ang="0">
                      <a:pos x="connsiteX2" y="connsiteY2"/>
                    </a:cxn>
                    <a:cxn ang="0">
                      <a:pos x="connsiteX3" y="connsiteY3"/>
                    </a:cxn>
                  </a:cxnLst>
                  <a:rect l="l" t="t" r="r" b="b"/>
                  <a:pathLst>
                    <a:path w="10668" h="163639">
                      <a:moveTo>
                        <a:pt x="0" y="0"/>
                      </a:moveTo>
                      <a:lnTo>
                        <a:pt x="10668" y="0"/>
                      </a:lnTo>
                      <a:lnTo>
                        <a:pt x="10668" y="163639"/>
                      </a:lnTo>
                      <a:lnTo>
                        <a:pt x="0" y="163639"/>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57" name="Freeform: Shape 873">
                  <a:extLst>
                    <a:ext uri="{FF2B5EF4-FFF2-40B4-BE49-F238E27FC236}">
                      <a16:creationId xmlns:a16="http://schemas.microsoft.com/office/drawing/2014/main" id="{B602750B-57F6-7F00-7468-F6ADD9981A6D}"/>
                    </a:ext>
                  </a:extLst>
                </p:cNvPr>
                <p:cNvSpPr/>
                <p:nvPr/>
              </p:nvSpPr>
              <p:spPr>
                <a:xfrm>
                  <a:off x="6072282" y="3426904"/>
                  <a:ext cx="10668" cy="163639"/>
                </a:xfrm>
                <a:custGeom>
                  <a:avLst/>
                  <a:gdLst>
                    <a:gd name="connsiteX0" fmla="*/ 0 w 10668"/>
                    <a:gd name="connsiteY0" fmla="*/ 0 h 163639"/>
                    <a:gd name="connsiteX1" fmla="*/ 10668 w 10668"/>
                    <a:gd name="connsiteY1" fmla="*/ 0 h 163639"/>
                    <a:gd name="connsiteX2" fmla="*/ 10668 w 10668"/>
                    <a:gd name="connsiteY2" fmla="*/ 163639 h 163639"/>
                    <a:gd name="connsiteX3" fmla="*/ 0 w 10668"/>
                    <a:gd name="connsiteY3" fmla="*/ 163639 h 163639"/>
                  </a:gdLst>
                  <a:ahLst/>
                  <a:cxnLst>
                    <a:cxn ang="0">
                      <a:pos x="connsiteX0" y="connsiteY0"/>
                    </a:cxn>
                    <a:cxn ang="0">
                      <a:pos x="connsiteX1" y="connsiteY1"/>
                    </a:cxn>
                    <a:cxn ang="0">
                      <a:pos x="connsiteX2" y="connsiteY2"/>
                    </a:cxn>
                    <a:cxn ang="0">
                      <a:pos x="connsiteX3" y="connsiteY3"/>
                    </a:cxn>
                  </a:cxnLst>
                  <a:rect l="l" t="t" r="r" b="b"/>
                  <a:pathLst>
                    <a:path w="10668" h="163639">
                      <a:moveTo>
                        <a:pt x="0" y="0"/>
                      </a:moveTo>
                      <a:lnTo>
                        <a:pt x="10668" y="0"/>
                      </a:lnTo>
                      <a:lnTo>
                        <a:pt x="10668" y="163639"/>
                      </a:lnTo>
                      <a:lnTo>
                        <a:pt x="0" y="163639"/>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sp>
          <p:nvSpPr>
            <p:cNvPr id="37" name="TextBox 36">
              <a:extLst>
                <a:ext uri="{FF2B5EF4-FFF2-40B4-BE49-F238E27FC236}">
                  <a16:creationId xmlns:a16="http://schemas.microsoft.com/office/drawing/2014/main" id="{45C29999-35EA-AD7F-C870-13228609FE4D}"/>
                </a:ext>
              </a:extLst>
            </p:cNvPr>
            <p:cNvSpPr txBox="1"/>
            <p:nvPr/>
          </p:nvSpPr>
          <p:spPr>
            <a:xfrm>
              <a:off x="5856559" y="3536845"/>
              <a:ext cx="371525" cy="14159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158864"/>
                  </a:solidFill>
                  <a:effectLst/>
                  <a:uLnTx/>
                  <a:uFillTx/>
                  <a:latin typeface="Calibri" panose="020F0502020204030204"/>
                  <a:ea typeface="+mn-ea"/>
                  <a:cs typeface="+mn-cs"/>
                </a:rPr>
                <a:t>SPACE</a:t>
              </a:r>
              <a:endParaRPr kumimoji="0" lang="en-US" sz="800" b="0" i="0" u="none" strike="noStrike" kern="1200" cap="none" spc="0" normalizeH="0" baseline="0" noProof="0">
                <a:ln>
                  <a:noFill/>
                </a:ln>
                <a:solidFill>
                  <a:srgbClr val="158864"/>
                </a:solidFill>
                <a:effectLst/>
                <a:uLnTx/>
                <a:uFillTx/>
                <a:latin typeface="Calibri" panose="020F0502020204030204"/>
                <a:ea typeface="+mn-ea"/>
                <a:cs typeface="+mn-cs"/>
              </a:endParaRPr>
            </a:p>
          </p:txBody>
        </p:sp>
      </p:grpSp>
      <p:grpSp>
        <p:nvGrpSpPr>
          <p:cNvPr id="96" name="Group 95">
            <a:extLst>
              <a:ext uri="{FF2B5EF4-FFF2-40B4-BE49-F238E27FC236}">
                <a16:creationId xmlns:a16="http://schemas.microsoft.com/office/drawing/2014/main" id="{9BF92532-D58D-CFBB-0286-121C69F7360E}"/>
              </a:ext>
            </a:extLst>
          </p:cNvPr>
          <p:cNvGrpSpPr/>
          <p:nvPr/>
        </p:nvGrpSpPr>
        <p:grpSpPr>
          <a:xfrm>
            <a:off x="2661587" y="1528962"/>
            <a:ext cx="6651140" cy="1369999"/>
            <a:chOff x="2670063" y="1732447"/>
            <a:chExt cx="6651140" cy="1369999"/>
          </a:xfrm>
        </p:grpSpPr>
        <p:grpSp>
          <p:nvGrpSpPr>
            <p:cNvPr id="97" name="Graphic 726">
              <a:extLst>
                <a:ext uri="{FF2B5EF4-FFF2-40B4-BE49-F238E27FC236}">
                  <a16:creationId xmlns:a16="http://schemas.microsoft.com/office/drawing/2014/main" id="{833EE81D-4992-7276-21A7-86C011DF42EB}"/>
                </a:ext>
              </a:extLst>
            </p:cNvPr>
            <p:cNvGrpSpPr/>
            <p:nvPr/>
          </p:nvGrpSpPr>
          <p:grpSpPr>
            <a:xfrm>
              <a:off x="4931598" y="2479885"/>
              <a:ext cx="2267251" cy="622561"/>
              <a:chOff x="4906051" y="1997446"/>
              <a:chExt cx="2390430" cy="656384"/>
            </a:xfrm>
          </p:grpSpPr>
          <p:sp>
            <p:nvSpPr>
              <p:cNvPr id="104" name="Freeform: Shape 939">
                <a:extLst>
                  <a:ext uri="{FF2B5EF4-FFF2-40B4-BE49-F238E27FC236}">
                    <a16:creationId xmlns:a16="http://schemas.microsoft.com/office/drawing/2014/main" id="{37607EF3-AC8B-55B6-C120-90B7B84F8305}"/>
                  </a:ext>
                </a:extLst>
              </p:cNvPr>
              <p:cNvSpPr/>
              <p:nvPr/>
            </p:nvSpPr>
            <p:spPr>
              <a:xfrm>
                <a:off x="4906051" y="1997446"/>
                <a:ext cx="648271" cy="648366"/>
              </a:xfrm>
              <a:custGeom>
                <a:avLst/>
                <a:gdLst>
                  <a:gd name="connsiteX0" fmla="*/ 648271 w 648271"/>
                  <a:gd name="connsiteY0" fmla="*/ 648367 h 648366"/>
                  <a:gd name="connsiteX1" fmla="*/ 0 w 648271"/>
                  <a:gd name="connsiteY1" fmla="*/ 0 h 648366"/>
                </a:gdLst>
                <a:ahLst/>
                <a:cxnLst>
                  <a:cxn ang="0">
                    <a:pos x="connsiteX0" y="connsiteY0"/>
                  </a:cxn>
                  <a:cxn ang="0">
                    <a:pos x="connsiteX1" y="connsiteY1"/>
                  </a:cxn>
                </a:cxnLst>
                <a:rect l="l" t="t" r="r" b="b"/>
                <a:pathLst>
                  <a:path w="648271" h="648366">
                    <a:moveTo>
                      <a:pt x="648271" y="648367"/>
                    </a:moveTo>
                    <a:lnTo>
                      <a:pt x="0" y="0"/>
                    </a:lnTo>
                  </a:path>
                </a:pathLst>
              </a:custGeom>
              <a:ln w="10001" cap="flat">
                <a:solidFill>
                  <a:srgbClr val="15886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105" name="Freeform: Shape 940">
                <a:extLst>
                  <a:ext uri="{FF2B5EF4-FFF2-40B4-BE49-F238E27FC236}">
                    <a16:creationId xmlns:a16="http://schemas.microsoft.com/office/drawing/2014/main" id="{0E7E3DFD-7C2E-C81F-9BA5-8C294FF981CC}"/>
                  </a:ext>
                </a:extLst>
              </p:cNvPr>
              <p:cNvSpPr/>
              <p:nvPr/>
            </p:nvSpPr>
            <p:spPr>
              <a:xfrm>
                <a:off x="6648210" y="2005464"/>
                <a:ext cx="648271" cy="648366"/>
              </a:xfrm>
              <a:custGeom>
                <a:avLst/>
                <a:gdLst>
                  <a:gd name="connsiteX0" fmla="*/ 648272 w 648271"/>
                  <a:gd name="connsiteY0" fmla="*/ 0 h 648366"/>
                  <a:gd name="connsiteX1" fmla="*/ 0 w 648271"/>
                  <a:gd name="connsiteY1" fmla="*/ 648367 h 648366"/>
                </a:gdLst>
                <a:ahLst/>
                <a:cxnLst>
                  <a:cxn ang="0">
                    <a:pos x="connsiteX0" y="connsiteY0"/>
                  </a:cxn>
                  <a:cxn ang="0">
                    <a:pos x="connsiteX1" y="connsiteY1"/>
                  </a:cxn>
                </a:cxnLst>
                <a:rect l="l" t="t" r="r" b="b"/>
                <a:pathLst>
                  <a:path w="648271" h="648366">
                    <a:moveTo>
                      <a:pt x="648272" y="0"/>
                    </a:moveTo>
                    <a:lnTo>
                      <a:pt x="0" y="648367"/>
                    </a:lnTo>
                  </a:path>
                </a:pathLst>
              </a:custGeom>
              <a:ln w="10001" cap="flat">
                <a:solidFill>
                  <a:srgbClr val="15886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98" name="Group 97">
              <a:extLst>
                <a:ext uri="{FF2B5EF4-FFF2-40B4-BE49-F238E27FC236}">
                  <a16:creationId xmlns:a16="http://schemas.microsoft.com/office/drawing/2014/main" id="{39778752-9555-35B1-F6D4-9FC283E0F414}"/>
                </a:ext>
              </a:extLst>
            </p:cNvPr>
            <p:cNvGrpSpPr/>
            <p:nvPr/>
          </p:nvGrpSpPr>
          <p:grpSpPr>
            <a:xfrm>
              <a:off x="6079651" y="1736610"/>
              <a:ext cx="3241552" cy="727233"/>
              <a:chOff x="6079651" y="1736610"/>
              <a:chExt cx="3241552" cy="727233"/>
            </a:xfrm>
          </p:grpSpPr>
          <p:sp>
            <p:nvSpPr>
              <p:cNvPr id="102" name="Freeform: Shape 729">
                <a:extLst>
                  <a:ext uri="{FF2B5EF4-FFF2-40B4-BE49-F238E27FC236}">
                    <a16:creationId xmlns:a16="http://schemas.microsoft.com/office/drawing/2014/main" id="{8E75BF32-0420-5373-0DF8-E575B5DCFB26}"/>
                  </a:ext>
                </a:extLst>
              </p:cNvPr>
              <p:cNvSpPr/>
              <p:nvPr/>
            </p:nvSpPr>
            <p:spPr>
              <a:xfrm>
                <a:off x="6079651" y="1875447"/>
                <a:ext cx="3241552" cy="588396"/>
              </a:xfrm>
              <a:custGeom>
                <a:avLst/>
                <a:gdLst>
                  <a:gd name="connsiteX0" fmla="*/ 3372707 w 3417665"/>
                  <a:gd name="connsiteY0" fmla="*/ 0 h 620363"/>
                  <a:gd name="connsiteX1" fmla="*/ 3417665 w 3417665"/>
                  <a:gd name="connsiteY1" fmla="*/ 44958 h 620363"/>
                  <a:gd name="connsiteX2" fmla="*/ 3417665 w 3417665"/>
                  <a:gd name="connsiteY2" fmla="*/ 575405 h 620363"/>
                  <a:gd name="connsiteX3" fmla="*/ 3372707 w 3417665"/>
                  <a:gd name="connsiteY3" fmla="*/ 620363 h 620363"/>
                  <a:gd name="connsiteX4" fmla="*/ 44958 w 3417665"/>
                  <a:gd name="connsiteY4" fmla="*/ 620363 h 620363"/>
                  <a:gd name="connsiteX5" fmla="*/ 0 w 3417665"/>
                  <a:gd name="connsiteY5" fmla="*/ 575405 h 620363"/>
                  <a:gd name="connsiteX6" fmla="*/ 0 w 3417665"/>
                  <a:gd name="connsiteY6" fmla="*/ 44958 h 620363"/>
                  <a:gd name="connsiteX7" fmla="*/ 44958 w 3417665"/>
                  <a:gd name="connsiteY7" fmla="*/ 0 h 6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17665" h="620363">
                    <a:moveTo>
                      <a:pt x="3372707" y="0"/>
                    </a:moveTo>
                    <a:cubicBezTo>
                      <a:pt x="3397537" y="0"/>
                      <a:pt x="3417665" y="20128"/>
                      <a:pt x="3417665" y="44958"/>
                    </a:cubicBezTo>
                    <a:lnTo>
                      <a:pt x="3417665" y="575405"/>
                    </a:lnTo>
                    <a:cubicBezTo>
                      <a:pt x="3417665" y="600235"/>
                      <a:pt x="3397537" y="620363"/>
                      <a:pt x="3372707" y="620363"/>
                    </a:cubicBezTo>
                    <a:lnTo>
                      <a:pt x="44958" y="620363"/>
                    </a:lnTo>
                    <a:cubicBezTo>
                      <a:pt x="20128" y="620363"/>
                      <a:pt x="0" y="600235"/>
                      <a:pt x="0" y="575405"/>
                    </a:cubicBezTo>
                    <a:lnTo>
                      <a:pt x="0" y="44958"/>
                    </a:lnTo>
                    <a:cubicBezTo>
                      <a:pt x="0" y="20128"/>
                      <a:pt x="20129" y="0"/>
                      <a:pt x="44958" y="0"/>
                    </a:cubicBezTo>
                    <a:close/>
                  </a:path>
                </a:pathLst>
              </a:custGeom>
              <a:noFill/>
              <a:ln w="7144" cap="flat">
                <a:solidFill>
                  <a:srgbClr val="15886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103" name="TextBox 102">
                <a:extLst>
                  <a:ext uri="{FF2B5EF4-FFF2-40B4-BE49-F238E27FC236}">
                    <a16:creationId xmlns:a16="http://schemas.microsoft.com/office/drawing/2014/main" id="{6B635992-3BAC-FD13-18E1-4F4150CE3B10}"/>
                  </a:ext>
                </a:extLst>
              </p:cNvPr>
              <p:cNvSpPr txBox="1"/>
              <p:nvPr/>
            </p:nvSpPr>
            <p:spPr>
              <a:xfrm>
                <a:off x="6354208" y="1736610"/>
                <a:ext cx="2546366" cy="262725"/>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Threat Prevention and Data Protection</a:t>
                </a:r>
                <a:endParaRPr kumimoji="0" lang="en-US" sz="1100" b="0" i="0" u="none" strike="noStrike" kern="1200" cap="none" spc="0" normalizeH="0" baseline="0" noProof="0">
                  <a:ln>
                    <a:noFill/>
                  </a:ln>
                  <a:solidFill>
                    <a:srgbClr val="158864"/>
                  </a:solidFill>
                  <a:effectLst/>
                  <a:uLnTx/>
                  <a:uFillTx/>
                  <a:latin typeface="Calibri" panose="020F0502020204030204"/>
                  <a:ea typeface="+mn-ea"/>
                  <a:cs typeface="+mn-cs"/>
                </a:endParaRPr>
              </a:p>
            </p:txBody>
          </p:sp>
        </p:grpSp>
        <p:grpSp>
          <p:nvGrpSpPr>
            <p:cNvPr id="99" name="Group 98">
              <a:extLst>
                <a:ext uri="{FF2B5EF4-FFF2-40B4-BE49-F238E27FC236}">
                  <a16:creationId xmlns:a16="http://schemas.microsoft.com/office/drawing/2014/main" id="{01165F9A-7DBA-7B79-A1E5-CEBDEE032536}"/>
                </a:ext>
              </a:extLst>
            </p:cNvPr>
            <p:cNvGrpSpPr/>
            <p:nvPr/>
          </p:nvGrpSpPr>
          <p:grpSpPr>
            <a:xfrm>
              <a:off x="2670063" y="1732447"/>
              <a:ext cx="3310754" cy="731396"/>
              <a:chOff x="2670063" y="1732447"/>
              <a:chExt cx="3310754" cy="731396"/>
            </a:xfrm>
          </p:grpSpPr>
          <p:sp>
            <p:nvSpPr>
              <p:cNvPr id="100" name="Freeform: Shape 728">
                <a:extLst>
                  <a:ext uri="{FF2B5EF4-FFF2-40B4-BE49-F238E27FC236}">
                    <a16:creationId xmlns:a16="http://schemas.microsoft.com/office/drawing/2014/main" id="{AB98D797-E5DD-993E-DBBC-2EED5F46DA0D}"/>
                  </a:ext>
                </a:extLst>
              </p:cNvPr>
              <p:cNvSpPr/>
              <p:nvPr/>
            </p:nvSpPr>
            <p:spPr>
              <a:xfrm>
                <a:off x="2670063" y="1875447"/>
                <a:ext cx="3310754" cy="588396"/>
              </a:xfrm>
              <a:custGeom>
                <a:avLst/>
                <a:gdLst>
                  <a:gd name="connsiteX0" fmla="*/ 3445669 w 3490626"/>
                  <a:gd name="connsiteY0" fmla="*/ 0 h 620363"/>
                  <a:gd name="connsiteX1" fmla="*/ 3490627 w 3490626"/>
                  <a:gd name="connsiteY1" fmla="*/ 44958 h 620363"/>
                  <a:gd name="connsiteX2" fmla="*/ 3490627 w 3490626"/>
                  <a:gd name="connsiteY2" fmla="*/ 575405 h 620363"/>
                  <a:gd name="connsiteX3" fmla="*/ 3445669 w 3490626"/>
                  <a:gd name="connsiteY3" fmla="*/ 620363 h 620363"/>
                  <a:gd name="connsiteX4" fmla="*/ 44958 w 3490626"/>
                  <a:gd name="connsiteY4" fmla="*/ 620363 h 620363"/>
                  <a:gd name="connsiteX5" fmla="*/ 0 w 3490626"/>
                  <a:gd name="connsiteY5" fmla="*/ 575405 h 620363"/>
                  <a:gd name="connsiteX6" fmla="*/ 0 w 3490626"/>
                  <a:gd name="connsiteY6" fmla="*/ 44958 h 620363"/>
                  <a:gd name="connsiteX7" fmla="*/ 44958 w 3490626"/>
                  <a:gd name="connsiteY7" fmla="*/ 0 h 6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90626" h="620363">
                    <a:moveTo>
                      <a:pt x="3445669" y="0"/>
                    </a:moveTo>
                    <a:cubicBezTo>
                      <a:pt x="3470498" y="0"/>
                      <a:pt x="3490627" y="20128"/>
                      <a:pt x="3490627" y="44958"/>
                    </a:cubicBezTo>
                    <a:lnTo>
                      <a:pt x="3490627" y="575405"/>
                    </a:lnTo>
                    <a:cubicBezTo>
                      <a:pt x="3490627" y="600235"/>
                      <a:pt x="3470498" y="620363"/>
                      <a:pt x="3445669" y="620363"/>
                    </a:cubicBezTo>
                    <a:lnTo>
                      <a:pt x="44958" y="620363"/>
                    </a:lnTo>
                    <a:cubicBezTo>
                      <a:pt x="20128" y="620363"/>
                      <a:pt x="0" y="600235"/>
                      <a:pt x="0" y="575405"/>
                    </a:cubicBezTo>
                    <a:lnTo>
                      <a:pt x="0" y="44958"/>
                    </a:lnTo>
                    <a:cubicBezTo>
                      <a:pt x="0" y="20128"/>
                      <a:pt x="20128" y="0"/>
                      <a:pt x="44958" y="0"/>
                    </a:cubicBezTo>
                    <a:close/>
                  </a:path>
                </a:pathLst>
              </a:custGeom>
              <a:noFill/>
              <a:ln w="7144" cap="flat">
                <a:solidFill>
                  <a:srgbClr val="15886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101" name="TextBox 100">
                <a:extLst>
                  <a:ext uri="{FF2B5EF4-FFF2-40B4-BE49-F238E27FC236}">
                    <a16:creationId xmlns:a16="http://schemas.microsoft.com/office/drawing/2014/main" id="{9F6F80B5-AA52-C3B4-DA9D-F88EE7AB8B1B}"/>
                  </a:ext>
                </a:extLst>
              </p:cNvPr>
              <p:cNvSpPr txBox="1"/>
              <p:nvPr/>
            </p:nvSpPr>
            <p:spPr>
              <a:xfrm>
                <a:off x="3195144" y="1732447"/>
                <a:ext cx="2306934" cy="262725"/>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High-throughput Traffic Processing </a:t>
                </a:r>
                <a:endParaRPr kumimoji="0" lang="en-US" sz="1100" b="0" i="0" u="none" strike="noStrike" kern="1200" cap="none" spc="0" normalizeH="0" baseline="0" noProof="0">
                  <a:ln>
                    <a:noFill/>
                  </a:ln>
                  <a:solidFill>
                    <a:srgbClr val="158864"/>
                  </a:solidFill>
                  <a:effectLst/>
                  <a:uLnTx/>
                  <a:uFillTx/>
                  <a:latin typeface="Calibri" panose="020F0502020204030204"/>
                  <a:ea typeface="+mn-ea"/>
                  <a:cs typeface="+mn-cs"/>
                </a:endParaRPr>
              </a:p>
            </p:txBody>
          </p:sp>
        </p:grpSp>
      </p:grpSp>
      <p:grpSp>
        <p:nvGrpSpPr>
          <p:cNvPr id="106" name="Group 105">
            <a:extLst>
              <a:ext uri="{FF2B5EF4-FFF2-40B4-BE49-F238E27FC236}">
                <a16:creationId xmlns:a16="http://schemas.microsoft.com/office/drawing/2014/main" id="{21871281-A79C-7286-51A1-410F4D5E754E}"/>
              </a:ext>
            </a:extLst>
          </p:cNvPr>
          <p:cNvGrpSpPr/>
          <p:nvPr/>
        </p:nvGrpSpPr>
        <p:grpSpPr>
          <a:xfrm>
            <a:off x="2520923" y="872429"/>
            <a:ext cx="6956406" cy="1059355"/>
            <a:chOff x="2529399" y="1075914"/>
            <a:chExt cx="6956406" cy="1059355"/>
          </a:xfrm>
        </p:grpSpPr>
        <p:sp>
          <p:nvSpPr>
            <p:cNvPr id="107" name="Freeform: Shape 967">
              <a:extLst>
                <a:ext uri="{FF2B5EF4-FFF2-40B4-BE49-F238E27FC236}">
                  <a16:creationId xmlns:a16="http://schemas.microsoft.com/office/drawing/2014/main" id="{F095716F-A7C0-83C8-1FD3-78001D0C7C91}"/>
                </a:ext>
              </a:extLst>
            </p:cNvPr>
            <p:cNvSpPr/>
            <p:nvPr/>
          </p:nvSpPr>
          <p:spPr>
            <a:xfrm>
              <a:off x="2529400" y="1224083"/>
              <a:ext cx="6956405" cy="911186"/>
            </a:xfrm>
            <a:custGeom>
              <a:avLst/>
              <a:gdLst>
                <a:gd name="connsiteX0" fmla="*/ 41148 w 7334345"/>
                <a:gd name="connsiteY0" fmla="*/ 960596 h 960691"/>
                <a:gd name="connsiteX1" fmla="*/ 0 w 7334345"/>
                <a:gd name="connsiteY1" fmla="*/ 919448 h 960691"/>
                <a:gd name="connsiteX2" fmla="*/ 0 w 7334345"/>
                <a:gd name="connsiteY2" fmla="*/ 41148 h 960691"/>
                <a:gd name="connsiteX3" fmla="*/ 41148 w 7334345"/>
                <a:gd name="connsiteY3" fmla="*/ 0 h 960691"/>
                <a:gd name="connsiteX4" fmla="*/ 7293197 w 7334345"/>
                <a:gd name="connsiteY4" fmla="*/ 0 h 960691"/>
                <a:gd name="connsiteX5" fmla="*/ 7334345 w 7334345"/>
                <a:gd name="connsiteY5" fmla="*/ 41148 h 960691"/>
                <a:gd name="connsiteX6" fmla="*/ 7334345 w 7334345"/>
                <a:gd name="connsiteY6" fmla="*/ 919544 h 960691"/>
                <a:gd name="connsiteX7" fmla="*/ 7293197 w 7334345"/>
                <a:gd name="connsiteY7" fmla="*/ 960692 h 96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34345" h="960691">
                  <a:moveTo>
                    <a:pt x="41148" y="960596"/>
                  </a:moveTo>
                  <a:cubicBezTo>
                    <a:pt x="18479" y="960596"/>
                    <a:pt x="0" y="942213"/>
                    <a:pt x="0" y="919448"/>
                  </a:cubicBezTo>
                  <a:lnTo>
                    <a:pt x="0" y="41148"/>
                  </a:lnTo>
                  <a:cubicBezTo>
                    <a:pt x="0" y="18479"/>
                    <a:pt x="18383" y="0"/>
                    <a:pt x="41148" y="0"/>
                  </a:cubicBezTo>
                  <a:lnTo>
                    <a:pt x="7293197" y="0"/>
                  </a:lnTo>
                  <a:cubicBezTo>
                    <a:pt x="7315867" y="0"/>
                    <a:pt x="7334345" y="18383"/>
                    <a:pt x="7334345" y="41148"/>
                  </a:cubicBezTo>
                  <a:lnTo>
                    <a:pt x="7334345" y="919544"/>
                  </a:lnTo>
                  <a:cubicBezTo>
                    <a:pt x="7334345" y="942213"/>
                    <a:pt x="7315962" y="960692"/>
                    <a:pt x="7293197" y="960692"/>
                  </a:cubicBezTo>
                </a:path>
              </a:pathLst>
            </a:custGeom>
            <a:noFill/>
            <a:ln w="7144" cap="flat">
              <a:solidFill>
                <a:srgbClr val="15886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108" name="TextBox 107">
              <a:extLst>
                <a:ext uri="{FF2B5EF4-FFF2-40B4-BE49-F238E27FC236}">
                  <a16:creationId xmlns:a16="http://schemas.microsoft.com/office/drawing/2014/main" id="{F65A5A98-4A34-C26A-2283-36D0AC0F253C}"/>
                </a:ext>
              </a:extLst>
            </p:cNvPr>
            <p:cNvSpPr txBox="1"/>
            <p:nvPr/>
          </p:nvSpPr>
          <p:spPr>
            <a:xfrm>
              <a:off x="5358160" y="1075914"/>
              <a:ext cx="1432932" cy="262725"/>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solidFill>
                    <a:srgbClr val="158864"/>
                  </a:solidFill>
                  <a:effectLst/>
                  <a:uLnTx/>
                  <a:uFillTx/>
                  <a:latin typeface="Calibri" panose="020F0502020204030204"/>
                  <a:ea typeface="+mn-ea"/>
                  <a:cs typeface="+mn-cs"/>
                  <a:sym typeface="NHaasGroteskDSPro-65Md"/>
                  <a:rtl val="0"/>
                </a:rPr>
                <a:t>XOps ( XDR + AIOps )</a:t>
              </a:r>
            </a:p>
          </p:txBody>
        </p:sp>
        <p:sp>
          <p:nvSpPr>
            <p:cNvPr id="109" name="TextBox 108">
              <a:extLst>
                <a:ext uri="{FF2B5EF4-FFF2-40B4-BE49-F238E27FC236}">
                  <a16:creationId xmlns:a16="http://schemas.microsoft.com/office/drawing/2014/main" id="{205A9B9B-3BCC-C545-726E-67E44BF54377}"/>
                </a:ext>
              </a:extLst>
            </p:cNvPr>
            <p:cNvSpPr txBox="1"/>
            <p:nvPr/>
          </p:nvSpPr>
          <p:spPr>
            <a:xfrm>
              <a:off x="2529399" y="1365097"/>
              <a:ext cx="6956405" cy="257843"/>
            </a:xfrm>
            <a:prstGeom prst="rect">
              <a:avLst/>
            </a:prstGeom>
            <a:noFill/>
          </p:spPr>
          <p:txBody>
            <a:bodyPr wrap="square" lIns="45720" r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AI/ML-driven Anomaly Detection </a:t>
              </a:r>
              <a:r>
                <a:rPr kumimoji="0" lang="en-US" sz="900" b="0" i="0" u="none" strike="noStrike" kern="1200" cap="none" spc="0" normalizeH="0" baseline="0" noProof="0">
                  <a:ln>
                    <a:noFill/>
                  </a:ln>
                  <a:solidFill>
                    <a:srgbClr val="FFFFFF">
                      <a:lumMod val="65000"/>
                    </a:srgbClr>
                  </a:solidFill>
                  <a:effectLst/>
                  <a:uLnTx/>
                  <a:uFillTx/>
                  <a:latin typeface="Calibri" panose="020F0502020204030204"/>
                  <a:ea typeface="+mn-ea"/>
                  <a:cs typeface="+mn-cs"/>
                </a:rPr>
                <a:t>•</a:t>
              </a: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 Analyst Workbench with Gen-AI Stories </a:t>
              </a:r>
              <a:r>
                <a:rPr kumimoji="0" lang="en-US" sz="900" b="0" i="0" u="none" strike="noStrike" kern="1200" cap="none" spc="0" normalizeH="0" baseline="0" noProof="0">
                  <a:ln>
                    <a:noFill/>
                  </a:ln>
                  <a:solidFill>
                    <a:srgbClr val="FFFFFF">
                      <a:lumMod val="65000"/>
                    </a:srgbClr>
                  </a:solidFill>
                  <a:effectLst/>
                  <a:uLnTx/>
                  <a:uFillTx/>
                  <a:latin typeface="Calibri" panose="020F0502020204030204"/>
                  <a:ea typeface="+mn-ea"/>
                  <a:cs typeface="+mn-cs"/>
                </a:rPr>
                <a:t>•  </a:t>
              </a: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Incident Lifecycle Management</a:t>
              </a:r>
            </a:p>
          </p:txBody>
        </p:sp>
      </p:grpSp>
      <p:sp>
        <p:nvSpPr>
          <p:cNvPr id="110" name="TextBox 109">
            <a:extLst>
              <a:ext uri="{FF2B5EF4-FFF2-40B4-BE49-F238E27FC236}">
                <a16:creationId xmlns:a16="http://schemas.microsoft.com/office/drawing/2014/main" id="{0CE5EC44-1B54-B934-4338-21CD26227C4A}"/>
              </a:ext>
            </a:extLst>
          </p:cNvPr>
          <p:cNvSpPr txBox="1"/>
          <p:nvPr/>
        </p:nvSpPr>
        <p:spPr>
          <a:xfrm>
            <a:off x="2623711" y="1738228"/>
            <a:ext cx="3300505" cy="437875"/>
          </a:xfrm>
          <a:prstGeom prst="rect">
            <a:avLst/>
          </a:prstGeom>
          <a:noFill/>
        </p:spPr>
        <p:txBody>
          <a:bodyPr wrap="square" lIns="45720" r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Any Edge</a:t>
            </a:r>
            <a:r>
              <a:rPr kumimoji="0" lang="en-US" sz="1100" b="0" i="0" u="none" strike="noStrike" kern="1200" cap="none" spc="0" normalizeH="0" baseline="0" noProof="0">
                <a:ln>
                  <a:noFill/>
                </a:ln>
                <a:solidFill>
                  <a:srgbClr val="FFFFFF">
                    <a:lumMod val="65000"/>
                  </a:srgbClr>
                </a:solidFill>
                <a:effectLst/>
                <a:uLnTx/>
                <a:uFillTx/>
                <a:latin typeface="Calibri" panose="020F0502020204030204"/>
                <a:ea typeface="+mn-ea"/>
                <a:cs typeface="+mn-cs"/>
              </a:rPr>
              <a:t> • </a:t>
            </a: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Any Port/Protocol </a:t>
            </a:r>
            <a:r>
              <a:rPr kumimoji="0" lang="en-US" sz="1100" b="0" i="0" u="none" strike="noStrike" kern="1200" cap="none" spc="0" normalizeH="0" baseline="0" noProof="0">
                <a:ln>
                  <a:noFill/>
                </a:ln>
                <a:solidFill>
                  <a:srgbClr val="FFFFFF">
                    <a:lumMod val="65000"/>
                  </a:srgbClr>
                </a:solidFill>
                <a:effectLst/>
                <a:uLnTx/>
                <a:uFillTx/>
                <a:latin typeface="Calibri" panose="020F0502020204030204"/>
                <a:ea typeface="+mn-ea"/>
                <a:cs typeface="+mn-cs"/>
              </a:rPr>
              <a:t>• </a:t>
            </a: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DEM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Acceleration and Optimization </a:t>
            </a:r>
            <a:r>
              <a:rPr kumimoji="0" lang="en-US" sz="1100" b="0" i="0" u="none" strike="noStrike" kern="1200" cap="none" spc="0" normalizeH="0" baseline="0" noProof="0">
                <a:ln>
                  <a:noFill/>
                </a:ln>
                <a:solidFill>
                  <a:srgbClr val="FFFFFF">
                    <a:lumMod val="65000"/>
                  </a:srgbClr>
                </a:solidFill>
                <a:effectLst/>
                <a:uLnTx/>
                <a:uFillTx/>
                <a:latin typeface="Calibri" panose="020F0502020204030204"/>
                <a:ea typeface="+mn-ea"/>
                <a:cs typeface="+mn-cs"/>
              </a:rPr>
              <a:t>• </a:t>
            </a: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Selective Decryption </a:t>
            </a:r>
          </a:p>
        </p:txBody>
      </p:sp>
      <p:sp>
        <p:nvSpPr>
          <p:cNvPr id="111" name="TextBox 110">
            <a:extLst>
              <a:ext uri="{FF2B5EF4-FFF2-40B4-BE49-F238E27FC236}">
                <a16:creationId xmlns:a16="http://schemas.microsoft.com/office/drawing/2014/main" id="{5C17E6ED-7DBD-EB00-633B-3849BB45CAA2}"/>
              </a:ext>
            </a:extLst>
          </p:cNvPr>
          <p:cNvSpPr txBox="1"/>
          <p:nvPr/>
        </p:nvSpPr>
        <p:spPr>
          <a:xfrm>
            <a:off x="6035918" y="1740408"/>
            <a:ext cx="3236314" cy="413722"/>
          </a:xfrm>
          <a:prstGeom prst="rect">
            <a:avLst/>
          </a:prstGeom>
          <a:noFill/>
        </p:spPr>
        <p:txBody>
          <a:bodyPr wrap="none" lIns="45720" tIns="91440" rIns="45720" rtlCol="0" anchor="ctr" anchorCtr="0">
            <a:noAutofit/>
          </a:bodyPr>
          <a:lstStyle/>
          <a:p>
            <a:pPr lvl="0" algn="ctr">
              <a:defRPr/>
            </a:pP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FWaaS</a:t>
            </a:r>
            <a:r>
              <a:rPr kumimoji="0" lang="en-US" sz="1100" b="0" i="0" u="none" strike="noStrike" kern="1200" cap="none" spc="0" normalizeH="0" baseline="0" noProof="0">
                <a:ln>
                  <a:noFill/>
                </a:ln>
                <a:solidFill>
                  <a:srgbClr val="FFFFFF">
                    <a:lumMod val="65000"/>
                  </a:srgbClr>
                </a:solidFill>
                <a:effectLst/>
                <a:uLnTx/>
                <a:uFillTx/>
                <a:latin typeface="Calibri" panose="020F0502020204030204"/>
                <a:ea typeface="+mn-ea"/>
                <a:cs typeface="+mn-cs"/>
              </a:rPr>
              <a:t> • </a:t>
            </a: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SWG</a:t>
            </a:r>
            <a:r>
              <a:rPr kumimoji="0" lang="en-US" sz="1100" b="0" i="0" u="none" strike="noStrike" kern="1200" cap="none" spc="0" normalizeH="0" baseline="0" noProof="0">
                <a:ln>
                  <a:noFill/>
                </a:ln>
                <a:solidFill>
                  <a:srgbClr val="FFFFFF">
                    <a:lumMod val="65000"/>
                  </a:srgbClr>
                </a:solidFill>
                <a:effectLst/>
                <a:uLnTx/>
                <a:uFillTx/>
                <a:latin typeface="Calibri" panose="020F0502020204030204"/>
                <a:ea typeface="+mn-ea"/>
                <a:cs typeface="+mn-cs"/>
              </a:rPr>
              <a:t> • </a:t>
            </a: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IPS</a:t>
            </a:r>
            <a:r>
              <a:rPr kumimoji="0" lang="en-US" sz="1100" b="0" i="0" u="none" strike="noStrike" kern="1200" cap="none" spc="0" normalizeH="0" baseline="0" noProof="0">
                <a:ln>
                  <a:noFill/>
                </a:ln>
                <a:solidFill>
                  <a:srgbClr val="FFFFFF">
                    <a:lumMod val="65000"/>
                  </a:srgbClr>
                </a:solidFill>
                <a:effectLst/>
                <a:uLnTx/>
                <a:uFillTx/>
                <a:latin typeface="Calibri" panose="020F0502020204030204"/>
                <a:ea typeface="+mn-ea"/>
                <a:cs typeface="+mn-cs"/>
              </a:rPr>
              <a:t> • </a:t>
            </a: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DNS</a:t>
            </a:r>
            <a:r>
              <a:rPr kumimoji="0" lang="en-US" sz="1100" b="0" i="0" u="none" strike="noStrike" kern="1200" cap="none" spc="0" normalizeH="0" baseline="0" noProof="0">
                <a:ln>
                  <a:noFill/>
                </a:ln>
                <a:solidFill>
                  <a:srgbClr val="FFFFFF">
                    <a:lumMod val="65000"/>
                  </a:srgbClr>
                </a:solidFill>
                <a:effectLst/>
                <a:uLnTx/>
                <a:uFillTx/>
                <a:latin typeface="Calibri" panose="020F0502020204030204"/>
                <a:ea typeface="+mn-ea"/>
                <a:cs typeface="+mn-cs"/>
              </a:rPr>
              <a:t> </a:t>
            </a:r>
            <a:r>
              <a:rPr lang="en-US" sz="1100">
                <a:solidFill>
                  <a:srgbClr val="FFFFFF">
                    <a:lumMod val="65000"/>
                  </a:srgbClr>
                </a:solidFill>
              </a:rPr>
              <a:t>• </a:t>
            </a:r>
            <a:r>
              <a:rPr lang="en-US" sz="1100">
                <a:solidFill>
                  <a:srgbClr val="222C33"/>
                </a:solidFill>
              </a:rPr>
              <a:t>NGAM </a:t>
            </a:r>
            <a:r>
              <a:rPr lang="en-US" sz="1100">
                <a:solidFill>
                  <a:srgbClr val="FFFFFF">
                    <a:lumMod val="65000"/>
                  </a:srgbClr>
                </a:solidFill>
              </a:rPr>
              <a:t>• </a:t>
            </a:r>
            <a:r>
              <a:rPr lang="en-US" sz="1100">
                <a:solidFill>
                  <a:srgbClr val="222C33"/>
                </a:solidFill>
              </a:rPr>
              <a:t>Sandbox</a:t>
            </a:r>
            <a:b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b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ZTNA</a:t>
            </a:r>
            <a:r>
              <a:rPr kumimoji="0" lang="en-US" sz="1100" b="0" i="0" u="none" strike="noStrike" kern="1200" cap="none" spc="0" normalizeH="0" baseline="0" noProof="0">
                <a:ln>
                  <a:noFill/>
                </a:ln>
                <a:solidFill>
                  <a:srgbClr val="FFFFFF">
                    <a:lumMod val="65000"/>
                  </a:srgbClr>
                </a:solidFill>
                <a:effectLst/>
                <a:uLnTx/>
                <a:uFillTx/>
                <a:latin typeface="Calibri" panose="020F0502020204030204"/>
                <a:ea typeface="+mn-ea"/>
                <a:cs typeface="+mn-cs"/>
              </a:rPr>
              <a:t> • </a:t>
            </a: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CASB</a:t>
            </a:r>
            <a:r>
              <a:rPr kumimoji="0" lang="en-US" sz="1100" b="0" i="0" u="none" strike="noStrike" kern="1200" cap="none" spc="0" normalizeH="0" baseline="0" noProof="0">
                <a:ln>
                  <a:noFill/>
                </a:ln>
                <a:solidFill>
                  <a:srgbClr val="FFFFFF">
                    <a:lumMod val="65000"/>
                  </a:srgbClr>
                </a:solidFill>
                <a:effectLst/>
                <a:uLnTx/>
                <a:uFillTx/>
                <a:latin typeface="Calibri" panose="020F0502020204030204"/>
                <a:ea typeface="+mn-ea"/>
                <a:cs typeface="+mn-cs"/>
              </a:rPr>
              <a:t> • </a:t>
            </a: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DLP</a:t>
            </a:r>
            <a:r>
              <a:rPr kumimoji="0" lang="en-US" sz="1100" b="0" i="0" u="none" strike="noStrike" kern="1200" cap="none" spc="0" normalizeH="0" baseline="0" noProof="0">
                <a:ln>
                  <a:noFill/>
                </a:ln>
                <a:solidFill>
                  <a:srgbClr val="FFFFFF">
                    <a:lumMod val="65000"/>
                  </a:srgbClr>
                </a:solidFill>
                <a:effectLst/>
                <a:uLnTx/>
                <a:uFillTx/>
                <a:latin typeface="Calibri" panose="020F0502020204030204"/>
                <a:ea typeface="+mn-ea"/>
                <a:cs typeface="+mn-cs"/>
              </a:rPr>
              <a:t> • </a:t>
            </a: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RBI</a:t>
            </a:r>
            <a:r>
              <a:rPr kumimoji="0" lang="en-US" sz="1100" b="0" i="0" u="none" strike="noStrike" kern="1200" cap="none" spc="0" normalizeH="0" baseline="0" noProof="0">
                <a:ln>
                  <a:noFill/>
                </a:ln>
                <a:solidFill>
                  <a:srgbClr val="FFFFFF">
                    <a:lumMod val="65000"/>
                  </a:srgbClr>
                </a:solidFill>
                <a:effectLst/>
                <a:uLnTx/>
                <a:uFillTx/>
                <a:latin typeface="Calibri" panose="020F0502020204030204"/>
                <a:ea typeface="+mn-ea"/>
                <a:cs typeface="+mn-cs"/>
              </a:rPr>
              <a:t> • </a:t>
            </a: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IoT/OT</a:t>
            </a:r>
            <a:r>
              <a:rPr lang="en-US" sz="1100">
                <a:solidFill>
                  <a:srgbClr val="FFFFFF">
                    <a:lumMod val="65000"/>
                  </a:srgbClr>
                </a:solidFill>
              </a:rPr>
              <a:t> • </a:t>
            </a:r>
            <a:r>
              <a:rPr lang="en-US" sz="1100">
                <a:solidFill>
                  <a:srgbClr val="222C33"/>
                </a:solidFill>
              </a:rPr>
              <a:t>AI Security</a:t>
            </a:r>
            <a:endPar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endParaRPr>
          </a:p>
        </p:txBody>
      </p:sp>
      <p:pic>
        <p:nvPicPr>
          <p:cNvPr id="114" name="Picture 113">
            <a:extLst>
              <a:ext uri="{FF2B5EF4-FFF2-40B4-BE49-F238E27FC236}">
                <a16:creationId xmlns:a16="http://schemas.microsoft.com/office/drawing/2014/main" id="{A4E21B73-C9CA-7BC4-0B8C-BDBE0D41F823}"/>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9828451" y="4951058"/>
            <a:ext cx="603746" cy="603746"/>
          </a:xfrm>
          <a:prstGeom prst="rect">
            <a:avLst/>
          </a:prstGeom>
        </p:spPr>
      </p:pic>
      <p:pic>
        <p:nvPicPr>
          <p:cNvPr id="117" name="Picture 116">
            <a:extLst>
              <a:ext uri="{FF2B5EF4-FFF2-40B4-BE49-F238E27FC236}">
                <a16:creationId xmlns:a16="http://schemas.microsoft.com/office/drawing/2014/main" id="{A172368E-E60B-68A9-7BD5-16E2742959F8}"/>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1281565" y="4690634"/>
            <a:ext cx="532220" cy="532220"/>
          </a:xfrm>
          <a:prstGeom prst="rect">
            <a:avLst/>
          </a:prstGeom>
        </p:spPr>
      </p:pic>
      <p:pic>
        <p:nvPicPr>
          <p:cNvPr id="121" name="Graphic 120">
            <a:extLst>
              <a:ext uri="{FF2B5EF4-FFF2-40B4-BE49-F238E27FC236}">
                <a16:creationId xmlns:a16="http://schemas.microsoft.com/office/drawing/2014/main" id="{95F668DF-87D1-7682-EAC2-A2E87B170317}"/>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354447" y="5356825"/>
            <a:ext cx="548640" cy="548640"/>
          </a:xfrm>
          <a:prstGeom prst="rect">
            <a:avLst/>
          </a:prstGeom>
        </p:spPr>
      </p:pic>
      <p:pic>
        <p:nvPicPr>
          <p:cNvPr id="123" name="Picture 122">
            <a:extLst>
              <a:ext uri="{FF2B5EF4-FFF2-40B4-BE49-F238E27FC236}">
                <a16:creationId xmlns:a16="http://schemas.microsoft.com/office/drawing/2014/main" id="{66A68C85-58B6-3DBA-4570-5F8C77E37484}"/>
              </a:ext>
            </a:extLst>
          </p:cNvPr>
          <p:cNvPicPr>
            <a:picLocks noChangeAspect="1"/>
          </p:cNvPicPr>
          <p:nvPr/>
        </p:nvPicPr>
        <p:blipFill>
          <a:blip r:embed="rId19" cstate="screen">
            <a:extLst>
              <a:ext uri="{28A0092B-C50C-407E-A947-70E740481C1C}">
                <a14:useLocalDpi xmlns:a14="http://schemas.microsoft.com/office/drawing/2010/main"/>
              </a:ext>
            </a:extLst>
          </a:blip>
          <a:stretch>
            <a:fillRect/>
          </a:stretch>
        </p:blipFill>
        <p:spPr>
          <a:xfrm>
            <a:off x="627973" y="2375418"/>
            <a:ext cx="1578137" cy="843402"/>
          </a:xfrm>
          <a:prstGeom prst="rect">
            <a:avLst/>
          </a:prstGeom>
          <a:effectLst>
            <a:glow rad="63500">
              <a:srgbClr val="7030A0">
                <a:alpha val="40000"/>
              </a:srgbClr>
            </a:glow>
          </a:effectLst>
        </p:spPr>
      </p:pic>
      <p:pic>
        <p:nvPicPr>
          <p:cNvPr id="129" name="Graphic 128" descr="Security camera with solid fill">
            <a:extLst>
              <a:ext uri="{FF2B5EF4-FFF2-40B4-BE49-F238E27FC236}">
                <a16:creationId xmlns:a16="http://schemas.microsoft.com/office/drawing/2014/main" id="{AEF427D3-A898-B551-FD3D-463F6F4AC1F3}"/>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0596476" y="5676439"/>
            <a:ext cx="276861" cy="276861"/>
          </a:xfrm>
          <a:prstGeom prst="rect">
            <a:avLst/>
          </a:prstGeom>
        </p:spPr>
      </p:pic>
      <p:sp>
        <p:nvSpPr>
          <p:cNvPr id="138" name="Freeform: Shape 815">
            <a:extLst>
              <a:ext uri="{FF2B5EF4-FFF2-40B4-BE49-F238E27FC236}">
                <a16:creationId xmlns:a16="http://schemas.microsoft.com/office/drawing/2014/main" id="{4D4A5D28-EC60-3820-5DB3-C92447872FE8}"/>
              </a:ext>
            </a:extLst>
          </p:cNvPr>
          <p:cNvSpPr/>
          <p:nvPr/>
        </p:nvSpPr>
        <p:spPr>
          <a:xfrm>
            <a:off x="5728807" y="3934979"/>
            <a:ext cx="742428" cy="805260"/>
          </a:xfrm>
          <a:custGeom>
            <a:avLst/>
            <a:gdLst>
              <a:gd name="connsiteX0" fmla="*/ 200501 w 782764"/>
              <a:gd name="connsiteY0" fmla="*/ 510254 h 849010"/>
              <a:gd name="connsiteX1" fmla="*/ 165163 w 782764"/>
              <a:gd name="connsiteY1" fmla="*/ 387953 h 849010"/>
              <a:gd name="connsiteX2" fmla="*/ 202502 w 782764"/>
              <a:gd name="connsiteY2" fmla="*/ 262700 h 849010"/>
              <a:gd name="connsiteX3" fmla="*/ 266033 w 782764"/>
              <a:gd name="connsiteY3" fmla="*/ 197929 h 849010"/>
              <a:gd name="connsiteX4" fmla="*/ 395001 w 782764"/>
              <a:gd name="connsiteY4" fmla="*/ 158210 h 849010"/>
              <a:gd name="connsiteX5" fmla="*/ 624840 w 782764"/>
              <a:gd name="connsiteY5" fmla="*/ 388049 h 849010"/>
              <a:gd name="connsiteX6" fmla="*/ 395001 w 782764"/>
              <a:gd name="connsiteY6" fmla="*/ 617887 h 849010"/>
              <a:gd name="connsiteX7" fmla="*/ 262985 w 782764"/>
              <a:gd name="connsiteY7" fmla="*/ 575882 h 849010"/>
              <a:gd name="connsiteX8" fmla="*/ 122967 w 782764"/>
              <a:gd name="connsiteY8" fmla="*/ 611410 h 849010"/>
              <a:gd name="connsiteX9" fmla="*/ 81629 w 782764"/>
              <a:gd name="connsiteY9" fmla="*/ 619887 h 849010"/>
              <a:gd name="connsiteX10" fmla="*/ 307467 w 782764"/>
              <a:gd name="connsiteY10" fmla="*/ 819150 h 849010"/>
              <a:gd name="connsiteX11" fmla="*/ 475298 w 782764"/>
              <a:gd name="connsiteY11" fmla="*/ 819150 h 849010"/>
              <a:gd name="connsiteX12" fmla="*/ 782764 w 782764"/>
              <a:gd name="connsiteY12" fmla="*/ 391382 h 849010"/>
              <a:gd name="connsiteX13" fmla="*/ 391382 w 782764"/>
              <a:gd name="connsiteY13" fmla="*/ 0 h 849010"/>
              <a:gd name="connsiteX14" fmla="*/ 81725 w 782764"/>
              <a:gd name="connsiteY14" fmla="*/ 152209 h 849010"/>
              <a:gd name="connsiteX15" fmla="*/ 36862 w 782764"/>
              <a:gd name="connsiteY15" fmla="*/ 225552 h 849010"/>
              <a:gd name="connsiteX16" fmla="*/ 0 w 782764"/>
              <a:gd name="connsiteY16" fmla="*/ 391382 h 849010"/>
              <a:gd name="connsiteX17" fmla="*/ 35719 w 782764"/>
              <a:gd name="connsiteY17" fmla="*/ 547116 h 849010"/>
              <a:gd name="connsiteX18" fmla="*/ 106109 w 782764"/>
              <a:gd name="connsiteY18" fmla="*/ 533019 h 849010"/>
              <a:gd name="connsiteX19" fmla="*/ 200501 w 782764"/>
              <a:gd name="connsiteY19" fmla="*/ 510159 h 84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2764" h="849010">
                <a:moveTo>
                  <a:pt x="200501" y="510254"/>
                </a:moveTo>
                <a:cubicBezTo>
                  <a:pt x="178022" y="474821"/>
                  <a:pt x="165163" y="432911"/>
                  <a:pt x="165163" y="387953"/>
                </a:cubicBezTo>
                <a:cubicBezTo>
                  <a:pt x="165163" y="341662"/>
                  <a:pt x="178879" y="298704"/>
                  <a:pt x="202502" y="262700"/>
                </a:cubicBezTo>
                <a:cubicBezTo>
                  <a:pt x="219170" y="237077"/>
                  <a:pt x="240792" y="215075"/>
                  <a:pt x="266033" y="197929"/>
                </a:cubicBezTo>
                <a:cubicBezTo>
                  <a:pt x="302895" y="172879"/>
                  <a:pt x="347282" y="158210"/>
                  <a:pt x="395001" y="158210"/>
                </a:cubicBezTo>
                <a:cubicBezTo>
                  <a:pt x="521589" y="158210"/>
                  <a:pt x="624840" y="261366"/>
                  <a:pt x="624840" y="388049"/>
                </a:cubicBezTo>
                <a:cubicBezTo>
                  <a:pt x="624840" y="514731"/>
                  <a:pt x="521589" y="617887"/>
                  <a:pt x="395001" y="617887"/>
                </a:cubicBezTo>
                <a:cubicBezTo>
                  <a:pt x="345948" y="617887"/>
                  <a:pt x="300323" y="602361"/>
                  <a:pt x="262985" y="575882"/>
                </a:cubicBezTo>
                <a:cubicBezTo>
                  <a:pt x="212788" y="591979"/>
                  <a:pt x="162306" y="602933"/>
                  <a:pt x="122967" y="611410"/>
                </a:cubicBezTo>
                <a:cubicBezTo>
                  <a:pt x="109633" y="614267"/>
                  <a:pt x="95821" y="617125"/>
                  <a:pt x="81629" y="619887"/>
                </a:cubicBezTo>
                <a:cubicBezTo>
                  <a:pt x="147733" y="704850"/>
                  <a:pt x="240602" y="765524"/>
                  <a:pt x="307467" y="819150"/>
                </a:cubicBezTo>
                <a:cubicBezTo>
                  <a:pt x="356521" y="858965"/>
                  <a:pt x="426244" y="858965"/>
                  <a:pt x="475298" y="819150"/>
                </a:cubicBezTo>
                <a:cubicBezTo>
                  <a:pt x="590645" y="726567"/>
                  <a:pt x="782764" y="613410"/>
                  <a:pt x="782764" y="391382"/>
                </a:cubicBezTo>
                <a:cubicBezTo>
                  <a:pt x="782764" y="175069"/>
                  <a:pt x="607695" y="0"/>
                  <a:pt x="391382" y="0"/>
                </a:cubicBezTo>
                <a:cubicBezTo>
                  <a:pt x="265557" y="0"/>
                  <a:pt x="153352" y="59626"/>
                  <a:pt x="81725" y="152209"/>
                </a:cubicBezTo>
                <a:cubicBezTo>
                  <a:pt x="64198" y="174784"/>
                  <a:pt x="49149" y="199358"/>
                  <a:pt x="36862" y="225552"/>
                </a:cubicBezTo>
                <a:cubicBezTo>
                  <a:pt x="13240" y="275939"/>
                  <a:pt x="0" y="332137"/>
                  <a:pt x="0" y="391382"/>
                </a:cubicBezTo>
                <a:cubicBezTo>
                  <a:pt x="0" y="450437"/>
                  <a:pt x="13621" y="501777"/>
                  <a:pt x="35719" y="547116"/>
                </a:cubicBezTo>
                <a:cubicBezTo>
                  <a:pt x="60484" y="542449"/>
                  <a:pt x="84011" y="537686"/>
                  <a:pt x="106109" y="533019"/>
                </a:cubicBezTo>
                <a:cubicBezTo>
                  <a:pt x="137255" y="526351"/>
                  <a:pt x="169450" y="518827"/>
                  <a:pt x="200501" y="510159"/>
                </a:cubicBez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139" name="TextBox 138">
            <a:extLst>
              <a:ext uri="{FF2B5EF4-FFF2-40B4-BE49-F238E27FC236}">
                <a16:creationId xmlns:a16="http://schemas.microsoft.com/office/drawing/2014/main" id="{1C9D8833-3A1F-B54A-F9AD-90F4D0409AC7}"/>
              </a:ext>
            </a:extLst>
          </p:cNvPr>
          <p:cNvSpPr txBox="1"/>
          <p:nvPr/>
        </p:nvSpPr>
        <p:spPr>
          <a:xfrm>
            <a:off x="5889492" y="4065761"/>
            <a:ext cx="396729" cy="146284"/>
          </a:xfrm>
          <a:prstGeom prst="rect">
            <a:avLst/>
          </a:prstGeom>
          <a:noFill/>
        </p:spPr>
        <p:txBody>
          <a:bodyPr wrap="none" rtlCol="0">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Calibri" panose="020F0502020204030204"/>
                <a:ea typeface="+mn-ea"/>
                <a:cs typeface="+mn-cs"/>
              </a:rPr>
              <a:t>  Lagos POP  </a:t>
            </a: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145" name="Graphic 144" descr="Building with solid fill">
            <a:extLst>
              <a:ext uri="{FF2B5EF4-FFF2-40B4-BE49-F238E27FC236}">
                <a16:creationId xmlns:a16="http://schemas.microsoft.com/office/drawing/2014/main" id="{F3853590-2A43-69D1-3EA4-F606C379E938}"/>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686029" y="4786236"/>
            <a:ext cx="334090" cy="334090"/>
          </a:xfrm>
          <a:prstGeom prst="rect">
            <a:avLst/>
          </a:prstGeom>
        </p:spPr>
      </p:pic>
      <p:pic>
        <p:nvPicPr>
          <p:cNvPr id="190" name="Picture 189">
            <a:extLst>
              <a:ext uri="{FF2B5EF4-FFF2-40B4-BE49-F238E27FC236}">
                <a16:creationId xmlns:a16="http://schemas.microsoft.com/office/drawing/2014/main" id="{65EDF4DE-A7E3-31D8-1A7C-B4BBA1912970}"/>
              </a:ext>
            </a:extLst>
          </p:cNvPr>
          <p:cNvPicPr>
            <a:picLocks noChangeAspect="1"/>
          </p:cNvPicPr>
          <p:nvPr/>
        </p:nvPicPr>
        <p:blipFill>
          <a:blip r:embed="rId7"/>
          <a:stretch>
            <a:fillRect/>
          </a:stretch>
        </p:blipFill>
        <p:spPr>
          <a:xfrm>
            <a:off x="2029509" y="4378873"/>
            <a:ext cx="500711" cy="322333"/>
          </a:xfrm>
          <a:prstGeom prst="rect">
            <a:avLst/>
          </a:prstGeom>
        </p:spPr>
      </p:pic>
      <p:pic>
        <p:nvPicPr>
          <p:cNvPr id="191" name="Picture 190">
            <a:extLst>
              <a:ext uri="{FF2B5EF4-FFF2-40B4-BE49-F238E27FC236}">
                <a16:creationId xmlns:a16="http://schemas.microsoft.com/office/drawing/2014/main" id="{02F25DA4-D7E2-43FE-0D83-DE0B8F739C01}"/>
              </a:ext>
            </a:extLst>
          </p:cNvPr>
          <p:cNvPicPr>
            <a:picLocks noChangeAspect="1"/>
          </p:cNvPicPr>
          <p:nvPr/>
        </p:nvPicPr>
        <p:blipFill>
          <a:blip r:embed="rId7"/>
          <a:stretch>
            <a:fillRect/>
          </a:stretch>
        </p:blipFill>
        <p:spPr>
          <a:xfrm>
            <a:off x="1282853" y="4378872"/>
            <a:ext cx="500711" cy="322333"/>
          </a:xfrm>
          <a:prstGeom prst="rect">
            <a:avLst/>
          </a:prstGeom>
        </p:spPr>
      </p:pic>
      <p:pic>
        <p:nvPicPr>
          <p:cNvPr id="192" name="Picture 191">
            <a:extLst>
              <a:ext uri="{FF2B5EF4-FFF2-40B4-BE49-F238E27FC236}">
                <a16:creationId xmlns:a16="http://schemas.microsoft.com/office/drawing/2014/main" id="{608657C5-64E0-ECC1-7461-7F8D4CDBB026}"/>
              </a:ext>
            </a:extLst>
          </p:cNvPr>
          <p:cNvPicPr>
            <a:picLocks noChangeAspect="1"/>
          </p:cNvPicPr>
          <p:nvPr/>
        </p:nvPicPr>
        <p:blipFill>
          <a:blip r:embed="rId7"/>
          <a:stretch>
            <a:fillRect/>
          </a:stretch>
        </p:blipFill>
        <p:spPr>
          <a:xfrm>
            <a:off x="566392" y="4378871"/>
            <a:ext cx="500711" cy="322333"/>
          </a:xfrm>
          <a:prstGeom prst="rect">
            <a:avLst/>
          </a:prstGeom>
        </p:spPr>
      </p:pic>
      <p:pic>
        <p:nvPicPr>
          <p:cNvPr id="204" name="Picture 203">
            <a:extLst>
              <a:ext uri="{FF2B5EF4-FFF2-40B4-BE49-F238E27FC236}">
                <a16:creationId xmlns:a16="http://schemas.microsoft.com/office/drawing/2014/main" id="{A93D08CD-3982-37DC-6DAA-64A19C1A3D6C}"/>
              </a:ext>
            </a:extLst>
          </p:cNvPr>
          <p:cNvPicPr>
            <a:picLocks noChangeAspect="1"/>
          </p:cNvPicPr>
          <p:nvPr/>
        </p:nvPicPr>
        <p:blipFill>
          <a:blip r:embed="rId7"/>
          <a:stretch>
            <a:fillRect/>
          </a:stretch>
        </p:blipFill>
        <p:spPr>
          <a:xfrm>
            <a:off x="5376156" y="5046369"/>
            <a:ext cx="500711" cy="322333"/>
          </a:xfrm>
          <a:prstGeom prst="rect">
            <a:avLst/>
          </a:prstGeom>
        </p:spPr>
      </p:pic>
      <p:pic>
        <p:nvPicPr>
          <p:cNvPr id="207" name="Picture 206">
            <a:extLst>
              <a:ext uri="{FF2B5EF4-FFF2-40B4-BE49-F238E27FC236}">
                <a16:creationId xmlns:a16="http://schemas.microsoft.com/office/drawing/2014/main" id="{93CD4C59-B692-18E0-5C6C-8CDC264E0DFC}"/>
              </a:ext>
            </a:extLst>
          </p:cNvPr>
          <p:cNvPicPr>
            <a:picLocks noChangeAspect="1"/>
          </p:cNvPicPr>
          <p:nvPr/>
        </p:nvPicPr>
        <p:blipFill>
          <a:blip r:embed="rId7"/>
          <a:stretch>
            <a:fillRect/>
          </a:stretch>
        </p:blipFill>
        <p:spPr>
          <a:xfrm>
            <a:off x="9869524" y="4651779"/>
            <a:ext cx="500711" cy="322333"/>
          </a:xfrm>
          <a:prstGeom prst="rect">
            <a:avLst/>
          </a:prstGeom>
        </p:spPr>
      </p:pic>
      <p:cxnSp>
        <p:nvCxnSpPr>
          <p:cNvPr id="211" name="Straight Connector 210">
            <a:extLst>
              <a:ext uri="{FF2B5EF4-FFF2-40B4-BE49-F238E27FC236}">
                <a16:creationId xmlns:a16="http://schemas.microsoft.com/office/drawing/2014/main" id="{229EC842-3ABE-90F6-4B86-83DD23F69E5E}"/>
              </a:ext>
            </a:extLst>
          </p:cNvPr>
          <p:cNvCxnSpPr>
            <a:cxnSpLocks/>
          </p:cNvCxnSpPr>
          <p:nvPr/>
        </p:nvCxnSpPr>
        <p:spPr>
          <a:xfrm flipH="1" flipV="1">
            <a:off x="1868955" y="2977487"/>
            <a:ext cx="929886" cy="686514"/>
          </a:xfrm>
          <a:prstGeom prst="line">
            <a:avLst/>
          </a:prstGeom>
          <a:ln>
            <a:solidFill>
              <a:srgbClr val="7030A0"/>
            </a:solidFill>
            <a:prstDash val="dash"/>
            <a:headEnd type="oval" w="med" len="med"/>
            <a:tailEnd type="triangle" w="med" len="med"/>
          </a:ln>
        </p:spPr>
        <p:style>
          <a:lnRef idx="1">
            <a:schemeClr val="accent4"/>
          </a:lnRef>
          <a:fillRef idx="0">
            <a:schemeClr val="accent4"/>
          </a:fillRef>
          <a:effectRef idx="0">
            <a:schemeClr val="accent4"/>
          </a:effectRef>
          <a:fontRef idx="minor">
            <a:schemeClr val="tx1"/>
          </a:fontRef>
        </p:style>
      </p:cxnSp>
      <p:sp>
        <p:nvSpPr>
          <p:cNvPr id="213" name="TextBox 212">
            <a:extLst>
              <a:ext uri="{FF2B5EF4-FFF2-40B4-BE49-F238E27FC236}">
                <a16:creationId xmlns:a16="http://schemas.microsoft.com/office/drawing/2014/main" id="{4B225EE9-4F32-56F1-152A-74953E887760}"/>
              </a:ext>
            </a:extLst>
          </p:cNvPr>
          <p:cNvSpPr txBox="1"/>
          <p:nvPr/>
        </p:nvSpPr>
        <p:spPr>
          <a:xfrm>
            <a:off x="377159" y="1933713"/>
            <a:ext cx="1522225"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SaaS Optimization</a:t>
            </a:r>
            <a:r>
              <a:rPr kumimoji="0" lang="en-US" sz="1100" b="0" i="0" u="none" strike="noStrike" kern="1200" cap="none" spc="0" normalizeH="0" baseline="0" noProof="0">
                <a:ln>
                  <a:noFill/>
                </a:ln>
                <a:solidFill>
                  <a:srgbClr val="158864"/>
                </a:solidFill>
                <a:effectLst/>
                <a:uLnTx/>
                <a:uFillTx/>
                <a:latin typeface="Calibri" panose="020F0502020204030204"/>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latin typeface="Calibri" panose="020F0502020204030204"/>
                <a:ea typeface="+mn-ea"/>
                <a:cs typeface="+mn-cs"/>
              </a:rPr>
              <a:t>Smart Egress• Dedicated IP</a:t>
            </a:r>
            <a:endParaRPr kumimoji="0" lang="en-US" sz="1100" b="0" i="0" u="none" strike="noStrike" kern="1200" cap="none" spc="0" normalizeH="0" baseline="0" noProof="0">
              <a:ln>
                <a:noFill/>
              </a:ln>
              <a:effectLst/>
              <a:uLnTx/>
              <a:uFillTx/>
              <a:latin typeface="Calibri" panose="020F0502020204030204"/>
              <a:ea typeface="+mn-ea"/>
              <a:cs typeface="+mn-cs"/>
            </a:endParaRPr>
          </a:p>
        </p:txBody>
      </p:sp>
      <p:cxnSp>
        <p:nvCxnSpPr>
          <p:cNvPr id="218" name="Straight Connector 217">
            <a:extLst>
              <a:ext uri="{FF2B5EF4-FFF2-40B4-BE49-F238E27FC236}">
                <a16:creationId xmlns:a16="http://schemas.microsoft.com/office/drawing/2014/main" id="{662063FA-31E2-0244-4BF4-53D619990484}"/>
              </a:ext>
            </a:extLst>
          </p:cNvPr>
          <p:cNvCxnSpPr>
            <a:cxnSpLocks/>
            <a:endCxn id="19" idx="12"/>
          </p:cNvCxnSpPr>
          <p:nvPr/>
        </p:nvCxnSpPr>
        <p:spPr>
          <a:xfrm flipH="1" flipV="1">
            <a:off x="9525742" y="3771270"/>
            <a:ext cx="1209165" cy="350430"/>
          </a:xfrm>
          <a:prstGeom prst="line">
            <a:avLst/>
          </a:prstGeom>
          <a:ln w="6350">
            <a:solidFill>
              <a:srgbClr val="FF5255"/>
            </a:solidFill>
            <a:prstDash val="dash"/>
            <a:headEnd type="oval" w="med" len="med"/>
            <a:tailEnd type="triangle" w="med" len="med"/>
          </a:ln>
        </p:spPr>
        <p:style>
          <a:lnRef idx="2">
            <a:schemeClr val="accent4"/>
          </a:lnRef>
          <a:fillRef idx="0">
            <a:schemeClr val="accent4"/>
          </a:fillRef>
          <a:effectRef idx="1">
            <a:schemeClr val="accent4"/>
          </a:effectRef>
          <a:fontRef idx="minor">
            <a:schemeClr val="tx1"/>
          </a:fontRef>
        </p:style>
      </p:cxnSp>
      <p:cxnSp>
        <p:nvCxnSpPr>
          <p:cNvPr id="221" name="Straight Connector 220">
            <a:extLst>
              <a:ext uri="{FF2B5EF4-FFF2-40B4-BE49-F238E27FC236}">
                <a16:creationId xmlns:a16="http://schemas.microsoft.com/office/drawing/2014/main" id="{A9C1446F-4ADA-DC4C-1E3B-D4A0048634C4}"/>
              </a:ext>
            </a:extLst>
          </p:cNvPr>
          <p:cNvCxnSpPr>
            <a:cxnSpLocks/>
          </p:cNvCxnSpPr>
          <p:nvPr/>
        </p:nvCxnSpPr>
        <p:spPr>
          <a:xfrm flipH="1" flipV="1">
            <a:off x="6157148" y="4732615"/>
            <a:ext cx="229526" cy="388538"/>
          </a:xfrm>
          <a:prstGeom prst="line">
            <a:avLst/>
          </a:prstGeom>
          <a:ln w="6350">
            <a:solidFill>
              <a:srgbClr val="FF5255"/>
            </a:solidFill>
            <a:prstDash val="dash"/>
            <a:headEnd type="oval" w="med" len="med"/>
            <a:tailEnd type="triangle" w="med" len="med"/>
          </a:ln>
        </p:spPr>
        <p:style>
          <a:lnRef idx="2">
            <a:schemeClr val="accent4"/>
          </a:lnRef>
          <a:fillRef idx="0">
            <a:schemeClr val="accent4"/>
          </a:fillRef>
          <a:effectRef idx="1">
            <a:schemeClr val="accent4"/>
          </a:effectRef>
          <a:fontRef idx="minor">
            <a:schemeClr val="tx1"/>
          </a:fontRef>
        </p:style>
      </p:cxnSp>
      <p:sp>
        <p:nvSpPr>
          <p:cNvPr id="220" name="Freeform: Shape 927">
            <a:extLst>
              <a:ext uri="{FF2B5EF4-FFF2-40B4-BE49-F238E27FC236}">
                <a16:creationId xmlns:a16="http://schemas.microsoft.com/office/drawing/2014/main" id="{291C0927-8AFA-04A5-5F67-0C77438727E9}"/>
              </a:ext>
            </a:extLst>
          </p:cNvPr>
          <p:cNvSpPr/>
          <p:nvPr/>
        </p:nvSpPr>
        <p:spPr>
          <a:xfrm>
            <a:off x="6301187" y="5343507"/>
            <a:ext cx="488086" cy="493038"/>
          </a:xfrm>
          <a:custGeom>
            <a:avLst/>
            <a:gdLst>
              <a:gd name="connsiteX0" fmla="*/ 520827 w 520827"/>
              <a:gd name="connsiteY0" fmla="*/ 260414 h 520826"/>
              <a:gd name="connsiteX1" fmla="*/ 260413 w 520827"/>
              <a:gd name="connsiteY1" fmla="*/ 520827 h 520826"/>
              <a:gd name="connsiteX2" fmla="*/ -1 w 520827"/>
              <a:gd name="connsiteY2" fmla="*/ 260414 h 520826"/>
              <a:gd name="connsiteX3" fmla="*/ 260413 w 520827"/>
              <a:gd name="connsiteY3" fmla="*/ 0 h 520826"/>
              <a:gd name="connsiteX4" fmla="*/ 520827 w 520827"/>
              <a:gd name="connsiteY4" fmla="*/ 260414 h 520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27" h="520826">
                <a:moveTo>
                  <a:pt x="520827" y="260414"/>
                </a:moveTo>
                <a:cubicBezTo>
                  <a:pt x="520827" y="404236"/>
                  <a:pt x="404236" y="520827"/>
                  <a:pt x="260413" y="520827"/>
                </a:cubicBezTo>
                <a:cubicBezTo>
                  <a:pt x="116590" y="520827"/>
                  <a:pt x="-1" y="404236"/>
                  <a:pt x="-1" y="260414"/>
                </a:cubicBezTo>
                <a:cubicBezTo>
                  <a:pt x="-1" y="116591"/>
                  <a:pt x="116590" y="0"/>
                  <a:pt x="260413" y="0"/>
                </a:cubicBezTo>
                <a:cubicBezTo>
                  <a:pt x="404235" y="0"/>
                  <a:pt x="520827" y="116591"/>
                  <a:pt x="520827" y="260414"/>
                </a:cubicBezTo>
                <a:close/>
              </a:path>
            </a:pathLst>
          </a:custGeom>
          <a:solidFill>
            <a:srgbClr val="FF5255"/>
          </a:solidFill>
          <a:ln w="3175" cap="flat">
            <a:solidFill>
              <a:srgbClr val="7030A0"/>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pic>
        <p:nvPicPr>
          <p:cNvPr id="227" name="Graphic 226" descr="User with solid fill">
            <a:extLst>
              <a:ext uri="{FF2B5EF4-FFF2-40B4-BE49-F238E27FC236}">
                <a16:creationId xmlns:a16="http://schemas.microsoft.com/office/drawing/2014/main" id="{03B9D912-B3EC-1C47-E888-EC8F7DB38655}"/>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0856844" y="4121700"/>
            <a:ext cx="372232" cy="372232"/>
          </a:xfrm>
          <a:prstGeom prst="rect">
            <a:avLst/>
          </a:prstGeom>
        </p:spPr>
      </p:pic>
      <p:pic>
        <p:nvPicPr>
          <p:cNvPr id="228" name="Graphic 227" descr="User with solid fill">
            <a:extLst>
              <a:ext uri="{FF2B5EF4-FFF2-40B4-BE49-F238E27FC236}">
                <a16:creationId xmlns:a16="http://schemas.microsoft.com/office/drawing/2014/main" id="{A62D1AE9-D455-92FE-9593-CFE7B6E0D8B6}"/>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6362163" y="5376452"/>
            <a:ext cx="372232" cy="372232"/>
          </a:xfrm>
          <a:prstGeom prst="rect">
            <a:avLst/>
          </a:prstGeom>
        </p:spPr>
      </p:pic>
      <p:pic>
        <p:nvPicPr>
          <p:cNvPr id="258" name="Picture 257">
            <a:extLst>
              <a:ext uri="{FF2B5EF4-FFF2-40B4-BE49-F238E27FC236}">
                <a16:creationId xmlns:a16="http://schemas.microsoft.com/office/drawing/2014/main" id="{6EE488D7-3873-4A2A-6D81-E2FD713E7C4A}"/>
              </a:ext>
            </a:extLst>
          </p:cNvPr>
          <p:cNvPicPr>
            <a:picLocks noChangeAspect="1"/>
          </p:cNvPicPr>
          <p:nvPr/>
        </p:nvPicPr>
        <p:blipFill>
          <a:blip r:embed="rId26"/>
          <a:stretch>
            <a:fillRect/>
          </a:stretch>
        </p:blipFill>
        <p:spPr>
          <a:xfrm>
            <a:off x="11097613" y="2797402"/>
            <a:ext cx="361413" cy="296875"/>
          </a:xfrm>
          <a:prstGeom prst="rect">
            <a:avLst/>
          </a:prstGeom>
        </p:spPr>
      </p:pic>
      <p:pic>
        <p:nvPicPr>
          <p:cNvPr id="261" name="Graphic 260" descr="Cloud with solid fill">
            <a:extLst>
              <a:ext uri="{FF2B5EF4-FFF2-40B4-BE49-F238E27FC236}">
                <a16:creationId xmlns:a16="http://schemas.microsoft.com/office/drawing/2014/main" id="{3F0DBE08-B7BF-5F0A-385C-071839F99E6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795594" y="2290693"/>
            <a:ext cx="914400" cy="914400"/>
          </a:xfrm>
          <a:prstGeom prst="rect">
            <a:avLst/>
          </a:prstGeom>
          <a:effectLst>
            <a:glow rad="101600">
              <a:srgbClr val="7030A0">
                <a:alpha val="60000"/>
              </a:srgbClr>
            </a:glow>
          </a:effectLst>
        </p:spPr>
      </p:pic>
      <p:pic>
        <p:nvPicPr>
          <p:cNvPr id="260" name="Picture 259">
            <a:extLst>
              <a:ext uri="{FF2B5EF4-FFF2-40B4-BE49-F238E27FC236}">
                <a16:creationId xmlns:a16="http://schemas.microsoft.com/office/drawing/2014/main" id="{6F86FC3E-33F3-26FB-C7D5-F6D8AE5EFC3A}"/>
              </a:ext>
            </a:extLst>
          </p:cNvPr>
          <p:cNvPicPr>
            <a:picLocks noChangeAspect="1"/>
          </p:cNvPicPr>
          <p:nvPr/>
        </p:nvPicPr>
        <p:blipFill>
          <a:blip r:embed="rId27"/>
          <a:stretch>
            <a:fillRect/>
          </a:stretch>
        </p:blipFill>
        <p:spPr>
          <a:xfrm>
            <a:off x="10061520" y="2655582"/>
            <a:ext cx="331337" cy="279923"/>
          </a:xfrm>
          <a:prstGeom prst="rect">
            <a:avLst/>
          </a:prstGeom>
        </p:spPr>
      </p:pic>
      <p:pic>
        <p:nvPicPr>
          <p:cNvPr id="254" name="Graphic 253" descr="Cloud with solid fill">
            <a:extLst>
              <a:ext uri="{FF2B5EF4-FFF2-40B4-BE49-F238E27FC236}">
                <a16:creationId xmlns:a16="http://schemas.microsoft.com/office/drawing/2014/main" id="{41CA2B9F-A039-9473-2523-A0DEF30069D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11363" y="2128127"/>
            <a:ext cx="914400" cy="914400"/>
          </a:xfrm>
          <a:prstGeom prst="rect">
            <a:avLst/>
          </a:prstGeom>
          <a:effectLst>
            <a:glow rad="101600">
              <a:srgbClr val="7030A0">
                <a:alpha val="60000"/>
              </a:srgbClr>
            </a:glow>
          </a:effectLst>
        </p:spPr>
      </p:pic>
      <p:sp>
        <p:nvSpPr>
          <p:cNvPr id="256" name="Freeform: Shape 803">
            <a:extLst>
              <a:ext uri="{FF2B5EF4-FFF2-40B4-BE49-F238E27FC236}">
                <a16:creationId xmlns:a16="http://schemas.microsoft.com/office/drawing/2014/main" id="{18D3D415-227C-1503-840F-7F3EBCC3FD6F}"/>
              </a:ext>
            </a:extLst>
          </p:cNvPr>
          <p:cNvSpPr/>
          <p:nvPr/>
        </p:nvSpPr>
        <p:spPr>
          <a:xfrm>
            <a:off x="10745905" y="2537082"/>
            <a:ext cx="255305" cy="86908"/>
          </a:xfrm>
          <a:custGeom>
            <a:avLst/>
            <a:gdLst>
              <a:gd name="connsiteX0" fmla="*/ 70581 w 269176"/>
              <a:gd name="connsiteY0" fmla="*/ 63532 h 91630"/>
              <a:gd name="connsiteX1" fmla="*/ 71628 w 269176"/>
              <a:gd name="connsiteY1" fmla="*/ 72200 h 91630"/>
              <a:gd name="connsiteX2" fmla="*/ 74772 w 269176"/>
              <a:gd name="connsiteY2" fmla="*/ 79248 h 91630"/>
              <a:gd name="connsiteX3" fmla="*/ 75438 w 269176"/>
              <a:gd name="connsiteY3" fmla="*/ 81534 h 91630"/>
              <a:gd name="connsiteX4" fmla="*/ 73629 w 269176"/>
              <a:gd name="connsiteY4" fmla="*/ 84487 h 91630"/>
              <a:gd name="connsiteX5" fmla="*/ 67533 w 269176"/>
              <a:gd name="connsiteY5" fmla="*/ 88583 h 91630"/>
              <a:gd name="connsiteX6" fmla="*/ 64961 w 269176"/>
              <a:gd name="connsiteY6" fmla="*/ 89440 h 91630"/>
              <a:gd name="connsiteX7" fmla="*/ 62008 w 269176"/>
              <a:gd name="connsiteY7" fmla="*/ 88106 h 91630"/>
              <a:gd name="connsiteX8" fmla="*/ 58484 w 269176"/>
              <a:gd name="connsiteY8" fmla="*/ 83534 h 91630"/>
              <a:gd name="connsiteX9" fmla="*/ 55436 w 269176"/>
              <a:gd name="connsiteY9" fmla="*/ 77819 h 91630"/>
              <a:gd name="connsiteX10" fmla="*/ 26765 w 269176"/>
              <a:gd name="connsiteY10" fmla="*/ 91250 h 91630"/>
              <a:gd name="connsiteX11" fmla="*/ 7239 w 269176"/>
              <a:gd name="connsiteY11" fmla="*/ 84201 h 91630"/>
              <a:gd name="connsiteX12" fmla="*/ 0 w 269176"/>
              <a:gd name="connsiteY12" fmla="*/ 65532 h 91630"/>
              <a:gd name="connsiteX13" fmla="*/ 8858 w 269176"/>
              <a:gd name="connsiteY13" fmla="*/ 45434 h 91630"/>
              <a:gd name="connsiteX14" fmla="*/ 32766 w 269176"/>
              <a:gd name="connsiteY14" fmla="*/ 37814 h 91630"/>
              <a:gd name="connsiteX15" fmla="*/ 43053 w 269176"/>
              <a:gd name="connsiteY15" fmla="*/ 38576 h 91630"/>
              <a:gd name="connsiteX16" fmla="*/ 54293 w 269176"/>
              <a:gd name="connsiteY16" fmla="*/ 40767 h 91630"/>
              <a:gd name="connsiteX17" fmla="*/ 54293 w 269176"/>
              <a:gd name="connsiteY17" fmla="*/ 33623 h 91630"/>
              <a:gd name="connsiteX18" fmla="*/ 49721 w 269176"/>
              <a:gd name="connsiteY18" fmla="*/ 18002 h 91630"/>
              <a:gd name="connsiteX19" fmla="*/ 33814 w 269176"/>
              <a:gd name="connsiteY19" fmla="*/ 13526 h 91630"/>
              <a:gd name="connsiteX20" fmla="*/ 23241 w 269176"/>
              <a:gd name="connsiteY20" fmla="*/ 14764 h 91630"/>
              <a:gd name="connsiteX21" fmla="*/ 12668 w 269176"/>
              <a:gd name="connsiteY21" fmla="*/ 18098 h 91630"/>
              <a:gd name="connsiteX22" fmla="*/ 9240 w 269176"/>
              <a:gd name="connsiteY22" fmla="*/ 19336 h 91630"/>
              <a:gd name="connsiteX23" fmla="*/ 7715 w 269176"/>
              <a:gd name="connsiteY23" fmla="*/ 19622 h 91630"/>
              <a:gd name="connsiteX24" fmla="*/ 5715 w 269176"/>
              <a:gd name="connsiteY24" fmla="*/ 16574 h 91630"/>
              <a:gd name="connsiteX25" fmla="*/ 5715 w 269176"/>
              <a:gd name="connsiteY25" fmla="*/ 11811 h 91630"/>
              <a:gd name="connsiteX26" fmla="*/ 6382 w 269176"/>
              <a:gd name="connsiteY26" fmla="*/ 8382 h 91630"/>
              <a:gd name="connsiteX27" fmla="*/ 9144 w 269176"/>
              <a:gd name="connsiteY27" fmla="*/ 6382 h 91630"/>
              <a:gd name="connsiteX28" fmla="*/ 21431 w 269176"/>
              <a:gd name="connsiteY28" fmla="*/ 2000 h 91630"/>
              <a:gd name="connsiteX29" fmla="*/ 36672 w 269176"/>
              <a:gd name="connsiteY29" fmla="*/ 191 h 91630"/>
              <a:gd name="connsiteX30" fmla="*/ 62199 w 269176"/>
              <a:gd name="connsiteY30" fmla="*/ 8096 h 91630"/>
              <a:gd name="connsiteX31" fmla="*/ 70295 w 269176"/>
              <a:gd name="connsiteY31" fmla="*/ 32099 h 91630"/>
              <a:gd name="connsiteX32" fmla="*/ 70295 w 269176"/>
              <a:gd name="connsiteY32" fmla="*/ 63722 h 91630"/>
              <a:gd name="connsiteX33" fmla="*/ 70485 w 269176"/>
              <a:gd name="connsiteY33" fmla="*/ 63722 h 91630"/>
              <a:gd name="connsiteX34" fmla="*/ 31052 w 269176"/>
              <a:gd name="connsiteY34" fmla="*/ 78391 h 91630"/>
              <a:gd name="connsiteX35" fmla="*/ 41053 w 269176"/>
              <a:gd name="connsiteY35" fmla="*/ 76676 h 91630"/>
              <a:gd name="connsiteX36" fmla="*/ 50292 w 269176"/>
              <a:gd name="connsiteY36" fmla="*/ 70485 h 91630"/>
              <a:gd name="connsiteX37" fmla="*/ 53626 w 269176"/>
              <a:gd name="connsiteY37" fmla="*/ 64294 h 91630"/>
              <a:gd name="connsiteX38" fmla="*/ 54579 w 269176"/>
              <a:gd name="connsiteY38" fmla="*/ 55817 h 91630"/>
              <a:gd name="connsiteX39" fmla="*/ 54579 w 269176"/>
              <a:gd name="connsiteY39" fmla="*/ 51721 h 91630"/>
              <a:gd name="connsiteX40" fmla="*/ 45625 w 269176"/>
              <a:gd name="connsiteY40" fmla="*/ 50102 h 91630"/>
              <a:gd name="connsiteX41" fmla="*/ 36481 w 269176"/>
              <a:gd name="connsiteY41" fmla="*/ 49530 h 91630"/>
              <a:gd name="connsiteX42" fmla="*/ 22003 w 269176"/>
              <a:gd name="connsiteY42" fmla="*/ 53435 h 91630"/>
              <a:gd name="connsiteX43" fmla="*/ 17240 w 269176"/>
              <a:gd name="connsiteY43" fmla="*/ 64675 h 91630"/>
              <a:gd name="connsiteX44" fmla="*/ 20860 w 269176"/>
              <a:gd name="connsiteY44" fmla="*/ 74962 h 91630"/>
              <a:gd name="connsiteX45" fmla="*/ 31052 w 269176"/>
              <a:gd name="connsiteY45" fmla="*/ 78581 h 91630"/>
              <a:gd name="connsiteX46" fmla="*/ 109347 w 269176"/>
              <a:gd name="connsiteY46" fmla="*/ 88964 h 91630"/>
              <a:gd name="connsiteX47" fmla="*/ 105633 w 269176"/>
              <a:gd name="connsiteY47" fmla="*/ 88011 h 91630"/>
              <a:gd name="connsiteX48" fmla="*/ 103632 w 269176"/>
              <a:gd name="connsiteY48" fmla="*/ 84201 h 91630"/>
              <a:gd name="connsiteX49" fmla="*/ 80772 w 269176"/>
              <a:gd name="connsiteY49" fmla="*/ 8858 h 91630"/>
              <a:gd name="connsiteX50" fmla="*/ 79915 w 269176"/>
              <a:gd name="connsiteY50" fmla="*/ 4953 h 91630"/>
              <a:gd name="connsiteX51" fmla="*/ 82296 w 269176"/>
              <a:gd name="connsiteY51" fmla="*/ 2477 h 91630"/>
              <a:gd name="connsiteX52" fmla="*/ 91821 w 269176"/>
              <a:gd name="connsiteY52" fmla="*/ 2477 h 91630"/>
              <a:gd name="connsiteX53" fmla="*/ 95631 w 269176"/>
              <a:gd name="connsiteY53" fmla="*/ 3429 h 91630"/>
              <a:gd name="connsiteX54" fmla="*/ 97536 w 269176"/>
              <a:gd name="connsiteY54" fmla="*/ 7239 h 91630"/>
              <a:gd name="connsiteX55" fmla="*/ 113919 w 269176"/>
              <a:gd name="connsiteY55" fmla="*/ 71723 h 91630"/>
              <a:gd name="connsiteX56" fmla="*/ 129159 w 269176"/>
              <a:gd name="connsiteY56" fmla="*/ 7239 h 91630"/>
              <a:gd name="connsiteX57" fmla="*/ 130969 w 269176"/>
              <a:gd name="connsiteY57" fmla="*/ 3429 h 91630"/>
              <a:gd name="connsiteX58" fmla="*/ 134874 w 269176"/>
              <a:gd name="connsiteY58" fmla="*/ 2477 h 91630"/>
              <a:gd name="connsiteX59" fmla="*/ 142685 w 269176"/>
              <a:gd name="connsiteY59" fmla="*/ 2477 h 91630"/>
              <a:gd name="connsiteX60" fmla="*/ 146590 w 269176"/>
              <a:gd name="connsiteY60" fmla="*/ 3429 h 91630"/>
              <a:gd name="connsiteX61" fmla="*/ 148400 w 269176"/>
              <a:gd name="connsiteY61" fmla="*/ 7239 h 91630"/>
              <a:gd name="connsiteX62" fmla="*/ 163830 w 269176"/>
              <a:gd name="connsiteY62" fmla="*/ 72581 h 91630"/>
              <a:gd name="connsiteX63" fmla="*/ 180690 w 269176"/>
              <a:gd name="connsiteY63" fmla="*/ 7239 h 91630"/>
              <a:gd name="connsiteX64" fmla="*/ 182595 w 269176"/>
              <a:gd name="connsiteY64" fmla="*/ 3429 h 91630"/>
              <a:gd name="connsiteX65" fmla="*/ 186404 w 269176"/>
              <a:gd name="connsiteY65" fmla="*/ 2477 h 91630"/>
              <a:gd name="connsiteX66" fmla="*/ 195453 w 269176"/>
              <a:gd name="connsiteY66" fmla="*/ 2477 h 91630"/>
              <a:gd name="connsiteX67" fmla="*/ 197930 w 269176"/>
              <a:gd name="connsiteY67" fmla="*/ 4953 h 91630"/>
              <a:gd name="connsiteX68" fmla="*/ 197739 w 269176"/>
              <a:gd name="connsiteY68" fmla="*/ 6477 h 91630"/>
              <a:gd name="connsiteX69" fmla="*/ 197072 w 269176"/>
              <a:gd name="connsiteY69" fmla="*/ 8954 h 91630"/>
              <a:gd name="connsiteX70" fmla="*/ 173546 w 269176"/>
              <a:gd name="connsiteY70" fmla="*/ 84296 h 91630"/>
              <a:gd name="connsiteX71" fmla="*/ 171545 w 269176"/>
              <a:gd name="connsiteY71" fmla="*/ 88106 h 91630"/>
              <a:gd name="connsiteX72" fmla="*/ 167830 w 269176"/>
              <a:gd name="connsiteY72" fmla="*/ 89059 h 91630"/>
              <a:gd name="connsiteX73" fmla="*/ 159448 w 269176"/>
              <a:gd name="connsiteY73" fmla="*/ 89059 h 91630"/>
              <a:gd name="connsiteX74" fmla="*/ 155543 w 269176"/>
              <a:gd name="connsiteY74" fmla="*/ 88106 h 91630"/>
              <a:gd name="connsiteX75" fmla="*/ 153734 w 269176"/>
              <a:gd name="connsiteY75" fmla="*/ 84201 h 91630"/>
              <a:gd name="connsiteX76" fmla="*/ 138589 w 269176"/>
              <a:gd name="connsiteY76" fmla="*/ 21336 h 91630"/>
              <a:gd name="connsiteX77" fmla="*/ 123540 w 269176"/>
              <a:gd name="connsiteY77" fmla="*/ 84106 h 91630"/>
              <a:gd name="connsiteX78" fmla="*/ 121730 w 269176"/>
              <a:gd name="connsiteY78" fmla="*/ 88011 h 91630"/>
              <a:gd name="connsiteX79" fmla="*/ 117824 w 269176"/>
              <a:gd name="connsiteY79" fmla="*/ 88964 h 91630"/>
              <a:gd name="connsiteX80" fmla="*/ 109442 w 269176"/>
              <a:gd name="connsiteY80" fmla="*/ 88964 h 91630"/>
              <a:gd name="connsiteX81" fmla="*/ 234601 w 269176"/>
              <a:gd name="connsiteY81" fmla="*/ 91631 h 91630"/>
              <a:gd name="connsiteX82" fmla="*/ 219551 w 269176"/>
              <a:gd name="connsiteY82" fmla="*/ 89916 h 91630"/>
              <a:gd name="connsiteX83" fmla="*/ 208312 w 269176"/>
              <a:gd name="connsiteY83" fmla="*/ 86011 h 91630"/>
              <a:gd name="connsiteX84" fmla="*/ 205264 w 269176"/>
              <a:gd name="connsiteY84" fmla="*/ 83249 h 91630"/>
              <a:gd name="connsiteX85" fmla="*/ 204692 w 269176"/>
              <a:gd name="connsiteY85" fmla="*/ 80486 h 91630"/>
              <a:gd name="connsiteX86" fmla="*/ 204692 w 269176"/>
              <a:gd name="connsiteY86" fmla="*/ 75533 h 91630"/>
              <a:gd name="connsiteX87" fmla="*/ 206979 w 269176"/>
              <a:gd name="connsiteY87" fmla="*/ 72485 h 91630"/>
              <a:gd name="connsiteX88" fmla="*/ 208693 w 269176"/>
              <a:gd name="connsiteY88" fmla="*/ 72771 h 91630"/>
              <a:gd name="connsiteX89" fmla="*/ 211170 w 269176"/>
              <a:gd name="connsiteY89" fmla="*/ 73724 h 91630"/>
              <a:gd name="connsiteX90" fmla="*/ 221932 w 269176"/>
              <a:gd name="connsiteY90" fmla="*/ 77153 h 91630"/>
              <a:gd name="connsiteX91" fmla="*/ 233553 w 269176"/>
              <a:gd name="connsiteY91" fmla="*/ 78296 h 91630"/>
              <a:gd name="connsiteX92" fmla="*/ 247745 w 269176"/>
              <a:gd name="connsiteY92" fmla="*/ 75057 h 91630"/>
              <a:gd name="connsiteX93" fmla="*/ 252794 w 269176"/>
              <a:gd name="connsiteY93" fmla="*/ 65818 h 91630"/>
              <a:gd name="connsiteX94" fmla="*/ 250127 w 269176"/>
              <a:gd name="connsiteY94" fmla="*/ 58960 h 91630"/>
              <a:gd name="connsiteX95" fmla="*/ 240316 w 269176"/>
              <a:gd name="connsiteY95" fmla="*/ 53912 h 91630"/>
              <a:gd name="connsiteX96" fmla="*/ 226219 w 269176"/>
              <a:gd name="connsiteY96" fmla="*/ 49530 h 91630"/>
              <a:gd name="connsiteX97" fmla="*/ 210598 w 269176"/>
              <a:gd name="connsiteY97" fmla="*/ 39624 h 91630"/>
              <a:gd name="connsiteX98" fmla="*/ 205740 w 269176"/>
              <a:gd name="connsiteY98" fmla="*/ 25527 h 91630"/>
              <a:gd name="connsiteX99" fmla="*/ 208407 w 269176"/>
              <a:gd name="connsiteY99" fmla="*/ 14669 h 91630"/>
              <a:gd name="connsiteX100" fmla="*/ 215455 w 269176"/>
              <a:gd name="connsiteY100" fmla="*/ 6668 h 91630"/>
              <a:gd name="connsiteX101" fmla="*/ 225552 w 269176"/>
              <a:gd name="connsiteY101" fmla="*/ 1619 h 91630"/>
              <a:gd name="connsiteX102" fmla="*/ 237840 w 269176"/>
              <a:gd name="connsiteY102" fmla="*/ 0 h 91630"/>
              <a:gd name="connsiteX103" fmla="*/ 244412 w 269176"/>
              <a:gd name="connsiteY103" fmla="*/ 381 h 91630"/>
              <a:gd name="connsiteX104" fmla="*/ 250793 w 269176"/>
              <a:gd name="connsiteY104" fmla="*/ 1429 h 91630"/>
              <a:gd name="connsiteX105" fmla="*/ 256318 w 269176"/>
              <a:gd name="connsiteY105" fmla="*/ 2953 h 91630"/>
              <a:gd name="connsiteX106" fmla="*/ 260414 w 269176"/>
              <a:gd name="connsiteY106" fmla="*/ 4667 h 91630"/>
              <a:gd name="connsiteX107" fmla="*/ 263366 w 269176"/>
              <a:gd name="connsiteY107" fmla="*/ 7144 h 91630"/>
              <a:gd name="connsiteX108" fmla="*/ 264223 w 269176"/>
              <a:gd name="connsiteY108" fmla="*/ 10382 h 91630"/>
              <a:gd name="connsiteX109" fmla="*/ 264223 w 269176"/>
              <a:gd name="connsiteY109" fmla="*/ 14954 h 91630"/>
              <a:gd name="connsiteX110" fmla="*/ 261938 w 269176"/>
              <a:gd name="connsiteY110" fmla="*/ 18098 h 91630"/>
              <a:gd name="connsiteX111" fmla="*/ 258223 w 269176"/>
              <a:gd name="connsiteY111" fmla="*/ 16955 h 91630"/>
              <a:gd name="connsiteX112" fmla="*/ 239554 w 269176"/>
              <a:gd name="connsiteY112" fmla="*/ 13145 h 91630"/>
              <a:gd name="connsiteX113" fmla="*/ 226600 w 269176"/>
              <a:gd name="connsiteY113" fmla="*/ 15907 h 91630"/>
              <a:gd name="connsiteX114" fmla="*/ 222028 w 269176"/>
              <a:gd name="connsiteY114" fmla="*/ 24575 h 91630"/>
              <a:gd name="connsiteX115" fmla="*/ 224980 w 269176"/>
              <a:gd name="connsiteY115" fmla="*/ 31528 h 91630"/>
              <a:gd name="connsiteX116" fmla="*/ 235744 w 269176"/>
              <a:gd name="connsiteY116" fmla="*/ 36862 h 91630"/>
              <a:gd name="connsiteX117" fmla="*/ 249555 w 269176"/>
              <a:gd name="connsiteY117" fmla="*/ 41243 h 91630"/>
              <a:gd name="connsiteX118" fmla="*/ 264700 w 269176"/>
              <a:gd name="connsiteY118" fmla="*/ 50578 h 91630"/>
              <a:gd name="connsiteX119" fmla="*/ 269177 w 269176"/>
              <a:gd name="connsiteY119" fmla="*/ 64199 h 91630"/>
              <a:gd name="connsiteX120" fmla="*/ 266605 w 269176"/>
              <a:gd name="connsiteY120" fmla="*/ 75533 h 91630"/>
              <a:gd name="connsiteX121" fmla="*/ 259461 w 269176"/>
              <a:gd name="connsiteY121" fmla="*/ 84106 h 91630"/>
              <a:gd name="connsiteX122" fmla="*/ 248603 w 269176"/>
              <a:gd name="connsiteY122" fmla="*/ 89535 h 91630"/>
              <a:gd name="connsiteX123" fmla="*/ 234696 w 269176"/>
              <a:gd name="connsiteY123" fmla="*/ 91535 h 91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269176" h="91630">
                <a:moveTo>
                  <a:pt x="70581" y="63532"/>
                </a:moveTo>
                <a:cubicBezTo>
                  <a:pt x="70581" y="67151"/>
                  <a:pt x="70961" y="70104"/>
                  <a:pt x="71628" y="72200"/>
                </a:cubicBezTo>
                <a:cubicBezTo>
                  <a:pt x="72390" y="74390"/>
                  <a:pt x="73343" y="76676"/>
                  <a:pt x="74772" y="79248"/>
                </a:cubicBezTo>
                <a:cubicBezTo>
                  <a:pt x="75248" y="80010"/>
                  <a:pt x="75438" y="80772"/>
                  <a:pt x="75438" y="81534"/>
                </a:cubicBezTo>
                <a:cubicBezTo>
                  <a:pt x="75438" y="82487"/>
                  <a:pt x="74867" y="83439"/>
                  <a:pt x="73629" y="84487"/>
                </a:cubicBezTo>
                <a:lnTo>
                  <a:pt x="67533" y="88583"/>
                </a:lnTo>
                <a:cubicBezTo>
                  <a:pt x="66675" y="89154"/>
                  <a:pt x="65818" y="89440"/>
                  <a:pt x="64961" y="89440"/>
                </a:cubicBezTo>
                <a:cubicBezTo>
                  <a:pt x="64008" y="89440"/>
                  <a:pt x="63055" y="88964"/>
                  <a:pt x="62008" y="88106"/>
                </a:cubicBezTo>
                <a:cubicBezTo>
                  <a:pt x="60674" y="86678"/>
                  <a:pt x="59436" y="85058"/>
                  <a:pt x="58484" y="83534"/>
                </a:cubicBezTo>
                <a:cubicBezTo>
                  <a:pt x="57531" y="81915"/>
                  <a:pt x="56579" y="80010"/>
                  <a:pt x="55436" y="77819"/>
                </a:cubicBezTo>
                <a:cubicBezTo>
                  <a:pt x="47816" y="86773"/>
                  <a:pt x="38291" y="91250"/>
                  <a:pt x="26765" y="91250"/>
                </a:cubicBezTo>
                <a:cubicBezTo>
                  <a:pt x="18574" y="91250"/>
                  <a:pt x="12002" y="88868"/>
                  <a:pt x="7239" y="84201"/>
                </a:cubicBezTo>
                <a:cubicBezTo>
                  <a:pt x="2477" y="79534"/>
                  <a:pt x="0" y="73247"/>
                  <a:pt x="0" y="65532"/>
                </a:cubicBezTo>
                <a:cubicBezTo>
                  <a:pt x="0" y="57245"/>
                  <a:pt x="2953" y="50483"/>
                  <a:pt x="8858" y="45434"/>
                </a:cubicBezTo>
                <a:cubicBezTo>
                  <a:pt x="14764" y="40386"/>
                  <a:pt x="22670" y="37814"/>
                  <a:pt x="32766" y="37814"/>
                </a:cubicBezTo>
                <a:cubicBezTo>
                  <a:pt x="36100" y="37814"/>
                  <a:pt x="39529" y="38100"/>
                  <a:pt x="43053" y="38576"/>
                </a:cubicBezTo>
                <a:cubicBezTo>
                  <a:pt x="46577" y="39053"/>
                  <a:pt x="50388" y="39815"/>
                  <a:pt x="54293" y="40767"/>
                </a:cubicBezTo>
                <a:lnTo>
                  <a:pt x="54293" y="33623"/>
                </a:lnTo>
                <a:cubicBezTo>
                  <a:pt x="54293" y="26194"/>
                  <a:pt x="52769" y="21050"/>
                  <a:pt x="49721" y="18002"/>
                </a:cubicBezTo>
                <a:cubicBezTo>
                  <a:pt x="46577" y="14954"/>
                  <a:pt x="41339" y="13526"/>
                  <a:pt x="33814" y="13526"/>
                </a:cubicBezTo>
                <a:cubicBezTo>
                  <a:pt x="30385" y="13526"/>
                  <a:pt x="26861" y="13907"/>
                  <a:pt x="23241" y="14764"/>
                </a:cubicBezTo>
                <a:cubicBezTo>
                  <a:pt x="19621" y="15621"/>
                  <a:pt x="16097" y="16669"/>
                  <a:pt x="12668" y="18098"/>
                </a:cubicBezTo>
                <a:cubicBezTo>
                  <a:pt x="11145" y="18764"/>
                  <a:pt x="9906" y="19145"/>
                  <a:pt x="9240" y="19336"/>
                </a:cubicBezTo>
                <a:cubicBezTo>
                  <a:pt x="8573" y="19526"/>
                  <a:pt x="8097" y="19622"/>
                  <a:pt x="7715" y="19622"/>
                </a:cubicBezTo>
                <a:cubicBezTo>
                  <a:pt x="6382" y="19622"/>
                  <a:pt x="5715" y="18669"/>
                  <a:pt x="5715" y="16574"/>
                </a:cubicBezTo>
                <a:lnTo>
                  <a:pt x="5715" y="11811"/>
                </a:lnTo>
                <a:cubicBezTo>
                  <a:pt x="5715" y="10287"/>
                  <a:pt x="5905" y="9049"/>
                  <a:pt x="6382" y="8382"/>
                </a:cubicBezTo>
                <a:cubicBezTo>
                  <a:pt x="6858" y="7715"/>
                  <a:pt x="7715" y="7049"/>
                  <a:pt x="9144" y="6382"/>
                </a:cubicBezTo>
                <a:cubicBezTo>
                  <a:pt x="12573" y="4667"/>
                  <a:pt x="16669" y="3143"/>
                  <a:pt x="21431" y="2000"/>
                </a:cubicBezTo>
                <a:cubicBezTo>
                  <a:pt x="26194" y="762"/>
                  <a:pt x="31242" y="191"/>
                  <a:pt x="36672" y="191"/>
                </a:cubicBezTo>
                <a:cubicBezTo>
                  <a:pt x="48292" y="191"/>
                  <a:pt x="56769" y="2858"/>
                  <a:pt x="62199" y="8096"/>
                </a:cubicBezTo>
                <a:cubicBezTo>
                  <a:pt x="67533" y="13335"/>
                  <a:pt x="70295" y="21336"/>
                  <a:pt x="70295" y="32099"/>
                </a:cubicBezTo>
                <a:lnTo>
                  <a:pt x="70295" y="63722"/>
                </a:lnTo>
                <a:lnTo>
                  <a:pt x="70485" y="63722"/>
                </a:lnTo>
                <a:close/>
                <a:moveTo>
                  <a:pt x="31052" y="78391"/>
                </a:moveTo>
                <a:cubicBezTo>
                  <a:pt x="34290" y="78391"/>
                  <a:pt x="37624" y="77819"/>
                  <a:pt x="41053" y="76676"/>
                </a:cubicBezTo>
                <a:cubicBezTo>
                  <a:pt x="44482" y="75533"/>
                  <a:pt x="47720" y="73343"/>
                  <a:pt x="50292" y="70485"/>
                </a:cubicBezTo>
                <a:cubicBezTo>
                  <a:pt x="51816" y="68675"/>
                  <a:pt x="53054" y="66580"/>
                  <a:pt x="53626" y="64294"/>
                </a:cubicBezTo>
                <a:cubicBezTo>
                  <a:pt x="54197" y="61913"/>
                  <a:pt x="54579" y="59150"/>
                  <a:pt x="54579" y="55817"/>
                </a:cubicBezTo>
                <a:lnTo>
                  <a:pt x="54579" y="51721"/>
                </a:lnTo>
                <a:cubicBezTo>
                  <a:pt x="51721" y="51054"/>
                  <a:pt x="48768" y="50483"/>
                  <a:pt x="45625" y="50102"/>
                </a:cubicBezTo>
                <a:cubicBezTo>
                  <a:pt x="42482" y="49721"/>
                  <a:pt x="39529" y="49530"/>
                  <a:pt x="36481" y="49530"/>
                </a:cubicBezTo>
                <a:cubicBezTo>
                  <a:pt x="29909" y="49530"/>
                  <a:pt x="25146" y="50768"/>
                  <a:pt x="22003" y="53435"/>
                </a:cubicBezTo>
                <a:cubicBezTo>
                  <a:pt x="18860" y="56102"/>
                  <a:pt x="17240" y="59817"/>
                  <a:pt x="17240" y="64675"/>
                </a:cubicBezTo>
                <a:cubicBezTo>
                  <a:pt x="17240" y="69247"/>
                  <a:pt x="18383" y="72676"/>
                  <a:pt x="20860" y="74962"/>
                </a:cubicBezTo>
                <a:cubicBezTo>
                  <a:pt x="23241" y="77438"/>
                  <a:pt x="26575" y="78581"/>
                  <a:pt x="31052" y="78581"/>
                </a:cubicBezTo>
                <a:close/>
                <a:moveTo>
                  <a:pt x="109347" y="88964"/>
                </a:moveTo>
                <a:cubicBezTo>
                  <a:pt x="107632" y="88964"/>
                  <a:pt x="106395" y="88678"/>
                  <a:pt x="105633" y="88011"/>
                </a:cubicBezTo>
                <a:cubicBezTo>
                  <a:pt x="104870" y="87440"/>
                  <a:pt x="104204" y="86106"/>
                  <a:pt x="103632" y="84201"/>
                </a:cubicBezTo>
                <a:lnTo>
                  <a:pt x="80772" y="8858"/>
                </a:lnTo>
                <a:cubicBezTo>
                  <a:pt x="80201" y="6953"/>
                  <a:pt x="79915" y="5620"/>
                  <a:pt x="79915" y="4953"/>
                </a:cubicBezTo>
                <a:cubicBezTo>
                  <a:pt x="79915" y="3429"/>
                  <a:pt x="80677" y="2477"/>
                  <a:pt x="82296" y="2477"/>
                </a:cubicBezTo>
                <a:lnTo>
                  <a:pt x="91821" y="2477"/>
                </a:lnTo>
                <a:cubicBezTo>
                  <a:pt x="93631" y="2477"/>
                  <a:pt x="94965" y="2762"/>
                  <a:pt x="95631" y="3429"/>
                </a:cubicBezTo>
                <a:cubicBezTo>
                  <a:pt x="96393" y="4001"/>
                  <a:pt x="96964" y="5334"/>
                  <a:pt x="97536" y="7239"/>
                </a:cubicBezTo>
                <a:lnTo>
                  <a:pt x="113919" y="71723"/>
                </a:lnTo>
                <a:lnTo>
                  <a:pt x="129159" y="7239"/>
                </a:lnTo>
                <a:cubicBezTo>
                  <a:pt x="129636" y="5334"/>
                  <a:pt x="130207" y="4001"/>
                  <a:pt x="130969" y="3429"/>
                </a:cubicBezTo>
                <a:cubicBezTo>
                  <a:pt x="131731" y="2858"/>
                  <a:pt x="133160" y="2477"/>
                  <a:pt x="134874" y="2477"/>
                </a:cubicBezTo>
                <a:lnTo>
                  <a:pt x="142685" y="2477"/>
                </a:lnTo>
                <a:cubicBezTo>
                  <a:pt x="144495" y="2477"/>
                  <a:pt x="145828" y="2762"/>
                  <a:pt x="146590" y="3429"/>
                </a:cubicBezTo>
                <a:cubicBezTo>
                  <a:pt x="147352" y="4001"/>
                  <a:pt x="148019" y="5334"/>
                  <a:pt x="148400" y="7239"/>
                </a:cubicBezTo>
                <a:lnTo>
                  <a:pt x="163830" y="72581"/>
                </a:lnTo>
                <a:lnTo>
                  <a:pt x="180690" y="7239"/>
                </a:lnTo>
                <a:cubicBezTo>
                  <a:pt x="181261" y="5334"/>
                  <a:pt x="181928" y="4001"/>
                  <a:pt x="182595" y="3429"/>
                </a:cubicBezTo>
                <a:cubicBezTo>
                  <a:pt x="183356" y="2858"/>
                  <a:pt x="184595" y="2477"/>
                  <a:pt x="186404" y="2477"/>
                </a:cubicBezTo>
                <a:lnTo>
                  <a:pt x="195453" y="2477"/>
                </a:lnTo>
                <a:cubicBezTo>
                  <a:pt x="196977" y="2477"/>
                  <a:pt x="197930" y="3239"/>
                  <a:pt x="197930" y="4953"/>
                </a:cubicBezTo>
                <a:cubicBezTo>
                  <a:pt x="197930" y="5429"/>
                  <a:pt x="197834" y="5906"/>
                  <a:pt x="197739" y="6477"/>
                </a:cubicBezTo>
                <a:cubicBezTo>
                  <a:pt x="197644" y="7049"/>
                  <a:pt x="197454" y="7811"/>
                  <a:pt x="197072" y="8954"/>
                </a:cubicBezTo>
                <a:lnTo>
                  <a:pt x="173546" y="84296"/>
                </a:lnTo>
                <a:cubicBezTo>
                  <a:pt x="172974" y="86201"/>
                  <a:pt x="172308" y="87535"/>
                  <a:pt x="171545" y="88106"/>
                </a:cubicBezTo>
                <a:cubicBezTo>
                  <a:pt x="170783" y="88678"/>
                  <a:pt x="169545" y="89059"/>
                  <a:pt x="167830" y="89059"/>
                </a:cubicBezTo>
                <a:lnTo>
                  <a:pt x="159448" y="89059"/>
                </a:lnTo>
                <a:cubicBezTo>
                  <a:pt x="157639" y="89059"/>
                  <a:pt x="156306" y="88773"/>
                  <a:pt x="155543" y="88106"/>
                </a:cubicBezTo>
                <a:cubicBezTo>
                  <a:pt x="154781" y="87440"/>
                  <a:pt x="154114" y="86201"/>
                  <a:pt x="153734" y="84201"/>
                </a:cubicBezTo>
                <a:lnTo>
                  <a:pt x="138589" y="21336"/>
                </a:lnTo>
                <a:lnTo>
                  <a:pt x="123540" y="84106"/>
                </a:lnTo>
                <a:cubicBezTo>
                  <a:pt x="123063" y="86011"/>
                  <a:pt x="122492" y="87344"/>
                  <a:pt x="121730" y="88011"/>
                </a:cubicBezTo>
                <a:cubicBezTo>
                  <a:pt x="120968" y="88678"/>
                  <a:pt x="119539" y="88964"/>
                  <a:pt x="117824" y="88964"/>
                </a:cubicBezTo>
                <a:lnTo>
                  <a:pt x="109442" y="88964"/>
                </a:lnTo>
                <a:close/>
                <a:moveTo>
                  <a:pt x="234601" y="91631"/>
                </a:moveTo>
                <a:cubicBezTo>
                  <a:pt x="229553" y="91631"/>
                  <a:pt x="224504" y="91059"/>
                  <a:pt x="219551" y="89916"/>
                </a:cubicBezTo>
                <a:cubicBezTo>
                  <a:pt x="214599" y="88773"/>
                  <a:pt x="210884" y="87440"/>
                  <a:pt x="208312" y="86011"/>
                </a:cubicBezTo>
                <a:cubicBezTo>
                  <a:pt x="206788" y="85154"/>
                  <a:pt x="205645" y="84201"/>
                  <a:pt x="205264" y="83249"/>
                </a:cubicBezTo>
                <a:cubicBezTo>
                  <a:pt x="204883" y="82296"/>
                  <a:pt x="204692" y="81439"/>
                  <a:pt x="204692" y="80486"/>
                </a:cubicBezTo>
                <a:lnTo>
                  <a:pt x="204692" y="75533"/>
                </a:lnTo>
                <a:cubicBezTo>
                  <a:pt x="204692" y="73533"/>
                  <a:pt x="205454" y="72485"/>
                  <a:pt x="206979" y="72485"/>
                </a:cubicBezTo>
                <a:cubicBezTo>
                  <a:pt x="207550" y="72485"/>
                  <a:pt x="208122" y="72581"/>
                  <a:pt x="208693" y="72771"/>
                </a:cubicBezTo>
                <a:cubicBezTo>
                  <a:pt x="209265" y="72962"/>
                  <a:pt x="210121" y="73343"/>
                  <a:pt x="211170" y="73724"/>
                </a:cubicBezTo>
                <a:cubicBezTo>
                  <a:pt x="214503" y="75152"/>
                  <a:pt x="218123" y="76391"/>
                  <a:pt x="221932" y="77153"/>
                </a:cubicBezTo>
                <a:cubicBezTo>
                  <a:pt x="225838" y="77915"/>
                  <a:pt x="229648" y="78296"/>
                  <a:pt x="233553" y="78296"/>
                </a:cubicBezTo>
                <a:cubicBezTo>
                  <a:pt x="239649" y="78296"/>
                  <a:pt x="244507" y="77248"/>
                  <a:pt x="247745" y="75057"/>
                </a:cubicBezTo>
                <a:cubicBezTo>
                  <a:pt x="251079" y="72866"/>
                  <a:pt x="252794" y="69818"/>
                  <a:pt x="252794" y="65818"/>
                </a:cubicBezTo>
                <a:cubicBezTo>
                  <a:pt x="252794" y="63056"/>
                  <a:pt x="251936" y="60865"/>
                  <a:pt x="250127" y="58960"/>
                </a:cubicBezTo>
                <a:cubicBezTo>
                  <a:pt x="248412" y="57150"/>
                  <a:pt x="245079" y="55436"/>
                  <a:pt x="240316" y="53912"/>
                </a:cubicBezTo>
                <a:lnTo>
                  <a:pt x="226219" y="49530"/>
                </a:lnTo>
                <a:cubicBezTo>
                  <a:pt x="219075" y="47244"/>
                  <a:pt x="213836" y="44006"/>
                  <a:pt x="210598" y="39624"/>
                </a:cubicBezTo>
                <a:cubicBezTo>
                  <a:pt x="207359" y="35338"/>
                  <a:pt x="205740" y="30575"/>
                  <a:pt x="205740" y="25527"/>
                </a:cubicBezTo>
                <a:cubicBezTo>
                  <a:pt x="205740" y="21431"/>
                  <a:pt x="206597" y="17812"/>
                  <a:pt x="208407" y="14669"/>
                </a:cubicBezTo>
                <a:cubicBezTo>
                  <a:pt x="210217" y="11525"/>
                  <a:pt x="212503" y="8858"/>
                  <a:pt x="215455" y="6668"/>
                </a:cubicBezTo>
                <a:cubicBezTo>
                  <a:pt x="218408" y="4382"/>
                  <a:pt x="221647" y="2762"/>
                  <a:pt x="225552" y="1619"/>
                </a:cubicBezTo>
                <a:cubicBezTo>
                  <a:pt x="229458" y="476"/>
                  <a:pt x="233553" y="0"/>
                  <a:pt x="237840" y="0"/>
                </a:cubicBezTo>
                <a:cubicBezTo>
                  <a:pt x="240030" y="0"/>
                  <a:pt x="242221" y="95"/>
                  <a:pt x="244412" y="381"/>
                </a:cubicBezTo>
                <a:cubicBezTo>
                  <a:pt x="246698" y="667"/>
                  <a:pt x="248698" y="1048"/>
                  <a:pt x="250793" y="1429"/>
                </a:cubicBezTo>
                <a:cubicBezTo>
                  <a:pt x="252699" y="1905"/>
                  <a:pt x="254604" y="2381"/>
                  <a:pt x="256318" y="2953"/>
                </a:cubicBezTo>
                <a:cubicBezTo>
                  <a:pt x="258033" y="3524"/>
                  <a:pt x="259461" y="4096"/>
                  <a:pt x="260414" y="4667"/>
                </a:cubicBezTo>
                <a:cubicBezTo>
                  <a:pt x="261747" y="5429"/>
                  <a:pt x="262795" y="6191"/>
                  <a:pt x="263366" y="7144"/>
                </a:cubicBezTo>
                <a:cubicBezTo>
                  <a:pt x="263938" y="7906"/>
                  <a:pt x="264223" y="8954"/>
                  <a:pt x="264223" y="10382"/>
                </a:cubicBezTo>
                <a:lnTo>
                  <a:pt x="264223" y="14954"/>
                </a:lnTo>
                <a:cubicBezTo>
                  <a:pt x="264223" y="16955"/>
                  <a:pt x="263462" y="18098"/>
                  <a:pt x="261938" y="18098"/>
                </a:cubicBezTo>
                <a:cubicBezTo>
                  <a:pt x="261176" y="18098"/>
                  <a:pt x="259938" y="17717"/>
                  <a:pt x="258223" y="16955"/>
                </a:cubicBezTo>
                <a:cubicBezTo>
                  <a:pt x="252699" y="14383"/>
                  <a:pt x="246412" y="13145"/>
                  <a:pt x="239554" y="13145"/>
                </a:cubicBezTo>
                <a:cubicBezTo>
                  <a:pt x="234029" y="13145"/>
                  <a:pt x="229648" y="14002"/>
                  <a:pt x="226600" y="15907"/>
                </a:cubicBezTo>
                <a:cubicBezTo>
                  <a:pt x="223552" y="17812"/>
                  <a:pt x="222028" y="20574"/>
                  <a:pt x="222028" y="24575"/>
                </a:cubicBezTo>
                <a:cubicBezTo>
                  <a:pt x="222028" y="27337"/>
                  <a:pt x="222981" y="29623"/>
                  <a:pt x="224980" y="31528"/>
                </a:cubicBezTo>
                <a:cubicBezTo>
                  <a:pt x="226981" y="33433"/>
                  <a:pt x="230505" y="35243"/>
                  <a:pt x="235744" y="36862"/>
                </a:cubicBezTo>
                <a:lnTo>
                  <a:pt x="249555" y="41243"/>
                </a:lnTo>
                <a:cubicBezTo>
                  <a:pt x="256604" y="43529"/>
                  <a:pt x="261652" y="46577"/>
                  <a:pt x="264700" y="50578"/>
                </a:cubicBezTo>
                <a:cubicBezTo>
                  <a:pt x="267748" y="54578"/>
                  <a:pt x="269177" y="59150"/>
                  <a:pt x="269177" y="64199"/>
                </a:cubicBezTo>
                <a:cubicBezTo>
                  <a:pt x="269177" y="68390"/>
                  <a:pt x="268320" y="72200"/>
                  <a:pt x="266605" y="75533"/>
                </a:cubicBezTo>
                <a:cubicBezTo>
                  <a:pt x="264890" y="78867"/>
                  <a:pt x="262509" y="81725"/>
                  <a:pt x="259461" y="84106"/>
                </a:cubicBezTo>
                <a:cubicBezTo>
                  <a:pt x="256413" y="86582"/>
                  <a:pt x="252794" y="88297"/>
                  <a:pt x="248603" y="89535"/>
                </a:cubicBezTo>
                <a:cubicBezTo>
                  <a:pt x="244221" y="90869"/>
                  <a:pt x="239649" y="91535"/>
                  <a:pt x="234696" y="91535"/>
                </a:cubicBez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effectLst/>
              <a:uLnTx/>
              <a:uFillTx/>
              <a:latin typeface="Calibri" panose="020F0502020204030204"/>
              <a:ea typeface="+mn-ea"/>
              <a:cs typeface="+mn-cs"/>
            </a:endParaRPr>
          </a:p>
        </p:txBody>
      </p:sp>
      <p:sp>
        <p:nvSpPr>
          <p:cNvPr id="257" name="Freeform: Shape 804">
            <a:extLst>
              <a:ext uri="{FF2B5EF4-FFF2-40B4-BE49-F238E27FC236}">
                <a16:creationId xmlns:a16="http://schemas.microsoft.com/office/drawing/2014/main" id="{8E3FE7D8-F0A7-6E02-FEE7-A18891DC17F7}"/>
              </a:ext>
            </a:extLst>
          </p:cNvPr>
          <p:cNvSpPr/>
          <p:nvPr/>
        </p:nvSpPr>
        <p:spPr>
          <a:xfrm>
            <a:off x="10709994" y="2675198"/>
            <a:ext cx="277934" cy="62613"/>
          </a:xfrm>
          <a:custGeom>
            <a:avLst/>
            <a:gdLst>
              <a:gd name="connsiteX0" fmla="*/ 264960 w 293034"/>
              <a:gd name="connsiteY0" fmla="*/ 29725 h 66015"/>
              <a:gd name="connsiteX1" fmla="*/ 146279 w 293034"/>
              <a:gd name="connsiteY1" fmla="*/ 66015 h 66015"/>
              <a:gd name="connsiteX2" fmla="*/ 1308 w 293034"/>
              <a:gd name="connsiteY2" fmla="*/ 10771 h 66015"/>
              <a:gd name="connsiteX3" fmla="*/ 4642 w 293034"/>
              <a:gd name="connsiteY3" fmla="*/ 6484 h 66015"/>
              <a:gd name="connsiteX4" fmla="*/ 149708 w 293034"/>
              <a:gd name="connsiteY4" fmla="*/ 44965 h 66015"/>
              <a:gd name="connsiteX5" fmla="*/ 260388 w 293034"/>
              <a:gd name="connsiteY5" fmla="*/ 22391 h 66015"/>
              <a:gd name="connsiteX6" fmla="*/ 265055 w 293034"/>
              <a:gd name="connsiteY6" fmla="*/ 29821 h 66015"/>
              <a:gd name="connsiteX7" fmla="*/ 278295 w 293034"/>
              <a:gd name="connsiteY7" fmla="*/ 14485 h 66015"/>
              <a:gd name="connsiteX8" fmla="*/ 240767 w 293034"/>
              <a:gd name="connsiteY8" fmla="*/ 13247 h 66015"/>
              <a:gd name="connsiteX9" fmla="*/ 240005 w 293034"/>
              <a:gd name="connsiteY9" fmla="*/ 8865 h 66015"/>
              <a:gd name="connsiteX10" fmla="*/ 291916 w 293034"/>
              <a:gd name="connsiteY10" fmla="*/ 4008 h 66015"/>
              <a:gd name="connsiteX11" fmla="*/ 273818 w 293034"/>
              <a:gd name="connsiteY11" fmla="*/ 52966 h 66015"/>
              <a:gd name="connsiteX12" fmla="*/ 269818 w 293034"/>
              <a:gd name="connsiteY12" fmla="*/ 51156 h 66015"/>
              <a:gd name="connsiteX13" fmla="*/ 278295 w 293034"/>
              <a:gd name="connsiteY13" fmla="*/ 14580 h 6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3034" h="66015">
                <a:moveTo>
                  <a:pt x="264960" y="29725"/>
                </a:moveTo>
                <a:cubicBezTo>
                  <a:pt x="232861" y="53442"/>
                  <a:pt x="186283" y="66015"/>
                  <a:pt x="146279" y="66015"/>
                </a:cubicBezTo>
                <a:cubicBezTo>
                  <a:pt x="90177" y="66015"/>
                  <a:pt x="39503" y="45251"/>
                  <a:pt x="1308" y="10771"/>
                </a:cubicBezTo>
                <a:cubicBezTo>
                  <a:pt x="-1740" y="8008"/>
                  <a:pt x="1023" y="4293"/>
                  <a:pt x="4642" y="6484"/>
                </a:cubicBezTo>
                <a:cubicBezTo>
                  <a:pt x="45980" y="30487"/>
                  <a:pt x="96940" y="44965"/>
                  <a:pt x="149708" y="44965"/>
                </a:cubicBezTo>
                <a:cubicBezTo>
                  <a:pt x="185331" y="44965"/>
                  <a:pt x="224383" y="37536"/>
                  <a:pt x="260388" y="22391"/>
                </a:cubicBezTo>
                <a:cubicBezTo>
                  <a:pt x="265722" y="19914"/>
                  <a:pt x="270294" y="25915"/>
                  <a:pt x="265055" y="29821"/>
                </a:cubicBezTo>
                <a:close/>
                <a:moveTo>
                  <a:pt x="278295" y="14485"/>
                </a:moveTo>
                <a:cubicBezTo>
                  <a:pt x="274200" y="9246"/>
                  <a:pt x="251244" y="11913"/>
                  <a:pt x="240767" y="13247"/>
                </a:cubicBezTo>
                <a:cubicBezTo>
                  <a:pt x="237623" y="13628"/>
                  <a:pt x="237147" y="10866"/>
                  <a:pt x="240005" y="8865"/>
                </a:cubicBezTo>
                <a:cubicBezTo>
                  <a:pt x="258293" y="-3993"/>
                  <a:pt x="288487" y="-279"/>
                  <a:pt x="291916" y="4008"/>
                </a:cubicBezTo>
                <a:cubicBezTo>
                  <a:pt x="295440" y="8389"/>
                  <a:pt x="290964" y="38488"/>
                  <a:pt x="273818" y="52966"/>
                </a:cubicBezTo>
                <a:cubicBezTo>
                  <a:pt x="271152" y="55252"/>
                  <a:pt x="268675" y="54014"/>
                  <a:pt x="269818" y="51156"/>
                </a:cubicBezTo>
                <a:cubicBezTo>
                  <a:pt x="273724" y="41536"/>
                  <a:pt x="282391" y="19724"/>
                  <a:pt x="278295" y="1458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67" name="Freeform: Shape 757">
            <a:extLst>
              <a:ext uri="{FF2B5EF4-FFF2-40B4-BE49-F238E27FC236}">
                <a16:creationId xmlns:a16="http://schemas.microsoft.com/office/drawing/2014/main" id="{9588FEE9-1EFF-5E7A-D0C3-4FD26A401C99}"/>
              </a:ext>
            </a:extLst>
          </p:cNvPr>
          <p:cNvSpPr/>
          <p:nvPr/>
        </p:nvSpPr>
        <p:spPr>
          <a:xfrm rot="1395510">
            <a:off x="9629235" y="3009334"/>
            <a:ext cx="676033" cy="811285"/>
          </a:xfrm>
          <a:custGeom>
            <a:avLst/>
            <a:gdLst>
              <a:gd name="connsiteX0" fmla="*/ 586930 w 586930"/>
              <a:gd name="connsiteY0" fmla="*/ 0 h 832675"/>
              <a:gd name="connsiteX1" fmla="*/ 0 w 586930"/>
              <a:gd name="connsiteY1" fmla="*/ 832676 h 832675"/>
            </a:gdLst>
            <a:ahLst/>
            <a:cxnLst>
              <a:cxn ang="0">
                <a:pos x="connsiteX0" y="connsiteY0"/>
              </a:cxn>
              <a:cxn ang="0">
                <a:pos x="connsiteX1" y="connsiteY1"/>
              </a:cxn>
            </a:cxnLst>
            <a:rect l="l" t="t" r="r" b="b"/>
            <a:pathLst>
              <a:path w="586930" h="832675">
                <a:moveTo>
                  <a:pt x="586930" y="0"/>
                </a:moveTo>
                <a:lnTo>
                  <a:pt x="0" y="832676"/>
                </a:lnTo>
              </a:path>
            </a:pathLst>
          </a:custGeom>
          <a:ln w="19050" cap="flat">
            <a:solidFill>
              <a:srgbClr val="7030A0"/>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68" name="Freeform: Shape 758">
            <a:extLst>
              <a:ext uri="{FF2B5EF4-FFF2-40B4-BE49-F238E27FC236}">
                <a16:creationId xmlns:a16="http://schemas.microsoft.com/office/drawing/2014/main" id="{BC95FE0D-FC2E-CFA2-619D-9CADBE2B5FAF}"/>
              </a:ext>
            </a:extLst>
          </p:cNvPr>
          <p:cNvSpPr/>
          <p:nvPr/>
        </p:nvSpPr>
        <p:spPr>
          <a:xfrm rot="1395510">
            <a:off x="9599693" y="2988556"/>
            <a:ext cx="676033" cy="811285"/>
          </a:xfrm>
          <a:custGeom>
            <a:avLst/>
            <a:gdLst>
              <a:gd name="connsiteX0" fmla="*/ 586931 w 586930"/>
              <a:gd name="connsiteY0" fmla="*/ 0 h 832675"/>
              <a:gd name="connsiteX1" fmla="*/ 0 w 586930"/>
              <a:gd name="connsiteY1" fmla="*/ 832675 h 832675"/>
            </a:gdLst>
            <a:ahLst/>
            <a:cxnLst>
              <a:cxn ang="0">
                <a:pos x="connsiteX0" y="connsiteY0"/>
              </a:cxn>
              <a:cxn ang="0">
                <a:pos x="connsiteX1" y="connsiteY1"/>
              </a:cxn>
            </a:cxnLst>
            <a:rect l="l" t="t" r="r" b="b"/>
            <a:pathLst>
              <a:path w="586930" h="832675">
                <a:moveTo>
                  <a:pt x="586931" y="0"/>
                </a:moveTo>
                <a:lnTo>
                  <a:pt x="0" y="832675"/>
                </a:lnTo>
              </a:path>
            </a:pathLst>
          </a:custGeom>
          <a:ln w="19050" cap="flat">
            <a:solidFill>
              <a:srgbClr val="7030A0"/>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70" name="TextBox 269">
            <a:extLst>
              <a:ext uri="{FF2B5EF4-FFF2-40B4-BE49-F238E27FC236}">
                <a16:creationId xmlns:a16="http://schemas.microsoft.com/office/drawing/2014/main" id="{FF0AC763-858D-C14C-9CED-8A9F58221CEA}"/>
              </a:ext>
            </a:extLst>
          </p:cNvPr>
          <p:cNvSpPr txBox="1"/>
          <p:nvPr/>
        </p:nvSpPr>
        <p:spPr>
          <a:xfrm>
            <a:off x="9790961" y="1939186"/>
            <a:ext cx="215520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Multi Cloud Integration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latin typeface="Calibri" panose="020F0502020204030204"/>
                <a:ea typeface="+mn-ea"/>
                <a:cs typeface="+mn-cs"/>
              </a:rPr>
              <a:t>Cato </a:t>
            </a:r>
            <a:r>
              <a:rPr kumimoji="0" lang="en-US" sz="900" b="0" i="0" u="none" strike="noStrike" kern="1200" cap="none" spc="0" normalizeH="0" baseline="0" noProof="0" err="1">
                <a:ln>
                  <a:noFill/>
                </a:ln>
                <a:effectLst/>
                <a:uLnTx/>
                <a:uFillTx/>
                <a:latin typeface="Calibri" panose="020F0502020204030204"/>
                <a:ea typeface="+mn-ea"/>
                <a:cs typeface="+mn-cs"/>
              </a:rPr>
              <a:t>vSocket</a:t>
            </a:r>
            <a:r>
              <a:rPr kumimoji="0" lang="en-US" sz="900" b="0" i="0" u="none" strike="noStrike" kern="1200" cap="none" spc="0" normalizeH="0" baseline="0" noProof="0">
                <a:ln>
                  <a:noFill/>
                </a:ln>
                <a:effectLst/>
                <a:uLnTx/>
                <a:uFillTx/>
                <a:latin typeface="Calibri" panose="020F0502020204030204"/>
                <a:ea typeface="+mn-ea"/>
                <a:cs typeface="+mn-cs"/>
              </a:rPr>
              <a:t> • Cloud interconnect • </a:t>
            </a:r>
            <a:r>
              <a:rPr kumimoji="0" lang="en-US" sz="900" b="0" i="0" u="none" strike="noStrike" kern="1200" cap="none" spc="0" normalizeH="0" baseline="0" noProof="0">
                <a:ln>
                  <a:noFill/>
                </a:ln>
                <a:solidFill>
                  <a:srgbClr val="222C33"/>
                </a:solidFill>
                <a:effectLst/>
                <a:uLnTx/>
                <a:uFillTx/>
                <a:latin typeface="Calibri" panose="020F0502020204030204"/>
                <a:ea typeface="+mn-ea"/>
                <a:cs typeface="+mn-cs"/>
              </a:rPr>
              <a:t>IPsec </a:t>
            </a:r>
          </a:p>
        </p:txBody>
      </p:sp>
      <p:sp>
        <p:nvSpPr>
          <p:cNvPr id="271" name="Freeform: Shape 757">
            <a:extLst>
              <a:ext uri="{FF2B5EF4-FFF2-40B4-BE49-F238E27FC236}">
                <a16:creationId xmlns:a16="http://schemas.microsoft.com/office/drawing/2014/main" id="{5B87C025-F079-B3D0-C4E0-0743F913EED7}"/>
              </a:ext>
            </a:extLst>
          </p:cNvPr>
          <p:cNvSpPr/>
          <p:nvPr/>
        </p:nvSpPr>
        <p:spPr>
          <a:xfrm rot="1395510">
            <a:off x="1912717" y="3655431"/>
            <a:ext cx="755684" cy="1000072"/>
          </a:xfrm>
          <a:custGeom>
            <a:avLst/>
            <a:gdLst>
              <a:gd name="connsiteX0" fmla="*/ 586930 w 586930"/>
              <a:gd name="connsiteY0" fmla="*/ 0 h 832675"/>
              <a:gd name="connsiteX1" fmla="*/ 0 w 586930"/>
              <a:gd name="connsiteY1" fmla="*/ 832676 h 832675"/>
            </a:gdLst>
            <a:ahLst/>
            <a:cxnLst>
              <a:cxn ang="0">
                <a:pos x="connsiteX0" y="connsiteY0"/>
              </a:cxn>
              <a:cxn ang="0">
                <a:pos x="connsiteX1" y="connsiteY1"/>
              </a:cxn>
            </a:cxnLst>
            <a:rect l="l" t="t" r="r" b="b"/>
            <a:pathLst>
              <a:path w="586930" h="832675">
                <a:moveTo>
                  <a:pt x="586930" y="0"/>
                </a:moveTo>
                <a:lnTo>
                  <a:pt x="0" y="832676"/>
                </a:lnTo>
              </a:path>
            </a:pathLst>
          </a:custGeom>
          <a:ln w="19050" cap="flat">
            <a:solidFill>
              <a:srgbClr val="222C33"/>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72" name="Freeform: Shape 758">
            <a:extLst>
              <a:ext uri="{FF2B5EF4-FFF2-40B4-BE49-F238E27FC236}">
                <a16:creationId xmlns:a16="http://schemas.microsoft.com/office/drawing/2014/main" id="{61690F14-632E-8F42-6DC9-98B10E4BD70F}"/>
              </a:ext>
            </a:extLst>
          </p:cNvPr>
          <p:cNvSpPr/>
          <p:nvPr/>
        </p:nvSpPr>
        <p:spPr>
          <a:xfrm rot="1395510">
            <a:off x="1883175" y="3634653"/>
            <a:ext cx="755684" cy="1000072"/>
          </a:xfrm>
          <a:custGeom>
            <a:avLst/>
            <a:gdLst>
              <a:gd name="connsiteX0" fmla="*/ 586931 w 586930"/>
              <a:gd name="connsiteY0" fmla="*/ 0 h 832675"/>
              <a:gd name="connsiteX1" fmla="*/ 0 w 586930"/>
              <a:gd name="connsiteY1" fmla="*/ 832675 h 832675"/>
            </a:gdLst>
            <a:ahLst/>
            <a:cxnLst>
              <a:cxn ang="0">
                <a:pos x="connsiteX0" y="connsiteY0"/>
              </a:cxn>
              <a:cxn ang="0">
                <a:pos x="connsiteX1" y="connsiteY1"/>
              </a:cxn>
            </a:cxnLst>
            <a:rect l="l" t="t" r="r" b="b"/>
            <a:pathLst>
              <a:path w="586930" h="832675">
                <a:moveTo>
                  <a:pt x="586931" y="0"/>
                </a:moveTo>
                <a:lnTo>
                  <a:pt x="0" y="832675"/>
                </a:lnTo>
              </a:path>
            </a:pathLst>
          </a:custGeom>
          <a:ln w="19050" cap="flat">
            <a:solidFill>
              <a:srgbClr val="222C33"/>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73" name="Freeform: Shape 757">
            <a:extLst>
              <a:ext uri="{FF2B5EF4-FFF2-40B4-BE49-F238E27FC236}">
                <a16:creationId xmlns:a16="http://schemas.microsoft.com/office/drawing/2014/main" id="{5506167D-0E27-6B68-9B0F-D5A386E27FE7}"/>
              </a:ext>
            </a:extLst>
          </p:cNvPr>
          <p:cNvSpPr/>
          <p:nvPr/>
        </p:nvSpPr>
        <p:spPr>
          <a:xfrm rot="320921">
            <a:off x="2543126" y="3829378"/>
            <a:ext cx="261601" cy="664927"/>
          </a:xfrm>
          <a:custGeom>
            <a:avLst/>
            <a:gdLst>
              <a:gd name="connsiteX0" fmla="*/ 586930 w 586930"/>
              <a:gd name="connsiteY0" fmla="*/ 0 h 832675"/>
              <a:gd name="connsiteX1" fmla="*/ 0 w 586930"/>
              <a:gd name="connsiteY1" fmla="*/ 832676 h 832675"/>
            </a:gdLst>
            <a:ahLst/>
            <a:cxnLst>
              <a:cxn ang="0">
                <a:pos x="connsiteX0" y="connsiteY0"/>
              </a:cxn>
              <a:cxn ang="0">
                <a:pos x="connsiteX1" y="connsiteY1"/>
              </a:cxn>
            </a:cxnLst>
            <a:rect l="l" t="t" r="r" b="b"/>
            <a:pathLst>
              <a:path w="586930" h="832675">
                <a:moveTo>
                  <a:pt x="586930" y="0"/>
                </a:moveTo>
                <a:lnTo>
                  <a:pt x="0" y="832676"/>
                </a:lnTo>
              </a:path>
            </a:pathLst>
          </a:custGeom>
          <a:ln w="19050" cap="flat">
            <a:solidFill>
              <a:srgbClr val="222C33"/>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74" name="Freeform: Shape 758">
            <a:extLst>
              <a:ext uri="{FF2B5EF4-FFF2-40B4-BE49-F238E27FC236}">
                <a16:creationId xmlns:a16="http://schemas.microsoft.com/office/drawing/2014/main" id="{84513EEF-0E83-3CB1-E529-9F623FAE422F}"/>
              </a:ext>
            </a:extLst>
          </p:cNvPr>
          <p:cNvSpPr/>
          <p:nvPr/>
        </p:nvSpPr>
        <p:spPr>
          <a:xfrm rot="320921">
            <a:off x="2513584" y="3808600"/>
            <a:ext cx="261601" cy="664927"/>
          </a:xfrm>
          <a:custGeom>
            <a:avLst/>
            <a:gdLst>
              <a:gd name="connsiteX0" fmla="*/ 586931 w 586930"/>
              <a:gd name="connsiteY0" fmla="*/ 0 h 832675"/>
              <a:gd name="connsiteX1" fmla="*/ 0 w 586930"/>
              <a:gd name="connsiteY1" fmla="*/ 832675 h 832675"/>
            </a:gdLst>
            <a:ahLst/>
            <a:cxnLst>
              <a:cxn ang="0">
                <a:pos x="connsiteX0" y="connsiteY0"/>
              </a:cxn>
              <a:cxn ang="0">
                <a:pos x="connsiteX1" y="connsiteY1"/>
              </a:cxn>
            </a:cxnLst>
            <a:rect l="l" t="t" r="r" b="b"/>
            <a:pathLst>
              <a:path w="586930" h="832675">
                <a:moveTo>
                  <a:pt x="586931" y="0"/>
                </a:moveTo>
                <a:lnTo>
                  <a:pt x="0" y="832675"/>
                </a:lnTo>
              </a:path>
            </a:pathLst>
          </a:custGeom>
          <a:ln w="19050" cap="flat">
            <a:solidFill>
              <a:srgbClr val="222C33"/>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76" name="Freeform: Shape 757">
            <a:extLst>
              <a:ext uri="{FF2B5EF4-FFF2-40B4-BE49-F238E27FC236}">
                <a16:creationId xmlns:a16="http://schemas.microsoft.com/office/drawing/2014/main" id="{F5E12F04-58CD-2281-2908-F2C4A78ED84A}"/>
              </a:ext>
            </a:extLst>
          </p:cNvPr>
          <p:cNvSpPr/>
          <p:nvPr/>
        </p:nvSpPr>
        <p:spPr>
          <a:xfrm rot="1395510">
            <a:off x="1242052" y="3525437"/>
            <a:ext cx="1370716" cy="1289847"/>
          </a:xfrm>
          <a:custGeom>
            <a:avLst/>
            <a:gdLst>
              <a:gd name="connsiteX0" fmla="*/ 586930 w 586930"/>
              <a:gd name="connsiteY0" fmla="*/ 0 h 832675"/>
              <a:gd name="connsiteX1" fmla="*/ 0 w 586930"/>
              <a:gd name="connsiteY1" fmla="*/ 832676 h 832675"/>
            </a:gdLst>
            <a:ahLst/>
            <a:cxnLst>
              <a:cxn ang="0">
                <a:pos x="connsiteX0" y="connsiteY0"/>
              </a:cxn>
              <a:cxn ang="0">
                <a:pos x="connsiteX1" y="connsiteY1"/>
              </a:cxn>
            </a:cxnLst>
            <a:rect l="l" t="t" r="r" b="b"/>
            <a:pathLst>
              <a:path w="586930" h="832675">
                <a:moveTo>
                  <a:pt x="586930" y="0"/>
                </a:moveTo>
                <a:lnTo>
                  <a:pt x="0" y="832676"/>
                </a:lnTo>
              </a:path>
            </a:pathLst>
          </a:custGeom>
          <a:ln w="19050" cap="flat">
            <a:solidFill>
              <a:srgbClr val="222C33"/>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77" name="Freeform: Shape 758">
            <a:extLst>
              <a:ext uri="{FF2B5EF4-FFF2-40B4-BE49-F238E27FC236}">
                <a16:creationId xmlns:a16="http://schemas.microsoft.com/office/drawing/2014/main" id="{C03AA160-530E-A1F9-9F0B-10F7A8DFF2DC}"/>
              </a:ext>
            </a:extLst>
          </p:cNvPr>
          <p:cNvSpPr/>
          <p:nvPr/>
        </p:nvSpPr>
        <p:spPr>
          <a:xfrm rot="1395510">
            <a:off x="1212510" y="3504659"/>
            <a:ext cx="1370716" cy="1289847"/>
          </a:xfrm>
          <a:custGeom>
            <a:avLst/>
            <a:gdLst>
              <a:gd name="connsiteX0" fmla="*/ 586931 w 586930"/>
              <a:gd name="connsiteY0" fmla="*/ 0 h 832675"/>
              <a:gd name="connsiteX1" fmla="*/ 0 w 586930"/>
              <a:gd name="connsiteY1" fmla="*/ 832675 h 832675"/>
            </a:gdLst>
            <a:ahLst/>
            <a:cxnLst>
              <a:cxn ang="0">
                <a:pos x="connsiteX0" y="connsiteY0"/>
              </a:cxn>
              <a:cxn ang="0">
                <a:pos x="connsiteX1" y="connsiteY1"/>
              </a:cxn>
            </a:cxnLst>
            <a:rect l="l" t="t" r="r" b="b"/>
            <a:pathLst>
              <a:path w="586930" h="832675">
                <a:moveTo>
                  <a:pt x="586931" y="0"/>
                </a:moveTo>
                <a:lnTo>
                  <a:pt x="0" y="832675"/>
                </a:lnTo>
              </a:path>
            </a:pathLst>
          </a:custGeom>
          <a:ln w="19050" cap="flat">
            <a:solidFill>
              <a:srgbClr val="222C33"/>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78" name="Freeform: Shape 757">
            <a:extLst>
              <a:ext uri="{FF2B5EF4-FFF2-40B4-BE49-F238E27FC236}">
                <a16:creationId xmlns:a16="http://schemas.microsoft.com/office/drawing/2014/main" id="{58394FED-C998-97DC-A41A-2BD97A47DF4D}"/>
              </a:ext>
            </a:extLst>
          </p:cNvPr>
          <p:cNvSpPr/>
          <p:nvPr/>
        </p:nvSpPr>
        <p:spPr>
          <a:xfrm rot="320921">
            <a:off x="5856398" y="4729727"/>
            <a:ext cx="126482" cy="385543"/>
          </a:xfrm>
          <a:custGeom>
            <a:avLst/>
            <a:gdLst>
              <a:gd name="connsiteX0" fmla="*/ 586930 w 586930"/>
              <a:gd name="connsiteY0" fmla="*/ 0 h 832675"/>
              <a:gd name="connsiteX1" fmla="*/ 0 w 586930"/>
              <a:gd name="connsiteY1" fmla="*/ 832676 h 832675"/>
            </a:gdLst>
            <a:ahLst/>
            <a:cxnLst>
              <a:cxn ang="0">
                <a:pos x="connsiteX0" y="connsiteY0"/>
              </a:cxn>
              <a:cxn ang="0">
                <a:pos x="connsiteX1" y="connsiteY1"/>
              </a:cxn>
            </a:cxnLst>
            <a:rect l="l" t="t" r="r" b="b"/>
            <a:pathLst>
              <a:path w="586930" h="832675">
                <a:moveTo>
                  <a:pt x="586930" y="0"/>
                </a:moveTo>
                <a:lnTo>
                  <a:pt x="0" y="832676"/>
                </a:lnTo>
              </a:path>
            </a:pathLst>
          </a:custGeom>
          <a:ln w="19050" cap="flat">
            <a:solidFill>
              <a:srgbClr val="222C33"/>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79" name="Freeform: Shape 758">
            <a:extLst>
              <a:ext uri="{FF2B5EF4-FFF2-40B4-BE49-F238E27FC236}">
                <a16:creationId xmlns:a16="http://schemas.microsoft.com/office/drawing/2014/main" id="{C844A3D7-AA08-D8A4-1AE6-8B23B35D7237}"/>
              </a:ext>
            </a:extLst>
          </p:cNvPr>
          <p:cNvSpPr/>
          <p:nvPr/>
        </p:nvSpPr>
        <p:spPr>
          <a:xfrm rot="320921">
            <a:off x="5826856" y="4708949"/>
            <a:ext cx="126482" cy="385543"/>
          </a:xfrm>
          <a:custGeom>
            <a:avLst/>
            <a:gdLst>
              <a:gd name="connsiteX0" fmla="*/ 586931 w 586930"/>
              <a:gd name="connsiteY0" fmla="*/ 0 h 832675"/>
              <a:gd name="connsiteX1" fmla="*/ 0 w 586930"/>
              <a:gd name="connsiteY1" fmla="*/ 832675 h 832675"/>
            </a:gdLst>
            <a:ahLst/>
            <a:cxnLst>
              <a:cxn ang="0">
                <a:pos x="connsiteX0" y="connsiteY0"/>
              </a:cxn>
              <a:cxn ang="0">
                <a:pos x="connsiteX1" y="connsiteY1"/>
              </a:cxn>
            </a:cxnLst>
            <a:rect l="l" t="t" r="r" b="b"/>
            <a:pathLst>
              <a:path w="586930" h="832675">
                <a:moveTo>
                  <a:pt x="586931" y="0"/>
                </a:moveTo>
                <a:lnTo>
                  <a:pt x="0" y="832675"/>
                </a:lnTo>
              </a:path>
            </a:pathLst>
          </a:custGeom>
          <a:ln w="19050" cap="flat">
            <a:solidFill>
              <a:srgbClr val="222C33"/>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80" name="Freeform: Shape 757">
            <a:extLst>
              <a:ext uri="{FF2B5EF4-FFF2-40B4-BE49-F238E27FC236}">
                <a16:creationId xmlns:a16="http://schemas.microsoft.com/office/drawing/2014/main" id="{4895070A-11FF-B09A-F4C7-F2327C81A282}"/>
              </a:ext>
            </a:extLst>
          </p:cNvPr>
          <p:cNvSpPr/>
          <p:nvPr/>
        </p:nvSpPr>
        <p:spPr>
          <a:xfrm rot="294740" flipH="1">
            <a:off x="9445737" y="4008525"/>
            <a:ext cx="570641" cy="713348"/>
          </a:xfrm>
          <a:custGeom>
            <a:avLst/>
            <a:gdLst>
              <a:gd name="connsiteX0" fmla="*/ 586930 w 586930"/>
              <a:gd name="connsiteY0" fmla="*/ 0 h 832675"/>
              <a:gd name="connsiteX1" fmla="*/ 0 w 586930"/>
              <a:gd name="connsiteY1" fmla="*/ 832676 h 832675"/>
            </a:gdLst>
            <a:ahLst/>
            <a:cxnLst>
              <a:cxn ang="0">
                <a:pos x="connsiteX0" y="connsiteY0"/>
              </a:cxn>
              <a:cxn ang="0">
                <a:pos x="connsiteX1" y="connsiteY1"/>
              </a:cxn>
            </a:cxnLst>
            <a:rect l="l" t="t" r="r" b="b"/>
            <a:pathLst>
              <a:path w="586930" h="832675">
                <a:moveTo>
                  <a:pt x="586930" y="0"/>
                </a:moveTo>
                <a:lnTo>
                  <a:pt x="0" y="832676"/>
                </a:lnTo>
              </a:path>
            </a:pathLst>
          </a:custGeom>
          <a:ln w="19050" cap="flat">
            <a:solidFill>
              <a:srgbClr val="222C33"/>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82" name="Freeform: Shape 757">
            <a:extLst>
              <a:ext uri="{FF2B5EF4-FFF2-40B4-BE49-F238E27FC236}">
                <a16:creationId xmlns:a16="http://schemas.microsoft.com/office/drawing/2014/main" id="{48D69FBC-B3EE-5FA3-A187-A5664F100E66}"/>
              </a:ext>
            </a:extLst>
          </p:cNvPr>
          <p:cNvSpPr/>
          <p:nvPr/>
        </p:nvSpPr>
        <p:spPr>
          <a:xfrm rot="294740" flipH="1">
            <a:off x="9460703" y="3962057"/>
            <a:ext cx="618634" cy="755058"/>
          </a:xfrm>
          <a:custGeom>
            <a:avLst/>
            <a:gdLst>
              <a:gd name="connsiteX0" fmla="*/ 586930 w 586930"/>
              <a:gd name="connsiteY0" fmla="*/ 0 h 832675"/>
              <a:gd name="connsiteX1" fmla="*/ 0 w 586930"/>
              <a:gd name="connsiteY1" fmla="*/ 832676 h 832675"/>
            </a:gdLst>
            <a:ahLst/>
            <a:cxnLst>
              <a:cxn ang="0">
                <a:pos x="connsiteX0" y="connsiteY0"/>
              </a:cxn>
              <a:cxn ang="0">
                <a:pos x="connsiteX1" y="connsiteY1"/>
              </a:cxn>
            </a:cxnLst>
            <a:rect l="l" t="t" r="r" b="b"/>
            <a:pathLst>
              <a:path w="586930" h="832675">
                <a:moveTo>
                  <a:pt x="586930" y="0"/>
                </a:moveTo>
                <a:lnTo>
                  <a:pt x="0" y="832676"/>
                </a:lnTo>
              </a:path>
            </a:pathLst>
          </a:custGeom>
          <a:ln w="19050" cap="flat">
            <a:solidFill>
              <a:srgbClr val="222C33"/>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pic>
        <p:nvPicPr>
          <p:cNvPr id="283" name="Graphic 282">
            <a:extLst>
              <a:ext uri="{FF2B5EF4-FFF2-40B4-BE49-F238E27FC236}">
                <a16:creationId xmlns:a16="http://schemas.microsoft.com/office/drawing/2014/main" id="{FBF6BED1-D0B9-7F49-C474-BEBDFE15933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2028247" y="4690634"/>
            <a:ext cx="531885" cy="531885"/>
          </a:xfrm>
          <a:prstGeom prst="rect">
            <a:avLst/>
          </a:prstGeom>
        </p:spPr>
      </p:pic>
      <p:sp>
        <p:nvSpPr>
          <p:cNvPr id="284" name="Freeform: Shape 939">
            <a:extLst>
              <a:ext uri="{FF2B5EF4-FFF2-40B4-BE49-F238E27FC236}">
                <a16:creationId xmlns:a16="http://schemas.microsoft.com/office/drawing/2014/main" id="{44CC37AD-CD8E-750F-634F-9261177DABB1}"/>
              </a:ext>
            </a:extLst>
          </p:cNvPr>
          <p:cNvSpPr/>
          <p:nvPr/>
        </p:nvSpPr>
        <p:spPr>
          <a:xfrm>
            <a:off x="10335618" y="5442638"/>
            <a:ext cx="205770" cy="224331"/>
          </a:xfrm>
          <a:custGeom>
            <a:avLst/>
            <a:gdLst>
              <a:gd name="connsiteX0" fmla="*/ 648271 w 648271"/>
              <a:gd name="connsiteY0" fmla="*/ 648367 h 648366"/>
              <a:gd name="connsiteX1" fmla="*/ 0 w 648271"/>
              <a:gd name="connsiteY1" fmla="*/ 0 h 648366"/>
            </a:gdLst>
            <a:ahLst/>
            <a:cxnLst>
              <a:cxn ang="0">
                <a:pos x="connsiteX0" y="connsiteY0"/>
              </a:cxn>
              <a:cxn ang="0">
                <a:pos x="connsiteX1" y="connsiteY1"/>
              </a:cxn>
            </a:cxnLst>
            <a:rect l="l" t="t" r="r" b="b"/>
            <a:pathLst>
              <a:path w="648271" h="648366">
                <a:moveTo>
                  <a:pt x="648271" y="648367"/>
                </a:moveTo>
                <a:lnTo>
                  <a:pt x="0" y="0"/>
                </a:lnTo>
              </a:path>
            </a:pathLst>
          </a:custGeom>
          <a:ln/>
        </p:spPr>
        <p:style>
          <a:lnRef idx="1">
            <a:schemeClr val="dk1"/>
          </a:lnRef>
          <a:fillRef idx="0">
            <a:schemeClr val="dk1"/>
          </a:fillRef>
          <a:effectRef idx="0">
            <a:schemeClr val="dk1"/>
          </a:effectRef>
          <a:fontRef idx="minor">
            <a:schemeClr val="tx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85" name="TextBox 284">
            <a:extLst>
              <a:ext uri="{FF2B5EF4-FFF2-40B4-BE49-F238E27FC236}">
                <a16:creationId xmlns:a16="http://schemas.microsoft.com/office/drawing/2014/main" id="{8E298981-625D-7827-88FE-702630675E94}"/>
              </a:ext>
            </a:extLst>
          </p:cNvPr>
          <p:cNvSpPr txBox="1"/>
          <p:nvPr/>
        </p:nvSpPr>
        <p:spPr>
          <a:xfrm>
            <a:off x="-672880" y="3546865"/>
            <a:ext cx="3798481" cy="677108"/>
          </a:xfrm>
          <a:prstGeom prst="rect">
            <a:avLst/>
          </a:prstGeom>
          <a:noFill/>
        </p:spPr>
        <p:txBody>
          <a:bodyPr wrap="square" lIns="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solidFill>
                  <a:srgbClr val="158864"/>
                </a:solidFill>
                <a:effectLst/>
                <a:uLnTx/>
                <a:uFillTx/>
                <a:latin typeface="Calibri" panose="020F0502020204030204"/>
                <a:ea typeface="+mn-ea"/>
                <a:cs typeface="+mn-cs"/>
                <a:sym typeface="NHaasGroteskDSPro-65Md"/>
              </a:rPr>
              <a:t>Cato Socket Edge SD-WAN</a:t>
            </a:r>
          </a:p>
          <a:p>
            <a:pPr algn="ctr">
              <a:defRPr/>
            </a:pPr>
            <a:r>
              <a:rPr lang="en-US" sz="900">
                <a:latin typeface="Calibri" panose="020F0502020204030204"/>
              </a:rPr>
              <a:t>A/</a:t>
            </a:r>
            <a:r>
              <a:rPr kumimoji="0" lang="en-US" sz="900" b="0" i="0" u="none" strike="noStrike" kern="1200" cap="none" spc="0" normalizeH="0" baseline="0" noProof="0">
                <a:ln>
                  <a:noFill/>
                </a:ln>
                <a:effectLst/>
                <a:uLnTx/>
                <a:uFillTx/>
                <a:latin typeface="Calibri" panose="020F0502020204030204"/>
                <a:ea typeface="+mn-ea"/>
                <a:cs typeface="+mn-cs"/>
              </a:rPr>
              <a:t>A/A • Path Selection • App/Id Aware QoS </a:t>
            </a:r>
          </a:p>
          <a:p>
            <a:pPr algn="ctr">
              <a:defRPr/>
            </a:pPr>
            <a:r>
              <a:rPr lang="en-US" sz="900">
                <a:latin typeface="Calibri" panose="020F0502020204030204"/>
              </a:rPr>
              <a:t>•NGFW </a:t>
            </a:r>
            <a:r>
              <a:rPr kumimoji="0" lang="en-US" sz="900" b="0" i="0" u="none" strike="noStrike" kern="1200" cap="none" spc="0" normalizeH="0" baseline="0" noProof="0">
                <a:ln>
                  <a:noFill/>
                </a:ln>
                <a:effectLst/>
                <a:uLnTx/>
                <a:uFillTx/>
                <a:latin typeface="Calibri" panose="020F0502020204030204"/>
                <a:ea typeface="+mn-ea"/>
                <a:cs typeface="+mn-cs"/>
              </a:rPr>
              <a:t>•</a:t>
            </a:r>
            <a:r>
              <a:rPr lang="en-US" sz="900">
                <a:latin typeface="Calibri" panose="020F0502020204030204"/>
              </a:rPr>
              <a:t> Segmentation</a:t>
            </a:r>
            <a:r>
              <a:rPr lang="en-US" sz="900"/>
              <a:t> • IoT/OT</a:t>
            </a:r>
            <a:endParaRPr lang="en-US" sz="900">
              <a:latin typeface="Calibri" panose="020F0502020204030204"/>
            </a:endParaRPr>
          </a:p>
          <a:p>
            <a:pPr>
              <a:defRPr/>
            </a:pPr>
            <a:endParaRPr lang="en-US" sz="900" b="0" i="0" u="none" strike="noStrike" kern="1200" cap="none" spc="0" normalizeH="0" baseline="0" noProof="0">
              <a:solidFill>
                <a:srgbClr val="158864"/>
              </a:solidFill>
              <a:effectLst/>
              <a:uLnTx/>
              <a:uFillTx/>
              <a:latin typeface="Calibri"/>
              <a:ea typeface="Calibri"/>
              <a:cs typeface="Calibri"/>
            </a:endParaRPr>
          </a:p>
        </p:txBody>
      </p:sp>
      <p:pic>
        <p:nvPicPr>
          <p:cNvPr id="286" name="Graphic 285">
            <a:extLst>
              <a:ext uri="{FF2B5EF4-FFF2-40B4-BE49-F238E27FC236}">
                <a16:creationId xmlns:a16="http://schemas.microsoft.com/office/drawing/2014/main" id="{0A0A0A60-4FE0-6189-192B-5D28282E56F6}"/>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9366356" y="5617827"/>
            <a:ext cx="444631" cy="444631"/>
          </a:xfrm>
          <a:prstGeom prst="rect">
            <a:avLst/>
          </a:prstGeom>
        </p:spPr>
      </p:pic>
      <p:pic>
        <p:nvPicPr>
          <p:cNvPr id="287" name="Graphic 286" descr="User with solid fill">
            <a:extLst>
              <a:ext uri="{FF2B5EF4-FFF2-40B4-BE49-F238E27FC236}">
                <a16:creationId xmlns:a16="http://schemas.microsoft.com/office/drawing/2014/main" id="{700120CC-8C09-4AA2-EC95-33F0F7619743}"/>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9429510" y="5655706"/>
            <a:ext cx="318325" cy="318325"/>
          </a:xfrm>
          <a:prstGeom prst="rect">
            <a:avLst/>
          </a:prstGeom>
        </p:spPr>
      </p:pic>
      <p:cxnSp>
        <p:nvCxnSpPr>
          <p:cNvPr id="288" name="Straight Connector 287">
            <a:extLst>
              <a:ext uri="{FF2B5EF4-FFF2-40B4-BE49-F238E27FC236}">
                <a16:creationId xmlns:a16="http://schemas.microsoft.com/office/drawing/2014/main" id="{D9207A08-8931-F302-14F5-F1EB17EF0EB3}"/>
              </a:ext>
            </a:extLst>
          </p:cNvPr>
          <p:cNvCxnSpPr>
            <a:cxnSpLocks/>
          </p:cNvCxnSpPr>
          <p:nvPr/>
        </p:nvCxnSpPr>
        <p:spPr>
          <a:xfrm flipV="1">
            <a:off x="9719260" y="5441150"/>
            <a:ext cx="203483" cy="235289"/>
          </a:xfrm>
          <a:prstGeom prst="line">
            <a:avLst/>
          </a:prstGeom>
          <a:ln w="19050">
            <a:solidFill>
              <a:srgbClr val="00B0F0"/>
            </a:solidFill>
            <a:prstDash val="dash"/>
            <a:headEnd type="oval" w="med" len="med"/>
            <a:tailEnd type="triangle" w="med" len="med"/>
          </a:ln>
        </p:spPr>
        <p:style>
          <a:lnRef idx="2">
            <a:schemeClr val="accent4"/>
          </a:lnRef>
          <a:fillRef idx="0">
            <a:schemeClr val="accent4"/>
          </a:fillRef>
          <a:effectRef idx="1">
            <a:schemeClr val="accent4"/>
          </a:effectRef>
          <a:fontRef idx="minor">
            <a:schemeClr val="tx1"/>
          </a:fontRef>
        </p:style>
      </p:cxnSp>
      <p:pic>
        <p:nvPicPr>
          <p:cNvPr id="295" name="Graphic 294" descr="Close with solid fill">
            <a:extLst>
              <a:ext uri="{FF2B5EF4-FFF2-40B4-BE49-F238E27FC236}">
                <a16:creationId xmlns:a16="http://schemas.microsoft.com/office/drawing/2014/main" id="{4DD8234B-6281-0A0C-E12F-1EAED2412C8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20769" y="5451242"/>
            <a:ext cx="200830" cy="200830"/>
          </a:xfrm>
          <a:prstGeom prst="rect">
            <a:avLst/>
          </a:prstGeom>
        </p:spPr>
      </p:pic>
      <p:pic>
        <p:nvPicPr>
          <p:cNvPr id="296" name="Graphic 295">
            <a:extLst>
              <a:ext uri="{FF2B5EF4-FFF2-40B4-BE49-F238E27FC236}">
                <a16:creationId xmlns:a16="http://schemas.microsoft.com/office/drawing/2014/main" id="{D9626B35-19D7-1348-3887-F17B1A495ED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2547794" y="5316642"/>
            <a:ext cx="444631" cy="444631"/>
          </a:xfrm>
          <a:prstGeom prst="rect">
            <a:avLst/>
          </a:prstGeom>
        </p:spPr>
      </p:pic>
      <p:sp>
        <p:nvSpPr>
          <p:cNvPr id="297" name="Freeform: Shape 939">
            <a:extLst>
              <a:ext uri="{FF2B5EF4-FFF2-40B4-BE49-F238E27FC236}">
                <a16:creationId xmlns:a16="http://schemas.microsoft.com/office/drawing/2014/main" id="{08033EB7-9C07-FF1F-1222-230AF7A72CC7}"/>
              </a:ext>
            </a:extLst>
          </p:cNvPr>
          <p:cNvSpPr/>
          <p:nvPr/>
        </p:nvSpPr>
        <p:spPr>
          <a:xfrm>
            <a:off x="2398690" y="5186348"/>
            <a:ext cx="205770" cy="224331"/>
          </a:xfrm>
          <a:custGeom>
            <a:avLst/>
            <a:gdLst>
              <a:gd name="connsiteX0" fmla="*/ 648271 w 648271"/>
              <a:gd name="connsiteY0" fmla="*/ 648367 h 648366"/>
              <a:gd name="connsiteX1" fmla="*/ 0 w 648271"/>
              <a:gd name="connsiteY1" fmla="*/ 0 h 648366"/>
            </a:gdLst>
            <a:ahLst/>
            <a:cxnLst>
              <a:cxn ang="0">
                <a:pos x="connsiteX0" y="connsiteY0"/>
              </a:cxn>
              <a:cxn ang="0">
                <a:pos x="connsiteX1" y="connsiteY1"/>
              </a:cxn>
            </a:cxnLst>
            <a:rect l="l" t="t" r="r" b="b"/>
            <a:pathLst>
              <a:path w="648271" h="648366">
                <a:moveTo>
                  <a:pt x="648271" y="648367"/>
                </a:moveTo>
                <a:lnTo>
                  <a:pt x="0" y="0"/>
                </a:lnTo>
              </a:path>
            </a:pathLst>
          </a:custGeom>
          <a:ln>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pic>
        <p:nvPicPr>
          <p:cNvPr id="298" name="Graphic 297" descr="Security camera with solid fill">
            <a:extLst>
              <a:ext uri="{FF2B5EF4-FFF2-40B4-BE49-F238E27FC236}">
                <a16:creationId xmlns:a16="http://schemas.microsoft.com/office/drawing/2014/main" id="{E86D3D1B-345B-8C10-4D41-9172E04FEF79}"/>
              </a:ext>
            </a:extLst>
          </p:cNvPr>
          <p:cNvPicPr>
            <a:picLocks noChangeAspect="1"/>
          </p:cNvPicPr>
          <p:nvPr/>
        </p:nvPicPr>
        <p:blipFill>
          <a:blip r:embed="rId20">
            <a:extLst>
              <a:ext uri="{96DAC541-7B7A-43D3-8B79-37D633B846F1}">
                <asvg:svgBlip xmlns:asvg="http://schemas.microsoft.com/office/drawing/2016/SVG/main" r:embed="rId31"/>
              </a:ext>
            </a:extLst>
          </a:blip>
          <a:stretch>
            <a:fillRect/>
          </a:stretch>
        </p:blipFill>
        <p:spPr>
          <a:xfrm>
            <a:off x="2652006" y="5397727"/>
            <a:ext cx="276861" cy="276861"/>
          </a:xfrm>
          <a:prstGeom prst="rect">
            <a:avLst/>
          </a:prstGeom>
        </p:spPr>
      </p:pic>
      <p:pic>
        <p:nvPicPr>
          <p:cNvPr id="304" name="Graphic 303">
            <a:extLst>
              <a:ext uri="{FF2B5EF4-FFF2-40B4-BE49-F238E27FC236}">
                <a16:creationId xmlns:a16="http://schemas.microsoft.com/office/drawing/2014/main" id="{528F5511-8940-7648-0CCA-066A66422411}"/>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310964" y="5836545"/>
            <a:ext cx="444631" cy="444631"/>
          </a:xfrm>
          <a:prstGeom prst="rect">
            <a:avLst/>
          </a:prstGeom>
        </p:spPr>
      </p:pic>
      <p:pic>
        <p:nvPicPr>
          <p:cNvPr id="305" name="Graphic 304" descr="User with solid fill">
            <a:extLst>
              <a:ext uri="{FF2B5EF4-FFF2-40B4-BE49-F238E27FC236}">
                <a16:creationId xmlns:a16="http://schemas.microsoft.com/office/drawing/2014/main" id="{B0C249EB-597A-4B03-E4FA-B48C122A6D20}"/>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374118" y="5874424"/>
            <a:ext cx="318325" cy="318325"/>
          </a:xfrm>
          <a:prstGeom prst="rect">
            <a:avLst/>
          </a:prstGeom>
        </p:spPr>
      </p:pic>
      <p:cxnSp>
        <p:nvCxnSpPr>
          <p:cNvPr id="306" name="Straight Connector 305">
            <a:extLst>
              <a:ext uri="{FF2B5EF4-FFF2-40B4-BE49-F238E27FC236}">
                <a16:creationId xmlns:a16="http://schemas.microsoft.com/office/drawing/2014/main" id="{1DBFDD3E-DDA7-47FF-EA08-90367CD9E036}"/>
              </a:ext>
            </a:extLst>
          </p:cNvPr>
          <p:cNvCxnSpPr>
            <a:cxnSpLocks/>
          </p:cNvCxnSpPr>
          <p:nvPr/>
        </p:nvCxnSpPr>
        <p:spPr>
          <a:xfrm flipV="1">
            <a:off x="1608634" y="5171863"/>
            <a:ext cx="541060" cy="702561"/>
          </a:xfrm>
          <a:prstGeom prst="line">
            <a:avLst/>
          </a:prstGeom>
          <a:ln w="19050">
            <a:solidFill>
              <a:srgbClr val="00B0F0"/>
            </a:solidFill>
            <a:prstDash val="dash"/>
            <a:headEnd type="oval" w="med" len="med"/>
            <a:tailEnd type="triangle" w="med" len="med"/>
          </a:ln>
        </p:spPr>
        <p:style>
          <a:lnRef idx="2">
            <a:schemeClr val="accent4"/>
          </a:lnRef>
          <a:fillRef idx="0">
            <a:schemeClr val="accent4"/>
          </a:fillRef>
          <a:effectRef idx="1">
            <a:schemeClr val="accent4"/>
          </a:effectRef>
          <a:fontRef idx="minor">
            <a:schemeClr val="tx1"/>
          </a:fontRef>
        </p:style>
      </p:cxnSp>
      <p:sp>
        <p:nvSpPr>
          <p:cNvPr id="314" name="TextBox 313">
            <a:extLst>
              <a:ext uri="{FF2B5EF4-FFF2-40B4-BE49-F238E27FC236}">
                <a16:creationId xmlns:a16="http://schemas.microsoft.com/office/drawing/2014/main" id="{ABD1DE6F-85DE-4018-56AE-DEABAFC32527}"/>
              </a:ext>
            </a:extLst>
          </p:cNvPr>
          <p:cNvSpPr txBox="1"/>
          <p:nvPr/>
        </p:nvSpPr>
        <p:spPr>
          <a:xfrm>
            <a:off x="1374118" y="5177107"/>
            <a:ext cx="306294"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effectLst/>
                <a:uLnTx/>
                <a:uFillTx/>
                <a:latin typeface="Calibri" panose="020F0502020204030204"/>
                <a:ea typeface="+mn-ea"/>
                <a:cs typeface="+mn-cs"/>
              </a:rPr>
              <a:t>DC</a:t>
            </a:r>
            <a:endParaRPr lang="en-US" sz="800" b="1" i="0" u="none" strike="noStrike" kern="1200" cap="none" spc="0" normalizeH="0" baseline="0" noProof="0">
              <a:ln>
                <a:noFill/>
              </a:ln>
              <a:effectLst/>
              <a:uLnTx/>
              <a:uFillTx/>
              <a:latin typeface="Calibri" panose="020F0502020204030204"/>
              <a:ea typeface="Calibri"/>
              <a:cs typeface="Calibri"/>
            </a:endParaRPr>
          </a:p>
        </p:txBody>
      </p:sp>
      <p:sp>
        <p:nvSpPr>
          <p:cNvPr id="315" name="TextBox 314">
            <a:extLst>
              <a:ext uri="{FF2B5EF4-FFF2-40B4-BE49-F238E27FC236}">
                <a16:creationId xmlns:a16="http://schemas.microsoft.com/office/drawing/2014/main" id="{08542861-B325-0D1B-469D-F4712D3F2C7C}"/>
              </a:ext>
            </a:extLst>
          </p:cNvPr>
          <p:cNvSpPr txBox="1"/>
          <p:nvPr/>
        </p:nvSpPr>
        <p:spPr>
          <a:xfrm>
            <a:off x="675761" y="5179148"/>
            <a:ext cx="329282"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effectLst/>
                <a:uLnTx/>
                <a:uFillTx/>
                <a:latin typeface="Calibri" panose="020F0502020204030204"/>
                <a:ea typeface="+mn-ea"/>
                <a:cs typeface="+mn-cs"/>
              </a:rPr>
              <a:t>HQ</a:t>
            </a:r>
            <a:endParaRPr lang="en-US" sz="800" b="1" i="0" u="none" strike="noStrike" kern="1200" cap="none" spc="0" normalizeH="0" baseline="0" noProof="0">
              <a:ln>
                <a:noFill/>
              </a:ln>
              <a:effectLst/>
              <a:uLnTx/>
              <a:uFillTx/>
              <a:latin typeface="Calibri" panose="020F0502020204030204"/>
              <a:ea typeface="Calibri"/>
              <a:cs typeface="Calibri"/>
            </a:endParaRPr>
          </a:p>
        </p:txBody>
      </p:sp>
      <p:sp>
        <p:nvSpPr>
          <p:cNvPr id="316" name="TextBox 315">
            <a:extLst>
              <a:ext uri="{FF2B5EF4-FFF2-40B4-BE49-F238E27FC236}">
                <a16:creationId xmlns:a16="http://schemas.microsoft.com/office/drawing/2014/main" id="{FE2C4CF5-A325-0C89-28CB-E5C79DCC6986}"/>
              </a:ext>
            </a:extLst>
          </p:cNvPr>
          <p:cNvSpPr txBox="1"/>
          <p:nvPr/>
        </p:nvSpPr>
        <p:spPr>
          <a:xfrm>
            <a:off x="2059540" y="5174624"/>
            <a:ext cx="505287"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en-US" sz="800" b="1">
                <a:latin typeface="Calibri" panose="020F0502020204030204"/>
              </a:rPr>
              <a:t>O</a:t>
            </a:r>
            <a:r>
              <a:rPr kumimoji="0" lang="en-US" sz="800" b="1" i="0" u="none" strike="noStrike" kern="1200" cap="none" spc="0" normalizeH="0" baseline="0" noProof="0" err="1">
                <a:ln>
                  <a:noFill/>
                </a:ln>
                <a:effectLst/>
                <a:uLnTx/>
                <a:uFillTx/>
                <a:latin typeface="Calibri" panose="020F0502020204030204"/>
                <a:ea typeface="+mn-ea"/>
                <a:cs typeface="+mn-cs"/>
              </a:rPr>
              <a:t>ffice</a:t>
            </a:r>
            <a:endParaRPr lang="en-US" sz="800" b="1" i="0" u="none" strike="noStrike" kern="1200" cap="none" spc="0" normalizeH="0" baseline="0" noProof="0">
              <a:ln>
                <a:noFill/>
              </a:ln>
              <a:effectLst/>
              <a:uLnTx/>
              <a:uFillTx/>
              <a:latin typeface="Calibri" panose="020F0502020204030204"/>
              <a:ea typeface="Calibri"/>
              <a:cs typeface="Calibri"/>
            </a:endParaRPr>
          </a:p>
        </p:txBody>
      </p:sp>
      <p:sp>
        <p:nvSpPr>
          <p:cNvPr id="317" name="TextBox 316">
            <a:extLst>
              <a:ext uri="{FF2B5EF4-FFF2-40B4-BE49-F238E27FC236}">
                <a16:creationId xmlns:a16="http://schemas.microsoft.com/office/drawing/2014/main" id="{FAB12DA0-F17F-CC0F-BFF4-362557B28B4E}"/>
              </a:ext>
            </a:extLst>
          </p:cNvPr>
          <p:cNvSpPr txBox="1"/>
          <p:nvPr/>
        </p:nvSpPr>
        <p:spPr>
          <a:xfrm>
            <a:off x="5373867" y="5840281"/>
            <a:ext cx="505287"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effectLst/>
                <a:uLnTx/>
                <a:uFillTx/>
                <a:latin typeface="Calibri" panose="020F0502020204030204"/>
                <a:ea typeface="+mn-ea"/>
                <a:cs typeface="+mn-cs"/>
              </a:rPr>
              <a:t>Branch</a:t>
            </a:r>
            <a:endParaRPr lang="en-US" sz="800" b="1" i="0" u="none" strike="noStrike" kern="1200" cap="none" spc="0" normalizeH="0" baseline="0" noProof="0">
              <a:ln>
                <a:noFill/>
              </a:ln>
              <a:effectLst/>
              <a:uLnTx/>
              <a:uFillTx/>
              <a:latin typeface="Calibri" panose="020F0502020204030204"/>
              <a:ea typeface="Calibri"/>
              <a:cs typeface="Calibri"/>
            </a:endParaRPr>
          </a:p>
        </p:txBody>
      </p:sp>
      <p:sp>
        <p:nvSpPr>
          <p:cNvPr id="318" name="TextBox 317">
            <a:extLst>
              <a:ext uri="{FF2B5EF4-FFF2-40B4-BE49-F238E27FC236}">
                <a16:creationId xmlns:a16="http://schemas.microsoft.com/office/drawing/2014/main" id="{E5377723-B1B4-9F7C-4DED-776339EA1D79}"/>
              </a:ext>
            </a:extLst>
          </p:cNvPr>
          <p:cNvSpPr txBox="1"/>
          <p:nvPr/>
        </p:nvSpPr>
        <p:spPr>
          <a:xfrm>
            <a:off x="9887570" y="5488156"/>
            <a:ext cx="557225"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effectLst/>
                <a:uLnTx/>
                <a:uFillTx/>
                <a:latin typeface="Calibri" panose="020F0502020204030204"/>
                <a:ea typeface="+mn-ea"/>
                <a:cs typeface="+mn-cs"/>
              </a:rPr>
              <a:t>Facilities</a:t>
            </a:r>
            <a:endParaRPr lang="en-US" sz="800" b="1" i="0" u="none" strike="noStrike" kern="1200" cap="none" spc="0" normalizeH="0" baseline="0" noProof="0">
              <a:ln>
                <a:noFill/>
              </a:ln>
              <a:effectLst/>
              <a:uLnTx/>
              <a:uFillTx/>
              <a:latin typeface="Calibri" panose="020F0502020204030204"/>
              <a:ea typeface="Calibri"/>
              <a:cs typeface="Calibri"/>
            </a:endParaRPr>
          </a:p>
        </p:txBody>
      </p:sp>
      <p:sp>
        <p:nvSpPr>
          <p:cNvPr id="319" name="TextBox 318">
            <a:extLst>
              <a:ext uri="{FF2B5EF4-FFF2-40B4-BE49-F238E27FC236}">
                <a16:creationId xmlns:a16="http://schemas.microsoft.com/office/drawing/2014/main" id="{FEC3C3D0-50E7-8AB0-C1B0-C75AD1DE0E34}"/>
              </a:ext>
            </a:extLst>
          </p:cNvPr>
          <p:cNvSpPr txBox="1"/>
          <p:nvPr/>
        </p:nvSpPr>
        <p:spPr>
          <a:xfrm>
            <a:off x="2552964" y="5715260"/>
            <a:ext cx="502616"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effectLst/>
                <a:uLnTx/>
                <a:uFillTx/>
                <a:latin typeface="Calibri" panose="020F0502020204030204"/>
                <a:ea typeface="+mn-ea"/>
                <a:cs typeface="+mn-cs"/>
              </a:rPr>
              <a:t>OT/IoT</a:t>
            </a:r>
            <a:endParaRPr lang="en-US" sz="800" b="1" i="0" u="none" strike="noStrike" kern="1200" cap="none" spc="0" normalizeH="0" baseline="0" noProof="0">
              <a:ln>
                <a:noFill/>
              </a:ln>
              <a:effectLst/>
              <a:uLnTx/>
              <a:uFillTx/>
              <a:latin typeface="Calibri" panose="020F0502020204030204"/>
              <a:ea typeface="Calibri"/>
              <a:cs typeface="Calibri"/>
            </a:endParaRPr>
          </a:p>
        </p:txBody>
      </p:sp>
      <p:sp>
        <p:nvSpPr>
          <p:cNvPr id="322" name="TextBox 321">
            <a:extLst>
              <a:ext uri="{FF2B5EF4-FFF2-40B4-BE49-F238E27FC236}">
                <a16:creationId xmlns:a16="http://schemas.microsoft.com/office/drawing/2014/main" id="{739E1751-2526-CC8A-25F4-0A97953D5648}"/>
              </a:ext>
            </a:extLst>
          </p:cNvPr>
          <p:cNvSpPr txBox="1"/>
          <p:nvPr/>
        </p:nvSpPr>
        <p:spPr>
          <a:xfrm>
            <a:off x="10472124" y="5977305"/>
            <a:ext cx="502616"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effectLst/>
                <a:uLnTx/>
                <a:uFillTx/>
                <a:latin typeface="Calibri" panose="020F0502020204030204"/>
                <a:ea typeface="+mn-ea"/>
                <a:cs typeface="+mn-cs"/>
              </a:rPr>
              <a:t>OT/IoT</a:t>
            </a:r>
            <a:endParaRPr lang="en-US" sz="800" b="1" i="0" u="none" strike="noStrike" kern="1200" cap="none" spc="0" normalizeH="0" baseline="0" noProof="0">
              <a:ln>
                <a:noFill/>
              </a:ln>
              <a:effectLst/>
              <a:uLnTx/>
              <a:uFillTx/>
              <a:latin typeface="Calibri" panose="020F0502020204030204"/>
              <a:ea typeface="Calibri"/>
              <a:cs typeface="Calibri"/>
            </a:endParaRPr>
          </a:p>
        </p:txBody>
      </p:sp>
      <p:sp>
        <p:nvSpPr>
          <p:cNvPr id="323" name="TextBox 322">
            <a:extLst>
              <a:ext uri="{FF2B5EF4-FFF2-40B4-BE49-F238E27FC236}">
                <a16:creationId xmlns:a16="http://schemas.microsoft.com/office/drawing/2014/main" id="{F849FF3C-6211-3DD9-E7C1-70E774BF0710}"/>
              </a:ext>
            </a:extLst>
          </p:cNvPr>
          <p:cNvSpPr txBox="1"/>
          <p:nvPr/>
        </p:nvSpPr>
        <p:spPr>
          <a:xfrm>
            <a:off x="1163069" y="6224865"/>
            <a:ext cx="804852" cy="33855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latin typeface="Calibri" panose="020F0502020204030204"/>
              </a:rPr>
              <a:t>Office Mode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latin typeface="Calibri" panose="020F0502020204030204"/>
              </a:rPr>
              <a:t>(Hybrid User)</a:t>
            </a:r>
          </a:p>
        </p:txBody>
      </p:sp>
      <p:sp>
        <p:nvSpPr>
          <p:cNvPr id="324" name="TextBox 323">
            <a:extLst>
              <a:ext uri="{FF2B5EF4-FFF2-40B4-BE49-F238E27FC236}">
                <a16:creationId xmlns:a16="http://schemas.microsoft.com/office/drawing/2014/main" id="{184E8A4D-60C8-DE31-CEAD-2F668C1910B3}"/>
              </a:ext>
            </a:extLst>
          </p:cNvPr>
          <p:cNvSpPr txBox="1"/>
          <p:nvPr/>
        </p:nvSpPr>
        <p:spPr>
          <a:xfrm>
            <a:off x="9186245" y="6028703"/>
            <a:ext cx="804852" cy="33855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en-US" sz="800" b="1"/>
              <a:t>Office Mode</a:t>
            </a:r>
          </a:p>
          <a:p>
            <a:pPr lvl="0" algn="ctr">
              <a:defRPr/>
            </a:pPr>
            <a:r>
              <a:rPr lang="en-US" sz="800"/>
              <a:t>(Hybrid User)</a:t>
            </a:r>
          </a:p>
        </p:txBody>
      </p:sp>
      <p:sp>
        <p:nvSpPr>
          <p:cNvPr id="325" name="TextBox 324">
            <a:extLst>
              <a:ext uri="{FF2B5EF4-FFF2-40B4-BE49-F238E27FC236}">
                <a16:creationId xmlns:a16="http://schemas.microsoft.com/office/drawing/2014/main" id="{F0BB9A3F-4741-D5C5-140E-EB1C11E5A249}"/>
              </a:ext>
            </a:extLst>
          </p:cNvPr>
          <p:cNvSpPr txBox="1"/>
          <p:nvPr/>
        </p:nvSpPr>
        <p:spPr>
          <a:xfrm>
            <a:off x="6096000" y="5814868"/>
            <a:ext cx="945247" cy="461665"/>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en-US" sz="800" b="1"/>
              <a:t>Cato ZTNA Client</a:t>
            </a:r>
          </a:p>
          <a:p>
            <a:pPr algn="ctr">
              <a:defRPr/>
            </a:pPr>
            <a:r>
              <a:rPr lang="en-US" sz="800"/>
              <a:t>EPP • EDR</a:t>
            </a:r>
          </a:p>
          <a:p>
            <a:pPr lvl="0" algn="ctr">
              <a:defRPr/>
            </a:pPr>
            <a:endParaRPr lang="en-US" sz="800"/>
          </a:p>
        </p:txBody>
      </p:sp>
      <p:sp>
        <p:nvSpPr>
          <p:cNvPr id="326" name="TextBox 325">
            <a:extLst>
              <a:ext uri="{FF2B5EF4-FFF2-40B4-BE49-F238E27FC236}">
                <a16:creationId xmlns:a16="http://schemas.microsoft.com/office/drawing/2014/main" id="{5B7AF873-0252-E4E9-9653-C9D415F3590B}"/>
              </a:ext>
            </a:extLst>
          </p:cNvPr>
          <p:cNvSpPr txBox="1"/>
          <p:nvPr/>
        </p:nvSpPr>
        <p:spPr>
          <a:xfrm>
            <a:off x="10608171" y="4545687"/>
            <a:ext cx="914399" cy="461665"/>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en-US" sz="800" b="1"/>
              <a:t>Cato ZTNA Client</a:t>
            </a:r>
          </a:p>
          <a:p>
            <a:pPr algn="ctr">
              <a:defRPr/>
            </a:pPr>
            <a:r>
              <a:rPr lang="en-US" sz="800"/>
              <a:t>EPP • EDR</a:t>
            </a:r>
          </a:p>
          <a:p>
            <a:pPr lvl="0" algn="ctr">
              <a:defRPr/>
            </a:pPr>
            <a:endParaRPr lang="en-US" sz="800"/>
          </a:p>
        </p:txBody>
      </p:sp>
      <p:sp>
        <p:nvSpPr>
          <p:cNvPr id="327" name="TextBox 326">
            <a:extLst>
              <a:ext uri="{FF2B5EF4-FFF2-40B4-BE49-F238E27FC236}">
                <a16:creationId xmlns:a16="http://schemas.microsoft.com/office/drawing/2014/main" id="{880BC794-0642-2C78-154D-E7993CE4C726}"/>
              </a:ext>
            </a:extLst>
          </p:cNvPr>
          <p:cNvSpPr txBox="1"/>
          <p:nvPr/>
        </p:nvSpPr>
        <p:spPr>
          <a:xfrm>
            <a:off x="2246296" y="4109434"/>
            <a:ext cx="442923"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effectLst/>
                <a:uLnTx/>
                <a:uFillTx/>
                <a:latin typeface="Calibri" panose="020F0502020204030204"/>
                <a:ea typeface="+mn-ea"/>
                <a:cs typeface="+mn-cs"/>
              </a:rPr>
              <a:t>DTLS</a:t>
            </a:r>
            <a:endParaRPr lang="en-US" sz="800" b="1" i="0" u="none" strike="noStrike" kern="1200" cap="none" spc="0" normalizeH="0" baseline="0" noProof="0">
              <a:ln>
                <a:noFill/>
              </a:ln>
              <a:effectLst/>
              <a:uLnTx/>
              <a:uFillTx/>
              <a:latin typeface="Calibri" panose="020F0502020204030204"/>
              <a:ea typeface="Calibri"/>
              <a:cs typeface="Calibri"/>
            </a:endParaRPr>
          </a:p>
        </p:txBody>
      </p:sp>
      <p:sp>
        <p:nvSpPr>
          <p:cNvPr id="329" name="TextBox 328">
            <a:extLst>
              <a:ext uri="{FF2B5EF4-FFF2-40B4-BE49-F238E27FC236}">
                <a16:creationId xmlns:a16="http://schemas.microsoft.com/office/drawing/2014/main" id="{CD545BFD-664D-0B53-F837-E9A8134E019A}"/>
              </a:ext>
            </a:extLst>
          </p:cNvPr>
          <p:cNvSpPr txBox="1"/>
          <p:nvPr/>
        </p:nvSpPr>
        <p:spPr>
          <a:xfrm>
            <a:off x="9385528" y="4261964"/>
            <a:ext cx="442923"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effectLst/>
                <a:uLnTx/>
                <a:uFillTx/>
                <a:latin typeface="Calibri" panose="020F0502020204030204"/>
                <a:ea typeface="+mn-ea"/>
                <a:cs typeface="+mn-cs"/>
              </a:rPr>
              <a:t>DTLS</a:t>
            </a:r>
            <a:endParaRPr lang="en-US" sz="800" b="1" i="0" u="none" strike="noStrike" kern="1200" cap="none" spc="0" normalizeH="0" baseline="0" noProof="0">
              <a:ln>
                <a:noFill/>
              </a:ln>
              <a:effectLst/>
              <a:uLnTx/>
              <a:uFillTx/>
              <a:latin typeface="Calibri" panose="020F0502020204030204"/>
              <a:ea typeface="Calibri"/>
              <a:cs typeface="Calibri"/>
            </a:endParaRPr>
          </a:p>
        </p:txBody>
      </p:sp>
      <p:sp>
        <p:nvSpPr>
          <p:cNvPr id="330" name="TextBox 329">
            <a:extLst>
              <a:ext uri="{FF2B5EF4-FFF2-40B4-BE49-F238E27FC236}">
                <a16:creationId xmlns:a16="http://schemas.microsoft.com/office/drawing/2014/main" id="{80617275-1D83-03AA-4919-2295602D7E4A}"/>
              </a:ext>
            </a:extLst>
          </p:cNvPr>
          <p:cNvSpPr txBox="1"/>
          <p:nvPr/>
        </p:nvSpPr>
        <p:spPr>
          <a:xfrm>
            <a:off x="9632940" y="3198491"/>
            <a:ext cx="442923"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7030A0"/>
                </a:solidFill>
                <a:effectLst/>
                <a:uLnTx/>
                <a:uFillTx/>
                <a:latin typeface="Calibri" panose="020F0502020204030204"/>
                <a:ea typeface="+mn-ea"/>
                <a:cs typeface="+mn-cs"/>
              </a:rPr>
              <a:t>DTLS</a:t>
            </a:r>
            <a:endParaRPr lang="en-US" sz="800" b="1" i="0" u="none" strike="noStrike" kern="1200" cap="none" spc="0" normalizeH="0" baseline="0" noProof="0">
              <a:ln>
                <a:noFill/>
              </a:ln>
              <a:solidFill>
                <a:srgbClr val="7030A0"/>
              </a:solidFill>
              <a:effectLst/>
              <a:uLnTx/>
              <a:uFillTx/>
              <a:latin typeface="Calibri" panose="020F0502020204030204"/>
              <a:ea typeface="Calibri"/>
              <a:cs typeface="Calibri"/>
            </a:endParaRPr>
          </a:p>
        </p:txBody>
      </p:sp>
      <p:sp>
        <p:nvSpPr>
          <p:cNvPr id="331" name="TextBox 330">
            <a:extLst>
              <a:ext uri="{FF2B5EF4-FFF2-40B4-BE49-F238E27FC236}">
                <a16:creationId xmlns:a16="http://schemas.microsoft.com/office/drawing/2014/main" id="{7C5EEBAD-3A3D-89D5-443A-421E658DB530}"/>
              </a:ext>
            </a:extLst>
          </p:cNvPr>
          <p:cNvSpPr txBox="1"/>
          <p:nvPr/>
        </p:nvSpPr>
        <p:spPr>
          <a:xfrm>
            <a:off x="5555279" y="4755416"/>
            <a:ext cx="442923"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effectLst/>
                <a:uLnTx/>
                <a:uFillTx/>
                <a:latin typeface="Calibri" panose="020F0502020204030204"/>
                <a:ea typeface="+mn-ea"/>
                <a:cs typeface="+mn-cs"/>
              </a:rPr>
              <a:t>DTLS</a:t>
            </a:r>
            <a:endParaRPr lang="en-US" sz="800" b="1" i="0" u="none" strike="noStrike" kern="1200" cap="none" spc="0" normalizeH="0" baseline="0" noProof="0">
              <a:ln>
                <a:noFill/>
              </a:ln>
              <a:effectLst/>
              <a:uLnTx/>
              <a:uFillTx/>
              <a:latin typeface="Calibri" panose="020F0502020204030204"/>
              <a:ea typeface="Calibri"/>
              <a:cs typeface="Calibri"/>
            </a:endParaRPr>
          </a:p>
        </p:txBody>
      </p:sp>
      <p:sp>
        <p:nvSpPr>
          <p:cNvPr id="332" name="TextBox 331">
            <a:extLst>
              <a:ext uri="{FF2B5EF4-FFF2-40B4-BE49-F238E27FC236}">
                <a16:creationId xmlns:a16="http://schemas.microsoft.com/office/drawing/2014/main" id="{A4F70B8E-81BD-468B-1177-5081EF2AE950}"/>
              </a:ext>
            </a:extLst>
          </p:cNvPr>
          <p:cNvSpPr txBox="1"/>
          <p:nvPr/>
        </p:nvSpPr>
        <p:spPr>
          <a:xfrm>
            <a:off x="6280856" y="4804756"/>
            <a:ext cx="404022"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C00000"/>
                </a:solidFill>
                <a:effectLst/>
                <a:uLnTx/>
                <a:uFillTx/>
                <a:latin typeface="Calibri" panose="020F0502020204030204"/>
                <a:ea typeface="+mn-ea"/>
                <a:cs typeface="+mn-cs"/>
              </a:rPr>
              <a:t>DTLS</a:t>
            </a:r>
            <a:endParaRPr lang="en-US" sz="800" b="1" i="0" u="none" strike="noStrike" kern="1200" cap="none" spc="0" normalizeH="0" baseline="0" noProof="0">
              <a:ln>
                <a:noFill/>
              </a:ln>
              <a:solidFill>
                <a:srgbClr val="C00000"/>
              </a:solidFill>
              <a:effectLst/>
              <a:uLnTx/>
              <a:uFillTx/>
              <a:latin typeface="Calibri" panose="020F0502020204030204"/>
              <a:ea typeface="Calibri"/>
              <a:cs typeface="Calibri"/>
            </a:endParaRPr>
          </a:p>
        </p:txBody>
      </p:sp>
      <p:sp>
        <p:nvSpPr>
          <p:cNvPr id="333" name="TextBox 332">
            <a:extLst>
              <a:ext uri="{FF2B5EF4-FFF2-40B4-BE49-F238E27FC236}">
                <a16:creationId xmlns:a16="http://schemas.microsoft.com/office/drawing/2014/main" id="{C07034EC-89D9-9B57-C127-CBA57654148C}"/>
              </a:ext>
            </a:extLst>
          </p:cNvPr>
          <p:cNvSpPr txBox="1"/>
          <p:nvPr/>
        </p:nvSpPr>
        <p:spPr>
          <a:xfrm>
            <a:off x="9991187" y="3715548"/>
            <a:ext cx="442923"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C00000"/>
                </a:solidFill>
                <a:effectLst/>
                <a:uLnTx/>
                <a:uFillTx/>
                <a:latin typeface="Calibri" panose="020F0502020204030204"/>
                <a:ea typeface="+mn-ea"/>
                <a:cs typeface="+mn-cs"/>
              </a:rPr>
              <a:t>DTLS</a:t>
            </a:r>
            <a:endParaRPr lang="en-US" sz="800" b="1" i="0" u="none" strike="noStrike" kern="1200" cap="none" spc="0" normalizeH="0" baseline="0" noProof="0">
              <a:ln>
                <a:noFill/>
              </a:ln>
              <a:solidFill>
                <a:srgbClr val="C00000"/>
              </a:solidFill>
              <a:effectLst/>
              <a:uLnTx/>
              <a:uFillTx/>
              <a:latin typeface="Calibri" panose="020F0502020204030204"/>
              <a:ea typeface="Calibri"/>
              <a:cs typeface="Calibri"/>
            </a:endParaRPr>
          </a:p>
        </p:txBody>
      </p:sp>
      <p:sp>
        <p:nvSpPr>
          <p:cNvPr id="334" name="Title 20">
            <a:extLst>
              <a:ext uri="{FF2B5EF4-FFF2-40B4-BE49-F238E27FC236}">
                <a16:creationId xmlns:a16="http://schemas.microsoft.com/office/drawing/2014/main" id="{29665996-DD31-3DC9-982B-C67470D398D6}"/>
              </a:ext>
            </a:extLst>
          </p:cNvPr>
          <p:cNvSpPr>
            <a:spLocks noGrp="1"/>
          </p:cNvSpPr>
          <p:nvPr>
            <p:ph type="title"/>
          </p:nvPr>
        </p:nvSpPr>
        <p:spPr>
          <a:xfrm>
            <a:off x="296666" y="144786"/>
            <a:ext cx="11245946" cy="701731"/>
          </a:xfrm>
        </p:spPr>
        <p:txBody>
          <a:bodyPr/>
          <a:lstStyle/>
          <a:p>
            <a:r>
              <a:rPr lang="en-US"/>
              <a:t>The Cato SASE Cloud Platform: </a:t>
            </a:r>
            <a:br>
              <a:rPr lang="en-US"/>
            </a:br>
            <a:r>
              <a:rPr lang="en-US" sz="2000" b="0">
                <a:solidFill>
                  <a:schemeClr val="tx1"/>
                </a:solidFill>
              </a:rPr>
              <a:t>Architected to translate Unified Visibility into Business Outcomes</a:t>
            </a:r>
            <a:endParaRPr lang="en-US" b="0">
              <a:solidFill>
                <a:schemeClr val="tx1"/>
              </a:solidFill>
            </a:endParaRPr>
          </a:p>
        </p:txBody>
      </p:sp>
      <p:sp>
        <p:nvSpPr>
          <p:cNvPr id="337" name="Freeform: Shape 927">
            <a:extLst>
              <a:ext uri="{FF2B5EF4-FFF2-40B4-BE49-F238E27FC236}">
                <a16:creationId xmlns:a16="http://schemas.microsoft.com/office/drawing/2014/main" id="{13E5762B-A32D-33D9-E678-AD543AC41593}"/>
              </a:ext>
            </a:extLst>
          </p:cNvPr>
          <p:cNvSpPr/>
          <p:nvPr/>
        </p:nvSpPr>
        <p:spPr>
          <a:xfrm>
            <a:off x="4472469" y="5332843"/>
            <a:ext cx="493989" cy="493988"/>
          </a:xfrm>
          <a:custGeom>
            <a:avLst/>
            <a:gdLst>
              <a:gd name="connsiteX0" fmla="*/ 520827 w 520827"/>
              <a:gd name="connsiteY0" fmla="*/ 260414 h 520826"/>
              <a:gd name="connsiteX1" fmla="*/ 260413 w 520827"/>
              <a:gd name="connsiteY1" fmla="*/ 520827 h 520826"/>
              <a:gd name="connsiteX2" fmla="*/ -1 w 520827"/>
              <a:gd name="connsiteY2" fmla="*/ 260414 h 520826"/>
              <a:gd name="connsiteX3" fmla="*/ 260413 w 520827"/>
              <a:gd name="connsiteY3" fmla="*/ 0 h 520826"/>
              <a:gd name="connsiteX4" fmla="*/ 520827 w 520827"/>
              <a:gd name="connsiteY4" fmla="*/ 260414 h 520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27" h="520826">
                <a:moveTo>
                  <a:pt x="520827" y="260414"/>
                </a:moveTo>
                <a:cubicBezTo>
                  <a:pt x="520827" y="404236"/>
                  <a:pt x="404236" y="520827"/>
                  <a:pt x="260413" y="520827"/>
                </a:cubicBezTo>
                <a:cubicBezTo>
                  <a:pt x="116590" y="520827"/>
                  <a:pt x="-1" y="404236"/>
                  <a:pt x="-1" y="260414"/>
                </a:cubicBezTo>
                <a:cubicBezTo>
                  <a:pt x="-1" y="116591"/>
                  <a:pt x="116590" y="0"/>
                  <a:pt x="260413" y="0"/>
                </a:cubicBezTo>
                <a:cubicBezTo>
                  <a:pt x="404235" y="0"/>
                  <a:pt x="520827" y="116591"/>
                  <a:pt x="520827" y="260414"/>
                </a:cubicBezTo>
                <a:close/>
              </a:path>
            </a:pathLst>
          </a:custGeom>
          <a:solidFill>
            <a:srgbClr val="FFC000"/>
          </a:solidFill>
          <a:ln w="3175" cap="flat">
            <a:solidFill>
              <a:srgbClr val="7030A0"/>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pic>
        <p:nvPicPr>
          <p:cNvPr id="338" name="Graphic 337" descr="User with solid fill">
            <a:extLst>
              <a:ext uri="{FF2B5EF4-FFF2-40B4-BE49-F238E27FC236}">
                <a16:creationId xmlns:a16="http://schemas.microsoft.com/office/drawing/2014/main" id="{7B40FA9C-D807-E00D-8EC7-ADDA754FE84E}"/>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4533347" y="5368702"/>
            <a:ext cx="372232" cy="372232"/>
          </a:xfrm>
          <a:prstGeom prst="rect">
            <a:avLst/>
          </a:prstGeom>
        </p:spPr>
      </p:pic>
      <p:sp>
        <p:nvSpPr>
          <p:cNvPr id="340" name="TextBox 339">
            <a:extLst>
              <a:ext uri="{FF2B5EF4-FFF2-40B4-BE49-F238E27FC236}">
                <a16:creationId xmlns:a16="http://schemas.microsoft.com/office/drawing/2014/main" id="{68D53471-4578-536D-D6A6-80A4212FF0C0}"/>
              </a:ext>
            </a:extLst>
          </p:cNvPr>
          <p:cNvSpPr txBox="1"/>
          <p:nvPr/>
        </p:nvSpPr>
        <p:spPr>
          <a:xfrm>
            <a:off x="4300778" y="5800241"/>
            <a:ext cx="914399" cy="33855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en-US" sz="800" b="1"/>
              <a:t>Unmanaged Device</a:t>
            </a:r>
            <a:endParaRPr lang="en-US" sz="800"/>
          </a:p>
        </p:txBody>
      </p:sp>
      <p:cxnSp>
        <p:nvCxnSpPr>
          <p:cNvPr id="344" name="Straight Connector 343">
            <a:extLst>
              <a:ext uri="{FF2B5EF4-FFF2-40B4-BE49-F238E27FC236}">
                <a16:creationId xmlns:a16="http://schemas.microsoft.com/office/drawing/2014/main" id="{D97DD0CD-B00D-E157-6344-2DBE95DA306F}"/>
              </a:ext>
            </a:extLst>
          </p:cNvPr>
          <p:cNvCxnSpPr>
            <a:cxnSpLocks/>
          </p:cNvCxnSpPr>
          <p:nvPr/>
        </p:nvCxnSpPr>
        <p:spPr>
          <a:xfrm flipV="1">
            <a:off x="4670927" y="4861302"/>
            <a:ext cx="424567" cy="346233"/>
          </a:xfrm>
          <a:prstGeom prst="line">
            <a:avLst/>
          </a:prstGeom>
          <a:ln w="9525">
            <a:solidFill>
              <a:srgbClr val="FFC000"/>
            </a:solidFill>
            <a:prstDash val="dash"/>
            <a:headEnd type="oval" w="med" len="med"/>
            <a:tailEnd type="triangle" w="med" len="med"/>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2857969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234"/>
                                        </p:tgtEl>
                                        <p:attrNameLst>
                                          <p:attrName>style.visibility</p:attrName>
                                        </p:attrNameLst>
                                      </p:cBhvr>
                                      <p:to>
                                        <p:strVal val="visible"/>
                                      </p:to>
                                    </p:set>
                                    <p:anim calcmode="lin" valueType="num">
                                      <p:cBhvr>
                                        <p:cTn id="12" dur="1000" fill="hold"/>
                                        <p:tgtEl>
                                          <p:spTgt spid="234"/>
                                        </p:tgtEl>
                                        <p:attrNameLst>
                                          <p:attrName>ppt_w</p:attrName>
                                        </p:attrNameLst>
                                      </p:cBhvr>
                                      <p:tavLst>
                                        <p:tav tm="0">
                                          <p:val>
                                            <p:strVal val="#ppt_w*0.70"/>
                                          </p:val>
                                        </p:tav>
                                        <p:tav tm="100000">
                                          <p:val>
                                            <p:strVal val="#ppt_w"/>
                                          </p:val>
                                        </p:tav>
                                      </p:tavLst>
                                    </p:anim>
                                    <p:anim calcmode="lin" valueType="num">
                                      <p:cBhvr>
                                        <p:cTn id="13" dur="1000" fill="hold"/>
                                        <p:tgtEl>
                                          <p:spTgt spid="234"/>
                                        </p:tgtEl>
                                        <p:attrNameLst>
                                          <p:attrName>ppt_h</p:attrName>
                                        </p:attrNameLst>
                                      </p:cBhvr>
                                      <p:tavLst>
                                        <p:tav tm="0">
                                          <p:val>
                                            <p:strVal val="#ppt_h"/>
                                          </p:val>
                                        </p:tav>
                                        <p:tav tm="100000">
                                          <p:val>
                                            <p:strVal val="#ppt_h"/>
                                          </p:val>
                                        </p:tav>
                                      </p:tavLst>
                                    </p:anim>
                                    <p:animEffect transition="in" filter="fade">
                                      <p:cBhvr>
                                        <p:cTn id="14" dur="1000"/>
                                        <p:tgtEl>
                                          <p:spTgt spid="234"/>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138"/>
                                        </p:tgtEl>
                                        <p:attrNameLst>
                                          <p:attrName>style.visibility</p:attrName>
                                        </p:attrNameLst>
                                      </p:cBhvr>
                                      <p:to>
                                        <p:strVal val="visible"/>
                                      </p:to>
                                    </p:set>
                                    <p:anim calcmode="lin" valueType="num">
                                      <p:cBhvr>
                                        <p:cTn id="17" dur="1000" fill="hold"/>
                                        <p:tgtEl>
                                          <p:spTgt spid="138"/>
                                        </p:tgtEl>
                                        <p:attrNameLst>
                                          <p:attrName>ppt_w</p:attrName>
                                        </p:attrNameLst>
                                      </p:cBhvr>
                                      <p:tavLst>
                                        <p:tav tm="0">
                                          <p:val>
                                            <p:strVal val="#ppt_w*0.70"/>
                                          </p:val>
                                        </p:tav>
                                        <p:tav tm="100000">
                                          <p:val>
                                            <p:strVal val="#ppt_w"/>
                                          </p:val>
                                        </p:tav>
                                      </p:tavLst>
                                    </p:anim>
                                    <p:anim calcmode="lin" valueType="num">
                                      <p:cBhvr>
                                        <p:cTn id="18" dur="1000" fill="hold"/>
                                        <p:tgtEl>
                                          <p:spTgt spid="138"/>
                                        </p:tgtEl>
                                        <p:attrNameLst>
                                          <p:attrName>ppt_h</p:attrName>
                                        </p:attrNameLst>
                                      </p:cBhvr>
                                      <p:tavLst>
                                        <p:tav tm="0">
                                          <p:val>
                                            <p:strVal val="#ppt_h"/>
                                          </p:val>
                                        </p:tav>
                                        <p:tav tm="100000">
                                          <p:val>
                                            <p:strVal val="#ppt_h"/>
                                          </p:val>
                                        </p:tav>
                                      </p:tavLst>
                                    </p:anim>
                                    <p:animEffect transition="in" filter="fade">
                                      <p:cBhvr>
                                        <p:cTn id="19" dur="1000"/>
                                        <p:tgtEl>
                                          <p:spTgt spid="138"/>
                                        </p:tgtEl>
                                      </p:cBhvr>
                                    </p:animEffect>
                                  </p:childTnLst>
                                </p:cTn>
                              </p:par>
                              <p:par>
                                <p:cTn id="20" presetID="55"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p:cTn id="22" dur="1000" fill="hold"/>
                                        <p:tgtEl>
                                          <p:spTgt spid="15"/>
                                        </p:tgtEl>
                                        <p:attrNameLst>
                                          <p:attrName>ppt_w</p:attrName>
                                        </p:attrNameLst>
                                      </p:cBhvr>
                                      <p:tavLst>
                                        <p:tav tm="0">
                                          <p:val>
                                            <p:strVal val="#ppt_w*0.70"/>
                                          </p:val>
                                        </p:tav>
                                        <p:tav tm="100000">
                                          <p:val>
                                            <p:strVal val="#ppt_w"/>
                                          </p:val>
                                        </p:tav>
                                      </p:tavLst>
                                    </p:anim>
                                    <p:anim calcmode="lin" valueType="num">
                                      <p:cBhvr>
                                        <p:cTn id="23" dur="1000" fill="hold"/>
                                        <p:tgtEl>
                                          <p:spTgt spid="15"/>
                                        </p:tgtEl>
                                        <p:attrNameLst>
                                          <p:attrName>ppt_h</p:attrName>
                                        </p:attrNameLst>
                                      </p:cBhvr>
                                      <p:tavLst>
                                        <p:tav tm="0">
                                          <p:val>
                                            <p:strVal val="#ppt_h"/>
                                          </p:val>
                                        </p:tav>
                                        <p:tav tm="100000">
                                          <p:val>
                                            <p:strVal val="#ppt_h"/>
                                          </p:val>
                                        </p:tav>
                                      </p:tavLst>
                                    </p:anim>
                                    <p:animEffect transition="in" filter="fade">
                                      <p:cBhvr>
                                        <p:cTn id="24" dur="1000"/>
                                        <p:tgtEl>
                                          <p:spTgt spid="15"/>
                                        </p:tgtEl>
                                      </p:cBhvr>
                                    </p:animEffect>
                                  </p:childTnLst>
                                </p:cTn>
                              </p:par>
                              <p:par>
                                <p:cTn id="25" presetID="55"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p:cTn id="27" dur="1000" fill="hold"/>
                                        <p:tgtEl>
                                          <p:spTgt spid="24"/>
                                        </p:tgtEl>
                                        <p:attrNameLst>
                                          <p:attrName>ppt_w</p:attrName>
                                        </p:attrNameLst>
                                      </p:cBhvr>
                                      <p:tavLst>
                                        <p:tav tm="0">
                                          <p:val>
                                            <p:strVal val="#ppt_w*0.70"/>
                                          </p:val>
                                        </p:tav>
                                        <p:tav tm="100000">
                                          <p:val>
                                            <p:strVal val="#ppt_w"/>
                                          </p:val>
                                        </p:tav>
                                      </p:tavLst>
                                    </p:anim>
                                    <p:anim calcmode="lin" valueType="num">
                                      <p:cBhvr>
                                        <p:cTn id="28" dur="1000" fill="hold"/>
                                        <p:tgtEl>
                                          <p:spTgt spid="24"/>
                                        </p:tgtEl>
                                        <p:attrNameLst>
                                          <p:attrName>ppt_h</p:attrName>
                                        </p:attrNameLst>
                                      </p:cBhvr>
                                      <p:tavLst>
                                        <p:tav tm="0">
                                          <p:val>
                                            <p:strVal val="#ppt_h"/>
                                          </p:val>
                                        </p:tav>
                                        <p:tav tm="100000">
                                          <p:val>
                                            <p:strVal val="#ppt_h"/>
                                          </p:val>
                                        </p:tav>
                                      </p:tavLst>
                                    </p:anim>
                                    <p:animEffect transition="in" filter="fade">
                                      <p:cBhvr>
                                        <p:cTn id="29" dur="1000"/>
                                        <p:tgtEl>
                                          <p:spTgt spid="24"/>
                                        </p:tgtEl>
                                      </p:cBhvr>
                                    </p:animEffect>
                                  </p:childTnLst>
                                </p:cTn>
                              </p:par>
                            </p:childTnLst>
                          </p:cTn>
                        </p:par>
                      </p:childTnLst>
                    </p:cTn>
                  </p:par>
                  <p:par>
                    <p:cTn id="30" fill="hold">
                      <p:stCondLst>
                        <p:cond delay="indefinite"/>
                      </p:stCondLst>
                      <p:childTnLst>
                        <p:par>
                          <p:cTn id="31" fill="hold">
                            <p:stCondLst>
                              <p:cond delay="0"/>
                            </p:stCondLst>
                            <p:childTnLst>
                              <p:par>
                                <p:cTn id="32" presetID="45" presetClass="entr" presetSubtype="0" fill="hold" nodeType="click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2000"/>
                                        <p:tgtEl>
                                          <p:spTgt spid="34"/>
                                        </p:tgtEl>
                                      </p:cBhvr>
                                    </p:animEffect>
                                    <p:anim calcmode="lin" valueType="num">
                                      <p:cBhvr>
                                        <p:cTn id="35" dur="2000" fill="hold"/>
                                        <p:tgtEl>
                                          <p:spTgt spid="34"/>
                                        </p:tgtEl>
                                        <p:attrNameLst>
                                          <p:attrName>ppt_w</p:attrName>
                                        </p:attrNameLst>
                                      </p:cBhvr>
                                      <p:tavLst>
                                        <p:tav tm="0" fmla="#ppt_w*sin(2.5*pi*$)">
                                          <p:val>
                                            <p:fltVal val="0"/>
                                          </p:val>
                                        </p:tav>
                                        <p:tav tm="100000">
                                          <p:val>
                                            <p:fltVal val="1"/>
                                          </p:val>
                                        </p:tav>
                                      </p:tavLst>
                                    </p:anim>
                                    <p:anim calcmode="lin" valueType="num">
                                      <p:cBhvr>
                                        <p:cTn id="36" dur="2000" fill="hold"/>
                                        <p:tgtEl>
                                          <p:spTgt spid="34"/>
                                        </p:tgtEl>
                                        <p:attrNameLst>
                                          <p:attrName>ppt_h</p:attrName>
                                        </p:attrNameLst>
                                      </p:cBhvr>
                                      <p:tavLst>
                                        <p:tav tm="0">
                                          <p:val>
                                            <p:strVal val="#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1" presetClass="entr" presetSubtype="1" fill="hold" nodeType="click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wheel(1)">
                                      <p:cBhvr>
                                        <p:cTn id="41" dur="2000"/>
                                        <p:tgtEl>
                                          <p:spTgt spid="3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96"/>
                                        </p:tgtEl>
                                        <p:attrNameLst>
                                          <p:attrName>style.visibility</p:attrName>
                                        </p:attrNameLst>
                                      </p:cBhvr>
                                      <p:to>
                                        <p:strVal val="visible"/>
                                      </p:to>
                                    </p:set>
                                    <p:animEffect transition="in" filter="wipe(down)">
                                      <p:cBhvr>
                                        <p:cTn id="46" dur="500"/>
                                        <p:tgtEl>
                                          <p:spTgt spid="96"/>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iterate type="lt">
                                    <p:tmPct val="0"/>
                                  </p:iterate>
                                  <p:childTnLst>
                                    <p:set>
                                      <p:cBhvr>
                                        <p:cTn id="50" dur="1" fill="hold">
                                          <p:stCondLst>
                                            <p:cond delay="0"/>
                                          </p:stCondLst>
                                        </p:cTn>
                                        <p:tgtEl>
                                          <p:spTgt spid="110"/>
                                        </p:tgtEl>
                                        <p:attrNameLst>
                                          <p:attrName>style.visibility</p:attrName>
                                        </p:attrNameLst>
                                      </p:cBhvr>
                                      <p:to>
                                        <p:strVal val="visible"/>
                                      </p:to>
                                    </p:set>
                                    <p:animEffect transition="in" filter="fade">
                                      <p:cBhvr>
                                        <p:cTn id="51" dur="1000"/>
                                        <p:tgtEl>
                                          <p:spTgt spid="110"/>
                                        </p:tgtEl>
                                      </p:cBhvr>
                                    </p:animEffect>
                                    <p:anim calcmode="lin" valueType="num">
                                      <p:cBhvr>
                                        <p:cTn id="52" dur="1000" fill="hold"/>
                                        <p:tgtEl>
                                          <p:spTgt spid="110"/>
                                        </p:tgtEl>
                                        <p:attrNameLst>
                                          <p:attrName>ppt_x</p:attrName>
                                        </p:attrNameLst>
                                      </p:cBhvr>
                                      <p:tavLst>
                                        <p:tav tm="0">
                                          <p:val>
                                            <p:strVal val="#ppt_x"/>
                                          </p:val>
                                        </p:tav>
                                        <p:tav tm="100000">
                                          <p:val>
                                            <p:strVal val="#ppt_x"/>
                                          </p:val>
                                        </p:tav>
                                      </p:tavLst>
                                    </p:anim>
                                    <p:anim calcmode="lin" valueType="num">
                                      <p:cBhvr>
                                        <p:cTn id="53" dur="1000" fill="hold"/>
                                        <p:tgtEl>
                                          <p:spTgt spid="110"/>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111"/>
                                        </p:tgtEl>
                                        <p:attrNameLst>
                                          <p:attrName>style.visibility</p:attrName>
                                        </p:attrNameLst>
                                      </p:cBhvr>
                                      <p:to>
                                        <p:strVal val="visible"/>
                                      </p:to>
                                    </p:set>
                                    <p:animEffect transition="in" filter="fade">
                                      <p:cBhvr>
                                        <p:cTn id="58" dur="1000"/>
                                        <p:tgtEl>
                                          <p:spTgt spid="111"/>
                                        </p:tgtEl>
                                      </p:cBhvr>
                                    </p:animEffect>
                                    <p:anim calcmode="lin" valueType="num">
                                      <p:cBhvr>
                                        <p:cTn id="59" dur="1000" fill="hold"/>
                                        <p:tgtEl>
                                          <p:spTgt spid="111"/>
                                        </p:tgtEl>
                                        <p:attrNameLst>
                                          <p:attrName>ppt_x</p:attrName>
                                        </p:attrNameLst>
                                      </p:cBhvr>
                                      <p:tavLst>
                                        <p:tav tm="0">
                                          <p:val>
                                            <p:strVal val="#ppt_x"/>
                                          </p:val>
                                        </p:tav>
                                        <p:tav tm="100000">
                                          <p:val>
                                            <p:strVal val="#ppt_x"/>
                                          </p:val>
                                        </p:tav>
                                      </p:tavLst>
                                    </p:anim>
                                    <p:anim calcmode="lin" valueType="num">
                                      <p:cBhvr>
                                        <p:cTn id="60" dur="1000" fill="hold"/>
                                        <p:tgtEl>
                                          <p:spTgt spid="111"/>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285"/>
                                        </p:tgtEl>
                                        <p:attrNameLst>
                                          <p:attrName>style.visibility</p:attrName>
                                        </p:attrNameLst>
                                      </p:cBhvr>
                                      <p:to>
                                        <p:strVal val="visible"/>
                                      </p:to>
                                    </p:set>
                                    <p:animEffect transition="in" filter="fade">
                                      <p:cBhvr>
                                        <p:cTn id="65" dur="1000"/>
                                        <p:tgtEl>
                                          <p:spTgt spid="285"/>
                                        </p:tgtEl>
                                      </p:cBhvr>
                                    </p:animEffect>
                                    <p:anim calcmode="lin" valueType="num">
                                      <p:cBhvr>
                                        <p:cTn id="66" dur="1000" fill="hold"/>
                                        <p:tgtEl>
                                          <p:spTgt spid="285"/>
                                        </p:tgtEl>
                                        <p:attrNameLst>
                                          <p:attrName>ppt_x</p:attrName>
                                        </p:attrNameLst>
                                      </p:cBhvr>
                                      <p:tavLst>
                                        <p:tav tm="0">
                                          <p:val>
                                            <p:strVal val="#ppt_x"/>
                                          </p:val>
                                        </p:tav>
                                        <p:tav tm="100000">
                                          <p:val>
                                            <p:strVal val="#ppt_x"/>
                                          </p:val>
                                        </p:tav>
                                      </p:tavLst>
                                    </p:anim>
                                    <p:anim calcmode="lin" valueType="num">
                                      <p:cBhvr>
                                        <p:cTn id="67" dur="1000" fill="hold"/>
                                        <p:tgtEl>
                                          <p:spTgt spid="285"/>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3" presetClass="entr" presetSubtype="16" fill="hold" grpId="0" nodeType="clickEffect">
                                  <p:stCondLst>
                                    <p:cond delay="0"/>
                                  </p:stCondLst>
                                  <p:childTnLst>
                                    <p:set>
                                      <p:cBhvr>
                                        <p:cTn id="71" dur="1" fill="hold">
                                          <p:stCondLst>
                                            <p:cond delay="0"/>
                                          </p:stCondLst>
                                        </p:cTn>
                                        <p:tgtEl>
                                          <p:spTgt spid="143"/>
                                        </p:tgtEl>
                                        <p:attrNameLst>
                                          <p:attrName>style.visibility</p:attrName>
                                        </p:attrNameLst>
                                      </p:cBhvr>
                                      <p:to>
                                        <p:strVal val="visible"/>
                                      </p:to>
                                    </p:set>
                                    <p:anim calcmode="lin" valueType="num">
                                      <p:cBhvr>
                                        <p:cTn id="72" dur="500" fill="hold"/>
                                        <p:tgtEl>
                                          <p:spTgt spid="143"/>
                                        </p:tgtEl>
                                        <p:attrNameLst>
                                          <p:attrName>ppt_w</p:attrName>
                                        </p:attrNameLst>
                                      </p:cBhvr>
                                      <p:tavLst>
                                        <p:tav tm="0">
                                          <p:val>
                                            <p:fltVal val="0"/>
                                          </p:val>
                                        </p:tav>
                                        <p:tav tm="100000">
                                          <p:val>
                                            <p:strVal val="#ppt_w"/>
                                          </p:val>
                                        </p:tav>
                                      </p:tavLst>
                                    </p:anim>
                                    <p:anim calcmode="lin" valueType="num">
                                      <p:cBhvr>
                                        <p:cTn id="73" dur="500" fill="hold"/>
                                        <p:tgtEl>
                                          <p:spTgt spid="143"/>
                                        </p:tgtEl>
                                        <p:attrNameLst>
                                          <p:attrName>ppt_h</p:attrName>
                                        </p:attrNameLst>
                                      </p:cBhvr>
                                      <p:tavLst>
                                        <p:tav tm="0">
                                          <p:val>
                                            <p:fltVal val="0"/>
                                          </p:val>
                                        </p:tav>
                                        <p:tav tm="100000">
                                          <p:val>
                                            <p:strVal val="#ppt_h"/>
                                          </p:val>
                                        </p:tav>
                                      </p:tavLst>
                                    </p:anim>
                                  </p:childTnLst>
                                </p:cTn>
                              </p:par>
                              <p:par>
                                <p:cTn id="74" presetID="23" presetClass="entr" presetSubtype="16" fill="hold" nodeType="withEffect">
                                  <p:stCondLst>
                                    <p:cond delay="0"/>
                                  </p:stCondLst>
                                  <p:childTnLst>
                                    <p:set>
                                      <p:cBhvr>
                                        <p:cTn id="75" dur="1" fill="hold">
                                          <p:stCondLst>
                                            <p:cond delay="0"/>
                                          </p:stCondLst>
                                        </p:cTn>
                                        <p:tgtEl>
                                          <p:spTgt spid="145"/>
                                        </p:tgtEl>
                                        <p:attrNameLst>
                                          <p:attrName>style.visibility</p:attrName>
                                        </p:attrNameLst>
                                      </p:cBhvr>
                                      <p:to>
                                        <p:strVal val="visible"/>
                                      </p:to>
                                    </p:set>
                                    <p:anim calcmode="lin" valueType="num">
                                      <p:cBhvr>
                                        <p:cTn id="76" dur="500" fill="hold"/>
                                        <p:tgtEl>
                                          <p:spTgt spid="145"/>
                                        </p:tgtEl>
                                        <p:attrNameLst>
                                          <p:attrName>ppt_w</p:attrName>
                                        </p:attrNameLst>
                                      </p:cBhvr>
                                      <p:tavLst>
                                        <p:tav tm="0">
                                          <p:val>
                                            <p:fltVal val="0"/>
                                          </p:val>
                                        </p:tav>
                                        <p:tav tm="100000">
                                          <p:val>
                                            <p:strVal val="#ppt_w"/>
                                          </p:val>
                                        </p:tav>
                                      </p:tavLst>
                                    </p:anim>
                                    <p:anim calcmode="lin" valueType="num">
                                      <p:cBhvr>
                                        <p:cTn id="77" dur="500" fill="hold"/>
                                        <p:tgtEl>
                                          <p:spTgt spid="145"/>
                                        </p:tgtEl>
                                        <p:attrNameLst>
                                          <p:attrName>ppt_h</p:attrName>
                                        </p:attrNameLst>
                                      </p:cBhvr>
                                      <p:tavLst>
                                        <p:tav tm="0">
                                          <p:val>
                                            <p:fltVal val="0"/>
                                          </p:val>
                                        </p:tav>
                                        <p:tav tm="100000">
                                          <p:val>
                                            <p:strVal val="#ppt_h"/>
                                          </p:val>
                                        </p:tav>
                                      </p:tavLst>
                                    </p:anim>
                                  </p:childTnLst>
                                </p:cTn>
                              </p:par>
                              <p:par>
                                <p:cTn id="78" presetID="23" presetClass="entr" presetSubtype="16" fill="hold" nodeType="withEffect">
                                  <p:stCondLst>
                                    <p:cond delay="0"/>
                                  </p:stCondLst>
                                  <p:childTnLst>
                                    <p:set>
                                      <p:cBhvr>
                                        <p:cTn id="79" dur="1" fill="hold">
                                          <p:stCondLst>
                                            <p:cond delay="0"/>
                                          </p:stCondLst>
                                        </p:cTn>
                                        <p:tgtEl>
                                          <p:spTgt spid="192"/>
                                        </p:tgtEl>
                                        <p:attrNameLst>
                                          <p:attrName>style.visibility</p:attrName>
                                        </p:attrNameLst>
                                      </p:cBhvr>
                                      <p:to>
                                        <p:strVal val="visible"/>
                                      </p:to>
                                    </p:set>
                                    <p:anim calcmode="lin" valueType="num">
                                      <p:cBhvr>
                                        <p:cTn id="80" dur="500" fill="hold"/>
                                        <p:tgtEl>
                                          <p:spTgt spid="192"/>
                                        </p:tgtEl>
                                        <p:attrNameLst>
                                          <p:attrName>ppt_w</p:attrName>
                                        </p:attrNameLst>
                                      </p:cBhvr>
                                      <p:tavLst>
                                        <p:tav tm="0">
                                          <p:val>
                                            <p:fltVal val="0"/>
                                          </p:val>
                                        </p:tav>
                                        <p:tav tm="100000">
                                          <p:val>
                                            <p:strVal val="#ppt_w"/>
                                          </p:val>
                                        </p:tav>
                                      </p:tavLst>
                                    </p:anim>
                                    <p:anim calcmode="lin" valueType="num">
                                      <p:cBhvr>
                                        <p:cTn id="81" dur="500" fill="hold"/>
                                        <p:tgtEl>
                                          <p:spTgt spid="192"/>
                                        </p:tgtEl>
                                        <p:attrNameLst>
                                          <p:attrName>ppt_h</p:attrName>
                                        </p:attrNameLst>
                                      </p:cBhvr>
                                      <p:tavLst>
                                        <p:tav tm="0">
                                          <p:val>
                                            <p:fltVal val="0"/>
                                          </p:val>
                                        </p:tav>
                                        <p:tav tm="100000">
                                          <p:val>
                                            <p:strVal val="#ppt_h"/>
                                          </p:val>
                                        </p:tav>
                                      </p:tavLst>
                                    </p:anim>
                                  </p:childTnLst>
                                </p:cTn>
                              </p:par>
                              <p:par>
                                <p:cTn id="82" presetID="23" presetClass="entr" presetSubtype="16" fill="hold" grpId="0" nodeType="withEffect">
                                  <p:stCondLst>
                                    <p:cond delay="0"/>
                                  </p:stCondLst>
                                  <p:childTnLst>
                                    <p:set>
                                      <p:cBhvr>
                                        <p:cTn id="83" dur="1" fill="hold">
                                          <p:stCondLst>
                                            <p:cond delay="0"/>
                                          </p:stCondLst>
                                        </p:cTn>
                                        <p:tgtEl>
                                          <p:spTgt spid="315"/>
                                        </p:tgtEl>
                                        <p:attrNameLst>
                                          <p:attrName>style.visibility</p:attrName>
                                        </p:attrNameLst>
                                      </p:cBhvr>
                                      <p:to>
                                        <p:strVal val="visible"/>
                                      </p:to>
                                    </p:set>
                                    <p:anim calcmode="lin" valueType="num">
                                      <p:cBhvr>
                                        <p:cTn id="84" dur="500" fill="hold"/>
                                        <p:tgtEl>
                                          <p:spTgt spid="315"/>
                                        </p:tgtEl>
                                        <p:attrNameLst>
                                          <p:attrName>ppt_w</p:attrName>
                                        </p:attrNameLst>
                                      </p:cBhvr>
                                      <p:tavLst>
                                        <p:tav tm="0">
                                          <p:val>
                                            <p:fltVal val="0"/>
                                          </p:val>
                                        </p:tav>
                                        <p:tav tm="100000">
                                          <p:val>
                                            <p:strVal val="#ppt_w"/>
                                          </p:val>
                                        </p:tav>
                                      </p:tavLst>
                                    </p:anim>
                                    <p:anim calcmode="lin" valueType="num">
                                      <p:cBhvr>
                                        <p:cTn id="85" dur="500" fill="hold"/>
                                        <p:tgtEl>
                                          <p:spTgt spid="315"/>
                                        </p:tgtEl>
                                        <p:attrNameLst>
                                          <p:attrName>ppt_h</p:attrName>
                                        </p:attrNameLst>
                                      </p:cBhvr>
                                      <p:tavLst>
                                        <p:tav tm="0">
                                          <p:val>
                                            <p:fltVal val="0"/>
                                          </p:val>
                                        </p:tav>
                                        <p:tav tm="100000">
                                          <p:val>
                                            <p:strVal val="#ppt_h"/>
                                          </p:val>
                                        </p:tav>
                                      </p:tavLst>
                                    </p:anim>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276"/>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277"/>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327"/>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23" presetClass="entr" presetSubtype="16" fill="hold" nodeType="clickEffect">
                                  <p:stCondLst>
                                    <p:cond delay="0"/>
                                  </p:stCondLst>
                                  <p:childTnLst>
                                    <p:set>
                                      <p:cBhvr>
                                        <p:cTn id="97" dur="1" fill="hold">
                                          <p:stCondLst>
                                            <p:cond delay="0"/>
                                          </p:stCondLst>
                                        </p:cTn>
                                        <p:tgtEl>
                                          <p:spTgt spid="191"/>
                                        </p:tgtEl>
                                        <p:attrNameLst>
                                          <p:attrName>style.visibility</p:attrName>
                                        </p:attrNameLst>
                                      </p:cBhvr>
                                      <p:to>
                                        <p:strVal val="visible"/>
                                      </p:to>
                                    </p:set>
                                    <p:anim calcmode="lin" valueType="num">
                                      <p:cBhvr>
                                        <p:cTn id="98" dur="500" fill="hold"/>
                                        <p:tgtEl>
                                          <p:spTgt spid="191"/>
                                        </p:tgtEl>
                                        <p:attrNameLst>
                                          <p:attrName>ppt_w</p:attrName>
                                        </p:attrNameLst>
                                      </p:cBhvr>
                                      <p:tavLst>
                                        <p:tav tm="0">
                                          <p:val>
                                            <p:fltVal val="0"/>
                                          </p:val>
                                        </p:tav>
                                        <p:tav tm="100000">
                                          <p:val>
                                            <p:strVal val="#ppt_w"/>
                                          </p:val>
                                        </p:tav>
                                      </p:tavLst>
                                    </p:anim>
                                    <p:anim calcmode="lin" valueType="num">
                                      <p:cBhvr>
                                        <p:cTn id="99" dur="500" fill="hold"/>
                                        <p:tgtEl>
                                          <p:spTgt spid="191"/>
                                        </p:tgtEl>
                                        <p:attrNameLst>
                                          <p:attrName>ppt_h</p:attrName>
                                        </p:attrNameLst>
                                      </p:cBhvr>
                                      <p:tavLst>
                                        <p:tav tm="0">
                                          <p:val>
                                            <p:fltVal val="0"/>
                                          </p:val>
                                        </p:tav>
                                        <p:tav tm="100000">
                                          <p:val>
                                            <p:strVal val="#ppt_h"/>
                                          </p:val>
                                        </p:tav>
                                      </p:tavLst>
                                    </p:anim>
                                  </p:childTnLst>
                                </p:cTn>
                              </p:par>
                              <p:par>
                                <p:cTn id="100" presetID="23" presetClass="entr" presetSubtype="16" fill="hold" nodeType="withEffect">
                                  <p:stCondLst>
                                    <p:cond delay="0"/>
                                  </p:stCondLst>
                                  <p:childTnLst>
                                    <p:set>
                                      <p:cBhvr>
                                        <p:cTn id="101" dur="1" fill="hold">
                                          <p:stCondLst>
                                            <p:cond delay="0"/>
                                          </p:stCondLst>
                                        </p:cTn>
                                        <p:tgtEl>
                                          <p:spTgt spid="117"/>
                                        </p:tgtEl>
                                        <p:attrNameLst>
                                          <p:attrName>style.visibility</p:attrName>
                                        </p:attrNameLst>
                                      </p:cBhvr>
                                      <p:to>
                                        <p:strVal val="visible"/>
                                      </p:to>
                                    </p:set>
                                    <p:anim calcmode="lin" valueType="num">
                                      <p:cBhvr>
                                        <p:cTn id="102" dur="500" fill="hold"/>
                                        <p:tgtEl>
                                          <p:spTgt spid="117"/>
                                        </p:tgtEl>
                                        <p:attrNameLst>
                                          <p:attrName>ppt_w</p:attrName>
                                        </p:attrNameLst>
                                      </p:cBhvr>
                                      <p:tavLst>
                                        <p:tav tm="0">
                                          <p:val>
                                            <p:fltVal val="0"/>
                                          </p:val>
                                        </p:tav>
                                        <p:tav tm="100000">
                                          <p:val>
                                            <p:strVal val="#ppt_w"/>
                                          </p:val>
                                        </p:tav>
                                      </p:tavLst>
                                    </p:anim>
                                    <p:anim calcmode="lin" valueType="num">
                                      <p:cBhvr>
                                        <p:cTn id="103" dur="500" fill="hold"/>
                                        <p:tgtEl>
                                          <p:spTgt spid="117"/>
                                        </p:tgtEl>
                                        <p:attrNameLst>
                                          <p:attrName>ppt_h</p:attrName>
                                        </p:attrNameLst>
                                      </p:cBhvr>
                                      <p:tavLst>
                                        <p:tav tm="0">
                                          <p:val>
                                            <p:fltVal val="0"/>
                                          </p:val>
                                        </p:tav>
                                        <p:tav tm="100000">
                                          <p:val>
                                            <p:strVal val="#ppt_h"/>
                                          </p:val>
                                        </p:tav>
                                      </p:tavLst>
                                    </p:anim>
                                  </p:childTnLst>
                                </p:cTn>
                              </p:par>
                              <p:par>
                                <p:cTn id="104" presetID="23" presetClass="entr" presetSubtype="16" fill="hold" grpId="0" nodeType="withEffect">
                                  <p:stCondLst>
                                    <p:cond delay="0"/>
                                  </p:stCondLst>
                                  <p:childTnLst>
                                    <p:set>
                                      <p:cBhvr>
                                        <p:cTn id="105" dur="1" fill="hold">
                                          <p:stCondLst>
                                            <p:cond delay="0"/>
                                          </p:stCondLst>
                                        </p:cTn>
                                        <p:tgtEl>
                                          <p:spTgt spid="314"/>
                                        </p:tgtEl>
                                        <p:attrNameLst>
                                          <p:attrName>style.visibility</p:attrName>
                                        </p:attrNameLst>
                                      </p:cBhvr>
                                      <p:to>
                                        <p:strVal val="visible"/>
                                      </p:to>
                                    </p:set>
                                    <p:anim calcmode="lin" valueType="num">
                                      <p:cBhvr>
                                        <p:cTn id="106" dur="500" fill="hold"/>
                                        <p:tgtEl>
                                          <p:spTgt spid="314"/>
                                        </p:tgtEl>
                                        <p:attrNameLst>
                                          <p:attrName>ppt_w</p:attrName>
                                        </p:attrNameLst>
                                      </p:cBhvr>
                                      <p:tavLst>
                                        <p:tav tm="0">
                                          <p:val>
                                            <p:fltVal val="0"/>
                                          </p:val>
                                        </p:tav>
                                        <p:tav tm="100000">
                                          <p:val>
                                            <p:strVal val="#ppt_w"/>
                                          </p:val>
                                        </p:tav>
                                      </p:tavLst>
                                    </p:anim>
                                    <p:anim calcmode="lin" valueType="num">
                                      <p:cBhvr>
                                        <p:cTn id="107" dur="500" fill="hold"/>
                                        <p:tgtEl>
                                          <p:spTgt spid="314"/>
                                        </p:tgtEl>
                                        <p:attrNameLst>
                                          <p:attrName>ppt_h</p:attrName>
                                        </p:attrNameLst>
                                      </p:cBhvr>
                                      <p:tavLst>
                                        <p:tav tm="0">
                                          <p:val>
                                            <p:fltVal val="0"/>
                                          </p:val>
                                        </p:tav>
                                        <p:tav tm="100000">
                                          <p:val>
                                            <p:strVal val="#ppt_h"/>
                                          </p:val>
                                        </p:tav>
                                      </p:tavLst>
                                    </p:anim>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272"/>
                                        </p:tgtEl>
                                        <p:attrNameLst>
                                          <p:attrName>style.visibility</p:attrName>
                                        </p:attrNameLst>
                                      </p:cBhvr>
                                      <p:to>
                                        <p:strVal val="visible"/>
                                      </p:to>
                                    </p:set>
                                  </p:childTnLst>
                                </p:cTn>
                              </p:par>
                              <p:par>
                                <p:cTn id="112" presetID="1" presetClass="entr" presetSubtype="0" fill="hold" grpId="0" nodeType="withEffect">
                                  <p:stCondLst>
                                    <p:cond delay="0"/>
                                  </p:stCondLst>
                                  <p:childTnLst>
                                    <p:set>
                                      <p:cBhvr>
                                        <p:cTn id="113" dur="1" fill="hold">
                                          <p:stCondLst>
                                            <p:cond delay="0"/>
                                          </p:stCondLst>
                                        </p:cTn>
                                        <p:tgtEl>
                                          <p:spTgt spid="271"/>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23" presetClass="entr" presetSubtype="16" fill="hold" nodeType="clickEffect">
                                  <p:stCondLst>
                                    <p:cond delay="0"/>
                                  </p:stCondLst>
                                  <p:childTnLst>
                                    <p:set>
                                      <p:cBhvr>
                                        <p:cTn id="117" dur="1" fill="hold">
                                          <p:stCondLst>
                                            <p:cond delay="0"/>
                                          </p:stCondLst>
                                        </p:cTn>
                                        <p:tgtEl>
                                          <p:spTgt spid="190"/>
                                        </p:tgtEl>
                                        <p:attrNameLst>
                                          <p:attrName>style.visibility</p:attrName>
                                        </p:attrNameLst>
                                      </p:cBhvr>
                                      <p:to>
                                        <p:strVal val="visible"/>
                                      </p:to>
                                    </p:set>
                                    <p:anim calcmode="lin" valueType="num">
                                      <p:cBhvr>
                                        <p:cTn id="118" dur="500" fill="hold"/>
                                        <p:tgtEl>
                                          <p:spTgt spid="190"/>
                                        </p:tgtEl>
                                        <p:attrNameLst>
                                          <p:attrName>ppt_w</p:attrName>
                                        </p:attrNameLst>
                                      </p:cBhvr>
                                      <p:tavLst>
                                        <p:tav tm="0">
                                          <p:val>
                                            <p:fltVal val="0"/>
                                          </p:val>
                                        </p:tav>
                                        <p:tav tm="100000">
                                          <p:val>
                                            <p:strVal val="#ppt_w"/>
                                          </p:val>
                                        </p:tav>
                                      </p:tavLst>
                                    </p:anim>
                                    <p:anim calcmode="lin" valueType="num">
                                      <p:cBhvr>
                                        <p:cTn id="119" dur="500" fill="hold"/>
                                        <p:tgtEl>
                                          <p:spTgt spid="190"/>
                                        </p:tgtEl>
                                        <p:attrNameLst>
                                          <p:attrName>ppt_h</p:attrName>
                                        </p:attrNameLst>
                                      </p:cBhvr>
                                      <p:tavLst>
                                        <p:tav tm="0">
                                          <p:val>
                                            <p:fltVal val="0"/>
                                          </p:val>
                                        </p:tav>
                                        <p:tav tm="100000">
                                          <p:val>
                                            <p:strVal val="#ppt_h"/>
                                          </p:val>
                                        </p:tav>
                                      </p:tavLst>
                                    </p:anim>
                                  </p:childTnLst>
                                </p:cTn>
                              </p:par>
                              <p:par>
                                <p:cTn id="120" presetID="23" presetClass="entr" presetSubtype="16" fill="hold" grpId="0" nodeType="withEffect">
                                  <p:stCondLst>
                                    <p:cond delay="0"/>
                                  </p:stCondLst>
                                  <p:childTnLst>
                                    <p:set>
                                      <p:cBhvr>
                                        <p:cTn id="121" dur="1" fill="hold">
                                          <p:stCondLst>
                                            <p:cond delay="0"/>
                                          </p:stCondLst>
                                        </p:cTn>
                                        <p:tgtEl>
                                          <p:spTgt spid="316"/>
                                        </p:tgtEl>
                                        <p:attrNameLst>
                                          <p:attrName>style.visibility</p:attrName>
                                        </p:attrNameLst>
                                      </p:cBhvr>
                                      <p:to>
                                        <p:strVal val="visible"/>
                                      </p:to>
                                    </p:set>
                                    <p:anim calcmode="lin" valueType="num">
                                      <p:cBhvr>
                                        <p:cTn id="122" dur="500" fill="hold"/>
                                        <p:tgtEl>
                                          <p:spTgt spid="316"/>
                                        </p:tgtEl>
                                        <p:attrNameLst>
                                          <p:attrName>ppt_w</p:attrName>
                                        </p:attrNameLst>
                                      </p:cBhvr>
                                      <p:tavLst>
                                        <p:tav tm="0">
                                          <p:val>
                                            <p:fltVal val="0"/>
                                          </p:val>
                                        </p:tav>
                                        <p:tav tm="100000">
                                          <p:val>
                                            <p:strVal val="#ppt_w"/>
                                          </p:val>
                                        </p:tav>
                                      </p:tavLst>
                                    </p:anim>
                                    <p:anim calcmode="lin" valueType="num">
                                      <p:cBhvr>
                                        <p:cTn id="123" dur="500" fill="hold"/>
                                        <p:tgtEl>
                                          <p:spTgt spid="316"/>
                                        </p:tgtEl>
                                        <p:attrNameLst>
                                          <p:attrName>ppt_h</p:attrName>
                                        </p:attrNameLst>
                                      </p:cBhvr>
                                      <p:tavLst>
                                        <p:tav tm="0">
                                          <p:val>
                                            <p:fltVal val="0"/>
                                          </p:val>
                                        </p:tav>
                                        <p:tav tm="100000">
                                          <p:val>
                                            <p:strVal val="#ppt_h"/>
                                          </p:val>
                                        </p:tav>
                                      </p:tavLst>
                                    </p:anim>
                                  </p:childTnLst>
                                </p:cTn>
                              </p:par>
                              <p:par>
                                <p:cTn id="124" presetID="23" presetClass="entr" presetSubtype="16" fill="hold" nodeType="withEffect">
                                  <p:stCondLst>
                                    <p:cond delay="0"/>
                                  </p:stCondLst>
                                  <p:childTnLst>
                                    <p:set>
                                      <p:cBhvr>
                                        <p:cTn id="125" dur="1" fill="hold">
                                          <p:stCondLst>
                                            <p:cond delay="0"/>
                                          </p:stCondLst>
                                        </p:cTn>
                                        <p:tgtEl>
                                          <p:spTgt spid="283"/>
                                        </p:tgtEl>
                                        <p:attrNameLst>
                                          <p:attrName>style.visibility</p:attrName>
                                        </p:attrNameLst>
                                      </p:cBhvr>
                                      <p:to>
                                        <p:strVal val="visible"/>
                                      </p:to>
                                    </p:set>
                                    <p:anim calcmode="lin" valueType="num">
                                      <p:cBhvr>
                                        <p:cTn id="126" dur="500" fill="hold"/>
                                        <p:tgtEl>
                                          <p:spTgt spid="283"/>
                                        </p:tgtEl>
                                        <p:attrNameLst>
                                          <p:attrName>ppt_w</p:attrName>
                                        </p:attrNameLst>
                                      </p:cBhvr>
                                      <p:tavLst>
                                        <p:tav tm="0">
                                          <p:val>
                                            <p:fltVal val="0"/>
                                          </p:val>
                                        </p:tav>
                                        <p:tav tm="100000">
                                          <p:val>
                                            <p:strVal val="#ppt_w"/>
                                          </p:val>
                                        </p:tav>
                                      </p:tavLst>
                                    </p:anim>
                                    <p:anim calcmode="lin" valueType="num">
                                      <p:cBhvr>
                                        <p:cTn id="127" dur="500" fill="hold"/>
                                        <p:tgtEl>
                                          <p:spTgt spid="283"/>
                                        </p:tgtEl>
                                        <p:attrNameLst>
                                          <p:attrName>ppt_h</p:attrName>
                                        </p:attrNameLst>
                                      </p:cBhvr>
                                      <p:tavLst>
                                        <p:tav tm="0">
                                          <p:val>
                                            <p:fltVal val="0"/>
                                          </p:val>
                                        </p:tav>
                                        <p:tav tm="100000">
                                          <p:val>
                                            <p:strVal val="#ppt_h"/>
                                          </p:val>
                                        </p:tav>
                                      </p:tavLst>
                                    </p:anim>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grpId="0" nodeType="clickEffect">
                                  <p:stCondLst>
                                    <p:cond delay="0"/>
                                  </p:stCondLst>
                                  <p:childTnLst>
                                    <p:set>
                                      <p:cBhvr>
                                        <p:cTn id="131" dur="1" fill="hold">
                                          <p:stCondLst>
                                            <p:cond delay="0"/>
                                          </p:stCondLst>
                                        </p:cTn>
                                        <p:tgtEl>
                                          <p:spTgt spid="273"/>
                                        </p:tgtEl>
                                        <p:attrNameLst>
                                          <p:attrName>style.visibility</p:attrName>
                                        </p:attrNameLst>
                                      </p:cBhvr>
                                      <p:to>
                                        <p:strVal val="visible"/>
                                      </p:to>
                                    </p:set>
                                  </p:childTnLst>
                                </p:cTn>
                              </p:par>
                              <p:par>
                                <p:cTn id="132" presetID="1" presetClass="entr" presetSubtype="0" fill="hold" grpId="0" nodeType="withEffect">
                                  <p:stCondLst>
                                    <p:cond delay="0"/>
                                  </p:stCondLst>
                                  <p:childTnLst>
                                    <p:set>
                                      <p:cBhvr>
                                        <p:cTn id="133" dur="1" fill="hold">
                                          <p:stCondLst>
                                            <p:cond delay="0"/>
                                          </p:stCondLst>
                                        </p:cTn>
                                        <p:tgtEl>
                                          <p:spTgt spid="274"/>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presetID="23" presetClass="entr" presetSubtype="16" fill="hold" nodeType="clickEffect">
                                  <p:stCondLst>
                                    <p:cond delay="0"/>
                                  </p:stCondLst>
                                  <p:childTnLst>
                                    <p:set>
                                      <p:cBhvr>
                                        <p:cTn id="137" dur="1" fill="hold">
                                          <p:stCondLst>
                                            <p:cond delay="0"/>
                                          </p:stCondLst>
                                        </p:cTn>
                                        <p:tgtEl>
                                          <p:spTgt spid="121"/>
                                        </p:tgtEl>
                                        <p:attrNameLst>
                                          <p:attrName>style.visibility</p:attrName>
                                        </p:attrNameLst>
                                      </p:cBhvr>
                                      <p:to>
                                        <p:strVal val="visible"/>
                                      </p:to>
                                    </p:set>
                                    <p:anim calcmode="lin" valueType="num">
                                      <p:cBhvr>
                                        <p:cTn id="138" dur="500" fill="hold"/>
                                        <p:tgtEl>
                                          <p:spTgt spid="121"/>
                                        </p:tgtEl>
                                        <p:attrNameLst>
                                          <p:attrName>ppt_w</p:attrName>
                                        </p:attrNameLst>
                                      </p:cBhvr>
                                      <p:tavLst>
                                        <p:tav tm="0">
                                          <p:val>
                                            <p:fltVal val="0"/>
                                          </p:val>
                                        </p:tav>
                                        <p:tav tm="100000">
                                          <p:val>
                                            <p:strVal val="#ppt_w"/>
                                          </p:val>
                                        </p:tav>
                                      </p:tavLst>
                                    </p:anim>
                                    <p:anim calcmode="lin" valueType="num">
                                      <p:cBhvr>
                                        <p:cTn id="139" dur="500" fill="hold"/>
                                        <p:tgtEl>
                                          <p:spTgt spid="121"/>
                                        </p:tgtEl>
                                        <p:attrNameLst>
                                          <p:attrName>ppt_h</p:attrName>
                                        </p:attrNameLst>
                                      </p:cBhvr>
                                      <p:tavLst>
                                        <p:tav tm="0">
                                          <p:val>
                                            <p:fltVal val="0"/>
                                          </p:val>
                                        </p:tav>
                                        <p:tav tm="100000">
                                          <p:val>
                                            <p:strVal val="#ppt_h"/>
                                          </p:val>
                                        </p:tav>
                                      </p:tavLst>
                                    </p:anim>
                                  </p:childTnLst>
                                </p:cTn>
                              </p:par>
                              <p:par>
                                <p:cTn id="140" presetID="23" presetClass="entr" presetSubtype="16" fill="hold" nodeType="withEffect">
                                  <p:stCondLst>
                                    <p:cond delay="0"/>
                                  </p:stCondLst>
                                  <p:childTnLst>
                                    <p:set>
                                      <p:cBhvr>
                                        <p:cTn id="141" dur="1" fill="hold">
                                          <p:stCondLst>
                                            <p:cond delay="0"/>
                                          </p:stCondLst>
                                        </p:cTn>
                                        <p:tgtEl>
                                          <p:spTgt spid="204"/>
                                        </p:tgtEl>
                                        <p:attrNameLst>
                                          <p:attrName>style.visibility</p:attrName>
                                        </p:attrNameLst>
                                      </p:cBhvr>
                                      <p:to>
                                        <p:strVal val="visible"/>
                                      </p:to>
                                    </p:set>
                                    <p:anim calcmode="lin" valueType="num">
                                      <p:cBhvr>
                                        <p:cTn id="142" dur="500" fill="hold"/>
                                        <p:tgtEl>
                                          <p:spTgt spid="204"/>
                                        </p:tgtEl>
                                        <p:attrNameLst>
                                          <p:attrName>ppt_w</p:attrName>
                                        </p:attrNameLst>
                                      </p:cBhvr>
                                      <p:tavLst>
                                        <p:tav tm="0">
                                          <p:val>
                                            <p:fltVal val="0"/>
                                          </p:val>
                                        </p:tav>
                                        <p:tav tm="100000">
                                          <p:val>
                                            <p:strVal val="#ppt_w"/>
                                          </p:val>
                                        </p:tav>
                                      </p:tavLst>
                                    </p:anim>
                                    <p:anim calcmode="lin" valueType="num">
                                      <p:cBhvr>
                                        <p:cTn id="143" dur="500" fill="hold"/>
                                        <p:tgtEl>
                                          <p:spTgt spid="204"/>
                                        </p:tgtEl>
                                        <p:attrNameLst>
                                          <p:attrName>ppt_h</p:attrName>
                                        </p:attrNameLst>
                                      </p:cBhvr>
                                      <p:tavLst>
                                        <p:tav tm="0">
                                          <p:val>
                                            <p:fltVal val="0"/>
                                          </p:val>
                                        </p:tav>
                                        <p:tav tm="100000">
                                          <p:val>
                                            <p:strVal val="#ppt_h"/>
                                          </p:val>
                                        </p:tav>
                                      </p:tavLst>
                                    </p:anim>
                                  </p:childTnLst>
                                </p:cTn>
                              </p:par>
                              <p:par>
                                <p:cTn id="144" presetID="23" presetClass="entr" presetSubtype="16" fill="hold" grpId="0" nodeType="withEffect">
                                  <p:stCondLst>
                                    <p:cond delay="0"/>
                                  </p:stCondLst>
                                  <p:childTnLst>
                                    <p:set>
                                      <p:cBhvr>
                                        <p:cTn id="145" dur="1" fill="hold">
                                          <p:stCondLst>
                                            <p:cond delay="0"/>
                                          </p:stCondLst>
                                        </p:cTn>
                                        <p:tgtEl>
                                          <p:spTgt spid="317"/>
                                        </p:tgtEl>
                                        <p:attrNameLst>
                                          <p:attrName>style.visibility</p:attrName>
                                        </p:attrNameLst>
                                      </p:cBhvr>
                                      <p:to>
                                        <p:strVal val="visible"/>
                                      </p:to>
                                    </p:set>
                                    <p:anim calcmode="lin" valueType="num">
                                      <p:cBhvr>
                                        <p:cTn id="146" dur="500" fill="hold"/>
                                        <p:tgtEl>
                                          <p:spTgt spid="317"/>
                                        </p:tgtEl>
                                        <p:attrNameLst>
                                          <p:attrName>ppt_w</p:attrName>
                                        </p:attrNameLst>
                                      </p:cBhvr>
                                      <p:tavLst>
                                        <p:tav tm="0">
                                          <p:val>
                                            <p:fltVal val="0"/>
                                          </p:val>
                                        </p:tav>
                                        <p:tav tm="100000">
                                          <p:val>
                                            <p:strVal val="#ppt_w"/>
                                          </p:val>
                                        </p:tav>
                                      </p:tavLst>
                                    </p:anim>
                                    <p:anim calcmode="lin" valueType="num">
                                      <p:cBhvr>
                                        <p:cTn id="147" dur="500" fill="hold"/>
                                        <p:tgtEl>
                                          <p:spTgt spid="317"/>
                                        </p:tgtEl>
                                        <p:attrNameLst>
                                          <p:attrName>ppt_h</p:attrName>
                                        </p:attrNameLst>
                                      </p:cBhvr>
                                      <p:tavLst>
                                        <p:tav tm="0">
                                          <p:val>
                                            <p:fltVal val="0"/>
                                          </p:val>
                                        </p:tav>
                                        <p:tav tm="100000">
                                          <p:val>
                                            <p:strVal val="#ppt_h"/>
                                          </p:val>
                                        </p:tav>
                                      </p:tavLst>
                                    </p:anim>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grpId="0" nodeType="clickEffect">
                                  <p:stCondLst>
                                    <p:cond delay="0"/>
                                  </p:stCondLst>
                                  <p:childTnLst>
                                    <p:set>
                                      <p:cBhvr>
                                        <p:cTn id="151" dur="1" fill="hold">
                                          <p:stCondLst>
                                            <p:cond delay="0"/>
                                          </p:stCondLst>
                                        </p:cTn>
                                        <p:tgtEl>
                                          <p:spTgt spid="331"/>
                                        </p:tgtEl>
                                        <p:attrNameLst>
                                          <p:attrName>style.visibility</p:attrName>
                                        </p:attrNameLst>
                                      </p:cBhvr>
                                      <p:to>
                                        <p:strVal val="visible"/>
                                      </p:to>
                                    </p:set>
                                  </p:childTnLst>
                                </p:cTn>
                              </p:par>
                              <p:par>
                                <p:cTn id="152" presetID="1" presetClass="entr" presetSubtype="0" fill="hold" grpId="0" nodeType="withEffect">
                                  <p:stCondLst>
                                    <p:cond delay="0"/>
                                  </p:stCondLst>
                                  <p:childTnLst>
                                    <p:set>
                                      <p:cBhvr>
                                        <p:cTn id="153" dur="1" fill="hold">
                                          <p:stCondLst>
                                            <p:cond delay="0"/>
                                          </p:stCondLst>
                                        </p:cTn>
                                        <p:tgtEl>
                                          <p:spTgt spid="278"/>
                                        </p:tgtEl>
                                        <p:attrNameLst>
                                          <p:attrName>style.visibility</p:attrName>
                                        </p:attrNameLst>
                                      </p:cBhvr>
                                      <p:to>
                                        <p:strVal val="visible"/>
                                      </p:to>
                                    </p:set>
                                  </p:childTnLst>
                                </p:cTn>
                              </p:par>
                              <p:par>
                                <p:cTn id="154" presetID="1" presetClass="entr" presetSubtype="0" fill="hold" grpId="0" nodeType="withEffect">
                                  <p:stCondLst>
                                    <p:cond delay="0"/>
                                  </p:stCondLst>
                                  <p:childTnLst>
                                    <p:set>
                                      <p:cBhvr>
                                        <p:cTn id="155" dur="1" fill="hold">
                                          <p:stCondLst>
                                            <p:cond delay="0"/>
                                          </p:stCondLst>
                                        </p:cTn>
                                        <p:tgtEl>
                                          <p:spTgt spid="279"/>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presetID="23" presetClass="entr" presetSubtype="16" fill="hold" grpId="0" nodeType="clickEffect">
                                  <p:stCondLst>
                                    <p:cond delay="0"/>
                                  </p:stCondLst>
                                  <p:childTnLst>
                                    <p:set>
                                      <p:cBhvr>
                                        <p:cTn id="159" dur="1" fill="hold">
                                          <p:stCondLst>
                                            <p:cond delay="0"/>
                                          </p:stCondLst>
                                        </p:cTn>
                                        <p:tgtEl>
                                          <p:spTgt spid="318"/>
                                        </p:tgtEl>
                                        <p:attrNameLst>
                                          <p:attrName>style.visibility</p:attrName>
                                        </p:attrNameLst>
                                      </p:cBhvr>
                                      <p:to>
                                        <p:strVal val="visible"/>
                                      </p:to>
                                    </p:set>
                                    <p:anim calcmode="lin" valueType="num">
                                      <p:cBhvr>
                                        <p:cTn id="160" dur="500" fill="hold"/>
                                        <p:tgtEl>
                                          <p:spTgt spid="318"/>
                                        </p:tgtEl>
                                        <p:attrNameLst>
                                          <p:attrName>ppt_w</p:attrName>
                                        </p:attrNameLst>
                                      </p:cBhvr>
                                      <p:tavLst>
                                        <p:tav tm="0">
                                          <p:val>
                                            <p:fltVal val="0"/>
                                          </p:val>
                                        </p:tav>
                                        <p:tav tm="100000">
                                          <p:val>
                                            <p:strVal val="#ppt_w"/>
                                          </p:val>
                                        </p:tav>
                                      </p:tavLst>
                                    </p:anim>
                                    <p:anim calcmode="lin" valueType="num">
                                      <p:cBhvr>
                                        <p:cTn id="161" dur="500" fill="hold"/>
                                        <p:tgtEl>
                                          <p:spTgt spid="318"/>
                                        </p:tgtEl>
                                        <p:attrNameLst>
                                          <p:attrName>ppt_h</p:attrName>
                                        </p:attrNameLst>
                                      </p:cBhvr>
                                      <p:tavLst>
                                        <p:tav tm="0">
                                          <p:val>
                                            <p:fltVal val="0"/>
                                          </p:val>
                                        </p:tav>
                                        <p:tav tm="100000">
                                          <p:val>
                                            <p:strVal val="#ppt_h"/>
                                          </p:val>
                                        </p:tav>
                                      </p:tavLst>
                                    </p:anim>
                                  </p:childTnLst>
                                </p:cTn>
                              </p:par>
                              <p:par>
                                <p:cTn id="162" presetID="23" presetClass="entr" presetSubtype="16" fill="hold" nodeType="withEffect">
                                  <p:stCondLst>
                                    <p:cond delay="0"/>
                                  </p:stCondLst>
                                  <p:childTnLst>
                                    <p:set>
                                      <p:cBhvr>
                                        <p:cTn id="163" dur="1" fill="hold">
                                          <p:stCondLst>
                                            <p:cond delay="0"/>
                                          </p:stCondLst>
                                        </p:cTn>
                                        <p:tgtEl>
                                          <p:spTgt spid="114"/>
                                        </p:tgtEl>
                                        <p:attrNameLst>
                                          <p:attrName>style.visibility</p:attrName>
                                        </p:attrNameLst>
                                      </p:cBhvr>
                                      <p:to>
                                        <p:strVal val="visible"/>
                                      </p:to>
                                    </p:set>
                                    <p:anim calcmode="lin" valueType="num">
                                      <p:cBhvr>
                                        <p:cTn id="164" dur="500" fill="hold"/>
                                        <p:tgtEl>
                                          <p:spTgt spid="114"/>
                                        </p:tgtEl>
                                        <p:attrNameLst>
                                          <p:attrName>ppt_w</p:attrName>
                                        </p:attrNameLst>
                                      </p:cBhvr>
                                      <p:tavLst>
                                        <p:tav tm="0">
                                          <p:val>
                                            <p:fltVal val="0"/>
                                          </p:val>
                                        </p:tav>
                                        <p:tav tm="100000">
                                          <p:val>
                                            <p:strVal val="#ppt_w"/>
                                          </p:val>
                                        </p:tav>
                                      </p:tavLst>
                                    </p:anim>
                                    <p:anim calcmode="lin" valueType="num">
                                      <p:cBhvr>
                                        <p:cTn id="165" dur="500" fill="hold"/>
                                        <p:tgtEl>
                                          <p:spTgt spid="114"/>
                                        </p:tgtEl>
                                        <p:attrNameLst>
                                          <p:attrName>ppt_h</p:attrName>
                                        </p:attrNameLst>
                                      </p:cBhvr>
                                      <p:tavLst>
                                        <p:tav tm="0">
                                          <p:val>
                                            <p:fltVal val="0"/>
                                          </p:val>
                                        </p:tav>
                                        <p:tav tm="100000">
                                          <p:val>
                                            <p:strVal val="#ppt_h"/>
                                          </p:val>
                                        </p:tav>
                                      </p:tavLst>
                                    </p:anim>
                                  </p:childTnLst>
                                </p:cTn>
                              </p:par>
                              <p:par>
                                <p:cTn id="166" presetID="23" presetClass="entr" presetSubtype="16" fill="hold" nodeType="withEffect">
                                  <p:stCondLst>
                                    <p:cond delay="0"/>
                                  </p:stCondLst>
                                  <p:childTnLst>
                                    <p:set>
                                      <p:cBhvr>
                                        <p:cTn id="167" dur="1" fill="hold">
                                          <p:stCondLst>
                                            <p:cond delay="0"/>
                                          </p:stCondLst>
                                        </p:cTn>
                                        <p:tgtEl>
                                          <p:spTgt spid="207"/>
                                        </p:tgtEl>
                                        <p:attrNameLst>
                                          <p:attrName>style.visibility</p:attrName>
                                        </p:attrNameLst>
                                      </p:cBhvr>
                                      <p:to>
                                        <p:strVal val="visible"/>
                                      </p:to>
                                    </p:set>
                                    <p:anim calcmode="lin" valueType="num">
                                      <p:cBhvr>
                                        <p:cTn id="168" dur="500" fill="hold"/>
                                        <p:tgtEl>
                                          <p:spTgt spid="207"/>
                                        </p:tgtEl>
                                        <p:attrNameLst>
                                          <p:attrName>ppt_w</p:attrName>
                                        </p:attrNameLst>
                                      </p:cBhvr>
                                      <p:tavLst>
                                        <p:tav tm="0">
                                          <p:val>
                                            <p:fltVal val="0"/>
                                          </p:val>
                                        </p:tav>
                                        <p:tav tm="100000">
                                          <p:val>
                                            <p:strVal val="#ppt_w"/>
                                          </p:val>
                                        </p:tav>
                                      </p:tavLst>
                                    </p:anim>
                                    <p:anim calcmode="lin" valueType="num">
                                      <p:cBhvr>
                                        <p:cTn id="169" dur="500" fill="hold"/>
                                        <p:tgtEl>
                                          <p:spTgt spid="207"/>
                                        </p:tgtEl>
                                        <p:attrNameLst>
                                          <p:attrName>ppt_h</p:attrName>
                                        </p:attrNameLst>
                                      </p:cBhvr>
                                      <p:tavLst>
                                        <p:tav tm="0">
                                          <p:val>
                                            <p:fltVal val="0"/>
                                          </p:val>
                                        </p:tav>
                                        <p:tav tm="100000">
                                          <p:val>
                                            <p:strVal val="#ppt_h"/>
                                          </p:val>
                                        </p:tav>
                                      </p:tavLst>
                                    </p:anim>
                                  </p:childTnLst>
                                </p:cTn>
                              </p:par>
                            </p:childTnLst>
                          </p:cTn>
                        </p:par>
                      </p:childTnLst>
                    </p:cTn>
                  </p:par>
                  <p:par>
                    <p:cTn id="170" fill="hold">
                      <p:stCondLst>
                        <p:cond delay="indefinite"/>
                      </p:stCondLst>
                      <p:childTnLst>
                        <p:par>
                          <p:cTn id="171" fill="hold">
                            <p:stCondLst>
                              <p:cond delay="0"/>
                            </p:stCondLst>
                            <p:childTnLst>
                              <p:par>
                                <p:cTn id="172" presetID="1" presetClass="entr" presetSubtype="0" fill="hold" grpId="0" nodeType="clickEffect">
                                  <p:stCondLst>
                                    <p:cond delay="0"/>
                                  </p:stCondLst>
                                  <p:childTnLst>
                                    <p:set>
                                      <p:cBhvr>
                                        <p:cTn id="173" dur="1" fill="hold">
                                          <p:stCondLst>
                                            <p:cond delay="0"/>
                                          </p:stCondLst>
                                        </p:cTn>
                                        <p:tgtEl>
                                          <p:spTgt spid="329"/>
                                        </p:tgtEl>
                                        <p:attrNameLst>
                                          <p:attrName>style.visibility</p:attrName>
                                        </p:attrNameLst>
                                      </p:cBhvr>
                                      <p:to>
                                        <p:strVal val="visible"/>
                                      </p:to>
                                    </p:set>
                                  </p:childTnLst>
                                </p:cTn>
                              </p:par>
                              <p:par>
                                <p:cTn id="174" presetID="1" presetClass="entr" presetSubtype="0" fill="hold" grpId="0" nodeType="withEffect">
                                  <p:stCondLst>
                                    <p:cond delay="0"/>
                                  </p:stCondLst>
                                  <p:childTnLst>
                                    <p:set>
                                      <p:cBhvr>
                                        <p:cTn id="175" dur="1" fill="hold">
                                          <p:stCondLst>
                                            <p:cond delay="0"/>
                                          </p:stCondLst>
                                        </p:cTn>
                                        <p:tgtEl>
                                          <p:spTgt spid="280"/>
                                        </p:tgtEl>
                                        <p:attrNameLst>
                                          <p:attrName>style.visibility</p:attrName>
                                        </p:attrNameLst>
                                      </p:cBhvr>
                                      <p:to>
                                        <p:strVal val="visible"/>
                                      </p:to>
                                    </p:set>
                                  </p:childTnLst>
                                </p:cTn>
                              </p:par>
                              <p:par>
                                <p:cTn id="176" presetID="1" presetClass="entr" presetSubtype="0" fill="hold" grpId="0" nodeType="withEffect">
                                  <p:stCondLst>
                                    <p:cond delay="0"/>
                                  </p:stCondLst>
                                  <p:childTnLst>
                                    <p:set>
                                      <p:cBhvr>
                                        <p:cTn id="177" dur="1" fill="hold">
                                          <p:stCondLst>
                                            <p:cond delay="0"/>
                                          </p:stCondLst>
                                        </p:cTn>
                                        <p:tgtEl>
                                          <p:spTgt spid="282"/>
                                        </p:tgtEl>
                                        <p:attrNameLst>
                                          <p:attrName>style.visibility</p:attrName>
                                        </p:attrNameLst>
                                      </p:cBhvr>
                                      <p:to>
                                        <p:strVal val="visible"/>
                                      </p:to>
                                    </p:set>
                                  </p:childTnLst>
                                </p:cTn>
                              </p:par>
                            </p:childTnLst>
                          </p:cTn>
                        </p:par>
                      </p:childTnLst>
                    </p:cTn>
                  </p:par>
                  <p:par>
                    <p:cTn id="178" fill="hold">
                      <p:stCondLst>
                        <p:cond delay="indefinite"/>
                      </p:stCondLst>
                      <p:childTnLst>
                        <p:par>
                          <p:cTn id="179" fill="hold">
                            <p:stCondLst>
                              <p:cond delay="0"/>
                            </p:stCondLst>
                            <p:childTnLst>
                              <p:par>
                                <p:cTn id="180" presetID="42" presetClass="entr" presetSubtype="0" fill="hold" grpId="0" nodeType="clickEffect">
                                  <p:stCondLst>
                                    <p:cond delay="0"/>
                                  </p:stCondLst>
                                  <p:childTnLst>
                                    <p:set>
                                      <p:cBhvr>
                                        <p:cTn id="181" dur="1" fill="hold">
                                          <p:stCondLst>
                                            <p:cond delay="0"/>
                                          </p:stCondLst>
                                        </p:cTn>
                                        <p:tgtEl>
                                          <p:spTgt spid="297"/>
                                        </p:tgtEl>
                                        <p:attrNameLst>
                                          <p:attrName>style.visibility</p:attrName>
                                        </p:attrNameLst>
                                      </p:cBhvr>
                                      <p:to>
                                        <p:strVal val="visible"/>
                                      </p:to>
                                    </p:set>
                                    <p:animEffect transition="in" filter="fade">
                                      <p:cBhvr>
                                        <p:cTn id="182" dur="1000"/>
                                        <p:tgtEl>
                                          <p:spTgt spid="297"/>
                                        </p:tgtEl>
                                      </p:cBhvr>
                                    </p:animEffect>
                                    <p:anim calcmode="lin" valueType="num">
                                      <p:cBhvr>
                                        <p:cTn id="183" dur="1000" fill="hold"/>
                                        <p:tgtEl>
                                          <p:spTgt spid="297"/>
                                        </p:tgtEl>
                                        <p:attrNameLst>
                                          <p:attrName>ppt_x</p:attrName>
                                        </p:attrNameLst>
                                      </p:cBhvr>
                                      <p:tavLst>
                                        <p:tav tm="0">
                                          <p:val>
                                            <p:strVal val="#ppt_x"/>
                                          </p:val>
                                        </p:tav>
                                        <p:tav tm="100000">
                                          <p:val>
                                            <p:strVal val="#ppt_x"/>
                                          </p:val>
                                        </p:tav>
                                      </p:tavLst>
                                    </p:anim>
                                    <p:anim calcmode="lin" valueType="num">
                                      <p:cBhvr>
                                        <p:cTn id="184" dur="1000" fill="hold"/>
                                        <p:tgtEl>
                                          <p:spTgt spid="297"/>
                                        </p:tgtEl>
                                        <p:attrNameLst>
                                          <p:attrName>ppt_y</p:attrName>
                                        </p:attrNameLst>
                                      </p:cBhvr>
                                      <p:tavLst>
                                        <p:tav tm="0">
                                          <p:val>
                                            <p:strVal val="#ppt_y+.1"/>
                                          </p:val>
                                        </p:tav>
                                        <p:tav tm="100000">
                                          <p:val>
                                            <p:strVal val="#ppt_y"/>
                                          </p:val>
                                        </p:tav>
                                      </p:tavLst>
                                    </p:anim>
                                  </p:childTnLst>
                                </p:cTn>
                              </p:par>
                              <p:par>
                                <p:cTn id="185" presetID="42" presetClass="entr" presetSubtype="0" fill="hold" nodeType="withEffect">
                                  <p:stCondLst>
                                    <p:cond delay="0"/>
                                  </p:stCondLst>
                                  <p:childTnLst>
                                    <p:set>
                                      <p:cBhvr>
                                        <p:cTn id="186" dur="1" fill="hold">
                                          <p:stCondLst>
                                            <p:cond delay="0"/>
                                          </p:stCondLst>
                                        </p:cTn>
                                        <p:tgtEl>
                                          <p:spTgt spid="296"/>
                                        </p:tgtEl>
                                        <p:attrNameLst>
                                          <p:attrName>style.visibility</p:attrName>
                                        </p:attrNameLst>
                                      </p:cBhvr>
                                      <p:to>
                                        <p:strVal val="visible"/>
                                      </p:to>
                                    </p:set>
                                    <p:animEffect transition="in" filter="fade">
                                      <p:cBhvr>
                                        <p:cTn id="187" dur="1000"/>
                                        <p:tgtEl>
                                          <p:spTgt spid="296"/>
                                        </p:tgtEl>
                                      </p:cBhvr>
                                    </p:animEffect>
                                    <p:anim calcmode="lin" valueType="num">
                                      <p:cBhvr>
                                        <p:cTn id="188" dur="1000" fill="hold"/>
                                        <p:tgtEl>
                                          <p:spTgt spid="296"/>
                                        </p:tgtEl>
                                        <p:attrNameLst>
                                          <p:attrName>ppt_x</p:attrName>
                                        </p:attrNameLst>
                                      </p:cBhvr>
                                      <p:tavLst>
                                        <p:tav tm="0">
                                          <p:val>
                                            <p:strVal val="#ppt_x"/>
                                          </p:val>
                                        </p:tav>
                                        <p:tav tm="100000">
                                          <p:val>
                                            <p:strVal val="#ppt_x"/>
                                          </p:val>
                                        </p:tav>
                                      </p:tavLst>
                                    </p:anim>
                                    <p:anim calcmode="lin" valueType="num">
                                      <p:cBhvr>
                                        <p:cTn id="189" dur="1000" fill="hold"/>
                                        <p:tgtEl>
                                          <p:spTgt spid="296"/>
                                        </p:tgtEl>
                                        <p:attrNameLst>
                                          <p:attrName>ppt_y</p:attrName>
                                        </p:attrNameLst>
                                      </p:cBhvr>
                                      <p:tavLst>
                                        <p:tav tm="0">
                                          <p:val>
                                            <p:strVal val="#ppt_y+.1"/>
                                          </p:val>
                                        </p:tav>
                                        <p:tav tm="100000">
                                          <p:val>
                                            <p:strVal val="#ppt_y"/>
                                          </p:val>
                                        </p:tav>
                                      </p:tavLst>
                                    </p:anim>
                                  </p:childTnLst>
                                </p:cTn>
                              </p:par>
                              <p:par>
                                <p:cTn id="190" presetID="42" presetClass="entr" presetSubtype="0" fill="hold" grpId="0" nodeType="withEffect">
                                  <p:stCondLst>
                                    <p:cond delay="0"/>
                                  </p:stCondLst>
                                  <p:childTnLst>
                                    <p:set>
                                      <p:cBhvr>
                                        <p:cTn id="191" dur="1" fill="hold">
                                          <p:stCondLst>
                                            <p:cond delay="0"/>
                                          </p:stCondLst>
                                        </p:cTn>
                                        <p:tgtEl>
                                          <p:spTgt spid="319"/>
                                        </p:tgtEl>
                                        <p:attrNameLst>
                                          <p:attrName>style.visibility</p:attrName>
                                        </p:attrNameLst>
                                      </p:cBhvr>
                                      <p:to>
                                        <p:strVal val="visible"/>
                                      </p:to>
                                    </p:set>
                                    <p:animEffect transition="in" filter="fade">
                                      <p:cBhvr>
                                        <p:cTn id="192" dur="1000"/>
                                        <p:tgtEl>
                                          <p:spTgt spid="319"/>
                                        </p:tgtEl>
                                      </p:cBhvr>
                                    </p:animEffect>
                                    <p:anim calcmode="lin" valueType="num">
                                      <p:cBhvr>
                                        <p:cTn id="193" dur="1000" fill="hold"/>
                                        <p:tgtEl>
                                          <p:spTgt spid="319"/>
                                        </p:tgtEl>
                                        <p:attrNameLst>
                                          <p:attrName>ppt_x</p:attrName>
                                        </p:attrNameLst>
                                      </p:cBhvr>
                                      <p:tavLst>
                                        <p:tav tm="0">
                                          <p:val>
                                            <p:strVal val="#ppt_x"/>
                                          </p:val>
                                        </p:tav>
                                        <p:tav tm="100000">
                                          <p:val>
                                            <p:strVal val="#ppt_x"/>
                                          </p:val>
                                        </p:tav>
                                      </p:tavLst>
                                    </p:anim>
                                    <p:anim calcmode="lin" valueType="num">
                                      <p:cBhvr>
                                        <p:cTn id="194" dur="1000" fill="hold"/>
                                        <p:tgtEl>
                                          <p:spTgt spid="319"/>
                                        </p:tgtEl>
                                        <p:attrNameLst>
                                          <p:attrName>ppt_y</p:attrName>
                                        </p:attrNameLst>
                                      </p:cBhvr>
                                      <p:tavLst>
                                        <p:tav tm="0">
                                          <p:val>
                                            <p:strVal val="#ppt_y+.1"/>
                                          </p:val>
                                        </p:tav>
                                        <p:tav tm="100000">
                                          <p:val>
                                            <p:strVal val="#ppt_y"/>
                                          </p:val>
                                        </p:tav>
                                      </p:tavLst>
                                    </p:anim>
                                  </p:childTnLst>
                                </p:cTn>
                              </p:par>
                              <p:par>
                                <p:cTn id="195" presetID="42" presetClass="entr" presetSubtype="0" fill="hold" grpId="0" nodeType="withEffect">
                                  <p:stCondLst>
                                    <p:cond delay="0"/>
                                  </p:stCondLst>
                                  <p:childTnLst>
                                    <p:set>
                                      <p:cBhvr>
                                        <p:cTn id="196" dur="1" fill="hold">
                                          <p:stCondLst>
                                            <p:cond delay="0"/>
                                          </p:stCondLst>
                                        </p:cTn>
                                        <p:tgtEl>
                                          <p:spTgt spid="284"/>
                                        </p:tgtEl>
                                        <p:attrNameLst>
                                          <p:attrName>style.visibility</p:attrName>
                                        </p:attrNameLst>
                                      </p:cBhvr>
                                      <p:to>
                                        <p:strVal val="visible"/>
                                      </p:to>
                                    </p:set>
                                    <p:animEffect transition="in" filter="fade">
                                      <p:cBhvr>
                                        <p:cTn id="197" dur="1000"/>
                                        <p:tgtEl>
                                          <p:spTgt spid="284"/>
                                        </p:tgtEl>
                                      </p:cBhvr>
                                    </p:animEffect>
                                    <p:anim calcmode="lin" valueType="num">
                                      <p:cBhvr>
                                        <p:cTn id="198" dur="1000" fill="hold"/>
                                        <p:tgtEl>
                                          <p:spTgt spid="284"/>
                                        </p:tgtEl>
                                        <p:attrNameLst>
                                          <p:attrName>ppt_x</p:attrName>
                                        </p:attrNameLst>
                                      </p:cBhvr>
                                      <p:tavLst>
                                        <p:tav tm="0">
                                          <p:val>
                                            <p:strVal val="#ppt_x"/>
                                          </p:val>
                                        </p:tav>
                                        <p:tav tm="100000">
                                          <p:val>
                                            <p:strVal val="#ppt_x"/>
                                          </p:val>
                                        </p:tav>
                                      </p:tavLst>
                                    </p:anim>
                                    <p:anim calcmode="lin" valueType="num">
                                      <p:cBhvr>
                                        <p:cTn id="199" dur="1000" fill="hold"/>
                                        <p:tgtEl>
                                          <p:spTgt spid="284"/>
                                        </p:tgtEl>
                                        <p:attrNameLst>
                                          <p:attrName>ppt_y</p:attrName>
                                        </p:attrNameLst>
                                      </p:cBhvr>
                                      <p:tavLst>
                                        <p:tav tm="0">
                                          <p:val>
                                            <p:strVal val="#ppt_y+.1"/>
                                          </p:val>
                                        </p:tav>
                                        <p:tav tm="100000">
                                          <p:val>
                                            <p:strVal val="#ppt_y"/>
                                          </p:val>
                                        </p:tav>
                                      </p:tavLst>
                                    </p:anim>
                                  </p:childTnLst>
                                </p:cTn>
                              </p:par>
                              <p:par>
                                <p:cTn id="200" presetID="42" presetClass="entr" presetSubtype="0" fill="hold" nodeType="withEffect">
                                  <p:stCondLst>
                                    <p:cond delay="0"/>
                                  </p:stCondLst>
                                  <p:childTnLst>
                                    <p:set>
                                      <p:cBhvr>
                                        <p:cTn id="201" dur="1" fill="hold">
                                          <p:stCondLst>
                                            <p:cond delay="0"/>
                                          </p:stCondLst>
                                        </p:cTn>
                                        <p:tgtEl>
                                          <p:spTgt spid="131"/>
                                        </p:tgtEl>
                                        <p:attrNameLst>
                                          <p:attrName>style.visibility</p:attrName>
                                        </p:attrNameLst>
                                      </p:cBhvr>
                                      <p:to>
                                        <p:strVal val="visible"/>
                                      </p:to>
                                    </p:set>
                                    <p:animEffect transition="in" filter="fade">
                                      <p:cBhvr>
                                        <p:cTn id="202" dur="1000"/>
                                        <p:tgtEl>
                                          <p:spTgt spid="131"/>
                                        </p:tgtEl>
                                      </p:cBhvr>
                                    </p:animEffect>
                                    <p:anim calcmode="lin" valueType="num">
                                      <p:cBhvr>
                                        <p:cTn id="203" dur="1000" fill="hold"/>
                                        <p:tgtEl>
                                          <p:spTgt spid="131"/>
                                        </p:tgtEl>
                                        <p:attrNameLst>
                                          <p:attrName>ppt_x</p:attrName>
                                        </p:attrNameLst>
                                      </p:cBhvr>
                                      <p:tavLst>
                                        <p:tav tm="0">
                                          <p:val>
                                            <p:strVal val="#ppt_x"/>
                                          </p:val>
                                        </p:tav>
                                        <p:tav tm="100000">
                                          <p:val>
                                            <p:strVal val="#ppt_x"/>
                                          </p:val>
                                        </p:tav>
                                      </p:tavLst>
                                    </p:anim>
                                    <p:anim calcmode="lin" valueType="num">
                                      <p:cBhvr>
                                        <p:cTn id="204" dur="1000" fill="hold"/>
                                        <p:tgtEl>
                                          <p:spTgt spid="131"/>
                                        </p:tgtEl>
                                        <p:attrNameLst>
                                          <p:attrName>ppt_y</p:attrName>
                                        </p:attrNameLst>
                                      </p:cBhvr>
                                      <p:tavLst>
                                        <p:tav tm="0">
                                          <p:val>
                                            <p:strVal val="#ppt_y+.1"/>
                                          </p:val>
                                        </p:tav>
                                        <p:tav tm="100000">
                                          <p:val>
                                            <p:strVal val="#ppt_y"/>
                                          </p:val>
                                        </p:tav>
                                      </p:tavLst>
                                    </p:anim>
                                  </p:childTnLst>
                                </p:cTn>
                              </p:par>
                              <p:par>
                                <p:cTn id="205" presetID="42" presetClass="entr" presetSubtype="0" fill="hold" grpId="0" nodeType="withEffect">
                                  <p:stCondLst>
                                    <p:cond delay="0"/>
                                  </p:stCondLst>
                                  <p:childTnLst>
                                    <p:set>
                                      <p:cBhvr>
                                        <p:cTn id="206" dur="1" fill="hold">
                                          <p:stCondLst>
                                            <p:cond delay="0"/>
                                          </p:stCondLst>
                                        </p:cTn>
                                        <p:tgtEl>
                                          <p:spTgt spid="322"/>
                                        </p:tgtEl>
                                        <p:attrNameLst>
                                          <p:attrName>style.visibility</p:attrName>
                                        </p:attrNameLst>
                                      </p:cBhvr>
                                      <p:to>
                                        <p:strVal val="visible"/>
                                      </p:to>
                                    </p:set>
                                    <p:animEffect transition="in" filter="fade">
                                      <p:cBhvr>
                                        <p:cTn id="207" dur="1000"/>
                                        <p:tgtEl>
                                          <p:spTgt spid="322"/>
                                        </p:tgtEl>
                                      </p:cBhvr>
                                    </p:animEffect>
                                    <p:anim calcmode="lin" valueType="num">
                                      <p:cBhvr>
                                        <p:cTn id="208" dur="1000" fill="hold"/>
                                        <p:tgtEl>
                                          <p:spTgt spid="322"/>
                                        </p:tgtEl>
                                        <p:attrNameLst>
                                          <p:attrName>ppt_x</p:attrName>
                                        </p:attrNameLst>
                                      </p:cBhvr>
                                      <p:tavLst>
                                        <p:tav tm="0">
                                          <p:val>
                                            <p:strVal val="#ppt_x"/>
                                          </p:val>
                                        </p:tav>
                                        <p:tav tm="100000">
                                          <p:val>
                                            <p:strVal val="#ppt_x"/>
                                          </p:val>
                                        </p:tav>
                                      </p:tavLst>
                                    </p:anim>
                                    <p:anim calcmode="lin" valueType="num">
                                      <p:cBhvr>
                                        <p:cTn id="209" dur="1000" fill="hold"/>
                                        <p:tgtEl>
                                          <p:spTgt spid="322"/>
                                        </p:tgtEl>
                                        <p:attrNameLst>
                                          <p:attrName>ppt_y</p:attrName>
                                        </p:attrNameLst>
                                      </p:cBhvr>
                                      <p:tavLst>
                                        <p:tav tm="0">
                                          <p:val>
                                            <p:strVal val="#ppt_y+.1"/>
                                          </p:val>
                                        </p:tav>
                                        <p:tav tm="100000">
                                          <p:val>
                                            <p:strVal val="#ppt_y"/>
                                          </p:val>
                                        </p:tav>
                                      </p:tavLst>
                                    </p:anim>
                                  </p:childTnLst>
                                </p:cTn>
                              </p:par>
                              <p:par>
                                <p:cTn id="210" presetID="42" presetClass="entr" presetSubtype="0" fill="hold" nodeType="withEffect">
                                  <p:stCondLst>
                                    <p:cond delay="0"/>
                                  </p:stCondLst>
                                  <p:childTnLst>
                                    <p:set>
                                      <p:cBhvr>
                                        <p:cTn id="211" dur="1" fill="hold">
                                          <p:stCondLst>
                                            <p:cond delay="0"/>
                                          </p:stCondLst>
                                        </p:cTn>
                                        <p:tgtEl>
                                          <p:spTgt spid="298"/>
                                        </p:tgtEl>
                                        <p:attrNameLst>
                                          <p:attrName>style.visibility</p:attrName>
                                        </p:attrNameLst>
                                      </p:cBhvr>
                                      <p:to>
                                        <p:strVal val="visible"/>
                                      </p:to>
                                    </p:set>
                                    <p:animEffect transition="in" filter="fade">
                                      <p:cBhvr>
                                        <p:cTn id="212" dur="1000"/>
                                        <p:tgtEl>
                                          <p:spTgt spid="298"/>
                                        </p:tgtEl>
                                      </p:cBhvr>
                                    </p:animEffect>
                                    <p:anim calcmode="lin" valueType="num">
                                      <p:cBhvr>
                                        <p:cTn id="213" dur="1000" fill="hold"/>
                                        <p:tgtEl>
                                          <p:spTgt spid="298"/>
                                        </p:tgtEl>
                                        <p:attrNameLst>
                                          <p:attrName>ppt_x</p:attrName>
                                        </p:attrNameLst>
                                      </p:cBhvr>
                                      <p:tavLst>
                                        <p:tav tm="0">
                                          <p:val>
                                            <p:strVal val="#ppt_x"/>
                                          </p:val>
                                        </p:tav>
                                        <p:tav tm="100000">
                                          <p:val>
                                            <p:strVal val="#ppt_x"/>
                                          </p:val>
                                        </p:tav>
                                      </p:tavLst>
                                    </p:anim>
                                    <p:anim calcmode="lin" valueType="num">
                                      <p:cBhvr>
                                        <p:cTn id="214" dur="1000" fill="hold"/>
                                        <p:tgtEl>
                                          <p:spTgt spid="298"/>
                                        </p:tgtEl>
                                        <p:attrNameLst>
                                          <p:attrName>ppt_y</p:attrName>
                                        </p:attrNameLst>
                                      </p:cBhvr>
                                      <p:tavLst>
                                        <p:tav tm="0">
                                          <p:val>
                                            <p:strVal val="#ppt_y+.1"/>
                                          </p:val>
                                        </p:tav>
                                        <p:tav tm="100000">
                                          <p:val>
                                            <p:strVal val="#ppt_y"/>
                                          </p:val>
                                        </p:tav>
                                      </p:tavLst>
                                    </p:anim>
                                  </p:childTnLst>
                                </p:cTn>
                              </p:par>
                              <p:par>
                                <p:cTn id="215" presetID="42" presetClass="entr" presetSubtype="0" fill="hold" nodeType="withEffect">
                                  <p:stCondLst>
                                    <p:cond delay="0"/>
                                  </p:stCondLst>
                                  <p:childTnLst>
                                    <p:set>
                                      <p:cBhvr>
                                        <p:cTn id="216" dur="1" fill="hold">
                                          <p:stCondLst>
                                            <p:cond delay="0"/>
                                          </p:stCondLst>
                                        </p:cTn>
                                        <p:tgtEl>
                                          <p:spTgt spid="129"/>
                                        </p:tgtEl>
                                        <p:attrNameLst>
                                          <p:attrName>style.visibility</p:attrName>
                                        </p:attrNameLst>
                                      </p:cBhvr>
                                      <p:to>
                                        <p:strVal val="visible"/>
                                      </p:to>
                                    </p:set>
                                    <p:animEffect transition="in" filter="fade">
                                      <p:cBhvr>
                                        <p:cTn id="217" dur="1000"/>
                                        <p:tgtEl>
                                          <p:spTgt spid="129"/>
                                        </p:tgtEl>
                                      </p:cBhvr>
                                    </p:animEffect>
                                    <p:anim calcmode="lin" valueType="num">
                                      <p:cBhvr>
                                        <p:cTn id="218" dur="1000" fill="hold"/>
                                        <p:tgtEl>
                                          <p:spTgt spid="129"/>
                                        </p:tgtEl>
                                        <p:attrNameLst>
                                          <p:attrName>ppt_x</p:attrName>
                                        </p:attrNameLst>
                                      </p:cBhvr>
                                      <p:tavLst>
                                        <p:tav tm="0">
                                          <p:val>
                                            <p:strVal val="#ppt_x"/>
                                          </p:val>
                                        </p:tav>
                                        <p:tav tm="100000">
                                          <p:val>
                                            <p:strVal val="#ppt_x"/>
                                          </p:val>
                                        </p:tav>
                                      </p:tavLst>
                                    </p:anim>
                                    <p:anim calcmode="lin" valueType="num">
                                      <p:cBhvr>
                                        <p:cTn id="219" dur="1000" fill="hold"/>
                                        <p:tgtEl>
                                          <p:spTgt spid="129"/>
                                        </p:tgtEl>
                                        <p:attrNameLst>
                                          <p:attrName>ppt_y</p:attrName>
                                        </p:attrNameLst>
                                      </p:cBhvr>
                                      <p:tavLst>
                                        <p:tav tm="0">
                                          <p:val>
                                            <p:strVal val="#ppt_y+.1"/>
                                          </p:val>
                                        </p:tav>
                                        <p:tav tm="100000">
                                          <p:val>
                                            <p:strVal val="#ppt_y"/>
                                          </p:val>
                                        </p:tav>
                                      </p:tavLst>
                                    </p:anim>
                                  </p:childTnLst>
                                </p:cTn>
                              </p:par>
                            </p:childTnLst>
                          </p:cTn>
                        </p:par>
                      </p:childTnLst>
                    </p:cTn>
                  </p:par>
                  <p:par>
                    <p:cTn id="220" fill="hold">
                      <p:stCondLst>
                        <p:cond delay="indefinite"/>
                      </p:stCondLst>
                      <p:childTnLst>
                        <p:par>
                          <p:cTn id="221" fill="hold">
                            <p:stCondLst>
                              <p:cond delay="0"/>
                            </p:stCondLst>
                            <p:childTnLst>
                              <p:par>
                                <p:cTn id="222" presetID="53" presetClass="entr" presetSubtype="16" fill="hold" grpId="0" nodeType="clickEffect">
                                  <p:stCondLst>
                                    <p:cond delay="0"/>
                                  </p:stCondLst>
                                  <p:childTnLst>
                                    <p:set>
                                      <p:cBhvr>
                                        <p:cTn id="223" dur="1" fill="hold">
                                          <p:stCondLst>
                                            <p:cond delay="0"/>
                                          </p:stCondLst>
                                        </p:cTn>
                                        <p:tgtEl>
                                          <p:spTgt spid="270"/>
                                        </p:tgtEl>
                                        <p:attrNameLst>
                                          <p:attrName>style.visibility</p:attrName>
                                        </p:attrNameLst>
                                      </p:cBhvr>
                                      <p:to>
                                        <p:strVal val="visible"/>
                                      </p:to>
                                    </p:set>
                                    <p:anim calcmode="lin" valueType="num">
                                      <p:cBhvr>
                                        <p:cTn id="224" dur="500" fill="hold"/>
                                        <p:tgtEl>
                                          <p:spTgt spid="270"/>
                                        </p:tgtEl>
                                        <p:attrNameLst>
                                          <p:attrName>ppt_w</p:attrName>
                                        </p:attrNameLst>
                                      </p:cBhvr>
                                      <p:tavLst>
                                        <p:tav tm="0">
                                          <p:val>
                                            <p:fltVal val="0"/>
                                          </p:val>
                                        </p:tav>
                                        <p:tav tm="100000">
                                          <p:val>
                                            <p:strVal val="#ppt_w"/>
                                          </p:val>
                                        </p:tav>
                                      </p:tavLst>
                                    </p:anim>
                                    <p:anim calcmode="lin" valueType="num">
                                      <p:cBhvr>
                                        <p:cTn id="225" dur="500" fill="hold"/>
                                        <p:tgtEl>
                                          <p:spTgt spid="270"/>
                                        </p:tgtEl>
                                        <p:attrNameLst>
                                          <p:attrName>ppt_h</p:attrName>
                                        </p:attrNameLst>
                                      </p:cBhvr>
                                      <p:tavLst>
                                        <p:tav tm="0">
                                          <p:val>
                                            <p:fltVal val="0"/>
                                          </p:val>
                                        </p:tav>
                                        <p:tav tm="100000">
                                          <p:val>
                                            <p:strVal val="#ppt_h"/>
                                          </p:val>
                                        </p:tav>
                                      </p:tavLst>
                                    </p:anim>
                                    <p:animEffect transition="in" filter="fade">
                                      <p:cBhvr>
                                        <p:cTn id="226" dur="500"/>
                                        <p:tgtEl>
                                          <p:spTgt spid="270"/>
                                        </p:tgtEl>
                                      </p:cBhvr>
                                    </p:animEffect>
                                  </p:childTnLst>
                                </p:cTn>
                              </p:par>
                              <p:par>
                                <p:cTn id="227" presetID="53" presetClass="entr" presetSubtype="16" fill="hold" nodeType="withEffect">
                                  <p:stCondLst>
                                    <p:cond delay="0"/>
                                  </p:stCondLst>
                                  <p:childTnLst>
                                    <p:set>
                                      <p:cBhvr>
                                        <p:cTn id="228" dur="1" fill="hold">
                                          <p:stCondLst>
                                            <p:cond delay="0"/>
                                          </p:stCondLst>
                                        </p:cTn>
                                        <p:tgtEl>
                                          <p:spTgt spid="261"/>
                                        </p:tgtEl>
                                        <p:attrNameLst>
                                          <p:attrName>style.visibility</p:attrName>
                                        </p:attrNameLst>
                                      </p:cBhvr>
                                      <p:to>
                                        <p:strVal val="visible"/>
                                      </p:to>
                                    </p:set>
                                    <p:anim calcmode="lin" valueType="num">
                                      <p:cBhvr>
                                        <p:cTn id="229" dur="500" fill="hold"/>
                                        <p:tgtEl>
                                          <p:spTgt spid="261"/>
                                        </p:tgtEl>
                                        <p:attrNameLst>
                                          <p:attrName>ppt_w</p:attrName>
                                        </p:attrNameLst>
                                      </p:cBhvr>
                                      <p:tavLst>
                                        <p:tav tm="0">
                                          <p:val>
                                            <p:fltVal val="0"/>
                                          </p:val>
                                        </p:tav>
                                        <p:tav tm="100000">
                                          <p:val>
                                            <p:strVal val="#ppt_w"/>
                                          </p:val>
                                        </p:tav>
                                      </p:tavLst>
                                    </p:anim>
                                    <p:anim calcmode="lin" valueType="num">
                                      <p:cBhvr>
                                        <p:cTn id="230" dur="500" fill="hold"/>
                                        <p:tgtEl>
                                          <p:spTgt spid="261"/>
                                        </p:tgtEl>
                                        <p:attrNameLst>
                                          <p:attrName>ppt_h</p:attrName>
                                        </p:attrNameLst>
                                      </p:cBhvr>
                                      <p:tavLst>
                                        <p:tav tm="0">
                                          <p:val>
                                            <p:fltVal val="0"/>
                                          </p:val>
                                        </p:tav>
                                        <p:tav tm="100000">
                                          <p:val>
                                            <p:strVal val="#ppt_h"/>
                                          </p:val>
                                        </p:tav>
                                      </p:tavLst>
                                    </p:anim>
                                    <p:animEffect transition="in" filter="fade">
                                      <p:cBhvr>
                                        <p:cTn id="231" dur="500"/>
                                        <p:tgtEl>
                                          <p:spTgt spid="261"/>
                                        </p:tgtEl>
                                      </p:cBhvr>
                                    </p:animEffect>
                                  </p:childTnLst>
                                </p:cTn>
                              </p:par>
                              <p:par>
                                <p:cTn id="232" presetID="53" presetClass="entr" presetSubtype="16" fill="hold" nodeType="withEffect">
                                  <p:stCondLst>
                                    <p:cond delay="0"/>
                                  </p:stCondLst>
                                  <p:childTnLst>
                                    <p:set>
                                      <p:cBhvr>
                                        <p:cTn id="233" dur="1" fill="hold">
                                          <p:stCondLst>
                                            <p:cond delay="0"/>
                                          </p:stCondLst>
                                        </p:cTn>
                                        <p:tgtEl>
                                          <p:spTgt spid="254"/>
                                        </p:tgtEl>
                                        <p:attrNameLst>
                                          <p:attrName>style.visibility</p:attrName>
                                        </p:attrNameLst>
                                      </p:cBhvr>
                                      <p:to>
                                        <p:strVal val="visible"/>
                                      </p:to>
                                    </p:set>
                                    <p:anim calcmode="lin" valueType="num">
                                      <p:cBhvr>
                                        <p:cTn id="234" dur="500" fill="hold"/>
                                        <p:tgtEl>
                                          <p:spTgt spid="254"/>
                                        </p:tgtEl>
                                        <p:attrNameLst>
                                          <p:attrName>ppt_w</p:attrName>
                                        </p:attrNameLst>
                                      </p:cBhvr>
                                      <p:tavLst>
                                        <p:tav tm="0">
                                          <p:val>
                                            <p:fltVal val="0"/>
                                          </p:val>
                                        </p:tav>
                                        <p:tav tm="100000">
                                          <p:val>
                                            <p:strVal val="#ppt_w"/>
                                          </p:val>
                                        </p:tav>
                                      </p:tavLst>
                                    </p:anim>
                                    <p:anim calcmode="lin" valueType="num">
                                      <p:cBhvr>
                                        <p:cTn id="235" dur="500" fill="hold"/>
                                        <p:tgtEl>
                                          <p:spTgt spid="254"/>
                                        </p:tgtEl>
                                        <p:attrNameLst>
                                          <p:attrName>ppt_h</p:attrName>
                                        </p:attrNameLst>
                                      </p:cBhvr>
                                      <p:tavLst>
                                        <p:tav tm="0">
                                          <p:val>
                                            <p:fltVal val="0"/>
                                          </p:val>
                                        </p:tav>
                                        <p:tav tm="100000">
                                          <p:val>
                                            <p:strVal val="#ppt_h"/>
                                          </p:val>
                                        </p:tav>
                                      </p:tavLst>
                                    </p:anim>
                                    <p:animEffect transition="in" filter="fade">
                                      <p:cBhvr>
                                        <p:cTn id="236" dur="500"/>
                                        <p:tgtEl>
                                          <p:spTgt spid="254"/>
                                        </p:tgtEl>
                                      </p:cBhvr>
                                    </p:animEffect>
                                  </p:childTnLst>
                                </p:cTn>
                              </p:par>
                              <p:par>
                                <p:cTn id="237" presetID="53" presetClass="entr" presetSubtype="16" fill="hold" nodeType="withEffect">
                                  <p:stCondLst>
                                    <p:cond delay="0"/>
                                  </p:stCondLst>
                                  <p:childTnLst>
                                    <p:set>
                                      <p:cBhvr>
                                        <p:cTn id="238" dur="1" fill="hold">
                                          <p:stCondLst>
                                            <p:cond delay="0"/>
                                          </p:stCondLst>
                                        </p:cTn>
                                        <p:tgtEl>
                                          <p:spTgt spid="259"/>
                                        </p:tgtEl>
                                        <p:attrNameLst>
                                          <p:attrName>style.visibility</p:attrName>
                                        </p:attrNameLst>
                                      </p:cBhvr>
                                      <p:to>
                                        <p:strVal val="visible"/>
                                      </p:to>
                                    </p:set>
                                    <p:anim calcmode="lin" valueType="num">
                                      <p:cBhvr>
                                        <p:cTn id="239" dur="500" fill="hold"/>
                                        <p:tgtEl>
                                          <p:spTgt spid="259"/>
                                        </p:tgtEl>
                                        <p:attrNameLst>
                                          <p:attrName>ppt_w</p:attrName>
                                        </p:attrNameLst>
                                      </p:cBhvr>
                                      <p:tavLst>
                                        <p:tav tm="0">
                                          <p:val>
                                            <p:fltVal val="0"/>
                                          </p:val>
                                        </p:tav>
                                        <p:tav tm="100000">
                                          <p:val>
                                            <p:strVal val="#ppt_w"/>
                                          </p:val>
                                        </p:tav>
                                      </p:tavLst>
                                    </p:anim>
                                    <p:anim calcmode="lin" valueType="num">
                                      <p:cBhvr>
                                        <p:cTn id="240" dur="500" fill="hold"/>
                                        <p:tgtEl>
                                          <p:spTgt spid="259"/>
                                        </p:tgtEl>
                                        <p:attrNameLst>
                                          <p:attrName>ppt_h</p:attrName>
                                        </p:attrNameLst>
                                      </p:cBhvr>
                                      <p:tavLst>
                                        <p:tav tm="0">
                                          <p:val>
                                            <p:fltVal val="0"/>
                                          </p:val>
                                        </p:tav>
                                        <p:tav tm="100000">
                                          <p:val>
                                            <p:strVal val="#ppt_h"/>
                                          </p:val>
                                        </p:tav>
                                      </p:tavLst>
                                    </p:anim>
                                    <p:animEffect transition="in" filter="fade">
                                      <p:cBhvr>
                                        <p:cTn id="241" dur="500"/>
                                        <p:tgtEl>
                                          <p:spTgt spid="259"/>
                                        </p:tgtEl>
                                      </p:cBhvr>
                                    </p:animEffect>
                                  </p:childTnLst>
                                </p:cTn>
                              </p:par>
                              <p:par>
                                <p:cTn id="242" presetID="53" presetClass="entr" presetSubtype="16" fill="hold" nodeType="withEffect">
                                  <p:stCondLst>
                                    <p:cond delay="0"/>
                                  </p:stCondLst>
                                  <p:childTnLst>
                                    <p:set>
                                      <p:cBhvr>
                                        <p:cTn id="243" dur="1" fill="hold">
                                          <p:stCondLst>
                                            <p:cond delay="0"/>
                                          </p:stCondLst>
                                        </p:cTn>
                                        <p:tgtEl>
                                          <p:spTgt spid="264"/>
                                        </p:tgtEl>
                                        <p:attrNameLst>
                                          <p:attrName>style.visibility</p:attrName>
                                        </p:attrNameLst>
                                      </p:cBhvr>
                                      <p:to>
                                        <p:strVal val="visible"/>
                                      </p:to>
                                    </p:set>
                                    <p:anim calcmode="lin" valueType="num">
                                      <p:cBhvr>
                                        <p:cTn id="244" dur="500" fill="hold"/>
                                        <p:tgtEl>
                                          <p:spTgt spid="264"/>
                                        </p:tgtEl>
                                        <p:attrNameLst>
                                          <p:attrName>ppt_w</p:attrName>
                                        </p:attrNameLst>
                                      </p:cBhvr>
                                      <p:tavLst>
                                        <p:tav tm="0">
                                          <p:val>
                                            <p:fltVal val="0"/>
                                          </p:val>
                                        </p:tav>
                                        <p:tav tm="100000">
                                          <p:val>
                                            <p:strVal val="#ppt_w"/>
                                          </p:val>
                                        </p:tav>
                                      </p:tavLst>
                                    </p:anim>
                                    <p:anim calcmode="lin" valueType="num">
                                      <p:cBhvr>
                                        <p:cTn id="245" dur="500" fill="hold"/>
                                        <p:tgtEl>
                                          <p:spTgt spid="264"/>
                                        </p:tgtEl>
                                        <p:attrNameLst>
                                          <p:attrName>ppt_h</p:attrName>
                                        </p:attrNameLst>
                                      </p:cBhvr>
                                      <p:tavLst>
                                        <p:tav tm="0">
                                          <p:val>
                                            <p:fltVal val="0"/>
                                          </p:val>
                                        </p:tav>
                                        <p:tav tm="100000">
                                          <p:val>
                                            <p:strVal val="#ppt_h"/>
                                          </p:val>
                                        </p:tav>
                                      </p:tavLst>
                                    </p:anim>
                                    <p:animEffect transition="in" filter="fade">
                                      <p:cBhvr>
                                        <p:cTn id="246" dur="500"/>
                                        <p:tgtEl>
                                          <p:spTgt spid="264"/>
                                        </p:tgtEl>
                                      </p:cBhvr>
                                    </p:animEffect>
                                  </p:childTnLst>
                                </p:cTn>
                              </p:par>
                              <p:par>
                                <p:cTn id="247" presetID="53" presetClass="entr" presetSubtype="16" fill="hold" nodeType="withEffect">
                                  <p:stCondLst>
                                    <p:cond delay="0"/>
                                  </p:stCondLst>
                                  <p:childTnLst>
                                    <p:set>
                                      <p:cBhvr>
                                        <p:cTn id="248" dur="1" fill="hold">
                                          <p:stCondLst>
                                            <p:cond delay="0"/>
                                          </p:stCondLst>
                                        </p:cTn>
                                        <p:tgtEl>
                                          <p:spTgt spid="260"/>
                                        </p:tgtEl>
                                        <p:attrNameLst>
                                          <p:attrName>style.visibility</p:attrName>
                                        </p:attrNameLst>
                                      </p:cBhvr>
                                      <p:to>
                                        <p:strVal val="visible"/>
                                      </p:to>
                                    </p:set>
                                    <p:anim calcmode="lin" valueType="num">
                                      <p:cBhvr>
                                        <p:cTn id="249" dur="500" fill="hold"/>
                                        <p:tgtEl>
                                          <p:spTgt spid="260"/>
                                        </p:tgtEl>
                                        <p:attrNameLst>
                                          <p:attrName>ppt_w</p:attrName>
                                        </p:attrNameLst>
                                      </p:cBhvr>
                                      <p:tavLst>
                                        <p:tav tm="0">
                                          <p:val>
                                            <p:fltVal val="0"/>
                                          </p:val>
                                        </p:tav>
                                        <p:tav tm="100000">
                                          <p:val>
                                            <p:strVal val="#ppt_w"/>
                                          </p:val>
                                        </p:tav>
                                      </p:tavLst>
                                    </p:anim>
                                    <p:anim calcmode="lin" valueType="num">
                                      <p:cBhvr>
                                        <p:cTn id="250" dur="500" fill="hold"/>
                                        <p:tgtEl>
                                          <p:spTgt spid="260"/>
                                        </p:tgtEl>
                                        <p:attrNameLst>
                                          <p:attrName>ppt_h</p:attrName>
                                        </p:attrNameLst>
                                      </p:cBhvr>
                                      <p:tavLst>
                                        <p:tav tm="0">
                                          <p:val>
                                            <p:fltVal val="0"/>
                                          </p:val>
                                        </p:tav>
                                        <p:tav tm="100000">
                                          <p:val>
                                            <p:strVal val="#ppt_h"/>
                                          </p:val>
                                        </p:tav>
                                      </p:tavLst>
                                    </p:anim>
                                    <p:animEffect transition="in" filter="fade">
                                      <p:cBhvr>
                                        <p:cTn id="251" dur="500"/>
                                        <p:tgtEl>
                                          <p:spTgt spid="260"/>
                                        </p:tgtEl>
                                      </p:cBhvr>
                                    </p:animEffect>
                                  </p:childTnLst>
                                </p:cTn>
                              </p:par>
                              <p:par>
                                <p:cTn id="252" presetID="53" presetClass="entr" presetSubtype="16" fill="hold" grpId="0" nodeType="withEffect">
                                  <p:stCondLst>
                                    <p:cond delay="0"/>
                                  </p:stCondLst>
                                  <p:childTnLst>
                                    <p:set>
                                      <p:cBhvr>
                                        <p:cTn id="253" dur="1" fill="hold">
                                          <p:stCondLst>
                                            <p:cond delay="0"/>
                                          </p:stCondLst>
                                        </p:cTn>
                                        <p:tgtEl>
                                          <p:spTgt spid="256"/>
                                        </p:tgtEl>
                                        <p:attrNameLst>
                                          <p:attrName>style.visibility</p:attrName>
                                        </p:attrNameLst>
                                      </p:cBhvr>
                                      <p:to>
                                        <p:strVal val="visible"/>
                                      </p:to>
                                    </p:set>
                                    <p:anim calcmode="lin" valueType="num">
                                      <p:cBhvr>
                                        <p:cTn id="254" dur="500" fill="hold"/>
                                        <p:tgtEl>
                                          <p:spTgt spid="256"/>
                                        </p:tgtEl>
                                        <p:attrNameLst>
                                          <p:attrName>ppt_w</p:attrName>
                                        </p:attrNameLst>
                                      </p:cBhvr>
                                      <p:tavLst>
                                        <p:tav tm="0">
                                          <p:val>
                                            <p:fltVal val="0"/>
                                          </p:val>
                                        </p:tav>
                                        <p:tav tm="100000">
                                          <p:val>
                                            <p:strVal val="#ppt_w"/>
                                          </p:val>
                                        </p:tav>
                                      </p:tavLst>
                                    </p:anim>
                                    <p:anim calcmode="lin" valueType="num">
                                      <p:cBhvr>
                                        <p:cTn id="255" dur="500" fill="hold"/>
                                        <p:tgtEl>
                                          <p:spTgt spid="256"/>
                                        </p:tgtEl>
                                        <p:attrNameLst>
                                          <p:attrName>ppt_h</p:attrName>
                                        </p:attrNameLst>
                                      </p:cBhvr>
                                      <p:tavLst>
                                        <p:tav tm="0">
                                          <p:val>
                                            <p:fltVal val="0"/>
                                          </p:val>
                                        </p:tav>
                                        <p:tav tm="100000">
                                          <p:val>
                                            <p:strVal val="#ppt_h"/>
                                          </p:val>
                                        </p:tav>
                                      </p:tavLst>
                                    </p:anim>
                                    <p:animEffect transition="in" filter="fade">
                                      <p:cBhvr>
                                        <p:cTn id="256" dur="500"/>
                                        <p:tgtEl>
                                          <p:spTgt spid="256"/>
                                        </p:tgtEl>
                                      </p:cBhvr>
                                    </p:animEffect>
                                  </p:childTnLst>
                                </p:cTn>
                              </p:par>
                              <p:par>
                                <p:cTn id="257" presetID="53" presetClass="entr" presetSubtype="16" fill="hold" grpId="0" nodeType="withEffect">
                                  <p:stCondLst>
                                    <p:cond delay="0"/>
                                  </p:stCondLst>
                                  <p:childTnLst>
                                    <p:set>
                                      <p:cBhvr>
                                        <p:cTn id="258" dur="1" fill="hold">
                                          <p:stCondLst>
                                            <p:cond delay="0"/>
                                          </p:stCondLst>
                                        </p:cTn>
                                        <p:tgtEl>
                                          <p:spTgt spid="257"/>
                                        </p:tgtEl>
                                        <p:attrNameLst>
                                          <p:attrName>style.visibility</p:attrName>
                                        </p:attrNameLst>
                                      </p:cBhvr>
                                      <p:to>
                                        <p:strVal val="visible"/>
                                      </p:to>
                                    </p:set>
                                    <p:anim calcmode="lin" valueType="num">
                                      <p:cBhvr>
                                        <p:cTn id="259" dur="500" fill="hold"/>
                                        <p:tgtEl>
                                          <p:spTgt spid="257"/>
                                        </p:tgtEl>
                                        <p:attrNameLst>
                                          <p:attrName>ppt_w</p:attrName>
                                        </p:attrNameLst>
                                      </p:cBhvr>
                                      <p:tavLst>
                                        <p:tav tm="0">
                                          <p:val>
                                            <p:fltVal val="0"/>
                                          </p:val>
                                        </p:tav>
                                        <p:tav tm="100000">
                                          <p:val>
                                            <p:strVal val="#ppt_w"/>
                                          </p:val>
                                        </p:tav>
                                      </p:tavLst>
                                    </p:anim>
                                    <p:anim calcmode="lin" valueType="num">
                                      <p:cBhvr>
                                        <p:cTn id="260" dur="500" fill="hold"/>
                                        <p:tgtEl>
                                          <p:spTgt spid="257"/>
                                        </p:tgtEl>
                                        <p:attrNameLst>
                                          <p:attrName>ppt_h</p:attrName>
                                        </p:attrNameLst>
                                      </p:cBhvr>
                                      <p:tavLst>
                                        <p:tav tm="0">
                                          <p:val>
                                            <p:fltVal val="0"/>
                                          </p:val>
                                        </p:tav>
                                        <p:tav tm="100000">
                                          <p:val>
                                            <p:strVal val="#ppt_h"/>
                                          </p:val>
                                        </p:tav>
                                      </p:tavLst>
                                    </p:anim>
                                    <p:animEffect transition="in" filter="fade">
                                      <p:cBhvr>
                                        <p:cTn id="261" dur="500"/>
                                        <p:tgtEl>
                                          <p:spTgt spid="257"/>
                                        </p:tgtEl>
                                      </p:cBhvr>
                                    </p:animEffect>
                                  </p:childTnLst>
                                </p:cTn>
                              </p:par>
                              <p:par>
                                <p:cTn id="262" presetID="53" presetClass="entr" presetSubtype="16" fill="hold" nodeType="withEffect">
                                  <p:stCondLst>
                                    <p:cond delay="0"/>
                                  </p:stCondLst>
                                  <p:childTnLst>
                                    <p:set>
                                      <p:cBhvr>
                                        <p:cTn id="263" dur="1" fill="hold">
                                          <p:stCondLst>
                                            <p:cond delay="0"/>
                                          </p:stCondLst>
                                        </p:cTn>
                                        <p:tgtEl>
                                          <p:spTgt spid="258"/>
                                        </p:tgtEl>
                                        <p:attrNameLst>
                                          <p:attrName>style.visibility</p:attrName>
                                        </p:attrNameLst>
                                      </p:cBhvr>
                                      <p:to>
                                        <p:strVal val="visible"/>
                                      </p:to>
                                    </p:set>
                                    <p:anim calcmode="lin" valueType="num">
                                      <p:cBhvr>
                                        <p:cTn id="264" dur="500" fill="hold"/>
                                        <p:tgtEl>
                                          <p:spTgt spid="258"/>
                                        </p:tgtEl>
                                        <p:attrNameLst>
                                          <p:attrName>ppt_w</p:attrName>
                                        </p:attrNameLst>
                                      </p:cBhvr>
                                      <p:tavLst>
                                        <p:tav tm="0">
                                          <p:val>
                                            <p:fltVal val="0"/>
                                          </p:val>
                                        </p:tav>
                                        <p:tav tm="100000">
                                          <p:val>
                                            <p:strVal val="#ppt_w"/>
                                          </p:val>
                                        </p:tav>
                                      </p:tavLst>
                                    </p:anim>
                                    <p:anim calcmode="lin" valueType="num">
                                      <p:cBhvr>
                                        <p:cTn id="265" dur="500" fill="hold"/>
                                        <p:tgtEl>
                                          <p:spTgt spid="258"/>
                                        </p:tgtEl>
                                        <p:attrNameLst>
                                          <p:attrName>ppt_h</p:attrName>
                                        </p:attrNameLst>
                                      </p:cBhvr>
                                      <p:tavLst>
                                        <p:tav tm="0">
                                          <p:val>
                                            <p:fltVal val="0"/>
                                          </p:val>
                                        </p:tav>
                                        <p:tav tm="100000">
                                          <p:val>
                                            <p:strVal val="#ppt_h"/>
                                          </p:val>
                                        </p:tav>
                                      </p:tavLst>
                                    </p:anim>
                                    <p:animEffect transition="in" filter="fade">
                                      <p:cBhvr>
                                        <p:cTn id="266" dur="500"/>
                                        <p:tgtEl>
                                          <p:spTgt spid="258"/>
                                        </p:tgtEl>
                                      </p:cBhvr>
                                    </p:animEffec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grpId="0" nodeType="clickEffect">
                                  <p:stCondLst>
                                    <p:cond delay="0"/>
                                  </p:stCondLst>
                                  <p:childTnLst>
                                    <p:set>
                                      <p:cBhvr>
                                        <p:cTn id="270" dur="1" fill="hold">
                                          <p:stCondLst>
                                            <p:cond delay="0"/>
                                          </p:stCondLst>
                                        </p:cTn>
                                        <p:tgtEl>
                                          <p:spTgt spid="330"/>
                                        </p:tgtEl>
                                        <p:attrNameLst>
                                          <p:attrName>style.visibility</p:attrName>
                                        </p:attrNameLst>
                                      </p:cBhvr>
                                      <p:to>
                                        <p:strVal val="visible"/>
                                      </p:to>
                                    </p:set>
                                  </p:childTnLst>
                                </p:cTn>
                              </p:par>
                              <p:par>
                                <p:cTn id="271" presetID="1" presetClass="entr" presetSubtype="0" fill="hold" grpId="0" nodeType="withEffect">
                                  <p:stCondLst>
                                    <p:cond delay="0"/>
                                  </p:stCondLst>
                                  <p:childTnLst>
                                    <p:set>
                                      <p:cBhvr>
                                        <p:cTn id="272" dur="1" fill="hold">
                                          <p:stCondLst>
                                            <p:cond delay="0"/>
                                          </p:stCondLst>
                                        </p:cTn>
                                        <p:tgtEl>
                                          <p:spTgt spid="268"/>
                                        </p:tgtEl>
                                        <p:attrNameLst>
                                          <p:attrName>style.visibility</p:attrName>
                                        </p:attrNameLst>
                                      </p:cBhvr>
                                      <p:to>
                                        <p:strVal val="visible"/>
                                      </p:to>
                                    </p:set>
                                  </p:childTnLst>
                                </p:cTn>
                              </p:par>
                              <p:par>
                                <p:cTn id="273" presetID="1" presetClass="entr" presetSubtype="0" fill="hold" grpId="0" nodeType="withEffect">
                                  <p:stCondLst>
                                    <p:cond delay="0"/>
                                  </p:stCondLst>
                                  <p:childTnLst>
                                    <p:set>
                                      <p:cBhvr>
                                        <p:cTn id="274" dur="1" fill="hold">
                                          <p:stCondLst>
                                            <p:cond delay="0"/>
                                          </p:stCondLst>
                                        </p:cTn>
                                        <p:tgtEl>
                                          <p:spTgt spid="267"/>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45" presetClass="entr" presetSubtype="0" fill="hold" grpId="0" nodeType="clickEffect">
                                  <p:stCondLst>
                                    <p:cond delay="0"/>
                                  </p:stCondLst>
                                  <p:childTnLst>
                                    <p:set>
                                      <p:cBhvr>
                                        <p:cTn id="278" dur="1" fill="hold">
                                          <p:stCondLst>
                                            <p:cond delay="0"/>
                                          </p:stCondLst>
                                        </p:cTn>
                                        <p:tgtEl>
                                          <p:spTgt spid="216"/>
                                        </p:tgtEl>
                                        <p:attrNameLst>
                                          <p:attrName>style.visibility</p:attrName>
                                        </p:attrNameLst>
                                      </p:cBhvr>
                                      <p:to>
                                        <p:strVal val="visible"/>
                                      </p:to>
                                    </p:set>
                                    <p:animEffect transition="in" filter="fade">
                                      <p:cBhvr>
                                        <p:cTn id="279" dur="2000"/>
                                        <p:tgtEl>
                                          <p:spTgt spid="216"/>
                                        </p:tgtEl>
                                      </p:cBhvr>
                                    </p:animEffect>
                                    <p:anim calcmode="lin" valueType="num">
                                      <p:cBhvr>
                                        <p:cTn id="280" dur="2000" fill="hold"/>
                                        <p:tgtEl>
                                          <p:spTgt spid="216"/>
                                        </p:tgtEl>
                                        <p:attrNameLst>
                                          <p:attrName>ppt_w</p:attrName>
                                        </p:attrNameLst>
                                      </p:cBhvr>
                                      <p:tavLst>
                                        <p:tav tm="0" fmla="#ppt_w*sin(2.5*pi*$)">
                                          <p:val>
                                            <p:fltVal val="0"/>
                                          </p:val>
                                        </p:tav>
                                        <p:tav tm="100000">
                                          <p:val>
                                            <p:fltVal val="1"/>
                                          </p:val>
                                        </p:tav>
                                      </p:tavLst>
                                    </p:anim>
                                    <p:anim calcmode="lin" valueType="num">
                                      <p:cBhvr>
                                        <p:cTn id="281" dur="2000" fill="hold"/>
                                        <p:tgtEl>
                                          <p:spTgt spid="216"/>
                                        </p:tgtEl>
                                        <p:attrNameLst>
                                          <p:attrName>ppt_h</p:attrName>
                                        </p:attrNameLst>
                                      </p:cBhvr>
                                      <p:tavLst>
                                        <p:tav tm="0">
                                          <p:val>
                                            <p:strVal val="#ppt_h"/>
                                          </p:val>
                                        </p:tav>
                                        <p:tav tm="100000">
                                          <p:val>
                                            <p:strVal val="#ppt_h"/>
                                          </p:val>
                                        </p:tav>
                                      </p:tavLst>
                                    </p:anim>
                                  </p:childTnLst>
                                </p:cTn>
                              </p:par>
                              <p:par>
                                <p:cTn id="282" presetID="45" presetClass="entr" presetSubtype="0" fill="hold" grpId="0" nodeType="withEffect">
                                  <p:stCondLst>
                                    <p:cond delay="0"/>
                                  </p:stCondLst>
                                  <p:childTnLst>
                                    <p:set>
                                      <p:cBhvr>
                                        <p:cTn id="283" dur="1" fill="hold">
                                          <p:stCondLst>
                                            <p:cond delay="0"/>
                                          </p:stCondLst>
                                        </p:cTn>
                                        <p:tgtEl>
                                          <p:spTgt spid="326"/>
                                        </p:tgtEl>
                                        <p:attrNameLst>
                                          <p:attrName>style.visibility</p:attrName>
                                        </p:attrNameLst>
                                      </p:cBhvr>
                                      <p:to>
                                        <p:strVal val="visible"/>
                                      </p:to>
                                    </p:set>
                                    <p:animEffect transition="in" filter="fade">
                                      <p:cBhvr>
                                        <p:cTn id="284" dur="2000"/>
                                        <p:tgtEl>
                                          <p:spTgt spid="326"/>
                                        </p:tgtEl>
                                      </p:cBhvr>
                                    </p:animEffect>
                                    <p:anim calcmode="lin" valueType="num">
                                      <p:cBhvr>
                                        <p:cTn id="285" dur="2000" fill="hold"/>
                                        <p:tgtEl>
                                          <p:spTgt spid="326"/>
                                        </p:tgtEl>
                                        <p:attrNameLst>
                                          <p:attrName>ppt_w</p:attrName>
                                        </p:attrNameLst>
                                      </p:cBhvr>
                                      <p:tavLst>
                                        <p:tav tm="0" fmla="#ppt_w*sin(2.5*pi*$)">
                                          <p:val>
                                            <p:fltVal val="0"/>
                                          </p:val>
                                        </p:tav>
                                        <p:tav tm="100000">
                                          <p:val>
                                            <p:fltVal val="1"/>
                                          </p:val>
                                        </p:tav>
                                      </p:tavLst>
                                    </p:anim>
                                    <p:anim calcmode="lin" valueType="num">
                                      <p:cBhvr>
                                        <p:cTn id="286" dur="2000" fill="hold"/>
                                        <p:tgtEl>
                                          <p:spTgt spid="326"/>
                                        </p:tgtEl>
                                        <p:attrNameLst>
                                          <p:attrName>ppt_h</p:attrName>
                                        </p:attrNameLst>
                                      </p:cBhvr>
                                      <p:tavLst>
                                        <p:tav tm="0">
                                          <p:val>
                                            <p:strVal val="#ppt_h"/>
                                          </p:val>
                                        </p:tav>
                                        <p:tav tm="100000">
                                          <p:val>
                                            <p:strVal val="#ppt_h"/>
                                          </p:val>
                                        </p:tav>
                                      </p:tavLst>
                                    </p:anim>
                                  </p:childTnLst>
                                </p:cTn>
                              </p:par>
                              <p:par>
                                <p:cTn id="287" presetID="42" presetClass="entr" presetSubtype="0" fill="hold" nodeType="withEffect">
                                  <p:stCondLst>
                                    <p:cond delay="0"/>
                                  </p:stCondLst>
                                  <p:childTnLst>
                                    <p:set>
                                      <p:cBhvr>
                                        <p:cTn id="288" dur="1" fill="hold">
                                          <p:stCondLst>
                                            <p:cond delay="0"/>
                                          </p:stCondLst>
                                        </p:cTn>
                                        <p:tgtEl>
                                          <p:spTgt spid="227"/>
                                        </p:tgtEl>
                                        <p:attrNameLst>
                                          <p:attrName>style.visibility</p:attrName>
                                        </p:attrNameLst>
                                      </p:cBhvr>
                                      <p:to>
                                        <p:strVal val="visible"/>
                                      </p:to>
                                    </p:set>
                                    <p:animEffect transition="in" filter="fade">
                                      <p:cBhvr>
                                        <p:cTn id="289" dur="1000"/>
                                        <p:tgtEl>
                                          <p:spTgt spid="227"/>
                                        </p:tgtEl>
                                      </p:cBhvr>
                                    </p:animEffect>
                                    <p:anim calcmode="lin" valueType="num">
                                      <p:cBhvr>
                                        <p:cTn id="290" dur="1000" fill="hold"/>
                                        <p:tgtEl>
                                          <p:spTgt spid="227"/>
                                        </p:tgtEl>
                                        <p:attrNameLst>
                                          <p:attrName>ppt_x</p:attrName>
                                        </p:attrNameLst>
                                      </p:cBhvr>
                                      <p:tavLst>
                                        <p:tav tm="0">
                                          <p:val>
                                            <p:strVal val="#ppt_x"/>
                                          </p:val>
                                        </p:tav>
                                        <p:tav tm="100000">
                                          <p:val>
                                            <p:strVal val="#ppt_x"/>
                                          </p:val>
                                        </p:tav>
                                      </p:tavLst>
                                    </p:anim>
                                    <p:anim calcmode="lin" valueType="num">
                                      <p:cBhvr>
                                        <p:cTn id="291" dur="1000" fill="hold"/>
                                        <p:tgtEl>
                                          <p:spTgt spid="227"/>
                                        </p:tgtEl>
                                        <p:attrNameLst>
                                          <p:attrName>ppt_y</p:attrName>
                                        </p:attrNameLst>
                                      </p:cBhvr>
                                      <p:tavLst>
                                        <p:tav tm="0">
                                          <p:val>
                                            <p:strVal val="#ppt_y+.1"/>
                                          </p:val>
                                        </p:tav>
                                        <p:tav tm="100000">
                                          <p:val>
                                            <p:strVal val="#ppt_y"/>
                                          </p:val>
                                        </p:tav>
                                      </p:tavLst>
                                    </p:anim>
                                  </p:childTnLst>
                                </p:cTn>
                              </p:par>
                            </p:childTnLst>
                          </p:cTn>
                        </p:par>
                      </p:childTnLst>
                    </p:cTn>
                  </p:par>
                  <p:par>
                    <p:cTn id="292" fill="hold">
                      <p:stCondLst>
                        <p:cond delay="indefinite"/>
                      </p:stCondLst>
                      <p:childTnLst>
                        <p:par>
                          <p:cTn id="293" fill="hold">
                            <p:stCondLst>
                              <p:cond delay="0"/>
                            </p:stCondLst>
                            <p:childTnLst>
                              <p:par>
                                <p:cTn id="294" presetID="1" presetClass="entr" presetSubtype="0" fill="hold" nodeType="clickEffect">
                                  <p:stCondLst>
                                    <p:cond delay="0"/>
                                  </p:stCondLst>
                                  <p:childTnLst>
                                    <p:set>
                                      <p:cBhvr>
                                        <p:cTn id="295" dur="1" fill="hold">
                                          <p:stCondLst>
                                            <p:cond delay="0"/>
                                          </p:stCondLst>
                                        </p:cTn>
                                        <p:tgtEl>
                                          <p:spTgt spid="232"/>
                                        </p:tgtEl>
                                        <p:attrNameLst>
                                          <p:attrName>style.visibility</p:attrName>
                                        </p:attrNameLst>
                                      </p:cBhvr>
                                      <p:to>
                                        <p:strVal val="visible"/>
                                      </p:to>
                                    </p:set>
                                  </p:childTnLst>
                                </p:cTn>
                              </p:par>
                              <p:par>
                                <p:cTn id="296" presetID="1" presetClass="entr" presetSubtype="0" fill="hold" nodeType="withEffect">
                                  <p:stCondLst>
                                    <p:cond delay="0"/>
                                  </p:stCondLst>
                                  <p:childTnLst>
                                    <p:set>
                                      <p:cBhvr>
                                        <p:cTn id="297" dur="1" fill="hold">
                                          <p:stCondLst>
                                            <p:cond delay="0"/>
                                          </p:stCondLst>
                                        </p:cTn>
                                        <p:tgtEl>
                                          <p:spTgt spid="218"/>
                                        </p:tgtEl>
                                        <p:attrNameLst>
                                          <p:attrName>style.visibility</p:attrName>
                                        </p:attrNameLst>
                                      </p:cBhvr>
                                      <p:to>
                                        <p:strVal val="visible"/>
                                      </p:to>
                                    </p:set>
                                  </p:childTnLst>
                                </p:cTn>
                              </p:par>
                              <p:par>
                                <p:cTn id="298" presetID="1" presetClass="entr" presetSubtype="0" fill="hold" grpId="0" nodeType="withEffect">
                                  <p:stCondLst>
                                    <p:cond delay="0"/>
                                  </p:stCondLst>
                                  <p:childTnLst>
                                    <p:set>
                                      <p:cBhvr>
                                        <p:cTn id="299" dur="1" fill="hold">
                                          <p:stCondLst>
                                            <p:cond delay="0"/>
                                          </p:stCondLst>
                                        </p:cTn>
                                        <p:tgtEl>
                                          <p:spTgt spid="333"/>
                                        </p:tgtEl>
                                        <p:attrNameLst>
                                          <p:attrName>style.visibility</p:attrName>
                                        </p:attrNameLst>
                                      </p:cBhvr>
                                      <p:to>
                                        <p:strVal val="visible"/>
                                      </p:to>
                                    </p:set>
                                  </p:childTnLst>
                                </p:cTn>
                              </p:par>
                            </p:childTnLst>
                          </p:cTn>
                        </p:par>
                      </p:childTnLst>
                    </p:cTn>
                  </p:par>
                  <p:par>
                    <p:cTn id="300" fill="hold">
                      <p:stCondLst>
                        <p:cond delay="indefinite"/>
                      </p:stCondLst>
                      <p:childTnLst>
                        <p:par>
                          <p:cTn id="301" fill="hold">
                            <p:stCondLst>
                              <p:cond delay="0"/>
                            </p:stCondLst>
                            <p:childTnLst>
                              <p:par>
                                <p:cTn id="302" presetID="45" presetClass="entr" presetSubtype="0" fill="hold" grpId="0" nodeType="clickEffect">
                                  <p:stCondLst>
                                    <p:cond delay="0"/>
                                  </p:stCondLst>
                                  <p:childTnLst>
                                    <p:set>
                                      <p:cBhvr>
                                        <p:cTn id="303" dur="1" fill="hold">
                                          <p:stCondLst>
                                            <p:cond delay="0"/>
                                          </p:stCondLst>
                                        </p:cTn>
                                        <p:tgtEl>
                                          <p:spTgt spid="325"/>
                                        </p:tgtEl>
                                        <p:attrNameLst>
                                          <p:attrName>style.visibility</p:attrName>
                                        </p:attrNameLst>
                                      </p:cBhvr>
                                      <p:to>
                                        <p:strVal val="visible"/>
                                      </p:to>
                                    </p:set>
                                    <p:animEffect transition="in" filter="fade">
                                      <p:cBhvr>
                                        <p:cTn id="304" dur="2000"/>
                                        <p:tgtEl>
                                          <p:spTgt spid="325"/>
                                        </p:tgtEl>
                                      </p:cBhvr>
                                    </p:animEffect>
                                    <p:anim calcmode="lin" valueType="num">
                                      <p:cBhvr>
                                        <p:cTn id="305" dur="2000" fill="hold"/>
                                        <p:tgtEl>
                                          <p:spTgt spid="325"/>
                                        </p:tgtEl>
                                        <p:attrNameLst>
                                          <p:attrName>ppt_w</p:attrName>
                                        </p:attrNameLst>
                                      </p:cBhvr>
                                      <p:tavLst>
                                        <p:tav tm="0" fmla="#ppt_w*sin(2.5*pi*$)">
                                          <p:val>
                                            <p:fltVal val="0"/>
                                          </p:val>
                                        </p:tav>
                                        <p:tav tm="100000">
                                          <p:val>
                                            <p:fltVal val="1"/>
                                          </p:val>
                                        </p:tav>
                                      </p:tavLst>
                                    </p:anim>
                                    <p:anim calcmode="lin" valueType="num">
                                      <p:cBhvr>
                                        <p:cTn id="306" dur="2000" fill="hold"/>
                                        <p:tgtEl>
                                          <p:spTgt spid="325"/>
                                        </p:tgtEl>
                                        <p:attrNameLst>
                                          <p:attrName>ppt_h</p:attrName>
                                        </p:attrNameLst>
                                      </p:cBhvr>
                                      <p:tavLst>
                                        <p:tav tm="0">
                                          <p:val>
                                            <p:strVal val="#ppt_h"/>
                                          </p:val>
                                        </p:tav>
                                        <p:tav tm="100000">
                                          <p:val>
                                            <p:strVal val="#ppt_h"/>
                                          </p:val>
                                        </p:tav>
                                      </p:tavLst>
                                    </p:anim>
                                  </p:childTnLst>
                                </p:cTn>
                              </p:par>
                              <p:par>
                                <p:cTn id="307" presetID="45" presetClass="entr" presetSubtype="0" fill="hold" grpId="0" nodeType="withEffect">
                                  <p:stCondLst>
                                    <p:cond delay="0"/>
                                  </p:stCondLst>
                                  <p:childTnLst>
                                    <p:set>
                                      <p:cBhvr>
                                        <p:cTn id="308" dur="1" fill="hold">
                                          <p:stCondLst>
                                            <p:cond delay="0"/>
                                          </p:stCondLst>
                                        </p:cTn>
                                        <p:tgtEl>
                                          <p:spTgt spid="220"/>
                                        </p:tgtEl>
                                        <p:attrNameLst>
                                          <p:attrName>style.visibility</p:attrName>
                                        </p:attrNameLst>
                                      </p:cBhvr>
                                      <p:to>
                                        <p:strVal val="visible"/>
                                      </p:to>
                                    </p:set>
                                    <p:animEffect transition="in" filter="fade">
                                      <p:cBhvr>
                                        <p:cTn id="309" dur="2000"/>
                                        <p:tgtEl>
                                          <p:spTgt spid="220"/>
                                        </p:tgtEl>
                                      </p:cBhvr>
                                    </p:animEffect>
                                    <p:anim calcmode="lin" valueType="num">
                                      <p:cBhvr>
                                        <p:cTn id="310" dur="2000" fill="hold"/>
                                        <p:tgtEl>
                                          <p:spTgt spid="220"/>
                                        </p:tgtEl>
                                        <p:attrNameLst>
                                          <p:attrName>ppt_w</p:attrName>
                                        </p:attrNameLst>
                                      </p:cBhvr>
                                      <p:tavLst>
                                        <p:tav tm="0" fmla="#ppt_w*sin(2.5*pi*$)">
                                          <p:val>
                                            <p:fltVal val="0"/>
                                          </p:val>
                                        </p:tav>
                                        <p:tav tm="100000">
                                          <p:val>
                                            <p:fltVal val="1"/>
                                          </p:val>
                                        </p:tav>
                                      </p:tavLst>
                                    </p:anim>
                                    <p:anim calcmode="lin" valueType="num">
                                      <p:cBhvr>
                                        <p:cTn id="311" dur="2000" fill="hold"/>
                                        <p:tgtEl>
                                          <p:spTgt spid="220"/>
                                        </p:tgtEl>
                                        <p:attrNameLst>
                                          <p:attrName>ppt_h</p:attrName>
                                        </p:attrNameLst>
                                      </p:cBhvr>
                                      <p:tavLst>
                                        <p:tav tm="0">
                                          <p:val>
                                            <p:strVal val="#ppt_h"/>
                                          </p:val>
                                        </p:tav>
                                        <p:tav tm="100000">
                                          <p:val>
                                            <p:strVal val="#ppt_h"/>
                                          </p:val>
                                        </p:tav>
                                      </p:tavLst>
                                    </p:anim>
                                  </p:childTnLst>
                                </p:cTn>
                              </p:par>
                              <p:par>
                                <p:cTn id="312" presetID="42" presetClass="entr" presetSubtype="0" fill="hold" nodeType="withEffect">
                                  <p:stCondLst>
                                    <p:cond delay="0"/>
                                  </p:stCondLst>
                                  <p:childTnLst>
                                    <p:set>
                                      <p:cBhvr>
                                        <p:cTn id="313" dur="1" fill="hold">
                                          <p:stCondLst>
                                            <p:cond delay="0"/>
                                          </p:stCondLst>
                                        </p:cTn>
                                        <p:tgtEl>
                                          <p:spTgt spid="228"/>
                                        </p:tgtEl>
                                        <p:attrNameLst>
                                          <p:attrName>style.visibility</p:attrName>
                                        </p:attrNameLst>
                                      </p:cBhvr>
                                      <p:to>
                                        <p:strVal val="visible"/>
                                      </p:to>
                                    </p:set>
                                    <p:animEffect transition="in" filter="fade">
                                      <p:cBhvr>
                                        <p:cTn id="314" dur="1000"/>
                                        <p:tgtEl>
                                          <p:spTgt spid="228"/>
                                        </p:tgtEl>
                                      </p:cBhvr>
                                    </p:animEffect>
                                    <p:anim calcmode="lin" valueType="num">
                                      <p:cBhvr>
                                        <p:cTn id="315" dur="1000" fill="hold"/>
                                        <p:tgtEl>
                                          <p:spTgt spid="228"/>
                                        </p:tgtEl>
                                        <p:attrNameLst>
                                          <p:attrName>ppt_x</p:attrName>
                                        </p:attrNameLst>
                                      </p:cBhvr>
                                      <p:tavLst>
                                        <p:tav tm="0">
                                          <p:val>
                                            <p:strVal val="#ppt_x"/>
                                          </p:val>
                                        </p:tav>
                                        <p:tav tm="100000">
                                          <p:val>
                                            <p:strVal val="#ppt_x"/>
                                          </p:val>
                                        </p:tav>
                                      </p:tavLst>
                                    </p:anim>
                                    <p:anim calcmode="lin" valueType="num">
                                      <p:cBhvr>
                                        <p:cTn id="316" dur="1000" fill="hold"/>
                                        <p:tgtEl>
                                          <p:spTgt spid="228"/>
                                        </p:tgtEl>
                                        <p:attrNameLst>
                                          <p:attrName>ppt_y</p:attrName>
                                        </p:attrNameLst>
                                      </p:cBhvr>
                                      <p:tavLst>
                                        <p:tav tm="0">
                                          <p:val>
                                            <p:strVal val="#ppt_y+.1"/>
                                          </p:val>
                                        </p:tav>
                                        <p:tav tm="100000">
                                          <p:val>
                                            <p:strVal val="#ppt_y"/>
                                          </p:val>
                                        </p:tav>
                                      </p:tavLst>
                                    </p:anim>
                                  </p:childTnLst>
                                </p:cTn>
                              </p:par>
                            </p:childTnLst>
                          </p:cTn>
                        </p:par>
                      </p:childTnLst>
                    </p:cTn>
                  </p:par>
                  <p:par>
                    <p:cTn id="317" fill="hold">
                      <p:stCondLst>
                        <p:cond delay="indefinite"/>
                      </p:stCondLst>
                      <p:childTnLst>
                        <p:par>
                          <p:cTn id="318" fill="hold">
                            <p:stCondLst>
                              <p:cond delay="0"/>
                            </p:stCondLst>
                            <p:childTnLst>
                              <p:par>
                                <p:cTn id="319" presetID="1" presetClass="entr" presetSubtype="0" fill="hold" nodeType="clickEffect">
                                  <p:stCondLst>
                                    <p:cond delay="0"/>
                                  </p:stCondLst>
                                  <p:childTnLst>
                                    <p:set>
                                      <p:cBhvr>
                                        <p:cTn id="320" dur="1" fill="hold">
                                          <p:stCondLst>
                                            <p:cond delay="0"/>
                                          </p:stCondLst>
                                        </p:cTn>
                                        <p:tgtEl>
                                          <p:spTgt spid="231"/>
                                        </p:tgtEl>
                                        <p:attrNameLst>
                                          <p:attrName>style.visibility</p:attrName>
                                        </p:attrNameLst>
                                      </p:cBhvr>
                                      <p:to>
                                        <p:strVal val="visible"/>
                                      </p:to>
                                    </p:set>
                                  </p:childTnLst>
                                </p:cTn>
                              </p:par>
                              <p:par>
                                <p:cTn id="321" presetID="1" presetClass="entr" presetSubtype="0" fill="hold" nodeType="withEffect">
                                  <p:stCondLst>
                                    <p:cond delay="0"/>
                                  </p:stCondLst>
                                  <p:childTnLst>
                                    <p:set>
                                      <p:cBhvr>
                                        <p:cTn id="322" dur="1" fill="hold">
                                          <p:stCondLst>
                                            <p:cond delay="0"/>
                                          </p:stCondLst>
                                        </p:cTn>
                                        <p:tgtEl>
                                          <p:spTgt spid="221"/>
                                        </p:tgtEl>
                                        <p:attrNameLst>
                                          <p:attrName>style.visibility</p:attrName>
                                        </p:attrNameLst>
                                      </p:cBhvr>
                                      <p:to>
                                        <p:strVal val="visible"/>
                                      </p:to>
                                    </p:set>
                                  </p:childTnLst>
                                </p:cTn>
                              </p:par>
                              <p:par>
                                <p:cTn id="323" presetID="1" presetClass="entr" presetSubtype="0" fill="hold" grpId="0" nodeType="withEffect">
                                  <p:stCondLst>
                                    <p:cond delay="0"/>
                                  </p:stCondLst>
                                  <p:childTnLst>
                                    <p:set>
                                      <p:cBhvr>
                                        <p:cTn id="324" dur="1" fill="hold">
                                          <p:stCondLst>
                                            <p:cond delay="0"/>
                                          </p:stCondLst>
                                        </p:cTn>
                                        <p:tgtEl>
                                          <p:spTgt spid="332"/>
                                        </p:tgtEl>
                                        <p:attrNameLst>
                                          <p:attrName>style.visibility</p:attrName>
                                        </p:attrNameLst>
                                      </p:cBhvr>
                                      <p:to>
                                        <p:strVal val="visible"/>
                                      </p:to>
                                    </p:set>
                                  </p:childTnLst>
                                </p:cTn>
                              </p:par>
                            </p:childTnLst>
                          </p:cTn>
                        </p:par>
                      </p:childTnLst>
                    </p:cTn>
                  </p:par>
                  <p:par>
                    <p:cTn id="325" fill="hold">
                      <p:stCondLst>
                        <p:cond delay="indefinite"/>
                      </p:stCondLst>
                      <p:childTnLst>
                        <p:par>
                          <p:cTn id="326" fill="hold">
                            <p:stCondLst>
                              <p:cond delay="0"/>
                            </p:stCondLst>
                            <p:childTnLst>
                              <p:par>
                                <p:cTn id="327" presetID="45" presetClass="entr" presetSubtype="0" fill="hold" nodeType="clickEffect">
                                  <p:stCondLst>
                                    <p:cond delay="0"/>
                                  </p:stCondLst>
                                  <p:childTnLst>
                                    <p:set>
                                      <p:cBhvr>
                                        <p:cTn id="328" dur="1" fill="hold">
                                          <p:stCondLst>
                                            <p:cond delay="0"/>
                                          </p:stCondLst>
                                        </p:cTn>
                                        <p:tgtEl>
                                          <p:spTgt spid="286"/>
                                        </p:tgtEl>
                                        <p:attrNameLst>
                                          <p:attrName>style.visibility</p:attrName>
                                        </p:attrNameLst>
                                      </p:cBhvr>
                                      <p:to>
                                        <p:strVal val="visible"/>
                                      </p:to>
                                    </p:set>
                                    <p:animEffect transition="in" filter="fade">
                                      <p:cBhvr>
                                        <p:cTn id="329" dur="2000"/>
                                        <p:tgtEl>
                                          <p:spTgt spid="286"/>
                                        </p:tgtEl>
                                      </p:cBhvr>
                                    </p:animEffect>
                                    <p:anim calcmode="lin" valueType="num">
                                      <p:cBhvr>
                                        <p:cTn id="330" dur="2000" fill="hold"/>
                                        <p:tgtEl>
                                          <p:spTgt spid="286"/>
                                        </p:tgtEl>
                                        <p:attrNameLst>
                                          <p:attrName>ppt_w</p:attrName>
                                        </p:attrNameLst>
                                      </p:cBhvr>
                                      <p:tavLst>
                                        <p:tav tm="0" fmla="#ppt_w*sin(2.5*pi*$)">
                                          <p:val>
                                            <p:fltVal val="0"/>
                                          </p:val>
                                        </p:tav>
                                        <p:tav tm="100000">
                                          <p:val>
                                            <p:fltVal val="1"/>
                                          </p:val>
                                        </p:tav>
                                      </p:tavLst>
                                    </p:anim>
                                    <p:anim calcmode="lin" valueType="num">
                                      <p:cBhvr>
                                        <p:cTn id="331" dur="2000" fill="hold"/>
                                        <p:tgtEl>
                                          <p:spTgt spid="286"/>
                                        </p:tgtEl>
                                        <p:attrNameLst>
                                          <p:attrName>ppt_h</p:attrName>
                                        </p:attrNameLst>
                                      </p:cBhvr>
                                      <p:tavLst>
                                        <p:tav tm="0">
                                          <p:val>
                                            <p:strVal val="#ppt_h"/>
                                          </p:val>
                                        </p:tav>
                                        <p:tav tm="100000">
                                          <p:val>
                                            <p:strVal val="#ppt_h"/>
                                          </p:val>
                                        </p:tav>
                                      </p:tavLst>
                                    </p:anim>
                                  </p:childTnLst>
                                </p:cTn>
                              </p:par>
                              <p:par>
                                <p:cTn id="332" presetID="45" presetClass="entr" presetSubtype="0" fill="hold" grpId="0" nodeType="withEffect">
                                  <p:stCondLst>
                                    <p:cond delay="0"/>
                                  </p:stCondLst>
                                  <p:childTnLst>
                                    <p:set>
                                      <p:cBhvr>
                                        <p:cTn id="333" dur="1" fill="hold">
                                          <p:stCondLst>
                                            <p:cond delay="0"/>
                                          </p:stCondLst>
                                        </p:cTn>
                                        <p:tgtEl>
                                          <p:spTgt spid="324"/>
                                        </p:tgtEl>
                                        <p:attrNameLst>
                                          <p:attrName>style.visibility</p:attrName>
                                        </p:attrNameLst>
                                      </p:cBhvr>
                                      <p:to>
                                        <p:strVal val="visible"/>
                                      </p:to>
                                    </p:set>
                                    <p:animEffect transition="in" filter="fade">
                                      <p:cBhvr>
                                        <p:cTn id="334" dur="2000"/>
                                        <p:tgtEl>
                                          <p:spTgt spid="324"/>
                                        </p:tgtEl>
                                      </p:cBhvr>
                                    </p:animEffect>
                                    <p:anim calcmode="lin" valueType="num">
                                      <p:cBhvr>
                                        <p:cTn id="335" dur="2000" fill="hold"/>
                                        <p:tgtEl>
                                          <p:spTgt spid="324"/>
                                        </p:tgtEl>
                                        <p:attrNameLst>
                                          <p:attrName>ppt_w</p:attrName>
                                        </p:attrNameLst>
                                      </p:cBhvr>
                                      <p:tavLst>
                                        <p:tav tm="0" fmla="#ppt_w*sin(2.5*pi*$)">
                                          <p:val>
                                            <p:fltVal val="0"/>
                                          </p:val>
                                        </p:tav>
                                        <p:tav tm="100000">
                                          <p:val>
                                            <p:fltVal val="1"/>
                                          </p:val>
                                        </p:tav>
                                      </p:tavLst>
                                    </p:anim>
                                    <p:anim calcmode="lin" valueType="num">
                                      <p:cBhvr>
                                        <p:cTn id="336" dur="2000" fill="hold"/>
                                        <p:tgtEl>
                                          <p:spTgt spid="324"/>
                                        </p:tgtEl>
                                        <p:attrNameLst>
                                          <p:attrName>ppt_h</p:attrName>
                                        </p:attrNameLst>
                                      </p:cBhvr>
                                      <p:tavLst>
                                        <p:tav tm="0">
                                          <p:val>
                                            <p:strVal val="#ppt_h"/>
                                          </p:val>
                                        </p:tav>
                                        <p:tav tm="100000">
                                          <p:val>
                                            <p:strVal val="#ppt_h"/>
                                          </p:val>
                                        </p:tav>
                                      </p:tavLst>
                                    </p:anim>
                                  </p:childTnLst>
                                </p:cTn>
                              </p:par>
                              <p:par>
                                <p:cTn id="337" presetID="42" presetClass="entr" presetSubtype="0" fill="hold" nodeType="withEffect">
                                  <p:stCondLst>
                                    <p:cond delay="0"/>
                                  </p:stCondLst>
                                  <p:childTnLst>
                                    <p:set>
                                      <p:cBhvr>
                                        <p:cTn id="338" dur="1" fill="hold">
                                          <p:stCondLst>
                                            <p:cond delay="0"/>
                                          </p:stCondLst>
                                        </p:cTn>
                                        <p:tgtEl>
                                          <p:spTgt spid="287"/>
                                        </p:tgtEl>
                                        <p:attrNameLst>
                                          <p:attrName>style.visibility</p:attrName>
                                        </p:attrNameLst>
                                      </p:cBhvr>
                                      <p:to>
                                        <p:strVal val="visible"/>
                                      </p:to>
                                    </p:set>
                                    <p:animEffect transition="in" filter="fade">
                                      <p:cBhvr>
                                        <p:cTn id="339" dur="1000"/>
                                        <p:tgtEl>
                                          <p:spTgt spid="287"/>
                                        </p:tgtEl>
                                      </p:cBhvr>
                                    </p:animEffect>
                                    <p:anim calcmode="lin" valueType="num">
                                      <p:cBhvr>
                                        <p:cTn id="340" dur="1000" fill="hold"/>
                                        <p:tgtEl>
                                          <p:spTgt spid="287"/>
                                        </p:tgtEl>
                                        <p:attrNameLst>
                                          <p:attrName>ppt_x</p:attrName>
                                        </p:attrNameLst>
                                      </p:cBhvr>
                                      <p:tavLst>
                                        <p:tav tm="0">
                                          <p:val>
                                            <p:strVal val="#ppt_x"/>
                                          </p:val>
                                        </p:tav>
                                        <p:tav tm="100000">
                                          <p:val>
                                            <p:strVal val="#ppt_x"/>
                                          </p:val>
                                        </p:tav>
                                      </p:tavLst>
                                    </p:anim>
                                    <p:anim calcmode="lin" valueType="num">
                                      <p:cBhvr>
                                        <p:cTn id="341" dur="1000" fill="hold"/>
                                        <p:tgtEl>
                                          <p:spTgt spid="287"/>
                                        </p:tgtEl>
                                        <p:attrNameLst>
                                          <p:attrName>ppt_y</p:attrName>
                                        </p:attrNameLst>
                                      </p:cBhvr>
                                      <p:tavLst>
                                        <p:tav tm="0">
                                          <p:val>
                                            <p:strVal val="#ppt_y+.1"/>
                                          </p:val>
                                        </p:tav>
                                        <p:tav tm="100000">
                                          <p:val>
                                            <p:strVal val="#ppt_y"/>
                                          </p:val>
                                        </p:tav>
                                      </p:tavLst>
                                    </p:anim>
                                  </p:childTnLst>
                                </p:cTn>
                              </p:par>
                            </p:childTnLst>
                          </p:cTn>
                        </p:par>
                      </p:childTnLst>
                    </p:cTn>
                  </p:par>
                  <p:par>
                    <p:cTn id="342" fill="hold">
                      <p:stCondLst>
                        <p:cond delay="indefinite"/>
                      </p:stCondLst>
                      <p:childTnLst>
                        <p:par>
                          <p:cTn id="343" fill="hold">
                            <p:stCondLst>
                              <p:cond delay="0"/>
                            </p:stCondLst>
                            <p:childTnLst>
                              <p:par>
                                <p:cTn id="344" presetID="1" presetClass="entr" presetSubtype="0" fill="hold" nodeType="clickEffect">
                                  <p:stCondLst>
                                    <p:cond delay="0"/>
                                  </p:stCondLst>
                                  <p:childTnLst>
                                    <p:set>
                                      <p:cBhvr>
                                        <p:cTn id="345" dur="1" fill="hold">
                                          <p:stCondLst>
                                            <p:cond delay="0"/>
                                          </p:stCondLst>
                                        </p:cTn>
                                        <p:tgtEl>
                                          <p:spTgt spid="288"/>
                                        </p:tgtEl>
                                        <p:attrNameLst>
                                          <p:attrName>style.visibility</p:attrName>
                                        </p:attrNameLst>
                                      </p:cBhvr>
                                      <p:to>
                                        <p:strVal val="visible"/>
                                      </p:to>
                                    </p:set>
                                  </p:childTnLst>
                                </p:cTn>
                              </p:par>
                            </p:childTnLst>
                          </p:cTn>
                        </p:par>
                      </p:childTnLst>
                    </p:cTn>
                  </p:par>
                  <p:par>
                    <p:cTn id="346" fill="hold">
                      <p:stCondLst>
                        <p:cond delay="indefinite"/>
                      </p:stCondLst>
                      <p:childTnLst>
                        <p:par>
                          <p:cTn id="347" fill="hold">
                            <p:stCondLst>
                              <p:cond delay="0"/>
                            </p:stCondLst>
                            <p:childTnLst>
                              <p:par>
                                <p:cTn id="348" presetID="1" presetClass="entr" presetSubtype="0" fill="hold" nodeType="clickEffect">
                                  <p:stCondLst>
                                    <p:cond delay="0"/>
                                  </p:stCondLst>
                                  <p:childTnLst>
                                    <p:set>
                                      <p:cBhvr>
                                        <p:cTn id="349" dur="1" fill="hold">
                                          <p:stCondLst>
                                            <p:cond delay="0"/>
                                          </p:stCondLst>
                                        </p:cTn>
                                        <p:tgtEl>
                                          <p:spTgt spid="295"/>
                                        </p:tgtEl>
                                        <p:attrNameLst>
                                          <p:attrName>style.visibility</p:attrName>
                                        </p:attrNameLst>
                                      </p:cBhvr>
                                      <p:to>
                                        <p:strVal val="visible"/>
                                      </p:to>
                                    </p:set>
                                  </p:childTnLst>
                                </p:cTn>
                              </p:par>
                              <p:par>
                                <p:cTn id="350" presetID="1" presetClass="entr" presetSubtype="0" fill="hold" nodeType="withEffect">
                                  <p:stCondLst>
                                    <p:cond delay="0"/>
                                  </p:stCondLst>
                                  <p:childTnLst>
                                    <p:set>
                                      <p:cBhvr>
                                        <p:cTn id="351" dur="1" fill="hold">
                                          <p:stCondLst>
                                            <p:cond delay="0"/>
                                          </p:stCondLst>
                                        </p:cTn>
                                        <p:tgtEl>
                                          <p:spTgt spid="292"/>
                                        </p:tgtEl>
                                        <p:attrNameLst>
                                          <p:attrName>style.visibility</p:attrName>
                                        </p:attrNameLst>
                                      </p:cBhvr>
                                      <p:to>
                                        <p:strVal val="visible"/>
                                      </p:to>
                                    </p:set>
                                  </p:childTnLst>
                                </p:cTn>
                              </p:par>
                            </p:childTnLst>
                          </p:cTn>
                        </p:par>
                      </p:childTnLst>
                    </p:cTn>
                  </p:par>
                  <p:par>
                    <p:cTn id="352" fill="hold">
                      <p:stCondLst>
                        <p:cond delay="indefinite"/>
                      </p:stCondLst>
                      <p:childTnLst>
                        <p:par>
                          <p:cTn id="353" fill="hold">
                            <p:stCondLst>
                              <p:cond delay="0"/>
                            </p:stCondLst>
                            <p:childTnLst>
                              <p:par>
                                <p:cTn id="354" presetID="45" presetClass="entr" presetSubtype="0" fill="hold" nodeType="clickEffect">
                                  <p:stCondLst>
                                    <p:cond delay="0"/>
                                  </p:stCondLst>
                                  <p:childTnLst>
                                    <p:set>
                                      <p:cBhvr>
                                        <p:cTn id="355" dur="1" fill="hold">
                                          <p:stCondLst>
                                            <p:cond delay="0"/>
                                          </p:stCondLst>
                                        </p:cTn>
                                        <p:tgtEl>
                                          <p:spTgt spid="304"/>
                                        </p:tgtEl>
                                        <p:attrNameLst>
                                          <p:attrName>style.visibility</p:attrName>
                                        </p:attrNameLst>
                                      </p:cBhvr>
                                      <p:to>
                                        <p:strVal val="visible"/>
                                      </p:to>
                                    </p:set>
                                    <p:animEffect transition="in" filter="fade">
                                      <p:cBhvr>
                                        <p:cTn id="356" dur="2000"/>
                                        <p:tgtEl>
                                          <p:spTgt spid="304"/>
                                        </p:tgtEl>
                                      </p:cBhvr>
                                    </p:animEffect>
                                    <p:anim calcmode="lin" valueType="num">
                                      <p:cBhvr>
                                        <p:cTn id="357" dur="2000" fill="hold"/>
                                        <p:tgtEl>
                                          <p:spTgt spid="304"/>
                                        </p:tgtEl>
                                        <p:attrNameLst>
                                          <p:attrName>ppt_w</p:attrName>
                                        </p:attrNameLst>
                                      </p:cBhvr>
                                      <p:tavLst>
                                        <p:tav tm="0" fmla="#ppt_w*sin(2.5*pi*$)">
                                          <p:val>
                                            <p:fltVal val="0"/>
                                          </p:val>
                                        </p:tav>
                                        <p:tav tm="100000">
                                          <p:val>
                                            <p:fltVal val="1"/>
                                          </p:val>
                                        </p:tav>
                                      </p:tavLst>
                                    </p:anim>
                                    <p:anim calcmode="lin" valueType="num">
                                      <p:cBhvr>
                                        <p:cTn id="358" dur="2000" fill="hold"/>
                                        <p:tgtEl>
                                          <p:spTgt spid="304"/>
                                        </p:tgtEl>
                                        <p:attrNameLst>
                                          <p:attrName>ppt_h</p:attrName>
                                        </p:attrNameLst>
                                      </p:cBhvr>
                                      <p:tavLst>
                                        <p:tav tm="0">
                                          <p:val>
                                            <p:strVal val="#ppt_h"/>
                                          </p:val>
                                        </p:tav>
                                        <p:tav tm="100000">
                                          <p:val>
                                            <p:strVal val="#ppt_h"/>
                                          </p:val>
                                        </p:tav>
                                      </p:tavLst>
                                    </p:anim>
                                  </p:childTnLst>
                                </p:cTn>
                              </p:par>
                              <p:par>
                                <p:cTn id="359" presetID="42" presetClass="entr" presetSubtype="0" fill="hold" nodeType="withEffect">
                                  <p:stCondLst>
                                    <p:cond delay="0"/>
                                  </p:stCondLst>
                                  <p:childTnLst>
                                    <p:set>
                                      <p:cBhvr>
                                        <p:cTn id="360" dur="1" fill="hold">
                                          <p:stCondLst>
                                            <p:cond delay="0"/>
                                          </p:stCondLst>
                                        </p:cTn>
                                        <p:tgtEl>
                                          <p:spTgt spid="305"/>
                                        </p:tgtEl>
                                        <p:attrNameLst>
                                          <p:attrName>style.visibility</p:attrName>
                                        </p:attrNameLst>
                                      </p:cBhvr>
                                      <p:to>
                                        <p:strVal val="visible"/>
                                      </p:to>
                                    </p:set>
                                    <p:animEffect transition="in" filter="fade">
                                      <p:cBhvr>
                                        <p:cTn id="361" dur="1000"/>
                                        <p:tgtEl>
                                          <p:spTgt spid="305"/>
                                        </p:tgtEl>
                                      </p:cBhvr>
                                    </p:animEffect>
                                    <p:anim calcmode="lin" valueType="num">
                                      <p:cBhvr>
                                        <p:cTn id="362" dur="1000" fill="hold"/>
                                        <p:tgtEl>
                                          <p:spTgt spid="305"/>
                                        </p:tgtEl>
                                        <p:attrNameLst>
                                          <p:attrName>ppt_x</p:attrName>
                                        </p:attrNameLst>
                                      </p:cBhvr>
                                      <p:tavLst>
                                        <p:tav tm="0">
                                          <p:val>
                                            <p:strVal val="#ppt_x"/>
                                          </p:val>
                                        </p:tav>
                                        <p:tav tm="100000">
                                          <p:val>
                                            <p:strVal val="#ppt_x"/>
                                          </p:val>
                                        </p:tav>
                                      </p:tavLst>
                                    </p:anim>
                                    <p:anim calcmode="lin" valueType="num">
                                      <p:cBhvr>
                                        <p:cTn id="363" dur="1000" fill="hold"/>
                                        <p:tgtEl>
                                          <p:spTgt spid="305"/>
                                        </p:tgtEl>
                                        <p:attrNameLst>
                                          <p:attrName>ppt_y</p:attrName>
                                        </p:attrNameLst>
                                      </p:cBhvr>
                                      <p:tavLst>
                                        <p:tav tm="0">
                                          <p:val>
                                            <p:strVal val="#ppt_y+.1"/>
                                          </p:val>
                                        </p:tav>
                                        <p:tav tm="100000">
                                          <p:val>
                                            <p:strVal val="#ppt_y"/>
                                          </p:val>
                                        </p:tav>
                                      </p:tavLst>
                                    </p:anim>
                                  </p:childTnLst>
                                </p:cTn>
                              </p:par>
                              <p:par>
                                <p:cTn id="364" presetID="45" presetClass="entr" presetSubtype="0" fill="hold" grpId="0" nodeType="withEffect">
                                  <p:stCondLst>
                                    <p:cond delay="0"/>
                                  </p:stCondLst>
                                  <p:childTnLst>
                                    <p:set>
                                      <p:cBhvr>
                                        <p:cTn id="365" dur="1" fill="hold">
                                          <p:stCondLst>
                                            <p:cond delay="0"/>
                                          </p:stCondLst>
                                        </p:cTn>
                                        <p:tgtEl>
                                          <p:spTgt spid="323"/>
                                        </p:tgtEl>
                                        <p:attrNameLst>
                                          <p:attrName>style.visibility</p:attrName>
                                        </p:attrNameLst>
                                      </p:cBhvr>
                                      <p:to>
                                        <p:strVal val="visible"/>
                                      </p:to>
                                    </p:set>
                                    <p:animEffect transition="in" filter="fade">
                                      <p:cBhvr>
                                        <p:cTn id="366" dur="2000"/>
                                        <p:tgtEl>
                                          <p:spTgt spid="323"/>
                                        </p:tgtEl>
                                      </p:cBhvr>
                                    </p:animEffect>
                                    <p:anim calcmode="lin" valueType="num">
                                      <p:cBhvr>
                                        <p:cTn id="367" dur="2000" fill="hold"/>
                                        <p:tgtEl>
                                          <p:spTgt spid="323"/>
                                        </p:tgtEl>
                                        <p:attrNameLst>
                                          <p:attrName>ppt_w</p:attrName>
                                        </p:attrNameLst>
                                      </p:cBhvr>
                                      <p:tavLst>
                                        <p:tav tm="0" fmla="#ppt_w*sin(2.5*pi*$)">
                                          <p:val>
                                            <p:fltVal val="0"/>
                                          </p:val>
                                        </p:tav>
                                        <p:tav tm="100000">
                                          <p:val>
                                            <p:fltVal val="1"/>
                                          </p:val>
                                        </p:tav>
                                      </p:tavLst>
                                    </p:anim>
                                    <p:anim calcmode="lin" valueType="num">
                                      <p:cBhvr>
                                        <p:cTn id="368" dur="2000" fill="hold"/>
                                        <p:tgtEl>
                                          <p:spTgt spid="323"/>
                                        </p:tgtEl>
                                        <p:attrNameLst>
                                          <p:attrName>ppt_h</p:attrName>
                                        </p:attrNameLst>
                                      </p:cBhvr>
                                      <p:tavLst>
                                        <p:tav tm="0">
                                          <p:val>
                                            <p:strVal val="#ppt_h"/>
                                          </p:val>
                                        </p:tav>
                                        <p:tav tm="100000">
                                          <p:val>
                                            <p:strVal val="#ppt_h"/>
                                          </p:val>
                                        </p:tav>
                                      </p:tavLst>
                                    </p:anim>
                                  </p:childTnLst>
                                </p:cTn>
                              </p:par>
                            </p:childTnLst>
                          </p:cTn>
                        </p:par>
                      </p:childTnLst>
                    </p:cTn>
                  </p:par>
                  <p:par>
                    <p:cTn id="369" fill="hold">
                      <p:stCondLst>
                        <p:cond delay="indefinite"/>
                      </p:stCondLst>
                      <p:childTnLst>
                        <p:par>
                          <p:cTn id="370" fill="hold">
                            <p:stCondLst>
                              <p:cond delay="0"/>
                            </p:stCondLst>
                            <p:childTnLst>
                              <p:par>
                                <p:cTn id="371" presetID="1" presetClass="entr" presetSubtype="0" fill="hold" nodeType="clickEffect">
                                  <p:stCondLst>
                                    <p:cond delay="0"/>
                                  </p:stCondLst>
                                  <p:childTnLst>
                                    <p:set>
                                      <p:cBhvr>
                                        <p:cTn id="372" dur="1" fill="hold">
                                          <p:stCondLst>
                                            <p:cond delay="0"/>
                                          </p:stCondLst>
                                        </p:cTn>
                                        <p:tgtEl>
                                          <p:spTgt spid="306"/>
                                        </p:tgtEl>
                                        <p:attrNameLst>
                                          <p:attrName>style.visibility</p:attrName>
                                        </p:attrNameLst>
                                      </p:cBhvr>
                                      <p:to>
                                        <p:strVal val="visible"/>
                                      </p:to>
                                    </p:set>
                                  </p:childTnLst>
                                </p:cTn>
                              </p:par>
                            </p:childTnLst>
                          </p:cTn>
                        </p:par>
                      </p:childTnLst>
                    </p:cTn>
                  </p:par>
                  <p:par>
                    <p:cTn id="373" fill="hold">
                      <p:stCondLst>
                        <p:cond delay="indefinite"/>
                      </p:stCondLst>
                      <p:childTnLst>
                        <p:par>
                          <p:cTn id="374" fill="hold">
                            <p:stCondLst>
                              <p:cond delay="0"/>
                            </p:stCondLst>
                            <p:childTnLst>
                              <p:par>
                                <p:cTn id="375" presetID="1" presetClass="entr" presetSubtype="0" fill="hold" nodeType="clickEffect">
                                  <p:stCondLst>
                                    <p:cond delay="0"/>
                                  </p:stCondLst>
                                  <p:childTnLst>
                                    <p:set>
                                      <p:cBhvr>
                                        <p:cTn id="376" dur="1" fill="hold">
                                          <p:stCondLst>
                                            <p:cond delay="0"/>
                                          </p:stCondLst>
                                        </p:cTn>
                                        <p:tgtEl>
                                          <p:spTgt spid="308"/>
                                        </p:tgtEl>
                                        <p:attrNameLst>
                                          <p:attrName>style.visibility</p:attrName>
                                        </p:attrNameLst>
                                      </p:cBhvr>
                                      <p:to>
                                        <p:strVal val="visible"/>
                                      </p:to>
                                    </p:set>
                                  </p:childTnLst>
                                </p:cTn>
                              </p:par>
                              <p:par>
                                <p:cTn id="377" presetID="1" presetClass="entr" presetSubtype="0" fill="hold" nodeType="withEffect">
                                  <p:stCondLst>
                                    <p:cond delay="0"/>
                                  </p:stCondLst>
                                  <p:childTnLst>
                                    <p:set>
                                      <p:cBhvr>
                                        <p:cTn id="378" dur="1" fill="hold">
                                          <p:stCondLst>
                                            <p:cond delay="0"/>
                                          </p:stCondLst>
                                        </p:cTn>
                                        <p:tgtEl>
                                          <p:spTgt spid="309"/>
                                        </p:tgtEl>
                                        <p:attrNameLst>
                                          <p:attrName>style.visibility</p:attrName>
                                        </p:attrNameLst>
                                      </p:cBhvr>
                                      <p:to>
                                        <p:strVal val="visible"/>
                                      </p:to>
                                    </p:set>
                                  </p:childTnLst>
                                </p:cTn>
                              </p:par>
                            </p:childTnLst>
                          </p:cTn>
                        </p:par>
                      </p:childTnLst>
                    </p:cTn>
                  </p:par>
                  <p:par>
                    <p:cTn id="379" fill="hold">
                      <p:stCondLst>
                        <p:cond delay="indefinite"/>
                      </p:stCondLst>
                      <p:childTnLst>
                        <p:par>
                          <p:cTn id="380" fill="hold">
                            <p:stCondLst>
                              <p:cond delay="0"/>
                            </p:stCondLst>
                            <p:childTnLst>
                              <p:par>
                                <p:cTn id="381" presetID="42" presetClass="entr" presetSubtype="0" fill="hold" nodeType="clickEffect">
                                  <p:stCondLst>
                                    <p:cond delay="0"/>
                                  </p:stCondLst>
                                  <p:childTnLst>
                                    <p:set>
                                      <p:cBhvr>
                                        <p:cTn id="382" dur="1" fill="hold">
                                          <p:stCondLst>
                                            <p:cond delay="0"/>
                                          </p:stCondLst>
                                        </p:cTn>
                                        <p:tgtEl>
                                          <p:spTgt spid="344"/>
                                        </p:tgtEl>
                                        <p:attrNameLst>
                                          <p:attrName>style.visibility</p:attrName>
                                        </p:attrNameLst>
                                      </p:cBhvr>
                                      <p:to>
                                        <p:strVal val="visible"/>
                                      </p:to>
                                    </p:set>
                                    <p:animEffect transition="in" filter="fade">
                                      <p:cBhvr>
                                        <p:cTn id="383" dur="1000"/>
                                        <p:tgtEl>
                                          <p:spTgt spid="344"/>
                                        </p:tgtEl>
                                      </p:cBhvr>
                                    </p:animEffect>
                                    <p:anim calcmode="lin" valueType="num">
                                      <p:cBhvr>
                                        <p:cTn id="384" dur="1000" fill="hold"/>
                                        <p:tgtEl>
                                          <p:spTgt spid="344"/>
                                        </p:tgtEl>
                                        <p:attrNameLst>
                                          <p:attrName>ppt_x</p:attrName>
                                        </p:attrNameLst>
                                      </p:cBhvr>
                                      <p:tavLst>
                                        <p:tav tm="0">
                                          <p:val>
                                            <p:strVal val="#ppt_x"/>
                                          </p:val>
                                        </p:tav>
                                        <p:tav tm="100000">
                                          <p:val>
                                            <p:strVal val="#ppt_x"/>
                                          </p:val>
                                        </p:tav>
                                      </p:tavLst>
                                    </p:anim>
                                    <p:anim calcmode="lin" valueType="num">
                                      <p:cBhvr>
                                        <p:cTn id="385" dur="1000" fill="hold"/>
                                        <p:tgtEl>
                                          <p:spTgt spid="344"/>
                                        </p:tgtEl>
                                        <p:attrNameLst>
                                          <p:attrName>ppt_y</p:attrName>
                                        </p:attrNameLst>
                                      </p:cBhvr>
                                      <p:tavLst>
                                        <p:tav tm="0">
                                          <p:val>
                                            <p:strVal val="#ppt_y+.1"/>
                                          </p:val>
                                        </p:tav>
                                        <p:tav tm="100000">
                                          <p:val>
                                            <p:strVal val="#ppt_y"/>
                                          </p:val>
                                        </p:tav>
                                      </p:tavLst>
                                    </p:anim>
                                  </p:childTnLst>
                                </p:cTn>
                              </p:par>
                              <p:par>
                                <p:cTn id="386" presetID="42" presetClass="entr" presetSubtype="0" fill="hold" nodeType="withEffect">
                                  <p:stCondLst>
                                    <p:cond delay="0"/>
                                  </p:stCondLst>
                                  <p:childTnLst>
                                    <p:set>
                                      <p:cBhvr>
                                        <p:cTn id="387" dur="1" fill="hold">
                                          <p:stCondLst>
                                            <p:cond delay="0"/>
                                          </p:stCondLst>
                                        </p:cTn>
                                        <p:tgtEl>
                                          <p:spTgt spid="343"/>
                                        </p:tgtEl>
                                        <p:attrNameLst>
                                          <p:attrName>style.visibility</p:attrName>
                                        </p:attrNameLst>
                                      </p:cBhvr>
                                      <p:to>
                                        <p:strVal val="visible"/>
                                      </p:to>
                                    </p:set>
                                    <p:animEffect transition="in" filter="fade">
                                      <p:cBhvr>
                                        <p:cTn id="388" dur="1000"/>
                                        <p:tgtEl>
                                          <p:spTgt spid="343"/>
                                        </p:tgtEl>
                                      </p:cBhvr>
                                    </p:animEffect>
                                    <p:anim calcmode="lin" valueType="num">
                                      <p:cBhvr>
                                        <p:cTn id="389" dur="1000" fill="hold"/>
                                        <p:tgtEl>
                                          <p:spTgt spid="343"/>
                                        </p:tgtEl>
                                        <p:attrNameLst>
                                          <p:attrName>ppt_x</p:attrName>
                                        </p:attrNameLst>
                                      </p:cBhvr>
                                      <p:tavLst>
                                        <p:tav tm="0">
                                          <p:val>
                                            <p:strVal val="#ppt_x"/>
                                          </p:val>
                                        </p:tav>
                                        <p:tav tm="100000">
                                          <p:val>
                                            <p:strVal val="#ppt_x"/>
                                          </p:val>
                                        </p:tav>
                                      </p:tavLst>
                                    </p:anim>
                                    <p:anim calcmode="lin" valueType="num">
                                      <p:cBhvr>
                                        <p:cTn id="390" dur="1000" fill="hold"/>
                                        <p:tgtEl>
                                          <p:spTgt spid="343"/>
                                        </p:tgtEl>
                                        <p:attrNameLst>
                                          <p:attrName>ppt_y</p:attrName>
                                        </p:attrNameLst>
                                      </p:cBhvr>
                                      <p:tavLst>
                                        <p:tav tm="0">
                                          <p:val>
                                            <p:strVal val="#ppt_y+.1"/>
                                          </p:val>
                                        </p:tav>
                                        <p:tav tm="100000">
                                          <p:val>
                                            <p:strVal val="#ppt_y"/>
                                          </p:val>
                                        </p:tav>
                                      </p:tavLst>
                                    </p:anim>
                                  </p:childTnLst>
                                </p:cTn>
                              </p:par>
                              <p:par>
                                <p:cTn id="391" presetID="45" presetClass="entr" presetSubtype="0" fill="hold" grpId="0" nodeType="withEffect">
                                  <p:stCondLst>
                                    <p:cond delay="0"/>
                                  </p:stCondLst>
                                  <p:childTnLst>
                                    <p:set>
                                      <p:cBhvr>
                                        <p:cTn id="392" dur="1" fill="hold">
                                          <p:stCondLst>
                                            <p:cond delay="0"/>
                                          </p:stCondLst>
                                        </p:cTn>
                                        <p:tgtEl>
                                          <p:spTgt spid="337"/>
                                        </p:tgtEl>
                                        <p:attrNameLst>
                                          <p:attrName>style.visibility</p:attrName>
                                        </p:attrNameLst>
                                      </p:cBhvr>
                                      <p:to>
                                        <p:strVal val="visible"/>
                                      </p:to>
                                    </p:set>
                                    <p:animEffect transition="in" filter="fade">
                                      <p:cBhvr>
                                        <p:cTn id="393" dur="2000"/>
                                        <p:tgtEl>
                                          <p:spTgt spid="337"/>
                                        </p:tgtEl>
                                      </p:cBhvr>
                                    </p:animEffect>
                                    <p:anim calcmode="lin" valueType="num">
                                      <p:cBhvr>
                                        <p:cTn id="394" dur="2000" fill="hold"/>
                                        <p:tgtEl>
                                          <p:spTgt spid="337"/>
                                        </p:tgtEl>
                                        <p:attrNameLst>
                                          <p:attrName>ppt_w</p:attrName>
                                        </p:attrNameLst>
                                      </p:cBhvr>
                                      <p:tavLst>
                                        <p:tav tm="0" fmla="#ppt_w*sin(2.5*pi*$)">
                                          <p:val>
                                            <p:fltVal val="0"/>
                                          </p:val>
                                        </p:tav>
                                        <p:tav tm="100000">
                                          <p:val>
                                            <p:fltVal val="1"/>
                                          </p:val>
                                        </p:tav>
                                      </p:tavLst>
                                    </p:anim>
                                    <p:anim calcmode="lin" valueType="num">
                                      <p:cBhvr>
                                        <p:cTn id="395" dur="2000" fill="hold"/>
                                        <p:tgtEl>
                                          <p:spTgt spid="337"/>
                                        </p:tgtEl>
                                        <p:attrNameLst>
                                          <p:attrName>ppt_h</p:attrName>
                                        </p:attrNameLst>
                                      </p:cBhvr>
                                      <p:tavLst>
                                        <p:tav tm="0">
                                          <p:val>
                                            <p:strVal val="#ppt_h"/>
                                          </p:val>
                                        </p:tav>
                                        <p:tav tm="100000">
                                          <p:val>
                                            <p:strVal val="#ppt_h"/>
                                          </p:val>
                                        </p:tav>
                                      </p:tavLst>
                                    </p:anim>
                                  </p:childTnLst>
                                </p:cTn>
                              </p:par>
                              <p:par>
                                <p:cTn id="396" presetID="42" presetClass="entr" presetSubtype="0" fill="hold" nodeType="withEffect">
                                  <p:stCondLst>
                                    <p:cond delay="0"/>
                                  </p:stCondLst>
                                  <p:childTnLst>
                                    <p:set>
                                      <p:cBhvr>
                                        <p:cTn id="397" dur="1" fill="hold">
                                          <p:stCondLst>
                                            <p:cond delay="0"/>
                                          </p:stCondLst>
                                        </p:cTn>
                                        <p:tgtEl>
                                          <p:spTgt spid="338"/>
                                        </p:tgtEl>
                                        <p:attrNameLst>
                                          <p:attrName>style.visibility</p:attrName>
                                        </p:attrNameLst>
                                      </p:cBhvr>
                                      <p:to>
                                        <p:strVal val="visible"/>
                                      </p:to>
                                    </p:set>
                                    <p:animEffect transition="in" filter="fade">
                                      <p:cBhvr>
                                        <p:cTn id="398" dur="1000"/>
                                        <p:tgtEl>
                                          <p:spTgt spid="338"/>
                                        </p:tgtEl>
                                      </p:cBhvr>
                                    </p:animEffect>
                                    <p:anim calcmode="lin" valueType="num">
                                      <p:cBhvr>
                                        <p:cTn id="399" dur="1000" fill="hold"/>
                                        <p:tgtEl>
                                          <p:spTgt spid="338"/>
                                        </p:tgtEl>
                                        <p:attrNameLst>
                                          <p:attrName>ppt_x</p:attrName>
                                        </p:attrNameLst>
                                      </p:cBhvr>
                                      <p:tavLst>
                                        <p:tav tm="0">
                                          <p:val>
                                            <p:strVal val="#ppt_x"/>
                                          </p:val>
                                        </p:tav>
                                        <p:tav tm="100000">
                                          <p:val>
                                            <p:strVal val="#ppt_x"/>
                                          </p:val>
                                        </p:tav>
                                      </p:tavLst>
                                    </p:anim>
                                    <p:anim calcmode="lin" valueType="num">
                                      <p:cBhvr>
                                        <p:cTn id="400" dur="1000" fill="hold"/>
                                        <p:tgtEl>
                                          <p:spTgt spid="338"/>
                                        </p:tgtEl>
                                        <p:attrNameLst>
                                          <p:attrName>ppt_y</p:attrName>
                                        </p:attrNameLst>
                                      </p:cBhvr>
                                      <p:tavLst>
                                        <p:tav tm="0">
                                          <p:val>
                                            <p:strVal val="#ppt_y+.1"/>
                                          </p:val>
                                        </p:tav>
                                        <p:tav tm="100000">
                                          <p:val>
                                            <p:strVal val="#ppt_y"/>
                                          </p:val>
                                        </p:tav>
                                      </p:tavLst>
                                    </p:anim>
                                  </p:childTnLst>
                                </p:cTn>
                              </p:par>
                              <p:par>
                                <p:cTn id="401" presetID="42" presetClass="entr" presetSubtype="0" fill="hold" grpId="0" nodeType="withEffect">
                                  <p:stCondLst>
                                    <p:cond delay="0"/>
                                  </p:stCondLst>
                                  <p:childTnLst>
                                    <p:set>
                                      <p:cBhvr>
                                        <p:cTn id="402" dur="1" fill="hold">
                                          <p:stCondLst>
                                            <p:cond delay="0"/>
                                          </p:stCondLst>
                                        </p:cTn>
                                        <p:tgtEl>
                                          <p:spTgt spid="340"/>
                                        </p:tgtEl>
                                        <p:attrNameLst>
                                          <p:attrName>style.visibility</p:attrName>
                                        </p:attrNameLst>
                                      </p:cBhvr>
                                      <p:to>
                                        <p:strVal val="visible"/>
                                      </p:to>
                                    </p:set>
                                    <p:animEffect transition="in" filter="fade">
                                      <p:cBhvr>
                                        <p:cTn id="403" dur="1000"/>
                                        <p:tgtEl>
                                          <p:spTgt spid="340"/>
                                        </p:tgtEl>
                                      </p:cBhvr>
                                    </p:animEffect>
                                    <p:anim calcmode="lin" valueType="num">
                                      <p:cBhvr>
                                        <p:cTn id="404" dur="1000" fill="hold"/>
                                        <p:tgtEl>
                                          <p:spTgt spid="340"/>
                                        </p:tgtEl>
                                        <p:attrNameLst>
                                          <p:attrName>ppt_x</p:attrName>
                                        </p:attrNameLst>
                                      </p:cBhvr>
                                      <p:tavLst>
                                        <p:tav tm="0">
                                          <p:val>
                                            <p:strVal val="#ppt_x"/>
                                          </p:val>
                                        </p:tav>
                                        <p:tav tm="100000">
                                          <p:val>
                                            <p:strVal val="#ppt_x"/>
                                          </p:val>
                                        </p:tav>
                                      </p:tavLst>
                                    </p:anim>
                                    <p:anim calcmode="lin" valueType="num">
                                      <p:cBhvr>
                                        <p:cTn id="405" dur="1000" fill="hold"/>
                                        <p:tgtEl>
                                          <p:spTgt spid="340"/>
                                        </p:tgtEl>
                                        <p:attrNameLst>
                                          <p:attrName>ppt_y</p:attrName>
                                        </p:attrNameLst>
                                      </p:cBhvr>
                                      <p:tavLst>
                                        <p:tav tm="0">
                                          <p:val>
                                            <p:strVal val="#ppt_y+.1"/>
                                          </p:val>
                                        </p:tav>
                                        <p:tav tm="100000">
                                          <p:val>
                                            <p:strVal val="#ppt_y"/>
                                          </p:val>
                                        </p:tav>
                                      </p:tavLst>
                                    </p:anim>
                                  </p:childTnLst>
                                </p:cTn>
                              </p:par>
                            </p:childTnLst>
                          </p:cTn>
                        </p:par>
                      </p:childTnLst>
                    </p:cTn>
                  </p:par>
                  <p:par>
                    <p:cTn id="406" fill="hold">
                      <p:stCondLst>
                        <p:cond delay="indefinite"/>
                      </p:stCondLst>
                      <p:childTnLst>
                        <p:par>
                          <p:cTn id="407" fill="hold">
                            <p:stCondLst>
                              <p:cond delay="0"/>
                            </p:stCondLst>
                            <p:childTnLst>
                              <p:par>
                                <p:cTn id="408" presetID="23" presetClass="entr" presetSubtype="16" fill="hold" nodeType="clickEffect">
                                  <p:stCondLst>
                                    <p:cond delay="0"/>
                                  </p:stCondLst>
                                  <p:childTnLst>
                                    <p:set>
                                      <p:cBhvr>
                                        <p:cTn id="409" dur="1" fill="hold">
                                          <p:stCondLst>
                                            <p:cond delay="0"/>
                                          </p:stCondLst>
                                        </p:cTn>
                                        <p:tgtEl>
                                          <p:spTgt spid="123"/>
                                        </p:tgtEl>
                                        <p:attrNameLst>
                                          <p:attrName>style.visibility</p:attrName>
                                        </p:attrNameLst>
                                      </p:cBhvr>
                                      <p:to>
                                        <p:strVal val="visible"/>
                                      </p:to>
                                    </p:set>
                                    <p:anim calcmode="lin" valueType="num">
                                      <p:cBhvr>
                                        <p:cTn id="410" dur="500" fill="hold"/>
                                        <p:tgtEl>
                                          <p:spTgt spid="123"/>
                                        </p:tgtEl>
                                        <p:attrNameLst>
                                          <p:attrName>ppt_w</p:attrName>
                                        </p:attrNameLst>
                                      </p:cBhvr>
                                      <p:tavLst>
                                        <p:tav tm="0">
                                          <p:val>
                                            <p:fltVal val="0"/>
                                          </p:val>
                                        </p:tav>
                                        <p:tav tm="100000">
                                          <p:val>
                                            <p:strVal val="#ppt_w"/>
                                          </p:val>
                                        </p:tav>
                                      </p:tavLst>
                                    </p:anim>
                                    <p:anim calcmode="lin" valueType="num">
                                      <p:cBhvr>
                                        <p:cTn id="411" dur="500" fill="hold"/>
                                        <p:tgtEl>
                                          <p:spTgt spid="123"/>
                                        </p:tgtEl>
                                        <p:attrNameLst>
                                          <p:attrName>ppt_h</p:attrName>
                                        </p:attrNameLst>
                                      </p:cBhvr>
                                      <p:tavLst>
                                        <p:tav tm="0">
                                          <p:val>
                                            <p:fltVal val="0"/>
                                          </p:val>
                                        </p:tav>
                                        <p:tav tm="100000">
                                          <p:val>
                                            <p:strVal val="#ppt_h"/>
                                          </p:val>
                                        </p:tav>
                                      </p:tavLst>
                                    </p:anim>
                                  </p:childTnLst>
                                </p:cTn>
                              </p:par>
                              <p:par>
                                <p:cTn id="412" presetID="23" presetClass="entr" presetSubtype="16" fill="hold" grpId="0" nodeType="withEffect">
                                  <p:stCondLst>
                                    <p:cond delay="0"/>
                                  </p:stCondLst>
                                  <p:childTnLst>
                                    <p:set>
                                      <p:cBhvr>
                                        <p:cTn id="413" dur="1" fill="hold">
                                          <p:stCondLst>
                                            <p:cond delay="0"/>
                                          </p:stCondLst>
                                        </p:cTn>
                                        <p:tgtEl>
                                          <p:spTgt spid="213"/>
                                        </p:tgtEl>
                                        <p:attrNameLst>
                                          <p:attrName>style.visibility</p:attrName>
                                        </p:attrNameLst>
                                      </p:cBhvr>
                                      <p:to>
                                        <p:strVal val="visible"/>
                                      </p:to>
                                    </p:set>
                                    <p:anim calcmode="lin" valueType="num">
                                      <p:cBhvr>
                                        <p:cTn id="414" dur="500" fill="hold"/>
                                        <p:tgtEl>
                                          <p:spTgt spid="213"/>
                                        </p:tgtEl>
                                        <p:attrNameLst>
                                          <p:attrName>ppt_w</p:attrName>
                                        </p:attrNameLst>
                                      </p:cBhvr>
                                      <p:tavLst>
                                        <p:tav tm="0">
                                          <p:val>
                                            <p:fltVal val="0"/>
                                          </p:val>
                                        </p:tav>
                                        <p:tav tm="100000">
                                          <p:val>
                                            <p:strVal val="#ppt_w"/>
                                          </p:val>
                                        </p:tav>
                                      </p:tavLst>
                                    </p:anim>
                                    <p:anim calcmode="lin" valueType="num">
                                      <p:cBhvr>
                                        <p:cTn id="415" dur="500" fill="hold"/>
                                        <p:tgtEl>
                                          <p:spTgt spid="213"/>
                                        </p:tgtEl>
                                        <p:attrNameLst>
                                          <p:attrName>ppt_h</p:attrName>
                                        </p:attrNameLst>
                                      </p:cBhvr>
                                      <p:tavLst>
                                        <p:tav tm="0">
                                          <p:val>
                                            <p:fltVal val="0"/>
                                          </p:val>
                                        </p:tav>
                                        <p:tav tm="100000">
                                          <p:val>
                                            <p:strVal val="#ppt_h"/>
                                          </p:val>
                                        </p:tav>
                                      </p:tavLst>
                                    </p:anim>
                                  </p:childTnLst>
                                </p:cTn>
                              </p:par>
                              <p:par>
                                <p:cTn id="416" presetID="1" presetClass="entr" presetSubtype="0" fill="hold" nodeType="withEffect">
                                  <p:stCondLst>
                                    <p:cond delay="0"/>
                                  </p:stCondLst>
                                  <p:childTnLst>
                                    <p:set>
                                      <p:cBhvr>
                                        <p:cTn id="417" dur="1" fill="hold">
                                          <p:stCondLst>
                                            <p:cond delay="0"/>
                                          </p:stCondLst>
                                        </p:cTn>
                                        <p:tgtEl>
                                          <p:spTgt spid="211"/>
                                        </p:tgtEl>
                                        <p:attrNameLst>
                                          <p:attrName>style.visibility</p:attrName>
                                        </p:attrNameLst>
                                      </p:cBhvr>
                                      <p:to>
                                        <p:strVal val="visible"/>
                                      </p:to>
                                    </p:set>
                                  </p:childTnLst>
                                </p:cTn>
                              </p:par>
                            </p:childTnLst>
                          </p:cTn>
                        </p:par>
                      </p:childTnLst>
                    </p:cTn>
                  </p:par>
                  <p:par>
                    <p:cTn id="418" fill="hold">
                      <p:stCondLst>
                        <p:cond delay="indefinite"/>
                      </p:stCondLst>
                      <p:childTnLst>
                        <p:par>
                          <p:cTn id="419" fill="hold">
                            <p:stCondLst>
                              <p:cond delay="0"/>
                            </p:stCondLst>
                            <p:childTnLst>
                              <p:par>
                                <p:cTn id="420" presetID="42" presetClass="entr" presetSubtype="0" fill="hold" nodeType="clickEffect">
                                  <p:stCondLst>
                                    <p:cond delay="0"/>
                                  </p:stCondLst>
                                  <p:childTnLst>
                                    <p:set>
                                      <p:cBhvr>
                                        <p:cTn id="421" dur="1" fill="hold">
                                          <p:stCondLst>
                                            <p:cond delay="0"/>
                                          </p:stCondLst>
                                        </p:cTn>
                                        <p:tgtEl>
                                          <p:spTgt spid="106"/>
                                        </p:tgtEl>
                                        <p:attrNameLst>
                                          <p:attrName>style.visibility</p:attrName>
                                        </p:attrNameLst>
                                      </p:cBhvr>
                                      <p:to>
                                        <p:strVal val="visible"/>
                                      </p:to>
                                    </p:set>
                                    <p:animEffect transition="in" filter="fade">
                                      <p:cBhvr>
                                        <p:cTn id="422" dur="1000"/>
                                        <p:tgtEl>
                                          <p:spTgt spid="106"/>
                                        </p:tgtEl>
                                      </p:cBhvr>
                                    </p:animEffect>
                                    <p:anim calcmode="lin" valueType="num">
                                      <p:cBhvr>
                                        <p:cTn id="423" dur="1000" fill="hold"/>
                                        <p:tgtEl>
                                          <p:spTgt spid="106"/>
                                        </p:tgtEl>
                                        <p:attrNameLst>
                                          <p:attrName>ppt_x</p:attrName>
                                        </p:attrNameLst>
                                      </p:cBhvr>
                                      <p:tavLst>
                                        <p:tav tm="0">
                                          <p:val>
                                            <p:strVal val="#ppt_x"/>
                                          </p:val>
                                        </p:tav>
                                        <p:tav tm="100000">
                                          <p:val>
                                            <p:strVal val="#ppt_x"/>
                                          </p:val>
                                        </p:tav>
                                      </p:tavLst>
                                    </p:anim>
                                    <p:anim calcmode="lin" valueType="num">
                                      <p:cBhvr>
                                        <p:cTn id="424" dur="1000" fill="hold"/>
                                        <p:tgtEl>
                                          <p:spTgt spid="10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 grpId="0" animBg="1"/>
      <p:bldP spid="216" grpId="0" animBg="1"/>
      <p:bldP spid="143" grpId="0" animBg="1"/>
      <p:bldP spid="110" grpId="0"/>
      <p:bldP spid="111" grpId="0"/>
      <p:bldP spid="138" grpId="0" animBg="1"/>
      <p:bldP spid="213" grpId="0"/>
      <p:bldP spid="220" grpId="0" animBg="1"/>
      <p:bldP spid="256" grpId="0" animBg="1"/>
      <p:bldP spid="257" grpId="0" animBg="1"/>
      <p:bldP spid="267" grpId="0" animBg="1"/>
      <p:bldP spid="268" grpId="0" animBg="1"/>
      <p:bldP spid="270" grpId="0"/>
      <p:bldP spid="271" grpId="0" animBg="1"/>
      <p:bldP spid="272" grpId="0" animBg="1"/>
      <p:bldP spid="273" grpId="0" animBg="1"/>
      <p:bldP spid="274" grpId="0" animBg="1"/>
      <p:bldP spid="276" grpId="0" animBg="1"/>
      <p:bldP spid="277" grpId="0" animBg="1"/>
      <p:bldP spid="278" grpId="0" animBg="1"/>
      <p:bldP spid="279" grpId="0" animBg="1"/>
      <p:bldP spid="280" grpId="0" animBg="1"/>
      <p:bldP spid="282" grpId="0" animBg="1"/>
      <p:bldP spid="284" grpId="0" animBg="1"/>
      <p:bldP spid="285" grpId="0"/>
      <p:bldP spid="297" grpId="0" animBg="1"/>
      <p:bldP spid="314" grpId="0"/>
      <p:bldP spid="315" grpId="0"/>
      <p:bldP spid="316" grpId="0"/>
      <p:bldP spid="317" grpId="0"/>
      <p:bldP spid="318" grpId="0"/>
      <p:bldP spid="319" grpId="0"/>
      <p:bldP spid="322" grpId="0"/>
      <p:bldP spid="323" grpId="0"/>
      <p:bldP spid="324" grpId="0"/>
      <p:bldP spid="325" grpId="0"/>
      <p:bldP spid="326" grpId="0"/>
      <p:bldP spid="327" grpId="0"/>
      <p:bldP spid="329" grpId="0"/>
      <p:bldP spid="330" grpId="0"/>
      <p:bldP spid="331" grpId="0"/>
      <p:bldP spid="332" grpId="0"/>
      <p:bldP spid="333" grpId="0"/>
      <p:bldP spid="337" grpId="0" animBg="1"/>
      <p:bldP spid="34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2BCDC-2436-FD58-7064-24BE9E536C4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50D897E-93FD-E760-F812-C00390B9D0F9}"/>
              </a:ext>
            </a:extLst>
          </p:cNvPr>
          <p:cNvSpPr>
            <a:spLocks noGrp="1"/>
          </p:cNvSpPr>
          <p:nvPr>
            <p:ph type="body" sz="quarter" idx="10"/>
          </p:nvPr>
        </p:nvSpPr>
        <p:spPr>
          <a:xfrm>
            <a:off x="225294" y="1557327"/>
            <a:ext cx="6549133" cy="2788359"/>
          </a:xfrm>
        </p:spPr>
        <p:txBody>
          <a:bodyPr>
            <a:normAutofit/>
          </a:bodyPr>
          <a:lstStyle/>
          <a:p>
            <a:r>
              <a:rPr lang="en-US" b="1">
                <a:solidFill>
                  <a:schemeClr val="accent1"/>
                </a:solidFill>
              </a:rPr>
              <a:t>Cato SASE Cloud Platform</a:t>
            </a:r>
          </a:p>
          <a:p>
            <a:endParaRPr lang="en-US" sz="2100" b="1"/>
          </a:p>
          <a:p>
            <a:r>
              <a:rPr lang="en-US" sz="2400" b="1"/>
              <a:t>Translating Unified Visibility into Business Outcomes</a:t>
            </a:r>
          </a:p>
        </p:txBody>
      </p:sp>
      <p:sp>
        <p:nvSpPr>
          <p:cNvPr id="2" name="Rectangle 1">
            <a:hlinkClick r:id="" action="ppaction://noaction"/>
            <a:extLst>
              <a:ext uri="{FF2B5EF4-FFF2-40B4-BE49-F238E27FC236}">
                <a16:creationId xmlns:a16="http://schemas.microsoft.com/office/drawing/2014/main" id="{8941C46C-4851-8D1C-FFFE-014F279C538E}"/>
              </a:ext>
            </a:extLst>
          </p:cNvPr>
          <p:cNvSpPr/>
          <p:nvPr/>
        </p:nvSpPr>
        <p:spPr>
          <a:xfrm rot="19917072">
            <a:off x="7191376" y="1767072"/>
            <a:ext cx="972998" cy="323850"/>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7" name="Rectangle 6">
            <a:hlinkClick r:id="" action="ppaction://noaction"/>
            <a:extLst>
              <a:ext uri="{FF2B5EF4-FFF2-40B4-BE49-F238E27FC236}">
                <a16:creationId xmlns:a16="http://schemas.microsoft.com/office/drawing/2014/main" id="{A86F5F0C-68FD-4AA6-7607-D314D70D3E8D}"/>
              </a:ext>
            </a:extLst>
          </p:cNvPr>
          <p:cNvSpPr/>
          <p:nvPr/>
        </p:nvSpPr>
        <p:spPr>
          <a:xfrm rot="327340">
            <a:off x="8196997" y="2034273"/>
            <a:ext cx="782233" cy="323850"/>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 name="Text Placeholder 7">
            <a:extLst>
              <a:ext uri="{FF2B5EF4-FFF2-40B4-BE49-F238E27FC236}">
                <a16:creationId xmlns:a16="http://schemas.microsoft.com/office/drawing/2014/main" id="{2E5DFA2F-9F46-1BA9-7BF7-661E757F529D}"/>
              </a:ext>
            </a:extLst>
          </p:cNvPr>
          <p:cNvSpPr>
            <a:spLocks noGrp="1"/>
          </p:cNvSpPr>
          <p:nvPr>
            <p:ph type="body" sz="quarter" idx="12"/>
          </p:nvPr>
        </p:nvSpPr>
        <p:spPr>
          <a:xfrm>
            <a:off x="353113" y="4189188"/>
            <a:ext cx="5356522" cy="312996"/>
          </a:xfrm>
        </p:spPr>
        <p:txBody>
          <a:bodyPr>
            <a:noAutofit/>
          </a:bodyPr>
          <a:lstStyle/>
          <a:p>
            <a:r>
              <a:rPr lang="en-IE" sz="4400" b="1"/>
              <a:t>DEMO</a:t>
            </a:r>
            <a:endParaRPr lang="en-IL" sz="4400" b="1"/>
          </a:p>
        </p:txBody>
      </p:sp>
    </p:spTree>
    <p:extLst>
      <p:ext uri="{BB962C8B-B14F-4D97-AF65-F5344CB8AC3E}">
        <p14:creationId xmlns:p14="http://schemas.microsoft.com/office/powerpoint/2010/main" val="1583742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mph" presetSubtype="0" fill="hold" grpId="0" nodeType="withEffect">
                                  <p:stCondLst>
                                    <p:cond delay="0"/>
                                  </p:stCondLst>
                                  <p:childTnLst>
                                    <p:animClr clrSpc="hsl" dir="cw">
                                      <p:cBhvr override="childStyle">
                                        <p:cTn id="6" dur="500" fill="hold"/>
                                        <p:tgtEl>
                                          <p:spTgt spid="8">
                                            <p:txEl>
                                              <p:pRg st="0" end="0"/>
                                            </p:txEl>
                                          </p:spTgt>
                                        </p:tgtEl>
                                        <p:attrNameLst>
                                          <p:attrName>style.color</p:attrName>
                                        </p:attrNameLst>
                                      </p:cBhvr>
                                      <p:by>
                                        <p:hsl h="10842353" s="0" l="0"/>
                                      </p:by>
                                    </p:animClr>
                                    <p:animClr clrSpc="hsl" dir="cw">
                                      <p:cBhvr>
                                        <p:cTn id="7" dur="500" fill="hold"/>
                                        <p:tgtEl>
                                          <p:spTgt spid="8">
                                            <p:txEl>
                                              <p:pRg st="0" end="0"/>
                                            </p:txEl>
                                          </p:spTgt>
                                        </p:tgtEl>
                                        <p:attrNameLst>
                                          <p:attrName>fillcolor</p:attrName>
                                        </p:attrNameLst>
                                      </p:cBhvr>
                                      <p:by>
                                        <p:hsl h="10842353" s="0" l="0"/>
                                      </p:by>
                                    </p:animClr>
                                    <p:animClr clrSpc="hsl" dir="cw">
                                      <p:cBhvr>
                                        <p:cTn id="8" dur="500" fill="hold"/>
                                        <p:tgtEl>
                                          <p:spTgt spid="8">
                                            <p:txEl>
                                              <p:pRg st="0" end="0"/>
                                            </p:txEl>
                                          </p:spTgt>
                                        </p:tgtEl>
                                        <p:attrNameLst>
                                          <p:attrName>stroke.color</p:attrName>
                                        </p:attrNameLst>
                                      </p:cBhvr>
                                      <p:by>
                                        <p:hsl h="10842353" s="0" l="0"/>
                                      </p:by>
                                    </p:animClr>
                                    <p:set>
                                      <p:cBhvr>
                                        <p:cTn id="9" dur="500" fill="hold"/>
                                        <p:tgtEl>
                                          <p:spTgt spid="8">
                                            <p:txEl>
                                              <p:pRg st="0" end="0"/>
                                            </p:txEl>
                                          </p:spTgt>
                                        </p:tgtEl>
                                        <p:attrNameLst>
                                          <p:attrName>fill.type</p:attrName>
                                        </p:attrNameLst>
                                      </p:cBhvr>
                                      <p:to>
                                        <p:strVal val="solid"/>
                                      </p:to>
                                    </p:set>
                                  </p:childTnLst>
                                  <p:subTnLst>
                                    <p:animClr clrSpc="rgb" dir="cw">
                                      <p:cBhvr override="childStyle">
                                        <p:cTn dur="1" fill="hold" display="0" masterRel="nextClick" afterEffect="1"/>
                                        <p:tgtEl>
                                          <p:spTgt spid="8">
                                            <p:txEl>
                                              <p:pRg st="0" end="0"/>
                                            </p:txEl>
                                          </p:spTgt>
                                        </p:tgtEl>
                                        <p:attrNameLst>
                                          <p:attrName>ppt_c</p:attrName>
                                        </p:attrNameLst>
                                      </p:cBhvr>
                                      <p:to>
                                        <a:srgbClr val="E98B37"/>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4A579-2299-FBCF-0809-C4342F05D0E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777F38-EBD1-8431-48AB-F34DDB01E2D5}"/>
              </a:ext>
            </a:extLst>
          </p:cNvPr>
          <p:cNvSpPr>
            <a:spLocks noGrp="1"/>
          </p:cNvSpPr>
          <p:nvPr>
            <p:ph type="sldNum" sz="quarter" idx="12"/>
          </p:nvPr>
        </p:nvSpPr>
        <p:spPr>
          <a:xfrm>
            <a:off x="11667947" y="6142037"/>
            <a:ext cx="429230" cy="365125"/>
          </a:xfrm>
        </p:spPr>
        <p:txBody>
          <a:bodyPr/>
          <a:lstStyle/>
          <a:p>
            <a:r>
              <a:rPr lang="en-US"/>
              <a:t>| </a:t>
            </a:r>
            <a:fld id="{FEC5E14B-9965-442C-8683-0E66DD8427DC}" type="slidenum">
              <a:rPr lang="en-US" smtClean="0"/>
              <a:pPr/>
              <a:t>18</a:t>
            </a:fld>
            <a:endParaRPr lang="en-US"/>
          </a:p>
        </p:txBody>
      </p:sp>
      <p:grpSp>
        <p:nvGrpSpPr>
          <p:cNvPr id="2" name="Group 1">
            <a:extLst>
              <a:ext uri="{FF2B5EF4-FFF2-40B4-BE49-F238E27FC236}">
                <a16:creationId xmlns:a16="http://schemas.microsoft.com/office/drawing/2014/main" id="{7CD441D0-1C1E-6A59-42EC-1C066005C913}"/>
              </a:ext>
            </a:extLst>
          </p:cNvPr>
          <p:cNvGrpSpPr/>
          <p:nvPr/>
        </p:nvGrpSpPr>
        <p:grpSpPr>
          <a:xfrm>
            <a:off x="924809" y="770943"/>
            <a:ext cx="10342382" cy="5479836"/>
            <a:chOff x="248088" y="1412776"/>
            <a:chExt cx="11733386" cy="5987040"/>
          </a:xfrm>
        </p:grpSpPr>
        <p:sp>
          <p:nvSpPr>
            <p:cNvPr id="3" name="Rectangle 2">
              <a:extLst>
                <a:ext uri="{FF2B5EF4-FFF2-40B4-BE49-F238E27FC236}">
                  <a16:creationId xmlns:a16="http://schemas.microsoft.com/office/drawing/2014/main" id="{2E77225F-4FA8-C2C9-74F9-3D3CCCA074D5}"/>
                </a:ext>
              </a:extLst>
            </p:cNvPr>
            <p:cNvSpPr/>
            <p:nvPr/>
          </p:nvSpPr>
          <p:spPr>
            <a:xfrm>
              <a:off x="6243158" y="1812949"/>
              <a:ext cx="2705860" cy="5563772"/>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C9C3DCA4-F930-D3AE-23EF-78796248C1BB}"/>
                </a:ext>
              </a:extLst>
            </p:cNvPr>
            <p:cNvSpPr/>
            <p:nvPr/>
          </p:nvSpPr>
          <p:spPr>
            <a:xfrm>
              <a:off x="9275614" y="1812949"/>
              <a:ext cx="2705860" cy="5586867"/>
            </a:xfrm>
            <a:prstGeom prst="rect">
              <a:avLst/>
            </a:prstGeom>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D11E0067-81B3-77C3-A1E9-BA05F65663FD}"/>
                </a:ext>
              </a:extLst>
            </p:cNvPr>
            <p:cNvSpPr/>
            <p:nvPr/>
          </p:nvSpPr>
          <p:spPr>
            <a:xfrm>
              <a:off x="3253634" y="1821896"/>
              <a:ext cx="2705860" cy="5563772"/>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34B4096B-6052-0BBA-03C4-2364F0FE7874}"/>
                </a:ext>
              </a:extLst>
            </p:cNvPr>
            <p:cNvSpPr/>
            <p:nvPr/>
          </p:nvSpPr>
          <p:spPr>
            <a:xfrm>
              <a:off x="248088" y="1814944"/>
              <a:ext cx="2705860" cy="5563772"/>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8099CD06-9166-F940-A8F7-E4DB76DB30C5}"/>
                </a:ext>
              </a:extLst>
            </p:cNvPr>
            <p:cNvSpPr txBox="1"/>
            <p:nvPr/>
          </p:nvSpPr>
          <p:spPr>
            <a:xfrm>
              <a:off x="285247" y="2358709"/>
              <a:ext cx="2705860" cy="29679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srgbClr val="FFFFFF"/>
                  </a:solidFill>
                  <a:effectLst/>
                  <a:uLnTx/>
                  <a:uFillTx/>
                  <a:latin typeface="Montserrat" pitchFamily="2" charset="77"/>
                  <a:ea typeface="Open Sans Light" panose="020B0306030504020204" pitchFamily="34" charset="0"/>
                  <a:cs typeface="Open Sans Light" panose="020B0306030504020204" pitchFamily="34" charset="0"/>
                </a:rPr>
                <a:t>Unified Visibility</a:t>
              </a:r>
            </a:p>
          </p:txBody>
        </p:sp>
        <p:sp>
          <p:nvSpPr>
            <p:cNvPr id="9" name="TextBox 8">
              <a:extLst>
                <a:ext uri="{FF2B5EF4-FFF2-40B4-BE49-F238E27FC236}">
                  <a16:creationId xmlns:a16="http://schemas.microsoft.com/office/drawing/2014/main" id="{C8E1A545-5957-4F3D-1DCC-DED9A2A61CA1}"/>
                </a:ext>
              </a:extLst>
            </p:cNvPr>
            <p:cNvSpPr txBox="1"/>
            <p:nvPr/>
          </p:nvSpPr>
          <p:spPr>
            <a:xfrm>
              <a:off x="445992" y="3060713"/>
              <a:ext cx="2515299" cy="3883847"/>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IE" sz="1100" b="0" i="0" u="none" strike="noStrike" kern="1200" cap="none" spc="0" normalizeH="0" baseline="0" noProof="0">
                  <a:ln>
                    <a:noFill/>
                  </a:ln>
                  <a:solidFill>
                    <a:srgbClr val="FFFFFF"/>
                  </a:solidFill>
                  <a:effectLst/>
                  <a:uLnTx/>
                  <a:uFillTx/>
                  <a:latin typeface="Montserrat" pitchFamily="2" charset="77"/>
                  <a:ea typeface="Calibri" panose="020F0502020204030204" pitchFamily="34" charset="0"/>
                  <a:cs typeface="+mn-cs"/>
                </a:rPr>
                <a:t>Demo item 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10</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20</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E" sz="1100" b="0" i="0" u="none" strike="noStrike" kern="1200" cap="none" spc="0" normalizeH="0" baseline="0" noProof="0">
                <a:ln>
                  <a:noFill/>
                </a:ln>
                <a:solidFill>
                  <a:srgbClr val="FFFFFF"/>
                </a:solidFill>
                <a:effectLst/>
                <a:uLnTx/>
                <a:uFillTx/>
                <a:latin typeface="Montserrat" pitchFamily="2" charset="77"/>
                <a:ea typeface="Calibri" panose="020F0502020204030204" pitchFamily="34" charset="0"/>
                <a:cs typeface="+mn-cs"/>
              </a:endParaRPr>
            </a:p>
          </p:txBody>
        </p:sp>
        <p:sp>
          <p:nvSpPr>
            <p:cNvPr id="31" name="Oval 30">
              <a:extLst>
                <a:ext uri="{FF2B5EF4-FFF2-40B4-BE49-F238E27FC236}">
                  <a16:creationId xmlns:a16="http://schemas.microsoft.com/office/drawing/2014/main" id="{F482CE14-7931-F28E-9BC8-589B2D1CE4C7}"/>
                </a:ext>
              </a:extLst>
            </p:cNvPr>
            <p:cNvSpPr/>
            <p:nvPr/>
          </p:nvSpPr>
          <p:spPr>
            <a:xfrm>
              <a:off x="1221194" y="1469329"/>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31C79CB6-2783-65DC-6B0D-F0D920886559}"/>
                </a:ext>
              </a:extLst>
            </p:cNvPr>
            <p:cNvSpPr txBox="1"/>
            <p:nvPr/>
          </p:nvSpPr>
          <p:spPr>
            <a:xfrm>
              <a:off x="3323476" y="2333153"/>
              <a:ext cx="2636018" cy="57164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err="1">
                  <a:ln>
                    <a:noFill/>
                  </a:ln>
                  <a:solidFill>
                    <a:srgbClr val="FFFFFF"/>
                  </a:solidFill>
                  <a:effectLst/>
                  <a:uLnTx/>
                  <a:uFillTx/>
                  <a:latin typeface="Montserrat" pitchFamily="2" charset="77"/>
                  <a:ea typeface="Open Sans Light" panose="020B0306030504020204" pitchFamily="34" charset="0"/>
                  <a:cs typeface="Open Sans Light" panose="020B0306030504020204" pitchFamily="34" charset="0"/>
                </a:rPr>
                <a:t>Insigh</a:t>
              </a:r>
              <a:r>
                <a:rPr lang="en-US" sz="1700" b="1">
                  <a:solidFill>
                    <a:srgbClr val="FFFFFF"/>
                  </a:solidFill>
                  <a:latin typeface="Montserrat" pitchFamily="2" charset="77"/>
                  <a:ea typeface="Open Sans Light" panose="020B0306030504020204" pitchFamily="34" charset="0"/>
                  <a:cs typeface="Open Sans Light" panose="020B0306030504020204" pitchFamily="34" charset="0"/>
                </a:rPr>
                <a:t>t-Led Threat Detection</a:t>
              </a:r>
              <a:endParaRPr kumimoji="0" lang="en-US" sz="1700" b="1" i="0" u="none" strike="noStrike" kern="1200" cap="none" spc="0" normalizeH="0" baseline="0" noProof="0">
                <a:ln>
                  <a:noFill/>
                </a:ln>
                <a:solidFill>
                  <a:srgbClr val="FFFFFF"/>
                </a:solidFill>
                <a:effectLst/>
                <a:uLnTx/>
                <a:uFillTx/>
                <a:latin typeface="Montserrat" pitchFamily="2" charset="77"/>
                <a:ea typeface="Open Sans Light" panose="020B0306030504020204" pitchFamily="34" charset="0"/>
                <a:cs typeface="Open Sans Light" panose="020B0306030504020204" pitchFamily="34" charset="0"/>
              </a:endParaRPr>
            </a:p>
          </p:txBody>
        </p:sp>
        <p:sp>
          <p:nvSpPr>
            <p:cNvPr id="14" name="TextBox 13">
              <a:extLst>
                <a:ext uri="{FF2B5EF4-FFF2-40B4-BE49-F238E27FC236}">
                  <a16:creationId xmlns:a16="http://schemas.microsoft.com/office/drawing/2014/main" id="{239228E2-AA18-A79A-F103-1E3008ED3B31}"/>
                </a:ext>
              </a:extLst>
            </p:cNvPr>
            <p:cNvSpPr txBox="1"/>
            <p:nvPr/>
          </p:nvSpPr>
          <p:spPr>
            <a:xfrm>
              <a:off x="3476454" y="3050280"/>
              <a:ext cx="2535115" cy="3883847"/>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0" tIns="0" rIns="0" bIns="0" rtlCol="0">
              <a:spAutoFit/>
            </a:bodyPr>
            <a:lstStyle/>
            <a:p>
              <a:pPr marL="171450" lvl="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10</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20</a:t>
              </a:r>
            </a:p>
            <a:p>
              <a:pPr marL="171450" lvl="0" indent="-171450">
                <a:buFont typeface="Wingdings" panose="05000000000000000000" pitchFamily="2" charset="2"/>
                <a:buChar char="Ø"/>
                <a:defRPr/>
              </a:pPr>
              <a:endParaRPr lang="en-IE" sz="1100">
                <a:solidFill>
                  <a:srgbClr val="FFFFFF"/>
                </a:solidFill>
                <a:latin typeface="Montserrat" pitchFamily="2" charset="77"/>
                <a:ea typeface="Calibri" panose="020F0502020204030204" pitchFamily="34" charset="0"/>
              </a:endParaRPr>
            </a:p>
          </p:txBody>
        </p:sp>
        <p:sp>
          <p:nvSpPr>
            <p:cNvPr id="15" name="TextBox 14">
              <a:extLst>
                <a:ext uri="{FF2B5EF4-FFF2-40B4-BE49-F238E27FC236}">
                  <a16:creationId xmlns:a16="http://schemas.microsoft.com/office/drawing/2014/main" id="{B9926E7F-3F96-3B10-6CA9-39EEA3D534FA}"/>
                </a:ext>
              </a:extLst>
            </p:cNvPr>
            <p:cNvSpPr txBox="1"/>
            <p:nvPr/>
          </p:nvSpPr>
          <p:spPr>
            <a:xfrm>
              <a:off x="6251838" y="2309511"/>
              <a:ext cx="2753906" cy="571648"/>
            </a:xfrm>
            <a:prstGeom prst="rect">
              <a:avLst/>
            </a:prstGeom>
            <a:noFill/>
          </p:spPr>
          <p:txBody>
            <a:bodyPr wrap="square" lIns="0" tIns="0" rIns="0" bIns="0" rtlCol="0">
              <a:spAutoFit/>
            </a:bodyPr>
            <a:lstStyle/>
            <a:p>
              <a:pPr algn="ctr">
                <a:defRPr/>
              </a:pPr>
              <a:r>
                <a:rPr lang="en-US" sz="1700" b="1">
                  <a:solidFill>
                    <a:srgbClr val="FFFFFF"/>
                  </a:solidFill>
                  <a:latin typeface="Montserrat" pitchFamily="2" charset="77"/>
                  <a:ea typeface="Open Sans Light" panose="020B0306030504020204" pitchFamily="34" charset="0"/>
                  <a:cs typeface="Open Sans Light" panose="020B0306030504020204" pitchFamily="34" charset="0"/>
                </a:rPr>
                <a:t>Reduced MTTR with Deep Analytics</a:t>
              </a:r>
              <a:endParaRPr kumimoji="0" lang="en-US" sz="1700" b="1" i="0" u="none" strike="noStrike" kern="1200" cap="none" spc="0" normalizeH="0" baseline="0" noProof="0">
                <a:ln>
                  <a:noFill/>
                </a:ln>
                <a:solidFill>
                  <a:srgbClr val="FFFFFF"/>
                </a:solidFill>
                <a:effectLst/>
                <a:uLnTx/>
                <a:uFillTx/>
                <a:latin typeface="Montserrat" pitchFamily="2" charset="77"/>
                <a:ea typeface="Open Sans Light" panose="020B0306030504020204" pitchFamily="34" charset="0"/>
                <a:cs typeface="Open Sans Light" panose="020B0306030504020204" pitchFamily="34" charset="0"/>
              </a:endParaRPr>
            </a:p>
          </p:txBody>
        </p:sp>
        <p:sp>
          <p:nvSpPr>
            <p:cNvPr id="16" name="TextBox 15">
              <a:extLst>
                <a:ext uri="{FF2B5EF4-FFF2-40B4-BE49-F238E27FC236}">
                  <a16:creationId xmlns:a16="http://schemas.microsoft.com/office/drawing/2014/main" id="{C22E57BC-AD03-F4FF-A9A9-607D9B762E34}"/>
                </a:ext>
              </a:extLst>
            </p:cNvPr>
            <p:cNvSpPr txBox="1"/>
            <p:nvPr/>
          </p:nvSpPr>
          <p:spPr>
            <a:xfrm>
              <a:off x="6452116" y="3050279"/>
              <a:ext cx="2560970" cy="3883847"/>
            </a:xfrm>
            <a:prstGeom prst="rect">
              <a:avLst/>
            </a:prstGeom>
            <a:noFill/>
          </p:spPr>
          <p:txBody>
            <a:bodyPr wrap="square" lIns="0" tIns="0" rIns="0" bIns="0" rtlCol="0">
              <a:spAutoFit/>
            </a:bodyPr>
            <a:lstStyle/>
            <a:p>
              <a:pPr marL="171450" lvl="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10</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20</a:t>
              </a:r>
            </a:p>
            <a:p>
              <a:pPr marL="171450" lvl="0" indent="-171450">
                <a:buFont typeface="Wingdings" panose="05000000000000000000" pitchFamily="2" charset="2"/>
                <a:buChar char="Ø"/>
                <a:defRPr/>
              </a:pPr>
              <a:endParaRPr lang="en-IE" sz="1100">
                <a:solidFill>
                  <a:srgbClr val="FFFFFF"/>
                </a:solidFill>
                <a:latin typeface="Montserrat" pitchFamily="2" charset="77"/>
                <a:ea typeface="Calibri" panose="020F0502020204030204" pitchFamily="34" charset="0"/>
              </a:endParaRPr>
            </a:p>
          </p:txBody>
        </p:sp>
        <p:sp>
          <p:nvSpPr>
            <p:cNvPr id="18" name="TextBox 17">
              <a:extLst>
                <a:ext uri="{FF2B5EF4-FFF2-40B4-BE49-F238E27FC236}">
                  <a16:creationId xmlns:a16="http://schemas.microsoft.com/office/drawing/2014/main" id="{83EE8269-D5F6-E858-DC05-213F542CF2E1}"/>
                </a:ext>
              </a:extLst>
            </p:cNvPr>
            <p:cNvSpPr txBox="1"/>
            <p:nvPr/>
          </p:nvSpPr>
          <p:spPr>
            <a:xfrm>
              <a:off x="9286212" y="2284705"/>
              <a:ext cx="2668297" cy="538023"/>
            </a:xfrm>
            <a:prstGeom prst="rect">
              <a:avLst/>
            </a:prstGeom>
            <a:noFill/>
          </p:spPr>
          <p:txBody>
            <a:bodyPr wrap="square" lIns="0" tIns="0" rIns="0" bIns="0" rtlCol="0">
              <a:spAutoFit/>
            </a:bodyPr>
            <a:lstStyle/>
            <a:p>
              <a:pPr lvl="0" algn="ctr">
                <a:defRPr/>
              </a:pPr>
              <a:r>
                <a:rPr lang="en-US" sz="1600" b="1">
                  <a:solidFill>
                    <a:srgbClr val="FFFFFF"/>
                  </a:solidFill>
                  <a:latin typeface="Montserrat" pitchFamily="2" charset="77"/>
                  <a:ea typeface="Open Sans Light" panose="020B0306030504020204" pitchFamily="34" charset="0"/>
                  <a:cs typeface="Open Sans Light" panose="020B0306030504020204" pitchFamily="34" charset="0"/>
                </a:rPr>
                <a:t>Policy Gov. &amp; Compliance Visibility</a:t>
              </a:r>
            </a:p>
          </p:txBody>
        </p:sp>
        <p:sp>
          <p:nvSpPr>
            <p:cNvPr id="19" name="TextBox 18">
              <a:extLst>
                <a:ext uri="{FF2B5EF4-FFF2-40B4-BE49-F238E27FC236}">
                  <a16:creationId xmlns:a16="http://schemas.microsoft.com/office/drawing/2014/main" id="{9BAD06A0-D25E-DB50-8FF6-BE3721967E0C}"/>
                </a:ext>
              </a:extLst>
            </p:cNvPr>
            <p:cNvSpPr txBox="1"/>
            <p:nvPr/>
          </p:nvSpPr>
          <p:spPr>
            <a:xfrm>
              <a:off x="9486605" y="3050278"/>
              <a:ext cx="2467904" cy="3883847"/>
            </a:xfrm>
            <a:prstGeom prst="rect">
              <a:avLst/>
            </a:prstGeom>
            <a:noFill/>
          </p:spPr>
          <p:txBody>
            <a:bodyPr wrap="square" lIns="0" tIns="0" rIns="0" bIns="0" rtlCol="0">
              <a:spAutoFit/>
            </a:bodyPr>
            <a:lstStyle/>
            <a:p>
              <a:pPr marL="171450" lvl="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10</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20</a:t>
              </a:r>
            </a:p>
            <a:p>
              <a:pPr marL="171450" lvl="0" indent="-171450">
                <a:buFont typeface="Wingdings" panose="05000000000000000000" pitchFamily="2" charset="2"/>
                <a:buChar char="Ø"/>
                <a:defRPr/>
              </a:pPr>
              <a:endParaRPr lang="en-IE" sz="1100">
                <a:solidFill>
                  <a:srgbClr val="FFFFFF"/>
                </a:solidFill>
                <a:latin typeface="Montserrat" pitchFamily="2" charset="77"/>
                <a:ea typeface="Calibri" panose="020F0502020204030204" pitchFamily="34" charset="0"/>
              </a:endParaRPr>
            </a:p>
          </p:txBody>
        </p:sp>
        <p:sp>
          <p:nvSpPr>
            <p:cNvPr id="27" name="Oval 26">
              <a:extLst>
                <a:ext uri="{FF2B5EF4-FFF2-40B4-BE49-F238E27FC236}">
                  <a16:creationId xmlns:a16="http://schemas.microsoft.com/office/drawing/2014/main" id="{E630E8DA-7EE2-283C-2C06-3F889CE49101}"/>
                </a:ext>
              </a:extLst>
            </p:cNvPr>
            <p:cNvSpPr/>
            <p:nvPr/>
          </p:nvSpPr>
          <p:spPr>
            <a:xfrm>
              <a:off x="4173522" y="1469329"/>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5" name="Oval 24">
              <a:extLst>
                <a:ext uri="{FF2B5EF4-FFF2-40B4-BE49-F238E27FC236}">
                  <a16:creationId xmlns:a16="http://schemas.microsoft.com/office/drawing/2014/main" id="{939E4D04-6C2D-B9F4-DD6F-464588C02093}"/>
                </a:ext>
              </a:extLst>
            </p:cNvPr>
            <p:cNvSpPr/>
            <p:nvPr/>
          </p:nvSpPr>
          <p:spPr>
            <a:xfrm>
              <a:off x="10222194" y="1412776"/>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204D3256-7A89-C9B7-875D-F697489850AB}"/>
                </a:ext>
              </a:extLst>
            </p:cNvPr>
            <p:cNvSpPr/>
            <p:nvPr/>
          </p:nvSpPr>
          <p:spPr>
            <a:xfrm>
              <a:off x="7176120" y="1412776"/>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42" name="Title 2">
            <a:extLst>
              <a:ext uri="{FF2B5EF4-FFF2-40B4-BE49-F238E27FC236}">
                <a16:creationId xmlns:a16="http://schemas.microsoft.com/office/drawing/2014/main" id="{449D4BFC-B89D-79CB-48C2-FAF080519626}"/>
              </a:ext>
            </a:extLst>
          </p:cNvPr>
          <p:cNvSpPr>
            <a:spLocks noGrp="1"/>
          </p:cNvSpPr>
          <p:nvPr>
            <p:ph type="title"/>
          </p:nvPr>
        </p:nvSpPr>
        <p:spPr>
          <a:xfrm>
            <a:off x="468602" y="183220"/>
            <a:ext cx="9010800" cy="904225"/>
          </a:xfrm>
        </p:spPr>
        <p:txBody>
          <a:bodyPr>
            <a:normAutofit/>
          </a:bodyPr>
          <a:lstStyle/>
          <a:p>
            <a:r>
              <a:rPr lang="en-IE" sz="3000">
                <a:solidFill>
                  <a:schemeClr val="accent3"/>
                </a:solidFill>
              </a:rPr>
              <a:t>DEMO – Visibility Driven Business Outcomes 1</a:t>
            </a:r>
            <a:endParaRPr lang="en-US" sz="3000">
              <a:solidFill>
                <a:schemeClr val="accent3"/>
              </a:solidFill>
            </a:endParaRPr>
          </a:p>
        </p:txBody>
      </p:sp>
      <p:pic>
        <p:nvPicPr>
          <p:cNvPr id="21" name="Graphic 20" descr="Plugged Unplugged with solid fill">
            <a:extLst>
              <a:ext uri="{FF2B5EF4-FFF2-40B4-BE49-F238E27FC236}">
                <a16:creationId xmlns:a16="http://schemas.microsoft.com/office/drawing/2014/main" id="{B1F66CB1-CB5B-A3C6-CCE0-BE996CF7C44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8148" y="972961"/>
            <a:ext cx="490730" cy="490730"/>
          </a:xfrm>
          <a:prstGeom prst="rect">
            <a:avLst/>
          </a:prstGeom>
        </p:spPr>
      </p:pic>
      <p:pic>
        <p:nvPicPr>
          <p:cNvPr id="24" name="Graphic 23" descr="Playbook with solid fill">
            <a:extLst>
              <a:ext uri="{FF2B5EF4-FFF2-40B4-BE49-F238E27FC236}">
                <a16:creationId xmlns:a16="http://schemas.microsoft.com/office/drawing/2014/main" id="{B85BEB26-0D61-A545-C993-085542DA9DC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84772" y="930617"/>
            <a:ext cx="545182" cy="545182"/>
          </a:xfrm>
          <a:prstGeom prst="rect">
            <a:avLst/>
          </a:prstGeom>
        </p:spPr>
      </p:pic>
      <p:pic>
        <p:nvPicPr>
          <p:cNvPr id="28" name="Graphic 27" descr="Influencer with solid fill">
            <a:extLst>
              <a:ext uri="{FF2B5EF4-FFF2-40B4-BE49-F238E27FC236}">
                <a16:creationId xmlns:a16="http://schemas.microsoft.com/office/drawing/2014/main" id="{A325C64F-A01B-665B-4B09-9A2121AB0D8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49363" y="877967"/>
            <a:ext cx="511242" cy="511242"/>
          </a:xfrm>
          <a:prstGeom prst="rect">
            <a:avLst/>
          </a:prstGeom>
        </p:spPr>
      </p:pic>
      <p:pic>
        <p:nvPicPr>
          <p:cNvPr id="30" name="Graphic 29" descr="Users with solid fill">
            <a:extLst>
              <a:ext uri="{FF2B5EF4-FFF2-40B4-BE49-F238E27FC236}">
                <a16:creationId xmlns:a16="http://schemas.microsoft.com/office/drawing/2014/main" id="{A0301A69-1EC4-CCDA-31B4-039ACE4E3E2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143035" y="877967"/>
            <a:ext cx="551845" cy="551845"/>
          </a:xfrm>
          <a:prstGeom prst="rect">
            <a:avLst/>
          </a:prstGeom>
        </p:spPr>
      </p:pic>
    </p:spTree>
    <p:extLst>
      <p:ext uri="{BB962C8B-B14F-4D97-AF65-F5344CB8AC3E}">
        <p14:creationId xmlns:p14="http://schemas.microsoft.com/office/powerpoint/2010/main" val="43168916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1000"/>
                                        <p:tgtEl>
                                          <p:spTgt spid="30"/>
                                        </p:tgtEl>
                                      </p:cBhvr>
                                    </p:animEffect>
                                    <p:anim calcmode="lin" valueType="num">
                                      <p:cBhvr>
                                        <p:cTn id="13" dur="1000" fill="hold"/>
                                        <p:tgtEl>
                                          <p:spTgt spid="30"/>
                                        </p:tgtEl>
                                        <p:attrNameLst>
                                          <p:attrName>ppt_x</p:attrName>
                                        </p:attrNameLst>
                                      </p:cBhvr>
                                      <p:tavLst>
                                        <p:tav tm="0">
                                          <p:val>
                                            <p:strVal val="#ppt_x"/>
                                          </p:val>
                                        </p:tav>
                                        <p:tav tm="100000">
                                          <p:val>
                                            <p:strVal val="#ppt_x"/>
                                          </p:val>
                                        </p:tav>
                                      </p:tavLst>
                                    </p:anim>
                                    <p:anim calcmode="lin" valueType="num">
                                      <p:cBhvr>
                                        <p:cTn id="14" dur="1000" fill="hold"/>
                                        <p:tgtEl>
                                          <p:spTgt spid="30"/>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1000"/>
                                        <p:tgtEl>
                                          <p:spTgt spid="28"/>
                                        </p:tgtEl>
                                      </p:cBhvr>
                                    </p:animEffect>
                                    <p:anim calcmode="lin" valueType="num">
                                      <p:cBhvr>
                                        <p:cTn id="18" dur="1000" fill="hold"/>
                                        <p:tgtEl>
                                          <p:spTgt spid="28"/>
                                        </p:tgtEl>
                                        <p:attrNameLst>
                                          <p:attrName>ppt_x</p:attrName>
                                        </p:attrNameLst>
                                      </p:cBhvr>
                                      <p:tavLst>
                                        <p:tav tm="0">
                                          <p:val>
                                            <p:strVal val="#ppt_x"/>
                                          </p:val>
                                        </p:tav>
                                        <p:tav tm="100000">
                                          <p:val>
                                            <p:strVal val="#ppt_x"/>
                                          </p:val>
                                        </p:tav>
                                      </p:tavLst>
                                    </p:anim>
                                    <p:anim calcmode="lin" valueType="num">
                                      <p:cBhvr>
                                        <p:cTn id="19" dur="1000" fill="hold"/>
                                        <p:tgtEl>
                                          <p:spTgt spid="2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1000"/>
                                        <p:tgtEl>
                                          <p:spTgt spid="24"/>
                                        </p:tgtEl>
                                      </p:cBhvr>
                                    </p:animEffect>
                                    <p:anim calcmode="lin" valueType="num">
                                      <p:cBhvr>
                                        <p:cTn id="23" dur="1000" fill="hold"/>
                                        <p:tgtEl>
                                          <p:spTgt spid="24"/>
                                        </p:tgtEl>
                                        <p:attrNameLst>
                                          <p:attrName>ppt_x</p:attrName>
                                        </p:attrNameLst>
                                      </p:cBhvr>
                                      <p:tavLst>
                                        <p:tav tm="0">
                                          <p:val>
                                            <p:strVal val="#ppt_x"/>
                                          </p:val>
                                        </p:tav>
                                        <p:tav tm="100000">
                                          <p:val>
                                            <p:strVal val="#ppt_x"/>
                                          </p:val>
                                        </p:tav>
                                      </p:tavLst>
                                    </p:anim>
                                    <p:anim calcmode="lin" valueType="num">
                                      <p:cBhvr>
                                        <p:cTn id="24" dur="1000" fill="hold"/>
                                        <p:tgtEl>
                                          <p:spTgt spid="24"/>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1000"/>
                                        <p:tgtEl>
                                          <p:spTgt spid="21"/>
                                        </p:tgtEl>
                                      </p:cBhvr>
                                    </p:animEffect>
                                    <p:anim calcmode="lin" valueType="num">
                                      <p:cBhvr>
                                        <p:cTn id="28" dur="1000" fill="hold"/>
                                        <p:tgtEl>
                                          <p:spTgt spid="21"/>
                                        </p:tgtEl>
                                        <p:attrNameLst>
                                          <p:attrName>ppt_x</p:attrName>
                                        </p:attrNameLst>
                                      </p:cBhvr>
                                      <p:tavLst>
                                        <p:tav tm="0">
                                          <p:val>
                                            <p:strVal val="#ppt_x"/>
                                          </p:val>
                                        </p:tav>
                                        <p:tav tm="100000">
                                          <p:val>
                                            <p:strVal val="#ppt_x"/>
                                          </p:val>
                                        </p:tav>
                                      </p:tavLst>
                                    </p:anim>
                                    <p:anim calcmode="lin" valueType="num">
                                      <p:cBhvr>
                                        <p:cTn id="29" dur="1000" fill="hold"/>
                                        <p:tgtEl>
                                          <p:spTgt spid="21"/>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1000"/>
                                        <p:tgtEl>
                                          <p:spTgt spid="2"/>
                                        </p:tgtEl>
                                      </p:cBhvr>
                                    </p:animEffect>
                                    <p:anim calcmode="lin" valueType="num">
                                      <p:cBhvr>
                                        <p:cTn id="33" dur="1000" fill="hold"/>
                                        <p:tgtEl>
                                          <p:spTgt spid="2"/>
                                        </p:tgtEl>
                                        <p:attrNameLst>
                                          <p:attrName>ppt_x</p:attrName>
                                        </p:attrNameLst>
                                      </p:cBhvr>
                                      <p:tavLst>
                                        <p:tav tm="0">
                                          <p:val>
                                            <p:strVal val="#ppt_x"/>
                                          </p:val>
                                        </p:tav>
                                        <p:tav tm="100000">
                                          <p:val>
                                            <p:strVal val="#ppt_x"/>
                                          </p:val>
                                        </p:tav>
                                      </p:tavLst>
                                    </p:anim>
                                    <p:anim calcmode="lin" valueType="num">
                                      <p:cBhvr>
                                        <p:cTn id="34" dur="1000" fill="hold"/>
                                        <p:tgtEl>
                                          <p:spTgt spid="2"/>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1000"/>
                                        <p:tgtEl>
                                          <p:spTgt spid="28"/>
                                        </p:tgtEl>
                                      </p:cBhvr>
                                    </p:animEffect>
                                    <p:anim calcmode="lin" valueType="num">
                                      <p:cBhvr>
                                        <p:cTn id="38" dur="1000" fill="hold"/>
                                        <p:tgtEl>
                                          <p:spTgt spid="28"/>
                                        </p:tgtEl>
                                        <p:attrNameLst>
                                          <p:attrName>ppt_x</p:attrName>
                                        </p:attrNameLst>
                                      </p:cBhvr>
                                      <p:tavLst>
                                        <p:tav tm="0">
                                          <p:val>
                                            <p:strVal val="#ppt_x"/>
                                          </p:val>
                                        </p:tav>
                                        <p:tav tm="100000">
                                          <p:val>
                                            <p:strVal val="#ppt_x"/>
                                          </p:val>
                                        </p:tav>
                                      </p:tavLst>
                                    </p:anim>
                                    <p:anim calcmode="lin" valueType="num">
                                      <p:cBhvr>
                                        <p:cTn id="39" dur="1000" fill="hold"/>
                                        <p:tgtEl>
                                          <p:spTgt spid="2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1000"/>
                                        <p:tgtEl>
                                          <p:spTgt spid="30"/>
                                        </p:tgtEl>
                                      </p:cBhvr>
                                    </p:animEffect>
                                    <p:anim calcmode="lin" valueType="num">
                                      <p:cBhvr>
                                        <p:cTn id="43" dur="1000" fill="hold"/>
                                        <p:tgtEl>
                                          <p:spTgt spid="30"/>
                                        </p:tgtEl>
                                        <p:attrNameLst>
                                          <p:attrName>ppt_x</p:attrName>
                                        </p:attrNameLst>
                                      </p:cBhvr>
                                      <p:tavLst>
                                        <p:tav tm="0">
                                          <p:val>
                                            <p:strVal val="#ppt_x"/>
                                          </p:val>
                                        </p:tav>
                                        <p:tav tm="100000">
                                          <p:val>
                                            <p:strVal val="#ppt_x"/>
                                          </p:val>
                                        </p:tav>
                                      </p:tavLst>
                                    </p:anim>
                                    <p:anim calcmode="lin" valueType="num">
                                      <p:cBhvr>
                                        <p:cTn id="44"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2A594-0808-E4F2-06C5-75D27322519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2DF822A-D498-240D-C2BD-6514F912F810}"/>
              </a:ext>
            </a:extLst>
          </p:cNvPr>
          <p:cNvSpPr>
            <a:spLocks noGrp="1"/>
          </p:cNvSpPr>
          <p:nvPr>
            <p:ph type="sldNum" sz="quarter" idx="12"/>
          </p:nvPr>
        </p:nvSpPr>
        <p:spPr>
          <a:xfrm>
            <a:off x="11667947" y="6142037"/>
            <a:ext cx="429230" cy="365125"/>
          </a:xfrm>
        </p:spPr>
        <p:txBody>
          <a:bodyPr/>
          <a:lstStyle/>
          <a:p>
            <a:r>
              <a:rPr lang="en-US"/>
              <a:t>| </a:t>
            </a:r>
            <a:fld id="{FEC5E14B-9965-442C-8683-0E66DD8427DC}" type="slidenum">
              <a:rPr lang="en-US" smtClean="0"/>
              <a:pPr/>
              <a:t>19</a:t>
            </a:fld>
            <a:endParaRPr lang="en-US"/>
          </a:p>
        </p:txBody>
      </p:sp>
      <p:grpSp>
        <p:nvGrpSpPr>
          <p:cNvPr id="2" name="Group 1">
            <a:extLst>
              <a:ext uri="{FF2B5EF4-FFF2-40B4-BE49-F238E27FC236}">
                <a16:creationId xmlns:a16="http://schemas.microsoft.com/office/drawing/2014/main" id="{11B73B75-FBF7-80FA-68C0-BD032507B12F}"/>
              </a:ext>
            </a:extLst>
          </p:cNvPr>
          <p:cNvGrpSpPr/>
          <p:nvPr/>
        </p:nvGrpSpPr>
        <p:grpSpPr>
          <a:xfrm>
            <a:off x="924809" y="770943"/>
            <a:ext cx="10404053" cy="5479836"/>
            <a:chOff x="248088" y="1412776"/>
            <a:chExt cx="11803351" cy="5987040"/>
          </a:xfrm>
        </p:grpSpPr>
        <p:sp>
          <p:nvSpPr>
            <p:cNvPr id="3" name="Rectangle 2">
              <a:extLst>
                <a:ext uri="{FF2B5EF4-FFF2-40B4-BE49-F238E27FC236}">
                  <a16:creationId xmlns:a16="http://schemas.microsoft.com/office/drawing/2014/main" id="{434519AA-9DFD-26FB-779D-4EE6816053DD}"/>
                </a:ext>
              </a:extLst>
            </p:cNvPr>
            <p:cNvSpPr/>
            <p:nvPr/>
          </p:nvSpPr>
          <p:spPr>
            <a:xfrm>
              <a:off x="6243158" y="1812949"/>
              <a:ext cx="2705860" cy="5563772"/>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7E6B64E0-889F-2C68-CF44-B14A0D7A595E}"/>
                </a:ext>
              </a:extLst>
            </p:cNvPr>
            <p:cNvSpPr/>
            <p:nvPr/>
          </p:nvSpPr>
          <p:spPr>
            <a:xfrm>
              <a:off x="9275614" y="1812949"/>
              <a:ext cx="2705860" cy="5586867"/>
            </a:xfrm>
            <a:prstGeom prst="rect">
              <a:avLst/>
            </a:prstGeom>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E523A205-CE48-29F6-E1A6-91CAC5986689}"/>
                </a:ext>
              </a:extLst>
            </p:cNvPr>
            <p:cNvSpPr/>
            <p:nvPr/>
          </p:nvSpPr>
          <p:spPr>
            <a:xfrm>
              <a:off x="3253634" y="1821896"/>
              <a:ext cx="2705860" cy="5563772"/>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CEFB05B6-B1DD-0704-31DF-1864247BC367}"/>
                </a:ext>
              </a:extLst>
            </p:cNvPr>
            <p:cNvSpPr/>
            <p:nvPr/>
          </p:nvSpPr>
          <p:spPr>
            <a:xfrm>
              <a:off x="248088" y="1814945"/>
              <a:ext cx="2705860" cy="5563772"/>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C3F062A6-BAED-E1D9-D73D-D509575C8798}"/>
                </a:ext>
              </a:extLst>
            </p:cNvPr>
            <p:cNvSpPr txBox="1"/>
            <p:nvPr/>
          </p:nvSpPr>
          <p:spPr>
            <a:xfrm>
              <a:off x="301790" y="2330503"/>
              <a:ext cx="2705860" cy="538023"/>
            </a:xfrm>
            <a:prstGeom prst="rect">
              <a:avLst/>
            </a:prstGeom>
            <a:noFill/>
          </p:spPr>
          <p:txBody>
            <a:bodyPr wrap="square" lIns="0" tIns="0" rIns="0" bIns="0" rtlCol="0">
              <a:spAutoFit/>
            </a:bodyPr>
            <a:lstStyle/>
            <a:p>
              <a:pPr lvl="0" algn="ctr">
                <a:defRPr/>
              </a:pPr>
              <a:r>
                <a:rPr lang="en-US" sz="1600" b="1">
                  <a:solidFill>
                    <a:srgbClr val="FFFFFF"/>
                  </a:solidFill>
                  <a:latin typeface="Montserrat" pitchFamily="2" charset="77"/>
                  <a:ea typeface="Open Sans Light" panose="020B0306030504020204" pitchFamily="34" charset="0"/>
                  <a:cs typeface="Open Sans Light" panose="020B0306030504020204" pitchFamily="34" charset="0"/>
                </a:rPr>
                <a:t>User Experience Visibility &amp; Control</a:t>
              </a:r>
            </a:p>
          </p:txBody>
        </p:sp>
        <p:sp>
          <p:nvSpPr>
            <p:cNvPr id="9" name="TextBox 8">
              <a:extLst>
                <a:ext uri="{FF2B5EF4-FFF2-40B4-BE49-F238E27FC236}">
                  <a16:creationId xmlns:a16="http://schemas.microsoft.com/office/drawing/2014/main" id="{257CB439-8051-9F1A-1006-BC3CBBD8E27B}"/>
                </a:ext>
              </a:extLst>
            </p:cNvPr>
            <p:cNvSpPr txBox="1"/>
            <p:nvPr/>
          </p:nvSpPr>
          <p:spPr>
            <a:xfrm>
              <a:off x="486290" y="3095997"/>
              <a:ext cx="2515299" cy="3883847"/>
            </a:xfrm>
            <a:prstGeom prst="rect">
              <a:avLst/>
            </a:prstGeom>
            <a:noFill/>
          </p:spPr>
          <p:txBody>
            <a:bodyPr wrap="square" lIns="0" tIns="0" rIns="0" bIns="0" rtlCol="0">
              <a:spAutoFit/>
            </a:bodyPr>
            <a:lstStyle/>
            <a:p>
              <a:pPr marL="171450" lvl="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10</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20</a:t>
              </a:r>
            </a:p>
            <a:p>
              <a:pPr marL="171450" lvl="0" indent="-171450">
                <a:buFont typeface="Wingdings" panose="05000000000000000000" pitchFamily="2" charset="2"/>
                <a:buChar char="Ø"/>
                <a:defRPr/>
              </a:pPr>
              <a:endParaRPr lang="en-IE" sz="1100">
                <a:solidFill>
                  <a:srgbClr val="FFFFFF"/>
                </a:solidFill>
                <a:latin typeface="Montserrat" pitchFamily="2" charset="77"/>
                <a:ea typeface="Calibri" panose="020F0502020204030204" pitchFamily="34" charset="0"/>
              </a:endParaRPr>
            </a:p>
          </p:txBody>
        </p:sp>
        <p:sp>
          <p:nvSpPr>
            <p:cNvPr id="31" name="Oval 30">
              <a:extLst>
                <a:ext uri="{FF2B5EF4-FFF2-40B4-BE49-F238E27FC236}">
                  <a16:creationId xmlns:a16="http://schemas.microsoft.com/office/drawing/2014/main" id="{673DEF95-0F96-0498-929E-D3E27D8010C3}"/>
                </a:ext>
              </a:extLst>
            </p:cNvPr>
            <p:cNvSpPr/>
            <p:nvPr/>
          </p:nvSpPr>
          <p:spPr>
            <a:xfrm>
              <a:off x="1221194" y="1469329"/>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75DA5517-C324-0A56-4D37-2B1CC72AFF42}"/>
                </a:ext>
              </a:extLst>
            </p:cNvPr>
            <p:cNvSpPr txBox="1"/>
            <p:nvPr/>
          </p:nvSpPr>
          <p:spPr>
            <a:xfrm>
              <a:off x="3320879" y="2330503"/>
              <a:ext cx="2636018" cy="571648"/>
            </a:xfrm>
            <a:prstGeom prst="rect">
              <a:avLst/>
            </a:prstGeom>
            <a:noFill/>
          </p:spPr>
          <p:txBody>
            <a:bodyPr wrap="square" lIns="0" tIns="0" rIns="0" bIns="0" rtlCol="0">
              <a:spAutoFit/>
            </a:bodyPr>
            <a:lstStyle/>
            <a:p>
              <a:pPr algn="ctr">
                <a:defRPr/>
              </a:pPr>
              <a:r>
                <a:rPr lang="en-US" sz="1700" b="1">
                  <a:solidFill>
                    <a:schemeClr val="bg1"/>
                  </a:solidFill>
                  <a:latin typeface="Montserrat" pitchFamily="2" charset="77"/>
                  <a:ea typeface="Open Sans Light" panose="020B0306030504020204" pitchFamily="34" charset="0"/>
                  <a:cs typeface="Open Sans Light" panose="020B0306030504020204" pitchFamily="34" charset="0"/>
                </a:rPr>
                <a:t>Exec-Level Posture Insights</a:t>
              </a:r>
            </a:p>
          </p:txBody>
        </p:sp>
        <p:sp>
          <p:nvSpPr>
            <p:cNvPr id="14" name="TextBox 13">
              <a:extLst>
                <a:ext uri="{FF2B5EF4-FFF2-40B4-BE49-F238E27FC236}">
                  <a16:creationId xmlns:a16="http://schemas.microsoft.com/office/drawing/2014/main" id="{6C0872C9-8089-5015-0AF4-B9BC2F8BD988}"/>
                </a:ext>
              </a:extLst>
            </p:cNvPr>
            <p:cNvSpPr txBox="1"/>
            <p:nvPr/>
          </p:nvSpPr>
          <p:spPr>
            <a:xfrm>
              <a:off x="3516339" y="3095235"/>
              <a:ext cx="2535115" cy="3883847"/>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0" tIns="0" rIns="0" bIns="0" rtlCol="0">
              <a:spAutoFit/>
            </a:bodyPr>
            <a:lstStyle/>
            <a:p>
              <a:pPr marL="171450" lvl="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10</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20</a:t>
              </a:r>
            </a:p>
            <a:p>
              <a:pPr marL="171450" lvl="0" indent="-171450">
                <a:buFont typeface="Wingdings" panose="05000000000000000000" pitchFamily="2" charset="2"/>
                <a:buChar char="Ø"/>
                <a:defRPr/>
              </a:pPr>
              <a:endParaRPr lang="en-IE" sz="1100">
                <a:solidFill>
                  <a:srgbClr val="FFFFFF"/>
                </a:solidFill>
                <a:latin typeface="Montserrat" pitchFamily="2" charset="77"/>
                <a:ea typeface="Calibri" panose="020F0502020204030204" pitchFamily="34" charset="0"/>
              </a:endParaRPr>
            </a:p>
          </p:txBody>
        </p:sp>
        <p:sp>
          <p:nvSpPr>
            <p:cNvPr id="15" name="TextBox 14">
              <a:extLst>
                <a:ext uri="{FF2B5EF4-FFF2-40B4-BE49-F238E27FC236}">
                  <a16:creationId xmlns:a16="http://schemas.microsoft.com/office/drawing/2014/main" id="{C13DC352-9F1C-E97B-870F-E9425FE7E0CB}"/>
                </a:ext>
              </a:extLst>
            </p:cNvPr>
            <p:cNvSpPr txBox="1"/>
            <p:nvPr/>
          </p:nvSpPr>
          <p:spPr>
            <a:xfrm>
              <a:off x="6388049" y="2309511"/>
              <a:ext cx="2459011" cy="571648"/>
            </a:xfrm>
            <a:prstGeom prst="rect">
              <a:avLst/>
            </a:prstGeom>
            <a:noFill/>
          </p:spPr>
          <p:txBody>
            <a:bodyPr wrap="square" lIns="0" tIns="0" rIns="0" bIns="0" rtlCol="0">
              <a:spAutoFit/>
            </a:bodyPr>
            <a:lstStyle/>
            <a:p>
              <a:pPr algn="ctr">
                <a:defRPr/>
              </a:pPr>
              <a:r>
                <a:rPr lang="en-IE" sz="1700" b="1">
                  <a:solidFill>
                    <a:schemeClr val="bg1"/>
                  </a:solidFill>
                  <a:latin typeface="Montserrat" pitchFamily="2" charset="77"/>
                </a:rPr>
                <a:t>Optimization and Capacity Planning</a:t>
              </a:r>
              <a:endParaRPr lang="en-US" sz="1700" b="1">
                <a:solidFill>
                  <a:schemeClr val="bg1"/>
                </a:solidFill>
                <a:latin typeface="Montserrat" pitchFamily="2" charset="77"/>
                <a:ea typeface="Open Sans Light" panose="020B0306030504020204" pitchFamily="34" charset="0"/>
                <a:cs typeface="Open Sans Light" panose="020B0306030504020204" pitchFamily="34" charset="0"/>
              </a:endParaRPr>
            </a:p>
          </p:txBody>
        </p:sp>
        <p:sp>
          <p:nvSpPr>
            <p:cNvPr id="16" name="TextBox 15">
              <a:extLst>
                <a:ext uri="{FF2B5EF4-FFF2-40B4-BE49-F238E27FC236}">
                  <a16:creationId xmlns:a16="http://schemas.microsoft.com/office/drawing/2014/main" id="{F8DB1327-AEE5-8504-B497-B75756D7514E}"/>
                </a:ext>
              </a:extLst>
            </p:cNvPr>
            <p:cNvSpPr txBox="1"/>
            <p:nvPr/>
          </p:nvSpPr>
          <p:spPr>
            <a:xfrm>
              <a:off x="6530723" y="3095234"/>
              <a:ext cx="2560970" cy="3883847"/>
            </a:xfrm>
            <a:prstGeom prst="rect">
              <a:avLst/>
            </a:prstGeom>
            <a:noFill/>
          </p:spPr>
          <p:txBody>
            <a:bodyPr wrap="square" lIns="0" tIns="0" rIns="0" bIns="0" rtlCol="0">
              <a:spAutoFit/>
            </a:bodyPr>
            <a:lstStyle/>
            <a:p>
              <a:pPr marL="171450" lvl="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10</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20</a:t>
              </a:r>
            </a:p>
            <a:p>
              <a:pPr marL="171450" lvl="0" indent="-171450">
                <a:buFont typeface="Wingdings" panose="05000000000000000000" pitchFamily="2" charset="2"/>
                <a:buChar char="Ø"/>
                <a:defRPr/>
              </a:pPr>
              <a:endParaRPr lang="en-IE" sz="1100">
                <a:solidFill>
                  <a:srgbClr val="FFFFFF"/>
                </a:solidFill>
                <a:latin typeface="Montserrat" pitchFamily="2" charset="77"/>
                <a:ea typeface="Calibri" panose="020F0502020204030204" pitchFamily="34" charset="0"/>
              </a:endParaRPr>
            </a:p>
          </p:txBody>
        </p:sp>
        <p:sp>
          <p:nvSpPr>
            <p:cNvPr id="18" name="TextBox 17">
              <a:extLst>
                <a:ext uri="{FF2B5EF4-FFF2-40B4-BE49-F238E27FC236}">
                  <a16:creationId xmlns:a16="http://schemas.microsoft.com/office/drawing/2014/main" id="{FC0CC9AD-3AE1-F9E1-975A-C81BC23723C2}"/>
                </a:ext>
              </a:extLst>
            </p:cNvPr>
            <p:cNvSpPr txBox="1"/>
            <p:nvPr/>
          </p:nvSpPr>
          <p:spPr>
            <a:xfrm>
              <a:off x="9294396" y="2330503"/>
              <a:ext cx="2668297" cy="571648"/>
            </a:xfrm>
            <a:prstGeom prst="rect">
              <a:avLst/>
            </a:prstGeom>
            <a:noFill/>
          </p:spPr>
          <p:txBody>
            <a:bodyPr wrap="square" lIns="0" tIns="0" rIns="0" bIns="0" rtlCol="0">
              <a:spAutoFit/>
            </a:bodyPr>
            <a:lstStyle/>
            <a:p>
              <a:pPr algn="ctr">
                <a:defRPr/>
              </a:pPr>
              <a:r>
                <a:rPr kumimoji="0" lang="en-US" sz="1700" b="1" i="0" u="none" strike="noStrike" kern="1200" cap="none" spc="0" normalizeH="0" baseline="0" noProof="0">
                  <a:ln>
                    <a:noFill/>
                  </a:ln>
                  <a:solidFill>
                    <a:schemeClr val="bg1"/>
                  </a:solidFill>
                  <a:effectLst/>
                  <a:uLnTx/>
                  <a:uFillTx/>
                  <a:latin typeface="Montserrat" pitchFamily="2" charset="77"/>
                  <a:ea typeface="Open Sans Light" panose="020B0306030504020204" pitchFamily="34" charset="0"/>
                  <a:cs typeface="Open Sans Light" panose="020B0306030504020204" pitchFamily="34" charset="0"/>
                </a:rPr>
                <a:t>Reduce Operational Complexity</a:t>
              </a:r>
            </a:p>
          </p:txBody>
        </p:sp>
        <p:sp>
          <p:nvSpPr>
            <p:cNvPr id="19" name="TextBox 18">
              <a:extLst>
                <a:ext uri="{FF2B5EF4-FFF2-40B4-BE49-F238E27FC236}">
                  <a16:creationId xmlns:a16="http://schemas.microsoft.com/office/drawing/2014/main" id="{6BABB714-4B77-38ED-257A-26C5955DB3D9}"/>
                </a:ext>
              </a:extLst>
            </p:cNvPr>
            <p:cNvSpPr txBox="1"/>
            <p:nvPr/>
          </p:nvSpPr>
          <p:spPr>
            <a:xfrm>
              <a:off x="9583535" y="3095233"/>
              <a:ext cx="2467904" cy="3883847"/>
            </a:xfrm>
            <a:prstGeom prst="rect">
              <a:avLst/>
            </a:prstGeom>
            <a:noFill/>
          </p:spPr>
          <p:txBody>
            <a:bodyPr wrap="square" lIns="0" tIns="0" rIns="0" bIns="0" rtlCol="0">
              <a:spAutoFit/>
            </a:bodyPr>
            <a:lstStyle/>
            <a:p>
              <a:pPr marL="171450" lvl="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10</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20</a:t>
              </a:r>
            </a:p>
            <a:p>
              <a:pPr marL="171450" lvl="0" indent="-171450">
                <a:buFont typeface="Wingdings" panose="05000000000000000000" pitchFamily="2" charset="2"/>
                <a:buChar char="Ø"/>
                <a:defRPr/>
              </a:pPr>
              <a:endParaRPr lang="en-IE" sz="1100">
                <a:solidFill>
                  <a:srgbClr val="FFFFFF"/>
                </a:solidFill>
                <a:latin typeface="Montserrat" pitchFamily="2" charset="77"/>
                <a:ea typeface="Calibri" panose="020F0502020204030204" pitchFamily="34" charset="0"/>
              </a:endParaRPr>
            </a:p>
          </p:txBody>
        </p:sp>
        <p:sp>
          <p:nvSpPr>
            <p:cNvPr id="27" name="Oval 26">
              <a:extLst>
                <a:ext uri="{FF2B5EF4-FFF2-40B4-BE49-F238E27FC236}">
                  <a16:creationId xmlns:a16="http://schemas.microsoft.com/office/drawing/2014/main" id="{C92EAF78-503C-3752-592F-D24A7C3D1EC7}"/>
                </a:ext>
              </a:extLst>
            </p:cNvPr>
            <p:cNvSpPr/>
            <p:nvPr/>
          </p:nvSpPr>
          <p:spPr>
            <a:xfrm>
              <a:off x="4173522" y="1469329"/>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5" name="Oval 24">
              <a:extLst>
                <a:ext uri="{FF2B5EF4-FFF2-40B4-BE49-F238E27FC236}">
                  <a16:creationId xmlns:a16="http://schemas.microsoft.com/office/drawing/2014/main" id="{F3FF7B11-08C4-3B23-891B-84F145C5FF5A}"/>
                </a:ext>
              </a:extLst>
            </p:cNvPr>
            <p:cNvSpPr/>
            <p:nvPr/>
          </p:nvSpPr>
          <p:spPr>
            <a:xfrm>
              <a:off x="10222194" y="1412776"/>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C19A581C-079E-00ED-8387-369D397381EC}"/>
                </a:ext>
              </a:extLst>
            </p:cNvPr>
            <p:cNvSpPr/>
            <p:nvPr/>
          </p:nvSpPr>
          <p:spPr>
            <a:xfrm>
              <a:off x="7176120" y="1412776"/>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42" name="Title 2">
            <a:extLst>
              <a:ext uri="{FF2B5EF4-FFF2-40B4-BE49-F238E27FC236}">
                <a16:creationId xmlns:a16="http://schemas.microsoft.com/office/drawing/2014/main" id="{ACA30531-F0F5-BF10-6F6D-13B854C4888A}"/>
              </a:ext>
            </a:extLst>
          </p:cNvPr>
          <p:cNvSpPr>
            <a:spLocks noGrp="1"/>
          </p:cNvSpPr>
          <p:nvPr>
            <p:ph type="title"/>
          </p:nvPr>
        </p:nvSpPr>
        <p:spPr>
          <a:xfrm>
            <a:off x="468602" y="183220"/>
            <a:ext cx="9010800" cy="904225"/>
          </a:xfrm>
        </p:spPr>
        <p:txBody>
          <a:bodyPr>
            <a:normAutofit/>
          </a:bodyPr>
          <a:lstStyle/>
          <a:p>
            <a:r>
              <a:rPr lang="en-IE" sz="3000">
                <a:solidFill>
                  <a:schemeClr val="accent3"/>
                </a:solidFill>
              </a:rPr>
              <a:t>DEMO – Visibility Driven Business Outcomes 2</a:t>
            </a:r>
            <a:endParaRPr lang="en-US" sz="3000">
              <a:solidFill>
                <a:schemeClr val="accent3"/>
              </a:solidFill>
            </a:endParaRPr>
          </a:p>
        </p:txBody>
      </p:sp>
      <p:pic>
        <p:nvPicPr>
          <p:cNvPr id="21" name="Graphic 20" descr="Plugged Unplugged with solid fill">
            <a:extLst>
              <a:ext uri="{FF2B5EF4-FFF2-40B4-BE49-F238E27FC236}">
                <a16:creationId xmlns:a16="http://schemas.microsoft.com/office/drawing/2014/main" id="{0D947467-B4AE-0AF3-0E64-AE5BA3CA1C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8148" y="972961"/>
            <a:ext cx="490730" cy="490730"/>
          </a:xfrm>
          <a:prstGeom prst="rect">
            <a:avLst/>
          </a:prstGeom>
        </p:spPr>
      </p:pic>
      <p:pic>
        <p:nvPicPr>
          <p:cNvPr id="24" name="Graphic 23" descr="Playbook with solid fill">
            <a:extLst>
              <a:ext uri="{FF2B5EF4-FFF2-40B4-BE49-F238E27FC236}">
                <a16:creationId xmlns:a16="http://schemas.microsoft.com/office/drawing/2014/main" id="{C0D8D440-E851-3270-F185-DFBCEEBB896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84772" y="930617"/>
            <a:ext cx="545182" cy="545182"/>
          </a:xfrm>
          <a:prstGeom prst="rect">
            <a:avLst/>
          </a:prstGeom>
        </p:spPr>
      </p:pic>
      <p:pic>
        <p:nvPicPr>
          <p:cNvPr id="28" name="Graphic 27" descr="Influencer with solid fill">
            <a:extLst>
              <a:ext uri="{FF2B5EF4-FFF2-40B4-BE49-F238E27FC236}">
                <a16:creationId xmlns:a16="http://schemas.microsoft.com/office/drawing/2014/main" id="{4517093E-D6B7-BB7B-4010-1F8955B39AD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49363" y="877967"/>
            <a:ext cx="511242" cy="511242"/>
          </a:xfrm>
          <a:prstGeom prst="rect">
            <a:avLst/>
          </a:prstGeom>
        </p:spPr>
      </p:pic>
      <p:pic>
        <p:nvPicPr>
          <p:cNvPr id="30" name="Graphic 29" descr="Users with solid fill">
            <a:extLst>
              <a:ext uri="{FF2B5EF4-FFF2-40B4-BE49-F238E27FC236}">
                <a16:creationId xmlns:a16="http://schemas.microsoft.com/office/drawing/2014/main" id="{121F814C-5251-B9AD-821C-6D83730C6A7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143035" y="877967"/>
            <a:ext cx="551845" cy="551845"/>
          </a:xfrm>
          <a:prstGeom prst="rect">
            <a:avLst/>
          </a:prstGeom>
        </p:spPr>
      </p:pic>
    </p:spTree>
    <p:extLst>
      <p:ext uri="{BB962C8B-B14F-4D97-AF65-F5344CB8AC3E}">
        <p14:creationId xmlns:p14="http://schemas.microsoft.com/office/powerpoint/2010/main" val="1727646568"/>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1000"/>
                                        <p:tgtEl>
                                          <p:spTgt spid="30"/>
                                        </p:tgtEl>
                                      </p:cBhvr>
                                    </p:animEffect>
                                    <p:anim calcmode="lin" valueType="num">
                                      <p:cBhvr>
                                        <p:cTn id="13" dur="1000" fill="hold"/>
                                        <p:tgtEl>
                                          <p:spTgt spid="30"/>
                                        </p:tgtEl>
                                        <p:attrNameLst>
                                          <p:attrName>ppt_x</p:attrName>
                                        </p:attrNameLst>
                                      </p:cBhvr>
                                      <p:tavLst>
                                        <p:tav tm="0">
                                          <p:val>
                                            <p:strVal val="#ppt_x"/>
                                          </p:val>
                                        </p:tav>
                                        <p:tav tm="100000">
                                          <p:val>
                                            <p:strVal val="#ppt_x"/>
                                          </p:val>
                                        </p:tav>
                                      </p:tavLst>
                                    </p:anim>
                                    <p:anim calcmode="lin" valueType="num">
                                      <p:cBhvr>
                                        <p:cTn id="14" dur="1000" fill="hold"/>
                                        <p:tgtEl>
                                          <p:spTgt spid="30"/>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1000"/>
                                        <p:tgtEl>
                                          <p:spTgt spid="28"/>
                                        </p:tgtEl>
                                      </p:cBhvr>
                                    </p:animEffect>
                                    <p:anim calcmode="lin" valueType="num">
                                      <p:cBhvr>
                                        <p:cTn id="18" dur="1000" fill="hold"/>
                                        <p:tgtEl>
                                          <p:spTgt spid="28"/>
                                        </p:tgtEl>
                                        <p:attrNameLst>
                                          <p:attrName>ppt_x</p:attrName>
                                        </p:attrNameLst>
                                      </p:cBhvr>
                                      <p:tavLst>
                                        <p:tav tm="0">
                                          <p:val>
                                            <p:strVal val="#ppt_x"/>
                                          </p:val>
                                        </p:tav>
                                        <p:tav tm="100000">
                                          <p:val>
                                            <p:strVal val="#ppt_x"/>
                                          </p:val>
                                        </p:tav>
                                      </p:tavLst>
                                    </p:anim>
                                    <p:anim calcmode="lin" valueType="num">
                                      <p:cBhvr>
                                        <p:cTn id="19" dur="1000" fill="hold"/>
                                        <p:tgtEl>
                                          <p:spTgt spid="2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1000"/>
                                        <p:tgtEl>
                                          <p:spTgt spid="24"/>
                                        </p:tgtEl>
                                      </p:cBhvr>
                                    </p:animEffect>
                                    <p:anim calcmode="lin" valueType="num">
                                      <p:cBhvr>
                                        <p:cTn id="23" dur="1000" fill="hold"/>
                                        <p:tgtEl>
                                          <p:spTgt spid="24"/>
                                        </p:tgtEl>
                                        <p:attrNameLst>
                                          <p:attrName>ppt_x</p:attrName>
                                        </p:attrNameLst>
                                      </p:cBhvr>
                                      <p:tavLst>
                                        <p:tav tm="0">
                                          <p:val>
                                            <p:strVal val="#ppt_x"/>
                                          </p:val>
                                        </p:tav>
                                        <p:tav tm="100000">
                                          <p:val>
                                            <p:strVal val="#ppt_x"/>
                                          </p:val>
                                        </p:tav>
                                      </p:tavLst>
                                    </p:anim>
                                    <p:anim calcmode="lin" valueType="num">
                                      <p:cBhvr>
                                        <p:cTn id="24" dur="1000" fill="hold"/>
                                        <p:tgtEl>
                                          <p:spTgt spid="24"/>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1000"/>
                                        <p:tgtEl>
                                          <p:spTgt spid="21"/>
                                        </p:tgtEl>
                                      </p:cBhvr>
                                    </p:animEffect>
                                    <p:anim calcmode="lin" valueType="num">
                                      <p:cBhvr>
                                        <p:cTn id="28" dur="1000" fill="hold"/>
                                        <p:tgtEl>
                                          <p:spTgt spid="21"/>
                                        </p:tgtEl>
                                        <p:attrNameLst>
                                          <p:attrName>ppt_x</p:attrName>
                                        </p:attrNameLst>
                                      </p:cBhvr>
                                      <p:tavLst>
                                        <p:tav tm="0">
                                          <p:val>
                                            <p:strVal val="#ppt_x"/>
                                          </p:val>
                                        </p:tav>
                                        <p:tav tm="100000">
                                          <p:val>
                                            <p:strVal val="#ppt_x"/>
                                          </p:val>
                                        </p:tav>
                                      </p:tavLst>
                                    </p:anim>
                                    <p:anim calcmode="lin" valueType="num">
                                      <p:cBhvr>
                                        <p:cTn id="29" dur="1000" fill="hold"/>
                                        <p:tgtEl>
                                          <p:spTgt spid="21"/>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1000"/>
                                        <p:tgtEl>
                                          <p:spTgt spid="2"/>
                                        </p:tgtEl>
                                      </p:cBhvr>
                                    </p:animEffect>
                                    <p:anim calcmode="lin" valueType="num">
                                      <p:cBhvr>
                                        <p:cTn id="33" dur="1000" fill="hold"/>
                                        <p:tgtEl>
                                          <p:spTgt spid="2"/>
                                        </p:tgtEl>
                                        <p:attrNameLst>
                                          <p:attrName>ppt_x</p:attrName>
                                        </p:attrNameLst>
                                      </p:cBhvr>
                                      <p:tavLst>
                                        <p:tav tm="0">
                                          <p:val>
                                            <p:strVal val="#ppt_x"/>
                                          </p:val>
                                        </p:tav>
                                        <p:tav tm="100000">
                                          <p:val>
                                            <p:strVal val="#ppt_x"/>
                                          </p:val>
                                        </p:tav>
                                      </p:tavLst>
                                    </p:anim>
                                    <p:anim calcmode="lin" valueType="num">
                                      <p:cBhvr>
                                        <p:cTn id="34" dur="1000" fill="hold"/>
                                        <p:tgtEl>
                                          <p:spTgt spid="2"/>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1000"/>
                                        <p:tgtEl>
                                          <p:spTgt spid="28"/>
                                        </p:tgtEl>
                                      </p:cBhvr>
                                    </p:animEffect>
                                    <p:anim calcmode="lin" valueType="num">
                                      <p:cBhvr>
                                        <p:cTn id="38" dur="1000" fill="hold"/>
                                        <p:tgtEl>
                                          <p:spTgt spid="28"/>
                                        </p:tgtEl>
                                        <p:attrNameLst>
                                          <p:attrName>ppt_x</p:attrName>
                                        </p:attrNameLst>
                                      </p:cBhvr>
                                      <p:tavLst>
                                        <p:tav tm="0">
                                          <p:val>
                                            <p:strVal val="#ppt_x"/>
                                          </p:val>
                                        </p:tav>
                                        <p:tav tm="100000">
                                          <p:val>
                                            <p:strVal val="#ppt_x"/>
                                          </p:val>
                                        </p:tav>
                                      </p:tavLst>
                                    </p:anim>
                                    <p:anim calcmode="lin" valueType="num">
                                      <p:cBhvr>
                                        <p:cTn id="39" dur="1000" fill="hold"/>
                                        <p:tgtEl>
                                          <p:spTgt spid="2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1000"/>
                                        <p:tgtEl>
                                          <p:spTgt spid="30"/>
                                        </p:tgtEl>
                                      </p:cBhvr>
                                    </p:animEffect>
                                    <p:anim calcmode="lin" valueType="num">
                                      <p:cBhvr>
                                        <p:cTn id="43" dur="1000" fill="hold"/>
                                        <p:tgtEl>
                                          <p:spTgt spid="30"/>
                                        </p:tgtEl>
                                        <p:attrNameLst>
                                          <p:attrName>ppt_x</p:attrName>
                                        </p:attrNameLst>
                                      </p:cBhvr>
                                      <p:tavLst>
                                        <p:tav tm="0">
                                          <p:val>
                                            <p:strVal val="#ppt_x"/>
                                          </p:val>
                                        </p:tav>
                                        <p:tav tm="100000">
                                          <p:val>
                                            <p:strVal val="#ppt_x"/>
                                          </p:val>
                                        </p:tav>
                                      </p:tavLst>
                                    </p:anim>
                                    <p:anim calcmode="lin" valueType="num">
                                      <p:cBhvr>
                                        <p:cTn id="44"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6916A-03C1-0876-CF25-EAB7B720D9A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FD56035-9008-E8E8-C7FB-1D4EAEB3BD0F}"/>
              </a:ext>
            </a:extLst>
          </p:cNvPr>
          <p:cNvSpPr>
            <a:spLocks noGrp="1"/>
          </p:cNvSpPr>
          <p:nvPr>
            <p:ph type="sldNum" sz="quarter" idx="4"/>
          </p:nvPr>
        </p:nvSpPr>
        <p:spPr/>
        <p:txBody>
          <a:bodyPr/>
          <a:lstStyle/>
          <a:p>
            <a:fld id="{37527A84-62A5-40F8-9ABB-C2EE3BC8218F}" type="slidenum">
              <a:rPr lang="en-US" smtClean="0"/>
              <a:t>20</a:t>
            </a:fld>
            <a:endParaRPr lang="en-US"/>
          </a:p>
        </p:txBody>
      </p:sp>
      <p:sp>
        <p:nvSpPr>
          <p:cNvPr id="7" name="Title 5">
            <a:extLst>
              <a:ext uri="{FF2B5EF4-FFF2-40B4-BE49-F238E27FC236}">
                <a16:creationId xmlns:a16="http://schemas.microsoft.com/office/drawing/2014/main" id="{0F0CBF0F-FC95-C45A-1E97-B04AF2A4B0EF}"/>
              </a:ext>
            </a:extLst>
          </p:cNvPr>
          <p:cNvSpPr>
            <a:spLocks noGrp="1"/>
          </p:cNvSpPr>
          <p:nvPr>
            <p:ph type="title"/>
          </p:nvPr>
        </p:nvSpPr>
        <p:spPr>
          <a:xfrm>
            <a:off x="347835" y="287807"/>
            <a:ext cx="4512606" cy="1034129"/>
          </a:xfrm>
        </p:spPr>
        <p:txBody>
          <a:bodyPr/>
          <a:lstStyle/>
          <a:p>
            <a:r>
              <a:rPr lang="en-US" sz="4800"/>
              <a:t>Cato SASE Cloud</a:t>
            </a:r>
            <a:br>
              <a:rPr lang="he-IL"/>
            </a:br>
            <a:r>
              <a:rPr lang="en-US" sz="1800"/>
              <a:t>Global Private Backbone, 95+ Locations</a:t>
            </a:r>
            <a:endParaRPr lang="en-US"/>
          </a:p>
        </p:txBody>
      </p:sp>
      <p:grpSp>
        <p:nvGrpSpPr>
          <p:cNvPr id="27" name="Group 26">
            <a:extLst>
              <a:ext uri="{FF2B5EF4-FFF2-40B4-BE49-F238E27FC236}">
                <a16:creationId xmlns:a16="http://schemas.microsoft.com/office/drawing/2014/main" id="{6E406111-2100-F88C-9657-6D6906E5715A}"/>
              </a:ext>
            </a:extLst>
          </p:cNvPr>
          <p:cNvGrpSpPr/>
          <p:nvPr/>
        </p:nvGrpSpPr>
        <p:grpSpPr>
          <a:xfrm>
            <a:off x="6190233" y="4883870"/>
            <a:ext cx="1795109" cy="1758014"/>
            <a:chOff x="5793696" y="532363"/>
            <a:chExt cx="1795109" cy="1758014"/>
          </a:xfrm>
        </p:grpSpPr>
        <p:sp>
          <p:nvSpPr>
            <p:cNvPr id="28" name="TextBox 27">
              <a:extLst>
                <a:ext uri="{FF2B5EF4-FFF2-40B4-BE49-F238E27FC236}">
                  <a16:creationId xmlns:a16="http://schemas.microsoft.com/office/drawing/2014/main" id="{04DCC570-8698-11CA-1A67-89510D723227}"/>
                </a:ext>
              </a:extLst>
            </p:cNvPr>
            <p:cNvSpPr txBox="1"/>
            <p:nvPr/>
          </p:nvSpPr>
          <p:spPr>
            <a:xfrm>
              <a:off x="5793698" y="532363"/>
              <a:ext cx="1795107" cy="205184"/>
            </a:xfrm>
            <a:prstGeom prst="rect">
              <a:avLst/>
            </a:prstGeom>
            <a:noFill/>
          </p:spPr>
          <p:txBody>
            <a:bodyPr wrap="none" lIns="0" tIns="0" rIns="0" bIns="0">
              <a:spAutoFit/>
            </a:bodyPr>
            <a:lstStyle/>
            <a:p>
              <a:pPr>
                <a:lnSpc>
                  <a:spcPts val="1500"/>
                </a:lnSpc>
              </a:pPr>
              <a:r>
                <a:rPr lang="en-US" b="1">
                  <a:solidFill>
                    <a:schemeClr val="accent1"/>
                  </a:solidFill>
                </a:rPr>
                <a:t>Latin America (10) </a:t>
              </a:r>
            </a:p>
          </p:txBody>
        </p:sp>
        <p:sp>
          <p:nvSpPr>
            <p:cNvPr id="29" name="TextBox 28">
              <a:extLst>
                <a:ext uri="{FF2B5EF4-FFF2-40B4-BE49-F238E27FC236}">
                  <a16:creationId xmlns:a16="http://schemas.microsoft.com/office/drawing/2014/main" id="{519D6701-C4B1-73DD-AA9B-3363B3109873}"/>
                </a:ext>
              </a:extLst>
            </p:cNvPr>
            <p:cNvSpPr txBox="1"/>
            <p:nvPr/>
          </p:nvSpPr>
          <p:spPr>
            <a:xfrm>
              <a:off x="5793696" y="751494"/>
              <a:ext cx="1665294" cy="1538883"/>
            </a:xfrm>
            <a:prstGeom prst="rect">
              <a:avLst/>
            </a:prstGeom>
            <a:noFill/>
          </p:spPr>
          <p:txBody>
            <a:bodyPr wrap="square" lIns="0" tIns="0" rIns="0" bIns="0" numCol="1" spcCol="91440" anchor="t">
              <a:spAutoFit/>
            </a:bodyPr>
            <a:lstStyle/>
            <a:p>
              <a:pPr marR="0" indent="0" fontAlgn="auto"/>
              <a:r>
                <a:rPr lang="es-ES" sz="1000">
                  <a:solidFill>
                    <a:srgbClr val="222C33"/>
                  </a:solidFill>
                  <a:latin typeface="Calibri"/>
                  <a:ea typeface="Calibri"/>
                  <a:cs typeface="Calibri"/>
                </a:rPr>
                <a:t>Argentina, Buenos Aires</a:t>
              </a:r>
            </a:p>
            <a:p>
              <a:pPr marR="0" indent="0" fontAlgn="auto"/>
              <a:r>
                <a:rPr lang="es-ES" sz="1000" err="1">
                  <a:solidFill>
                    <a:srgbClr val="222C33"/>
                  </a:solidFill>
                  <a:latin typeface="Calibri"/>
                  <a:ea typeface="Calibri"/>
                  <a:cs typeface="Calibri"/>
                </a:rPr>
                <a:t>Brazil</a:t>
              </a:r>
              <a:r>
                <a:rPr lang="es-ES" sz="1000">
                  <a:solidFill>
                    <a:srgbClr val="222C33"/>
                  </a:solidFill>
                  <a:latin typeface="Calibri"/>
                  <a:ea typeface="Calibri"/>
                  <a:cs typeface="Calibri"/>
                </a:rPr>
                <a:t>, Fortaleza</a:t>
              </a:r>
              <a:endParaRPr lang="es-ES" sz="1000">
                <a:solidFill>
                  <a:srgbClr val="222C33"/>
                </a:solidFill>
                <a:latin typeface="Calibri" panose="020F0502020204030204" pitchFamily="34" charset="0"/>
                <a:ea typeface="Calibri"/>
                <a:cs typeface="Calibri"/>
              </a:endParaRPr>
            </a:p>
            <a:p>
              <a:pPr marR="0" indent="0" fontAlgn="auto"/>
              <a:r>
                <a:rPr lang="es-ES" sz="1000" err="1">
                  <a:solidFill>
                    <a:srgbClr val="222C33"/>
                  </a:solidFill>
                  <a:latin typeface="Calibri" panose="020F0502020204030204" pitchFamily="34" charset="0"/>
                </a:rPr>
                <a:t>Brazil</a:t>
              </a:r>
              <a:r>
                <a:rPr lang="es-ES" sz="1000">
                  <a:solidFill>
                    <a:srgbClr val="222C33"/>
                  </a:solidFill>
                  <a:latin typeface="Calibri" panose="020F0502020204030204" pitchFamily="34" charset="0"/>
                </a:rPr>
                <a:t>, Sao Paulo</a:t>
              </a:r>
            </a:p>
            <a:p>
              <a:pPr marR="0" indent="0" fontAlgn="auto"/>
              <a:r>
                <a:rPr lang="es-ES" sz="1000">
                  <a:solidFill>
                    <a:srgbClr val="222C33"/>
                  </a:solidFill>
                  <a:latin typeface="Calibri" panose="020F0502020204030204" pitchFamily="34" charset="0"/>
                </a:rPr>
                <a:t>Chile, Santiago</a:t>
              </a:r>
            </a:p>
            <a:p>
              <a:pPr marR="0" indent="0" fontAlgn="auto"/>
              <a:r>
                <a:rPr lang="es-ES" sz="1000">
                  <a:solidFill>
                    <a:srgbClr val="222C33"/>
                  </a:solidFill>
                  <a:latin typeface="Calibri" panose="020F0502020204030204" pitchFamily="34" charset="0"/>
                </a:rPr>
                <a:t>Colombia, </a:t>
              </a:r>
              <a:r>
                <a:rPr lang="es-ES" sz="1000" err="1">
                  <a:solidFill>
                    <a:srgbClr val="222C33"/>
                  </a:solidFill>
                  <a:latin typeface="Calibri" panose="020F0502020204030204" pitchFamily="34" charset="0"/>
                </a:rPr>
                <a:t>Bogota</a:t>
              </a:r>
              <a:endParaRPr lang="es-ES" sz="1000">
                <a:solidFill>
                  <a:srgbClr val="222C33"/>
                </a:solidFill>
                <a:latin typeface="Calibri" panose="020F0502020204030204" pitchFamily="34" charset="0"/>
              </a:endParaRPr>
            </a:p>
            <a:p>
              <a:pPr marR="0" indent="0" fontAlgn="auto"/>
              <a:r>
                <a:rPr lang="es-ES" sz="1000">
                  <a:solidFill>
                    <a:srgbClr val="222C33"/>
                  </a:solidFill>
                  <a:latin typeface="Calibri" panose="020F0502020204030204" pitchFamily="34" charset="0"/>
                </a:rPr>
                <a:t>Costa Rica, San </a:t>
              </a:r>
              <a:r>
                <a:rPr lang="es-ES" sz="1000" err="1">
                  <a:solidFill>
                    <a:srgbClr val="222C33"/>
                  </a:solidFill>
                  <a:latin typeface="Calibri" panose="020F0502020204030204" pitchFamily="34" charset="0"/>
                </a:rPr>
                <a:t>Jose</a:t>
              </a:r>
              <a:endParaRPr lang="es-ES" sz="1000">
                <a:solidFill>
                  <a:srgbClr val="222C33"/>
                </a:solidFill>
                <a:latin typeface="Calibri" panose="020F0502020204030204" pitchFamily="34" charset="0"/>
              </a:endParaRPr>
            </a:p>
            <a:p>
              <a:pPr marR="0" indent="0" fontAlgn="auto"/>
              <a:r>
                <a:rPr lang="es-ES" sz="1000">
                  <a:solidFill>
                    <a:srgbClr val="222C33"/>
                  </a:solidFill>
                  <a:latin typeface="Calibri" panose="020F0502020204030204" pitchFamily="34" charset="0"/>
                </a:rPr>
                <a:t>Ecuador, Quito</a:t>
              </a:r>
            </a:p>
            <a:p>
              <a:pPr marR="0" indent="0" fontAlgn="auto"/>
              <a:r>
                <a:rPr lang="es-ES" sz="1000" err="1">
                  <a:solidFill>
                    <a:srgbClr val="222C33"/>
                  </a:solidFill>
                  <a:latin typeface="Calibri" panose="020F0502020204030204" pitchFamily="34" charset="0"/>
                </a:rPr>
                <a:t>Mexico</a:t>
              </a:r>
              <a:r>
                <a:rPr lang="es-ES" sz="1000">
                  <a:solidFill>
                    <a:srgbClr val="222C33"/>
                  </a:solidFill>
                  <a:latin typeface="Calibri" panose="020F0502020204030204" pitchFamily="34" charset="0"/>
                </a:rPr>
                <a:t>, </a:t>
              </a:r>
              <a:r>
                <a:rPr lang="es-ES" sz="1000" err="1">
                  <a:solidFill>
                    <a:srgbClr val="222C33"/>
                  </a:solidFill>
                  <a:latin typeface="Calibri" panose="020F0502020204030204" pitchFamily="34" charset="0"/>
                </a:rPr>
                <a:t>Mexico</a:t>
              </a:r>
              <a:r>
                <a:rPr lang="es-ES" sz="1000">
                  <a:solidFill>
                    <a:srgbClr val="222C33"/>
                  </a:solidFill>
                  <a:latin typeface="Calibri" panose="020F0502020204030204" pitchFamily="34" charset="0"/>
                </a:rPr>
                <a:t> City</a:t>
              </a:r>
            </a:p>
            <a:p>
              <a:pPr marR="0" indent="0" fontAlgn="auto"/>
              <a:r>
                <a:rPr lang="es-ES" sz="1000" err="1">
                  <a:solidFill>
                    <a:srgbClr val="222C33"/>
                  </a:solidFill>
                  <a:latin typeface="Calibri" panose="020F0502020204030204" pitchFamily="34" charset="0"/>
                </a:rPr>
                <a:t>Mexico</a:t>
              </a:r>
              <a:r>
                <a:rPr lang="es-ES" sz="1000">
                  <a:solidFill>
                    <a:srgbClr val="222C33"/>
                  </a:solidFill>
                  <a:latin typeface="Calibri" panose="020F0502020204030204" pitchFamily="34" charset="0"/>
                </a:rPr>
                <a:t>, Monterrey</a:t>
              </a:r>
            </a:p>
            <a:p>
              <a:pPr marR="0" indent="0" fontAlgn="auto"/>
              <a:r>
                <a:rPr lang="es-ES" sz="1000" err="1">
                  <a:solidFill>
                    <a:srgbClr val="222C33"/>
                  </a:solidFill>
                  <a:latin typeface="Calibri" panose="020F0502020204030204" pitchFamily="34" charset="0"/>
                </a:rPr>
                <a:t>Peru</a:t>
              </a:r>
              <a:r>
                <a:rPr lang="es-ES" sz="1000">
                  <a:solidFill>
                    <a:srgbClr val="222C33"/>
                  </a:solidFill>
                  <a:latin typeface="Calibri" panose="020F0502020204030204" pitchFamily="34" charset="0"/>
                </a:rPr>
                <a:t>, Lima</a:t>
              </a:r>
            </a:p>
          </p:txBody>
        </p:sp>
      </p:grpSp>
      <p:grpSp>
        <p:nvGrpSpPr>
          <p:cNvPr id="32" name="Group 31">
            <a:extLst>
              <a:ext uri="{FF2B5EF4-FFF2-40B4-BE49-F238E27FC236}">
                <a16:creationId xmlns:a16="http://schemas.microsoft.com/office/drawing/2014/main" id="{DEEF22CC-81C1-EA98-E8B3-E74B04AD9CDF}"/>
              </a:ext>
            </a:extLst>
          </p:cNvPr>
          <p:cNvGrpSpPr/>
          <p:nvPr/>
        </p:nvGrpSpPr>
        <p:grpSpPr>
          <a:xfrm>
            <a:off x="8481925" y="4883870"/>
            <a:ext cx="2262929" cy="1304555"/>
            <a:chOff x="5793696" y="532363"/>
            <a:chExt cx="2262929" cy="1304555"/>
          </a:xfrm>
        </p:grpSpPr>
        <p:sp>
          <p:nvSpPr>
            <p:cNvPr id="33" name="TextBox 32">
              <a:extLst>
                <a:ext uri="{FF2B5EF4-FFF2-40B4-BE49-F238E27FC236}">
                  <a16:creationId xmlns:a16="http://schemas.microsoft.com/office/drawing/2014/main" id="{C5689994-3870-3045-A27C-61A241BF712D}"/>
                </a:ext>
              </a:extLst>
            </p:cNvPr>
            <p:cNvSpPr txBox="1"/>
            <p:nvPr/>
          </p:nvSpPr>
          <p:spPr>
            <a:xfrm>
              <a:off x="5793698" y="532363"/>
              <a:ext cx="2262927" cy="205184"/>
            </a:xfrm>
            <a:prstGeom prst="rect">
              <a:avLst/>
            </a:prstGeom>
            <a:noFill/>
          </p:spPr>
          <p:txBody>
            <a:bodyPr wrap="none" lIns="0" tIns="0" rIns="0" bIns="0">
              <a:spAutoFit/>
            </a:bodyPr>
            <a:lstStyle/>
            <a:p>
              <a:pPr>
                <a:lnSpc>
                  <a:spcPts val="1500"/>
                </a:lnSpc>
              </a:pPr>
              <a:r>
                <a:rPr lang="en-US" b="1">
                  <a:solidFill>
                    <a:schemeClr val="accent1"/>
                  </a:solidFill>
                </a:rPr>
                <a:t>Middle East &amp; Africa (7)</a:t>
              </a:r>
            </a:p>
          </p:txBody>
        </p:sp>
        <p:sp>
          <p:nvSpPr>
            <p:cNvPr id="34" name="TextBox 33">
              <a:extLst>
                <a:ext uri="{FF2B5EF4-FFF2-40B4-BE49-F238E27FC236}">
                  <a16:creationId xmlns:a16="http://schemas.microsoft.com/office/drawing/2014/main" id="{D3EBD4EC-8838-D39C-7B88-CB8FC37809F4}"/>
                </a:ext>
              </a:extLst>
            </p:cNvPr>
            <p:cNvSpPr txBox="1"/>
            <p:nvPr/>
          </p:nvSpPr>
          <p:spPr>
            <a:xfrm>
              <a:off x="5793696" y="759700"/>
              <a:ext cx="1477969" cy="1077218"/>
            </a:xfrm>
            <a:prstGeom prst="rect">
              <a:avLst/>
            </a:prstGeom>
            <a:noFill/>
          </p:spPr>
          <p:txBody>
            <a:bodyPr wrap="none" lIns="0" tIns="0" rIns="0" bIns="0" numCol="1" spcCol="91440" anchor="t">
              <a:spAutoFit/>
            </a:bodyPr>
            <a:lstStyle/>
            <a:p>
              <a:pPr fontAlgn="t">
                <a:defRPr/>
              </a:pPr>
              <a:r>
                <a:rPr lang="en-US" sz="1000">
                  <a:solidFill>
                    <a:srgbClr val="222C33"/>
                  </a:solidFill>
                  <a:latin typeface="Calibri" panose="020F0502020204030204" pitchFamily="34" charset="0"/>
                </a:rPr>
                <a:t>Cape Town, South Africa*</a:t>
              </a:r>
            </a:p>
            <a:p>
              <a:pPr marL="0" marR="0" lvl="0" indent="0" algn="l" defTabSz="914400" rtl="0" eaLnBrk="1" fontAlgn="t"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Israel, Tel Aviv</a:t>
              </a:r>
            </a:p>
            <a:p>
              <a:pPr marL="0" marR="0" lvl="0" indent="0" algn="l" defTabSz="914400" rtl="0" eaLnBrk="1" fontAlgn="t"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Kenya, Nairobi</a:t>
              </a:r>
            </a:p>
            <a:p>
              <a:pPr marL="0" marR="0" lvl="0" indent="0" algn="l" defTabSz="914400" rtl="0" eaLnBrk="1" fontAlgn="t"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Morocco, Casablanca</a:t>
              </a:r>
            </a:p>
            <a:p>
              <a:pPr marL="0" marR="0" lvl="0" indent="0" algn="l" defTabSz="914400" rtl="0" eaLnBrk="1" fontAlgn="t" latinLnBrk="0" hangingPunct="1">
                <a:lnSpc>
                  <a:spcPct val="100000"/>
                </a:lnSpc>
                <a:spcBef>
                  <a:spcPts val="0"/>
                </a:spcBef>
                <a:spcAft>
                  <a:spcPts val="0"/>
                </a:spcAft>
                <a:buClrTx/>
                <a:buSzTx/>
                <a:buFontTx/>
                <a:buNone/>
                <a:tabLst/>
                <a:defRPr/>
              </a:pPr>
              <a:r>
                <a:rPr lang="en-US" sz="1000">
                  <a:solidFill>
                    <a:srgbClr val="222C33"/>
                  </a:solidFill>
                  <a:latin typeface="Calibri"/>
                  <a:ea typeface="Calibri"/>
                  <a:cs typeface="Calibri"/>
                </a:rPr>
                <a:t>Nigeria, Lagos</a:t>
              </a:r>
              <a:endParaRPr lang="en-US" sz="1000" b="0" i="0" u="none" strike="noStrike" kern="1200" cap="none" spc="0" normalizeH="0" baseline="0" noProof="0">
                <a:ln>
                  <a:noFill/>
                </a:ln>
                <a:solidFill>
                  <a:srgbClr val="222C33"/>
                </a:solidFill>
                <a:effectLst/>
                <a:uLnTx/>
                <a:uFillTx/>
                <a:latin typeface="Calibri"/>
                <a:ea typeface="Calibri"/>
                <a:cs typeface="Calibri"/>
              </a:endParaRPr>
            </a:p>
            <a:p>
              <a:pPr marL="0" marR="0" lvl="0" indent="0" algn="l" defTabSz="914400" rtl="0" eaLnBrk="1" fontAlgn="t"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South Africa, Johannesburg</a:t>
              </a:r>
            </a:p>
            <a:p>
              <a:pPr marL="0" marR="0" lvl="0" indent="0" algn="l" defTabSz="914400" rtl="0" eaLnBrk="1" fontAlgn="t"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United Arab Emirates, Dubai</a:t>
              </a:r>
            </a:p>
          </p:txBody>
        </p:sp>
      </p:grpSp>
      <p:grpSp>
        <p:nvGrpSpPr>
          <p:cNvPr id="9" name="Group 8">
            <a:extLst>
              <a:ext uri="{FF2B5EF4-FFF2-40B4-BE49-F238E27FC236}">
                <a16:creationId xmlns:a16="http://schemas.microsoft.com/office/drawing/2014/main" id="{3382552B-24B5-7AD4-15FC-C73AA3F7F3FB}"/>
              </a:ext>
            </a:extLst>
          </p:cNvPr>
          <p:cNvGrpSpPr/>
          <p:nvPr/>
        </p:nvGrpSpPr>
        <p:grpSpPr>
          <a:xfrm>
            <a:off x="6190233" y="287807"/>
            <a:ext cx="1834094" cy="4551492"/>
            <a:chOff x="5793696" y="532363"/>
            <a:chExt cx="1834094" cy="4551492"/>
          </a:xfrm>
        </p:grpSpPr>
        <p:sp>
          <p:nvSpPr>
            <p:cNvPr id="11" name="TextBox 10">
              <a:extLst>
                <a:ext uri="{FF2B5EF4-FFF2-40B4-BE49-F238E27FC236}">
                  <a16:creationId xmlns:a16="http://schemas.microsoft.com/office/drawing/2014/main" id="{711DACA0-7203-FA5F-6353-004BA4417AA8}"/>
                </a:ext>
              </a:extLst>
            </p:cNvPr>
            <p:cNvSpPr txBox="1"/>
            <p:nvPr/>
          </p:nvSpPr>
          <p:spPr>
            <a:xfrm>
              <a:off x="5793698" y="532363"/>
              <a:ext cx="1834092" cy="205184"/>
            </a:xfrm>
            <a:prstGeom prst="rect">
              <a:avLst/>
            </a:prstGeom>
            <a:noFill/>
          </p:spPr>
          <p:txBody>
            <a:bodyPr wrap="none" lIns="0" tIns="0" rIns="0" bIns="0" anchor="t">
              <a:spAutoFit/>
            </a:bodyPr>
            <a:lstStyle/>
            <a:p>
              <a:pPr>
                <a:lnSpc>
                  <a:spcPts val="1500"/>
                </a:lnSpc>
              </a:pPr>
              <a:r>
                <a:rPr lang="en-US" b="1">
                  <a:solidFill>
                    <a:schemeClr val="accent1"/>
                  </a:solidFill>
                </a:rPr>
                <a:t>North America (28)</a:t>
              </a:r>
            </a:p>
          </p:txBody>
        </p:sp>
        <p:sp>
          <p:nvSpPr>
            <p:cNvPr id="12" name="TextBox 11">
              <a:extLst>
                <a:ext uri="{FF2B5EF4-FFF2-40B4-BE49-F238E27FC236}">
                  <a16:creationId xmlns:a16="http://schemas.microsoft.com/office/drawing/2014/main" id="{BFB476AB-D561-B251-2E49-DC675FE99EF7}"/>
                </a:ext>
              </a:extLst>
            </p:cNvPr>
            <p:cNvSpPr txBox="1"/>
            <p:nvPr/>
          </p:nvSpPr>
          <p:spPr>
            <a:xfrm>
              <a:off x="5793696" y="774983"/>
              <a:ext cx="1003480" cy="4308872"/>
            </a:xfrm>
            <a:prstGeom prst="rect">
              <a:avLst/>
            </a:prstGeom>
            <a:noFill/>
          </p:spPr>
          <p:txBody>
            <a:bodyPr wrap="none" lIns="0" tIns="0" rIns="0" bIns="0" numCol="1" spcCol="91440" anchor="t">
              <a:spAutoFit/>
            </a:bodyPr>
            <a:lstStyle/>
            <a:p>
              <a:pPr>
                <a:defRPr/>
              </a:pPr>
              <a:r>
                <a:rPr lang="en-US" sz="1000">
                  <a:solidFill>
                    <a:srgbClr val="222C33"/>
                  </a:solidFill>
                  <a:ea typeface="Calibri"/>
                  <a:cs typeface="Calibri"/>
                </a:rPr>
                <a:t>Anchorage, AK*</a:t>
              </a:r>
            </a:p>
            <a:p>
              <a:pPr>
                <a:defRPr/>
              </a:pPr>
              <a:r>
                <a:rPr lang="en-US" sz="1000">
                  <a:solidFill>
                    <a:srgbClr val="222C33"/>
                  </a:solidFill>
                  <a:latin typeface="Calibri"/>
                  <a:ea typeface="Calibri"/>
                  <a:cs typeface="Calibri"/>
                </a:rPr>
                <a:t>Ashburn</a:t>
              </a:r>
              <a:r>
                <a:rPr kumimoji="0" lang="en-US" sz="1000" b="0" i="0" u="none" strike="noStrike" kern="1200" cap="none" spc="0" normalizeH="0" baseline="0" noProof="0">
                  <a:ln>
                    <a:noFill/>
                  </a:ln>
                  <a:solidFill>
                    <a:srgbClr val="222C33"/>
                  </a:solidFill>
                  <a:effectLst/>
                  <a:uLnTx/>
                  <a:uFillTx/>
                  <a:latin typeface="Calibri"/>
                  <a:ea typeface="Calibri"/>
                  <a:cs typeface="Calibri"/>
                </a:rPr>
                <a:t>, VA</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Atlanta, GA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Austin, TX</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Boston, MA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Charlotte, NC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Chicago, IL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Cincinnati, OH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Dallas, TX</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Denver, CO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Detroit, MI</a:t>
              </a:r>
            </a:p>
            <a:p>
              <a:pPr>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Honolulu, HI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Houston, TX</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Kansas City, MO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Las Vegas, NV</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Los Angeles, CA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Miami, FL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Minneapolis, MN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New York, NY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Phoenix, AZ</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Portland, 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Salt Lake City, UT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Santa Clara, CA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Seattle, WA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Canada, Calgary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Canada, Montreal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rPr>
                <a:t>Canada, Toronto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222C33"/>
                  </a:solidFill>
                  <a:latin typeface="Calibri" panose="020F0502020204030204" pitchFamily="34" charset="0"/>
                </a:rPr>
                <a:t>Canada, Vancouver</a:t>
              </a:r>
              <a:endParaRPr kumimoji="0" lang="en-US" sz="1000" b="0" i="0" u="none" strike="noStrike" kern="1200" cap="none" spc="0" normalizeH="0" baseline="0" noProof="0">
                <a:ln>
                  <a:noFill/>
                </a:ln>
                <a:solidFill>
                  <a:srgbClr val="222C33"/>
                </a:solidFill>
                <a:effectLst/>
                <a:uLnTx/>
                <a:uFillTx/>
                <a:latin typeface="Calibri" panose="020F0502020204030204" pitchFamily="34" charset="0"/>
                <a:ea typeface="+mn-ea"/>
                <a:cs typeface="+mn-cs"/>
              </a:endParaRPr>
            </a:p>
          </p:txBody>
        </p:sp>
      </p:grpSp>
      <p:grpSp>
        <p:nvGrpSpPr>
          <p:cNvPr id="13" name="Group 12">
            <a:extLst>
              <a:ext uri="{FF2B5EF4-FFF2-40B4-BE49-F238E27FC236}">
                <a16:creationId xmlns:a16="http://schemas.microsoft.com/office/drawing/2014/main" id="{C3F8861F-7AD8-5018-2A43-CCE58DB4668A}"/>
              </a:ext>
            </a:extLst>
          </p:cNvPr>
          <p:cNvGrpSpPr/>
          <p:nvPr/>
        </p:nvGrpSpPr>
        <p:grpSpPr>
          <a:xfrm>
            <a:off x="10473597" y="287807"/>
            <a:ext cx="1370568" cy="3935939"/>
            <a:chOff x="9796045" y="532363"/>
            <a:chExt cx="1370568" cy="3935939"/>
          </a:xfrm>
        </p:grpSpPr>
        <p:sp>
          <p:nvSpPr>
            <p:cNvPr id="14" name="TextBox 13">
              <a:extLst>
                <a:ext uri="{FF2B5EF4-FFF2-40B4-BE49-F238E27FC236}">
                  <a16:creationId xmlns:a16="http://schemas.microsoft.com/office/drawing/2014/main" id="{408407F6-FB78-5479-060E-9788C12A4BCA}"/>
                </a:ext>
              </a:extLst>
            </p:cNvPr>
            <p:cNvSpPr txBox="1"/>
            <p:nvPr/>
          </p:nvSpPr>
          <p:spPr>
            <a:xfrm>
              <a:off x="9796045" y="532363"/>
              <a:ext cx="831959" cy="205184"/>
            </a:xfrm>
            <a:prstGeom prst="rect">
              <a:avLst/>
            </a:prstGeom>
            <a:noFill/>
          </p:spPr>
          <p:txBody>
            <a:bodyPr wrap="none" lIns="0" tIns="0" rIns="0" bIns="0" anchor="t">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800" b="1" i="0" u="none" strike="noStrike" kern="1200" cap="none" spc="0" normalizeH="0" baseline="0" noProof="0">
                  <a:ln>
                    <a:noFill/>
                  </a:ln>
                  <a:solidFill>
                    <a:srgbClr val="158864"/>
                  </a:solidFill>
                  <a:effectLst/>
                  <a:uLnTx/>
                  <a:uFillTx/>
                  <a:latin typeface="Calibri" panose="020F0502020204030204"/>
                  <a:ea typeface="+mn-ea"/>
                  <a:cs typeface="+mn-cs"/>
                </a:rPr>
                <a:t>Asia (</a:t>
              </a:r>
              <a:r>
                <a:rPr lang="en-US" b="1">
                  <a:solidFill>
                    <a:srgbClr val="158864"/>
                  </a:solidFill>
                  <a:latin typeface="Calibri" panose="020F0502020204030204"/>
                </a:rPr>
                <a:t>24</a:t>
              </a:r>
              <a:r>
                <a:rPr kumimoji="0" lang="en-US" sz="1800" b="1" i="0" u="none" strike="noStrike" kern="1200" cap="none" spc="0" normalizeH="0" baseline="0" noProof="0">
                  <a:ln>
                    <a:noFill/>
                  </a:ln>
                  <a:solidFill>
                    <a:srgbClr val="158864"/>
                  </a:solidFill>
                  <a:effectLst/>
                  <a:uLnTx/>
                  <a:uFillTx/>
                  <a:latin typeface="Calibri" panose="020F0502020204030204"/>
                  <a:ea typeface="+mn-ea"/>
                  <a:cs typeface="+mn-cs"/>
                </a:rPr>
                <a:t>)</a:t>
              </a:r>
            </a:p>
          </p:txBody>
        </p:sp>
        <p:sp>
          <p:nvSpPr>
            <p:cNvPr id="15" name="TextBox 14">
              <a:extLst>
                <a:ext uri="{FF2B5EF4-FFF2-40B4-BE49-F238E27FC236}">
                  <a16:creationId xmlns:a16="http://schemas.microsoft.com/office/drawing/2014/main" id="{B5000C89-B2EE-9105-1B14-397A2BD3ADAF}"/>
                </a:ext>
              </a:extLst>
            </p:cNvPr>
            <p:cNvSpPr txBox="1"/>
            <p:nvPr/>
          </p:nvSpPr>
          <p:spPr>
            <a:xfrm>
              <a:off x="9796045" y="774983"/>
              <a:ext cx="1370568" cy="3693319"/>
            </a:xfrm>
            <a:prstGeom prst="rect">
              <a:avLst/>
            </a:prstGeom>
            <a:noFill/>
          </p:spPr>
          <p:txBody>
            <a:bodyPr wrap="none" lIns="0" tIns="0" rIns="0" bIns="0" anchor="t">
              <a:spAutoFit/>
            </a:bodyPr>
            <a:lstStyle/>
            <a:p>
              <a:pPr>
                <a:defRPr/>
              </a:pPr>
              <a:r>
                <a:rPr lang="en-US" sz="1000">
                  <a:solidFill>
                    <a:srgbClr val="222C33"/>
                  </a:solidFill>
                  <a:latin typeface="Calibri"/>
                  <a:ea typeface="Calibri"/>
                  <a:cs typeface="Calibri"/>
                </a:rPr>
                <a:t>Australia, Brisbane*</a:t>
              </a:r>
              <a:endParaRPr lang="en-US" sz="1000">
                <a:solidFill>
                  <a:srgbClr val="000000"/>
                </a:solidFill>
                <a:latin typeface="Calibri"/>
                <a:ea typeface="Calibri"/>
                <a:cs typeface="Calibri"/>
              </a:endParaRPr>
            </a:p>
            <a:p>
              <a:pPr marL="0" marR="0" lvl="0" indent="0" algn="l" defTabSz="914400">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a:ea typeface="Calibri"/>
                  <a:cs typeface="Calibri"/>
                </a:rPr>
                <a:t>Australia, Melbourne</a:t>
              </a:r>
              <a:endParaRPr lang="en-US">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a:ea typeface="Calibri"/>
                  <a:cs typeface="Calibri"/>
                </a:rPr>
                <a:t>Australia, Perth</a:t>
              </a:r>
              <a:endParaRPr lang="en-US" sz="1000" b="0" i="0" u="none" strike="noStrike" kern="1200" cap="none" spc="0" normalizeH="0" baseline="0" noProof="0">
                <a:ln>
                  <a:noFill/>
                </a:ln>
                <a:solidFill>
                  <a:srgbClr val="222C33"/>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a:ea typeface="Calibri"/>
                  <a:cs typeface="Calibri"/>
                </a:rPr>
                <a:t>Australia, Sydney</a:t>
              </a:r>
              <a:endParaRPr lang="en-US" sz="1000" b="0" i="0" u="none" strike="noStrike" kern="1200" cap="none" spc="0" normalizeH="0" baseline="0" noProof="0">
                <a:ln>
                  <a:noFill/>
                </a:ln>
                <a:solidFill>
                  <a:srgbClr val="222C33"/>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a:ea typeface="Calibri"/>
                  <a:cs typeface="Calibri"/>
                </a:rPr>
                <a:t>China, Beijing</a:t>
              </a:r>
              <a:endParaRPr lang="en-US" sz="1000" b="0" i="0" u="none" strike="noStrike" kern="1200" cap="none" spc="0" normalizeH="0" baseline="0" noProof="0">
                <a:ln>
                  <a:noFill/>
                </a:ln>
                <a:solidFill>
                  <a:srgbClr val="222C33"/>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a:ea typeface="Calibri"/>
                  <a:cs typeface="Calibri"/>
                </a:rPr>
                <a:t>China, Shanghai</a:t>
              </a:r>
              <a:endParaRPr lang="en-US" sz="1000" b="0" i="0" u="none" strike="noStrike" kern="1200" cap="none" spc="0" normalizeH="0" baseline="0" noProof="0">
                <a:ln>
                  <a:noFill/>
                </a:ln>
                <a:solidFill>
                  <a:srgbClr val="222C33"/>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a:ea typeface="Calibri"/>
                  <a:cs typeface="Calibri"/>
                </a:rPr>
                <a:t>China, Shenzhen</a:t>
              </a:r>
              <a:endParaRPr lang="en-US" sz="1000" b="0" i="0" u="none" strike="noStrike" kern="1200" cap="none" spc="0" normalizeH="0" baseline="0" noProof="0">
                <a:ln>
                  <a:noFill/>
                </a:ln>
                <a:solidFill>
                  <a:srgbClr val="222C33"/>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222C33"/>
                  </a:solidFill>
                  <a:latin typeface="Calibri"/>
                  <a:ea typeface="Calibri"/>
                  <a:cs typeface="Calibri"/>
                </a:rPr>
                <a:t>China, Urumqi*</a:t>
              </a:r>
              <a:endParaRPr lang="en-US" sz="1000" b="0" i="0" u="none" strike="noStrike" kern="1200" cap="none" spc="0" normalizeH="0" baseline="0" noProof="0">
                <a:ln>
                  <a:noFill/>
                </a:ln>
                <a:solidFill>
                  <a:srgbClr val="222C33"/>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a:ea typeface="Calibri"/>
                  <a:cs typeface="Calibri"/>
                </a:rPr>
                <a:t>Hong Kong</a:t>
              </a:r>
              <a:endParaRPr lang="en-US" sz="1000" b="0" i="0" u="none" strike="noStrike" kern="1200" cap="none" spc="0" normalizeH="0" baseline="0" noProof="0">
                <a:ln>
                  <a:noFill/>
                </a:ln>
                <a:solidFill>
                  <a:srgbClr val="222C33"/>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a:ea typeface="Calibri"/>
                  <a:cs typeface="Calibri"/>
                </a:rPr>
                <a:t>India, Chennai</a:t>
              </a:r>
              <a:endParaRPr lang="en-US" sz="1000" b="0" i="0" u="none" strike="noStrike" kern="1200" cap="none" spc="0" normalizeH="0" baseline="0" noProof="0">
                <a:ln>
                  <a:noFill/>
                </a:ln>
                <a:solidFill>
                  <a:srgbClr val="222C33"/>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a:ea typeface="Calibri"/>
                  <a:cs typeface="Calibri"/>
                </a:rPr>
                <a:t>India, Mumbai</a:t>
              </a:r>
              <a:endParaRPr lang="en-US" sz="1000" b="0" i="0" u="none" strike="noStrike" kern="1200" cap="none" spc="0" normalizeH="0" baseline="0" noProof="0">
                <a:ln>
                  <a:noFill/>
                </a:ln>
                <a:solidFill>
                  <a:srgbClr val="222C33"/>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rgbClr val="222C33"/>
                  </a:solidFill>
                  <a:latin typeface="Calibri"/>
                  <a:ea typeface="Calibri"/>
                  <a:cs typeface="Calibri"/>
                </a:rPr>
                <a:t>India, New Delhi*</a:t>
              </a:r>
              <a:endParaRPr lang="en-US" sz="1000" b="0" i="0" u="none" strike="noStrike" kern="1200" cap="none" spc="0" normalizeH="0" baseline="0" noProof="0">
                <a:ln>
                  <a:noFill/>
                </a:ln>
                <a:solidFill>
                  <a:srgbClr val="222C33"/>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a:ea typeface="Calibri"/>
                  <a:cs typeface="Calibri"/>
                </a:rPr>
                <a:t>Indonesia, Jakarta</a:t>
              </a:r>
              <a:endParaRPr lang="en-US" sz="1000" b="0" i="0" u="none" strike="noStrike" kern="1200" cap="none" spc="0" normalizeH="0" baseline="0" noProof="0">
                <a:ln>
                  <a:noFill/>
                </a:ln>
                <a:solidFill>
                  <a:srgbClr val="222C33"/>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a:ea typeface="Calibri"/>
                  <a:cs typeface="Calibri"/>
                </a:rPr>
                <a:t>Japan, Osaka</a:t>
              </a:r>
              <a:endParaRPr lang="en-US" sz="1000" b="0" i="0" u="none" strike="noStrike" kern="1200" cap="none" spc="0" normalizeH="0" baseline="0" noProof="0">
                <a:ln>
                  <a:noFill/>
                </a:ln>
                <a:solidFill>
                  <a:srgbClr val="222C33"/>
                </a:solidFill>
                <a:effectLst/>
                <a:uLnTx/>
                <a:uFillTx/>
                <a:latin typeface="Calibri"/>
                <a:ea typeface="Calibri"/>
                <a:cs typeface="Calibri"/>
              </a:endParaRPr>
            </a:p>
            <a:p>
              <a:pPr>
                <a:defRPr/>
              </a:pPr>
              <a:r>
                <a:rPr lang="en-US" sz="1000">
                  <a:solidFill>
                    <a:srgbClr val="222C33"/>
                  </a:solidFill>
                  <a:latin typeface="Calibri"/>
                  <a:ea typeface="Calibri"/>
                  <a:cs typeface="Calibri"/>
                </a:rPr>
                <a:t>Japan, Sapporo</a:t>
              </a:r>
              <a:endParaRPr lang="en-US" sz="1000" b="0" i="0" u="none" strike="noStrike" kern="1200" cap="none" spc="0" normalizeH="0" baseline="0" noProof="0">
                <a:ln>
                  <a:noFill/>
                </a:ln>
                <a:solidFill>
                  <a:srgbClr val="222C33"/>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a:ea typeface="Calibri"/>
                  <a:cs typeface="Calibri"/>
                </a:rPr>
                <a:t>Japan, Tokyo</a:t>
              </a:r>
              <a:endParaRPr lang="en-US" sz="1000" b="0" i="0" u="none" strike="noStrike" kern="1200" cap="none" spc="0" normalizeH="0" baseline="0" noProof="0">
                <a:ln>
                  <a:noFill/>
                </a:ln>
                <a:solidFill>
                  <a:srgbClr val="222C33"/>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a:ea typeface="Calibri"/>
                  <a:cs typeface="Calibri"/>
                </a:rPr>
                <a:t>Malaysia, Kuala Lumpur</a:t>
              </a:r>
              <a:endParaRPr lang="en-US" sz="1000" b="0" i="0" u="none" strike="noStrike" kern="1200" cap="none" spc="0" normalizeH="0" baseline="0" noProof="0">
                <a:ln>
                  <a:noFill/>
                </a:ln>
                <a:solidFill>
                  <a:srgbClr val="222C33"/>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a:ea typeface="Calibri"/>
                  <a:cs typeface="Calibri"/>
                </a:rPr>
                <a:t>New Zealand, Auckland</a:t>
              </a:r>
              <a:endParaRPr lang="en-US" sz="1000" b="0" i="0" u="none" strike="noStrike" kern="1200" cap="none" spc="0" normalizeH="0" baseline="0" noProof="0">
                <a:ln>
                  <a:noFill/>
                </a:ln>
                <a:solidFill>
                  <a:srgbClr val="222C33"/>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a:ea typeface="Calibri"/>
                  <a:cs typeface="Calibri"/>
                </a:rPr>
                <a:t>Philippines, Manila</a:t>
              </a:r>
              <a:endParaRPr lang="en-US" sz="1000" b="0" i="0" u="none" strike="noStrike" kern="1200" cap="none" spc="0" normalizeH="0" baseline="0" noProof="0">
                <a:ln>
                  <a:noFill/>
                </a:ln>
                <a:solidFill>
                  <a:srgbClr val="222C33"/>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a:ea typeface="Calibri"/>
                  <a:cs typeface="Calibri"/>
                </a:rPr>
                <a:t>Republic of Korea, Seoul</a:t>
              </a:r>
              <a:endParaRPr lang="en-US" sz="1000" b="0" i="0" u="none" strike="noStrike" kern="1200" cap="none" spc="0" normalizeH="0" baseline="0" noProof="0">
                <a:ln>
                  <a:noFill/>
                </a:ln>
                <a:solidFill>
                  <a:srgbClr val="222C33"/>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a:ea typeface="Calibri"/>
                  <a:cs typeface="Calibri"/>
                </a:rPr>
                <a:t>Singapore</a:t>
              </a:r>
              <a:endParaRPr lang="en-US" sz="1000" b="0" i="0" u="none" strike="noStrike" kern="1200" cap="none" spc="0" normalizeH="0" baseline="0" noProof="0">
                <a:ln>
                  <a:noFill/>
                </a:ln>
                <a:solidFill>
                  <a:srgbClr val="222C33"/>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a:ea typeface="Calibri"/>
                  <a:cs typeface="Calibri"/>
                </a:rPr>
                <a:t>Taiwan, Taipei</a:t>
              </a:r>
              <a:endParaRPr lang="en-US" sz="1000" b="0" i="0" u="none" strike="noStrike" kern="1200" cap="none" spc="0" normalizeH="0" baseline="0" noProof="0">
                <a:ln>
                  <a:noFill/>
                </a:ln>
                <a:solidFill>
                  <a:srgbClr val="222C33"/>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a:ea typeface="Calibri"/>
                  <a:cs typeface="Calibri"/>
                </a:rPr>
                <a:t>Thailand, Bangkok</a:t>
              </a:r>
              <a:endParaRPr lang="en-US" sz="1000" b="0" i="0" u="none" strike="noStrike" kern="1200" cap="none" spc="0" normalizeH="0" baseline="0" noProof="0">
                <a:ln>
                  <a:noFill/>
                </a:ln>
                <a:solidFill>
                  <a:srgbClr val="222C33"/>
                </a:solidFill>
                <a:effectLst/>
                <a:uLnTx/>
                <a:uFillTx/>
                <a:latin typeface="Calibri"/>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22C33"/>
                  </a:solidFill>
                  <a:effectLst/>
                  <a:uLnTx/>
                  <a:uFillTx/>
                  <a:latin typeface="Calibri"/>
                  <a:ea typeface="Calibri"/>
                  <a:cs typeface="Calibri"/>
                </a:rPr>
                <a:t>Vietnam, Ho Chi Minh City</a:t>
              </a:r>
              <a:endParaRPr lang="en-US" sz="1000" b="0" i="0" u="none" strike="noStrike" kern="1200" cap="none" spc="0" normalizeH="0" baseline="0" noProof="0">
                <a:ln>
                  <a:noFill/>
                </a:ln>
                <a:solidFill>
                  <a:srgbClr val="222C33"/>
                </a:solidFill>
                <a:effectLst/>
                <a:uLnTx/>
                <a:uFillTx/>
                <a:latin typeface="Calibri"/>
                <a:ea typeface="Calibri"/>
                <a:cs typeface="Calibri"/>
              </a:endParaRPr>
            </a:p>
          </p:txBody>
        </p:sp>
      </p:grpSp>
      <p:grpSp>
        <p:nvGrpSpPr>
          <p:cNvPr id="16" name="Group 15">
            <a:extLst>
              <a:ext uri="{FF2B5EF4-FFF2-40B4-BE49-F238E27FC236}">
                <a16:creationId xmlns:a16="http://schemas.microsoft.com/office/drawing/2014/main" id="{FD6BD493-80E9-D4D1-23F3-ABBC1C312825}"/>
              </a:ext>
            </a:extLst>
          </p:cNvPr>
          <p:cNvGrpSpPr/>
          <p:nvPr/>
        </p:nvGrpSpPr>
        <p:grpSpPr>
          <a:xfrm>
            <a:off x="8481925" y="287807"/>
            <a:ext cx="1534074" cy="3486563"/>
            <a:chOff x="7900570" y="532363"/>
            <a:chExt cx="1534074" cy="3486563"/>
          </a:xfrm>
        </p:grpSpPr>
        <p:sp>
          <p:nvSpPr>
            <p:cNvPr id="17" name="TextBox 16">
              <a:extLst>
                <a:ext uri="{FF2B5EF4-FFF2-40B4-BE49-F238E27FC236}">
                  <a16:creationId xmlns:a16="http://schemas.microsoft.com/office/drawing/2014/main" id="{4A07DE21-4EC1-CC8F-C0A8-404A2DEF9C52}"/>
                </a:ext>
              </a:extLst>
            </p:cNvPr>
            <p:cNvSpPr txBox="1"/>
            <p:nvPr/>
          </p:nvSpPr>
          <p:spPr>
            <a:xfrm>
              <a:off x="7900570" y="532363"/>
              <a:ext cx="1108060" cy="205184"/>
            </a:xfrm>
            <a:prstGeom prst="rect">
              <a:avLst/>
            </a:prstGeom>
            <a:noFill/>
          </p:spPr>
          <p:txBody>
            <a:bodyPr wrap="none" lIns="0" tIns="0" rIns="0" bIns="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800" b="1" i="0" u="none" strike="noStrike" kern="1200" cap="none" spc="0" normalizeH="0" baseline="0" noProof="0">
                  <a:ln>
                    <a:noFill/>
                  </a:ln>
                  <a:solidFill>
                    <a:srgbClr val="158864"/>
                  </a:solidFill>
                  <a:effectLst/>
                  <a:uLnTx/>
                  <a:uFillTx/>
                  <a:latin typeface="Calibri" panose="020F0502020204030204"/>
                  <a:ea typeface="+mn-ea"/>
                  <a:cs typeface="+mn-cs"/>
                </a:rPr>
                <a:t>Europe (21)</a:t>
              </a:r>
            </a:p>
          </p:txBody>
        </p:sp>
        <p:sp>
          <p:nvSpPr>
            <p:cNvPr id="18" name="TextBox 17">
              <a:extLst>
                <a:ext uri="{FF2B5EF4-FFF2-40B4-BE49-F238E27FC236}">
                  <a16:creationId xmlns:a16="http://schemas.microsoft.com/office/drawing/2014/main" id="{7137C8F0-A2C3-0FD3-971B-7CE0A3A7BAC1}"/>
                </a:ext>
              </a:extLst>
            </p:cNvPr>
            <p:cNvSpPr txBox="1"/>
            <p:nvPr/>
          </p:nvSpPr>
          <p:spPr>
            <a:xfrm>
              <a:off x="7900570" y="787272"/>
              <a:ext cx="1534074" cy="3231654"/>
            </a:xfrm>
            <a:prstGeom prst="rect">
              <a:avLst/>
            </a:prstGeom>
            <a:noFill/>
          </p:spPr>
          <p:txBody>
            <a:bodyPr wrap="none" lIns="0" tIns="0" rIns="0" bIns="0" anchor="t">
              <a:spAutoFit/>
            </a:bodyPr>
            <a:lstStyle/>
            <a:p>
              <a:pPr marR="0" lvl="0" indent="0" fontAlgn="auto">
                <a:lnSpc>
                  <a:spcPct val="100000"/>
                </a:lnSpc>
                <a:buClrTx/>
                <a:buSzTx/>
                <a:buFontTx/>
                <a:buNone/>
                <a:tabLst/>
                <a:defRPr/>
              </a:pPr>
              <a:r>
                <a:rPr lang="en-US" sz="1000">
                  <a:solidFill>
                    <a:srgbClr val="222C33"/>
                  </a:solidFill>
                  <a:latin typeface="Calibri"/>
                  <a:ea typeface="Calibri"/>
                  <a:cs typeface="Calibri"/>
                </a:rPr>
                <a:t>Austria, Vienna</a:t>
              </a:r>
              <a:endParaRPr lang="en-US" sz="1000">
                <a:solidFill>
                  <a:srgbClr val="222C33"/>
                </a:solidFill>
                <a:latin typeface="Calibri" panose="020F0502020204030204" pitchFamily="34" charset="0"/>
              </a:endParaRPr>
            </a:p>
            <a:p>
              <a:pPr marR="0" lvl="0" indent="0" fontAlgn="auto">
                <a:lnSpc>
                  <a:spcPct val="100000"/>
                </a:lnSpc>
                <a:buClrTx/>
                <a:buSzTx/>
                <a:buFontTx/>
                <a:buNone/>
                <a:tabLst/>
                <a:defRPr/>
              </a:pPr>
              <a:r>
                <a:rPr lang="en-US" sz="1000">
                  <a:solidFill>
                    <a:srgbClr val="222C33"/>
                  </a:solidFill>
                  <a:latin typeface="Calibri" panose="020F0502020204030204" pitchFamily="34" charset="0"/>
                </a:rPr>
                <a:t>Belgium, Brussels</a:t>
              </a:r>
            </a:p>
            <a:p>
              <a:pPr marR="0" lvl="0" indent="0" fontAlgn="auto">
                <a:lnSpc>
                  <a:spcPct val="100000"/>
                </a:lnSpc>
                <a:buClrTx/>
                <a:buSzTx/>
                <a:buFontTx/>
                <a:buNone/>
                <a:tabLst/>
                <a:defRPr/>
              </a:pPr>
              <a:r>
                <a:rPr lang="en-US" sz="1000">
                  <a:solidFill>
                    <a:srgbClr val="222C33"/>
                  </a:solidFill>
                  <a:latin typeface="Calibri" panose="020F0502020204030204" pitchFamily="34" charset="0"/>
                </a:rPr>
                <a:t>Czech Republic, Prague</a:t>
              </a:r>
            </a:p>
            <a:p>
              <a:pPr marR="0" lvl="0" indent="0" fontAlgn="auto">
                <a:lnSpc>
                  <a:spcPct val="100000"/>
                </a:lnSpc>
                <a:buClrTx/>
                <a:buSzTx/>
                <a:buFontTx/>
                <a:buNone/>
                <a:tabLst/>
                <a:defRPr/>
              </a:pPr>
              <a:r>
                <a:rPr lang="en-US" sz="1000">
                  <a:solidFill>
                    <a:srgbClr val="222C33"/>
                  </a:solidFill>
                  <a:latin typeface="Calibri" panose="020F0502020204030204" pitchFamily="34" charset="0"/>
                </a:rPr>
                <a:t>Denmark, Copenhagen</a:t>
              </a:r>
            </a:p>
            <a:p>
              <a:pPr marR="0" lvl="0" indent="0" fontAlgn="auto">
                <a:lnSpc>
                  <a:spcPct val="100000"/>
                </a:lnSpc>
                <a:buClrTx/>
                <a:buSzTx/>
                <a:buFontTx/>
                <a:buNone/>
                <a:tabLst/>
                <a:defRPr/>
              </a:pPr>
              <a:r>
                <a:rPr lang="en-US" sz="1000">
                  <a:solidFill>
                    <a:srgbClr val="222C33"/>
                  </a:solidFill>
                  <a:latin typeface="Calibri" panose="020F0502020204030204" pitchFamily="34" charset="0"/>
                </a:rPr>
                <a:t>Finland, Helsinki</a:t>
              </a:r>
            </a:p>
            <a:p>
              <a:pPr marR="0" lvl="0" indent="0" fontAlgn="auto">
                <a:lnSpc>
                  <a:spcPct val="100000"/>
                </a:lnSpc>
                <a:buClrTx/>
                <a:buSzTx/>
                <a:buFontTx/>
                <a:buNone/>
                <a:tabLst/>
                <a:defRPr/>
              </a:pPr>
              <a:r>
                <a:rPr lang="en-US" sz="1000">
                  <a:solidFill>
                    <a:srgbClr val="222C33"/>
                  </a:solidFill>
                  <a:latin typeface="Calibri" panose="020F0502020204030204" pitchFamily="34" charset="0"/>
                </a:rPr>
                <a:t>France, Marseille</a:t>
              </a:r>
            </a:p>
            <a:p>
              <a:pPr marR="0" lvl="0" indent="0" fontAlgn="auto">
                <a:lnSpc>
                  <a:spcPct val="100000"/>
                </a:lnSpc>
                <a:buClrTx/>
                <a:buSzTx/>
                <a:buFontTx/>
                <a:buNone/>
                <a:tabLst/>
                <a:defRPr/>
              </a:pPr>
              <a:r>
                <a:rPr lang="en-US" sz="1000">
                  <a:solidFill>
                    <a:srgbClr val="222C33"/>
                  </a:solidFill>
                  <a:latin typeface="Calibri" panose="020F0502020204030204" pitchFamily="34" charset="0"/>
                </a:rPr>
                <a:t>France, Paris</a:t>
              </a:r>
            </a:p>
            <a:p>
              <a:pPr marR="0" lvl="0" indent="0" fontAlgn="auto">
                <a:lnSpc>
                  <a:spcPct val="100000"/>
                </a:lnSpc>
                <a:buClrTx/>
                <a:buSzTx/>
                <a:buFontTx/>
                <a:buNone/>
                <a:tabLst/>
                <a:defRPr/>
              </a:pPr>
              <a:r>
                <a:rPr lang="en-US" sz="1000">
                  <a:solidFill>
                    <a:srgbClr val="222C33"/>
                  </a:solidFill>
                  <a:latin typeface="Calibri" panose="020F0502020204030204" pitchFamily="34" charset="0"/>
                </a:rPr>
                <a:t>Germany, Frankfurt</a:t>
              </a:r>
            </a:p>
            <a:p>
              <a:pPr marR="0" lvl="0" indent="0" fontAlgn="auto">
                <a:lnSpc>
                  <a:spcPct val="100000"/>
                </a:lnSpc>
                <a:buClrTx/>
                <a:buSzTx/>
                <a:buFontTx/>
                <a:buNone/>
                <a:tabLst/>
                <a:defRPr/>
              </a:pPr>
              <a:r>
                <a:rPr lang="en-US" sz="1000">
                  <a:solidFill>
                    <a:srgbClr val="222C33"/>
                  </a:solidFill>
                  <a:latin typeface="Calibri" panose="020F0502020204030204" pitchFamily="34" charset="0"/>
                </a:rPr>
                <a:t>Germany, Munich</a:t>
              </a:r>
            </a:p>
            <a:p>
              <a:pPr marR="0" lvl="0" indent="0" fontAlgn="auto">
                <a:lnSpc>
                  <a:spcPct val="100000"/>
                </a:lnSpc>
                <a:buClrTx/>
                <a:buSzTx/>
                <a:buFontTx/>
                <a:buNone/>
                <a:tabLst/>
                <a:defRPr/>
              </a:pPr>
              <a:r>
                <a:rPr lang="en-US" sz="1000">
                  <a:solidFill>
                    <a:srgbClr val="222C33"/>
                  </a:solidFill>
                  <a:latin typeface="Calibri" panose="020F0502020204030204" pitchFamily="34" charset="0"/>
                </a:rPr>
                <a:t>Ireland, Dublin</a:t>
              </a:r>
            </a:p>
            <a:p>
              <a:pPr marR="0" lvl="0" indent="0" fontAlgn="auto">
                <a:lnSpc>
                  <a:spcPct val="100000"/>
                </a:lnSpc>
                <a:buClrTx/>
                <a:buSzTx/>
                <a:buFontTx/>
                <a:buNone/>
                <a:tabLst/>
                <a:defRPr/>
              </a:pPr>
              <a:r>
                <a:rPr lang="en-US" sz="1000">
                  <a:solidFill>
                    <a:srgbClr val="222C33"/>
                  </a:solidFill>
                  <a:latin typeface="Calibri" panose="020F0502020204030204" pitchFamily="34" charset="0"/>
                </a:rPr>
                <a:t>Italy, Milan</a:t>
              </a:r>
            </a:p>
            <a:p>
              <a:pPr marR="0" lvl="0" indent="0" fontAlgn="auto">
                <a:lnSpc>
                  <a:spcPct val="100000"/>
                </a:lnSpc>
                <a:buClrTx/>
                <a:buSzTx/>
                <a:buFontTx/>
                <a:buNone/>
                <a:tabLst/>
                <a:defRPr/>
              </a:pPr>
              <a:r>
                <a:rPr lang="en-US" sz="1000">
                  <a:solidFill>
                    <a:srgbClr val="222C33"/>
                  </a:solidFill>
                  <a:latin typeface="Calibri"/>
                  <a:cs typeface="Calibri"/>
                </a:rPr>
                <a:t>Italy, Rome*</a:t>
              </a:r>
              <a:endParaRPr lang="en-US" sz="1000">
                <a:solidFill>
                  <a:srgbClr val="222C33"/>
                </a:solidFill>
                <a:latin typeface="Calibri"/>
                <a:ea typeface="Calibri"/>
                <a:cs typeface="Calibri"/>
              </a:endParaRPr>
            </a:p>
            <a:p>
              <a:pPr marR="0" lvl="0" indent="0" fontAlgn="auto">
                <a:lnSpc>
                  <a:spcPct val="100000"/>
                </a:lnSpc>
                <a:buClrTx/>
                <a:buSzTx/>
                <a:buFontTx/>
                <a:buNone/>
                <a:tabLst/>
                <a:defRPr/>
              </a:pPr>
              <a:r>
                <a:rPr lang="en-US" sz="1000">
                  <a:solidFill>
                    <a:srgbClr val="222C33"/>
                  </a:solidFill>
                  <a:latin typeface="Calibri"/>
                  <a:cs typeface="Calibri"/>
                </a:rPr>
                <a:t>Norway, Oslo</a:t>
              </a:r>
              <a:endParaRPr lang="en-US" sz="1000">
                <a:solidFill>
                  <a:srgbClr val="222C33"/>
                </a:solidFill>
                <a:latin typeface="Calibri" panose="020F0502020204030204" pitchFamily="34" charset="0"/>
                <a:cs typeface="Calibri"/>
              </a:endParaRPr>
            </a:p>
            <a:p>
              <a:pPr marR="0" lvl="0" indent="0" fontAlgn="auto">
                <a:lnSpc>
                  <a:spcPct val="100000"/>
                </a:lnSpc>
                <a:buClrTx/>
                <a:buSzTx/>
                <a:buFontTx/>
                <a:buNone/>
                <a:tabLst/>
                <a:defRPr/>
              </a:pPr>
              <a:r>
                <a:rPr lang="en-US" sz="1000">
                  <a:solidFill>
                    <a:srgbClr val="222C33"/>
                  </a:solidFill>
                  <a:latin typeface="Calibri" panose="020F0502020204030204" pitchFamily="34" charset="0"/>
                </a:rPr>
                <a:t>Poland, Warsaw</a:t>
              </a:r>
            </a:p>
            <a:p>
              <a:pPr marR="0" lvl="0" indent="0" fontAlgn="auto">
                <a:lnSpc>
                  <a:spcPct val="100000"/>
                </a:lnSpc>
                <a:buClrTx/>
                <a:buSzTx/>
                <a:buFontTx/>
                <a:buNone/>
                <a:tabLst/>
                <a:defRPr/>
              </a:pPr>
              <a:r>
                <a:rPr lang="en-US" sz="1000">
                  <a:solidFill>
                    <a:srgbClr val="222C33"/>
                  </a:solidFill>
                  <a:latin typeface="Calibri" panose="020F0502020204030204" pitchFamily="34" charset="0"/>
                </a:rPr>
                <a:t>Romania, Bucharest</a:t>
              </a:r>
            </a:p>
            <a:p>
              <a:pPr marR="0" lvl="0" indent="0" fontAlgn="auto">
                <a:lnSpc>
                  <a:spcPct val="100000"/>
                </a:lnSpc>
                <a:buClrTx/>
                <a:buSzTx/>
                <a:buFontTx/>
                <a:buNone/>
                <a:tabLst/>
                <a:defRPr/>
              </a:pPr>
              <a:r>
                <a:rPr lang="en-US" sz="1000">
                  <a:solidFill>
                    <a:srgbClr val="222C33"/>
                  </a:solidFill>
                  <a:latin typeface="Calibri" panose="020F0502020204030204" pitchFamily="34" charset="0"/>
                </a:rPr>
                <a:t>Spain, Madrid</a:t>
              </a:r>
            </a:p>
            <a:p>
              <a:pPr marR="0" lvl="0" indent="0" fontAlgn="auto">
                <a:lnSpc>
                  <a:spcPct val="100000"/>
                </a:lnSpc>
                <a:buClrTx/>
                <a:buSzTx/>
                <a:buFontTx/>
                <a:buNone/>
                <a:tabLst/>
                <a:defRPr/>
              </a:pPr>
              <a:r>
                <a:rPr lang="en-US" sz="1000">
                  <a:solidFill>
                    <a:srgbClr val="222C33"/>
                  </a:solidFill>
                  <a:latin typeface="Calibri" panose="020F0502020204030204" pitchFamily="34" charset="0"/>
                </a:rPr>
                <a:t>Sweden, Stockholm</a:t>
              </a:r>
            </a:p>
            <a:p>
              <a:pPr marR="0" lvl="0" indent="0" fontAlgn="auto">
                <a:lnSpc>
                  <a:spcPct val="100000"/>
                </a:lnSpc>
                <a:buClrTx/>
                <a:buSzTx/>
                <a:buFontTx/>
                <a:buNone/>
                <a:tabLst/>
                <a:defRPr/>
              </a:pPr>
              <a:r>
                <a:rPr lang="en-US" sz="1000">
                  <a:solidFill>
                    <a:srgbClr val="222C33"/>
                  </a:solidFill>
                  <a:latin typeface="Calibri" panose="020F0502020204030204" pitchFamily="34" charset="0"/>
                </a:rPr>
                <a:t>Switzerland, Zurich</a:t>
              </a:r>
            </a:p>
            <a:p>
              <a:pPr marR="0" lvl="0" indent="0" fontAlgn="auto">
                <a:lnSpc>
                  <a:spcPct val="100000"/>
                </a:lnSpc>
                <a:buClrTx/>
                <a:buSzTx/>
                <a:buFontTx/>
                <a:buNone/>
                <a:tabLst/>
                <a:defRPr/>
              </a:pPr>
              <a:r>
                <a:rPr lang="en-US" sz="1000">
                  <a:solidFill>
                    <a:srgbClr val="222C33"/>
                  </a:solidFill>
                  <a:latin typeface="Calibri" panose="020F0502020204030204" pitchFamily="34" charset="0"/>
                </a:rPr>
                <a:t>The Netherlands, Amsterdam</a:t>
              </a:r>
            </a:p>
            <a:p>
              <a:pPr marR="0" lvl="0" indent="0" fontAlgn="auto">
                <a:lnSpc>
                  <a:spcPct val="100000"/>
                </a:lnSpc>
                <a:buClrTx/>
                <a:buSzTx/>
                <a:buFontTx/>
                <a:buNone/>
                <a:tabLst/>
                <a:defRPr/>
              </a:pPr>
              <a:r>
                <a:rPr lang="en-US" sz="1000">
                  <a:solidFill>
                    <a:srgbClr val="222C33"/>
                  </a:solidFill>
                  <a:latin typeface="Calibri" panose="020F0502020204030204" pitchFamily="34" charset="0"/>
                </a:rPr>
                <a:t>United Kingdom, London</a:t>
              </a:r>
            </a:p>
            <a:p>
              <a:pPr marR="0" lvl="0" indent="0" fontAlgn="auto">
                <a:lnSpc>
                  <a:spcPct val="100000"/>
                </a:lnSpc>
                <a:buClrTx/>
                <a:buSzTx/>
                <a:buFontTx/>
                <a:buNone/>
                <a:tabLst/>
                <a:defRPr/>
              </a:pPr>
              <a:r>
                <a:rPr lang="en-US" sz="1000">
                  <a:solidFill>
                    <a:srgbClr val="222C33"/>
                  </a:solidFill>
                  <a:latin typeface="Calibri" panose="020F0502020204030204" pitchFamily="34" charset="0"/>
                </a:rPr>
                <a:t>United Kingdom, Manchester</a:t>
              </a:r>
            </a:p>
          </p:txBody>
        </p:sp>
      </p:grpSp>
      <p:pic>
        <p:nvPicPr>
          <p:cNvPr id="3" name="Picture 2">
            <a:extLst>
              <a:ext uri="{FF2B5EF4-FFF2-40B4-BE49-F238E27FC236}">
                <a16:creationId xmlns:a16="http://schemas.microsoft.com/office/drawing/2014/main" id="{DB8189CE-FFEA-7144-D8E9-8B7E0D464B41}"/>
              </a:ext>
            </a:extLst>
          </p:cNvPr>
          <p:cNvPicPr>
            <a:picLocks noChangeAspect="1"/>
          </p:cNvPicPr>
          <p:nvPr/>
        </p:nvPicPr>
        <p:blipFill>
          <a:blip r:embed="rId3"/>
          <a:stretch>
            <a:fillRect/>
          </a:stretch>
        </p:blipFill>
        <p:spPr>
          <a:xfrm>
            <a:off x="360236" y="1538623"/>
            <a:ext cx="5558783" cy="2772951"/>
          </a:xfrm>
          <a:prstGeom prst="rect">
            <a:avLst/>
          </a:prstGeom>
        </p:spPr>
      </p:pic>
    </p:spTree>
    <p:extLst>
      <p:ext uri="{BB962C8B-B14F-4D97-AF65-F5344CB8AC3E}">
        <p14:creationId xmlns:p14="http://schemas.microsoft.com/office/powerpoint/2010/main" val="86701062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theme/theme1.xml><?xml version="1.0" encoding="utf-8"?>
<a:theme xmlns:a="http://schemas.openxmlformats.org/drawingml/2006/main" name="Office Theme">
  <a:themeElements>
    <a:clrScheme name="cato 2019">
      <a:dk1>
        <a:srgbClr val="222C33"/>
      </a:dk1>
      <a:lt1>
        <a:srgbClr val="FFFFFF"/>
      </a:lt1>
      <a:dk2>
        <a:srgbClr val="222222"/>
      </a:dk2>
      <a:lt2>
        <a:srgbClr val="FAFAFA"/>
      </a:lt2>
      <a:accent1>
        <a:srgbClr val="158864"/>
      </a:accent1>
      <a:accent2>
        <a:srgbClr val="127958"/>
      </a:accent2>
      <a:accent3>
        <a:srgbClr val="0C513B"/>
      </a:accent3>
      <a:accent4>
        <a:srgbClr val="FF715B"/>
      </a:accent4>
      <a:accent5>
        <a:srgbClr val="FDCA0B"/>
      </a:accent5>
      <a:accent6>
        <a:srgbClr val="FAA934"/>
      </a:accent6>
      <a:hlink>
        <a:srgbClr val="0277BD"/>
      </a:hlink>
      <a:folHlink>
        <a:srgbClr val="03A9F4"/>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 TEMPLATE 2022 06.potx" id="{C0F50A09-C38A-4BC0-AD93-17F5AD48579C}" vid="{DC00E7B4-0CF7-47E3-99ED-6FD79A8958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372A94E03C407419BC564D94F1A306B" ma:contentTypeVersion="22" ma:contentTypeDescription="Create a new document." ma:contentTypeScope="" ma:versionID="2a5be53b095fe5f2c3f270eac2e82b16">
  <xsd:schema xmlns:xsd="http://www.w3.org/2001/XMLSchema" xmlns:xs="http://www.w3.org/2001/XMLSchema" xmlns:p="http://schemas.microsoft.com/office/2006/metadata/properties" xmlns:ns2="59af04aa-14d6-4764-88c2-31407ba52b8d" xmlns:ns3="d5da3514-3b6b-4ccd-bd93-9b0746cba409" targetNamespace="http://schemas.microsoft.com/office/2006/metadata/properties" ma:root="true" ma:fieldsID="1573f9c29841bbcb0b7ecf2d122902d7" ns2:_="" ns3:_="">
    <xsd:import namespace="59af04aa-14d6-4764-88c2-31407ba52b8d"/>
    <xsd:import namespace="d5da3514-3b6b-4ccd-bd93-9b0746cba40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ObjectDetectorVersions" minOccurs="0"/>
                <xsd:element ref="ns2:_Flow_SignoffStatus" minOccurs="0"/>
                <xsd:element ref="ns2:MediaServiceBillingMetadata" minOccurs="0"/>
                <xsd:element ref="ns2:MediaServiceLocation" minOccurs="0"/>
                <xsd:element ref="ns2:Full_x0020_Name" minOccurs="0"/>
                <xsd:element ref="ns2:Manager_x0020_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af04aa-14d6-4764-88c2-31407ba52b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b4fd814-cd30-4341-b83e-5a3d1412f97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_Flow_SignoffStatus" ma:index="24" nillable="true" ma:displayName="Sign-off status" ma:internalName="Sign_x002d_off_x0020_status">
      <xsd:simpleType>
        <xsd:restriction base="dms:Text">
          <xsd:maxLength value="255"/>
        </xsd:restriction>
      </xsd:simpleType>
    </xsd:element>
    <xsd:element name="MediaServiceBillingMetadata" ma:index="25" nillable="true" ma:displayName="MediaServiceBillingMetadata" ma:hidden="true" ma:internalName="MediaServiceBillingMetadata" ma:readOnly="true">
      <xsd:simpleType>
        <xsd:restriction base="dms:Note"/>
      </xsd:simpleType>
    </xsd:element>
    <xsd:element name="MediaServiceLocation" ma:index="26" nillable="true" ma:displayName="Location" ma:indexed="true" ma:internalName="MediaServiceLocation" ma:readOnly="true">
      <xsd:simpleType>
        <xsd:restriction base="dms:Text"/>
      </xsd:simpleType>
    </xsd:element>
    <xsd:element name="Full_x0020_Name" ma:index="27" nillable="true" ma:displayName="Full Name" ma:internalName="Full_x0020_Name">
      <xsd:simpleType>
        <xsd:restriction base="dms:Text">
          <xsd:maxLength value="255"/>
        </xsd:restriction>
      </xsd:simpleType>
    </xsd:element>
    <xsd:element name="Manager_x0020_Name" ma:index="28" nillable="true" ma:displayName="Manager Name" ma:internalName="Manager_x0020_Nam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da3514-3b6b-4ccd-bd93-9b0746cba40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ddf6969e-8904-444d-9e9f-a1179b64f1ca}" ma:internalName="TaxCatchAll" ma:showField="CatchAllData" ma:web="d5da3514-3b6b-4ccd-bd93-9b0746cba40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d5da3514-3b6b-4ccd-bd93-9b0746cba409">
      <UserInfo>
        <DisplayName>Sharon Halbani</DisplayName>
        <AccountId>832</AccountId>
        <AccountType/>
      </UserInfo>
    </SharedWithUsers>
    <lcf76f155ced4ddcb4097134ff3c332f xmlns="59af04aa-14d6-4764-88c2-31407ba52b8d">
      <Terms xmlns="http://schemas.microsoft.com/office/infopath/2007/PartnerControls"/>
    </lcf76f155ced4ddcb4097134ff3c332f>
    <TaxCatchAll xmlns="d5da3514-3b6b-4ccd-bd93-9b0746cba409" xsi:nil="true"/>
    <_Flow_SignoffStatus xmlns="59af04aa-14d6-4764-88c2-31407ba52b8d" xsi:nil="true"/>
    <Manager_x0020_Name xmlns="59af04aa-14d6-4764-88c2-31407ba52b8d" xsi:nil="true"/>
    <Full_x0020_Name xmlns="59af04aa-14d6-4764-88c2-31407ba52b8d" xsi:nil="true"/>
  </documentManagement>
</p:properties>
</file>

<file path=customXml/itemProps1.xml><?xml version="1.0" encoding="utf-8"?>
<ds:datastoreItem xmlns:ds="http://schemas.openxmlformats.org/officeDocument/2006/customXml" ds:itemID="{A00B76D7-C0C3-42FF-97C1-EF20CF65F793}">
  <ds:schemaRefs>
    <ds:schemaRef ds:uri="http://schemas.microsoft.com/sharepoint/v3/contenttype/forms"/>
  </ds:schemaRefs>
</ds:datastoreItem>
</file>

<file path=customXml/itemProps2.xml><?xml version="1.0" encoding="utf-8"?>
<ds:datastoreItem xmlns:ds="http://schemas.openxmlformats.org/officeDocument/2006/customXml" ds:itemID="{825B4A73-069D-4810-93CA-0696220CBF2F}"/>
</file>

<file path=customXml/itemProps3.xml><?xml version="1.0" encoding="utf-8"?>
<ds:datastoreItem xmlns:ds="http://schemas.openxmlformats.org/officeDocument/2006/customXml" ds:itemID="{748E23FD-1D3C-4B77-BD11-3F1EF586A9C7}">
  <ds:schemaRefs>
    <ds:schemaRef ds:uri="59af04aa-14d6-4764-88c2-31407ba52b8d"/>
    <ds:schemaRef ds:uri="d5da3514-3b6b-4ccd-bd93-9b0746cba40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20</Slides>
  <Notes>20</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Things We Keep Hearing From IT Leaders We Meet</vt:lpstr>
      <vt:lpstr>PowerPoint Presentation</vt:lpstr>
      <vt:lpstr>The Emergence of Convergence</vt:lpstr>
      <vt:lpstr>We need a Platform that Enables IT to Drive the Digital Business</vt:lpstr>
      <vt:lpstr>The Cato SASE Cloud Platform keeps it simple Converged Architecture for Total Visibility, Optimization, and Control </vt:lpstr>
      <vt:lpstr>Visibility Driven Business Objectives</vt:lpstr>
      <vt:lpstr>Achieve unified, estate-wide visibility </vt:lpstr>
      <vt:lpstr>Leverage insights to improve threat detection </vt:lpstr>
      <vt:lpstr>Leverage Deep Analytics to improve incident MTTR </vt:lpstr>
      <vt:lpstr>Enhance Policy Governance and Compliance Visibility</vt:lpstr>
      <vt:lpstr>Improve the digital experience of ALL users</vt:lpstr>
      <vt:lpstr>Gain Executive-Level Insight Into Network &amp; Security Health</vt:lpstr>
      <vt:lpstr>Enable Data-Driven Optimization and Capacity Planning</vt:lpstr>
      <vt:lpstr>Reduce Operational Complexity via Centralized Observability</vt:lpstr>
      <vt:lpstr>The Cato SASE Cloud Platform:  Architected to translate Unified Visibility into Business Outcomes</vt:lpstr>
      <vt:lpstr>PowerPoint Presentation</vt:lpstr>
      <vt:lpstr>DEMO – Visibility Driven Business Outcomes 1</vt:lpstr>
      <vt:lpstr>DEMO – Visibility Driven Business Outcomes 2</vt:lpstr>
      <vt:lpstr>Cato SASE Cloud Global Private Backbone, 95+ Locations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Aaron Huggins</dc:creator>
  <cp:revision>1</cp:revision>
  <dcterms:created xsi:type="dcterms:W3CDTF">2024-09-17T11:17:58Z</dcterms:created>
  <dcterms:modified xsi:type="dcterms:W3CDTF">2025-12-04T16:14:34Z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0x0101009372A94E03C407419BC564D94F1A306B</vt:lpwstr>
  </property>
  <property fmtid="{D5CDD505-2E9C-101B-9397-08002B2CF9AE}" pid="3" name="MediaServiceImageTags">
    <vt:lpwstr/>
  </property>
</Properties>
</file>
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4"/>
  </p:sldMasterIdLst>
  <p:notesMasterIdLst>
    <p:notesMasterId r:id="rId17"/>
  </p:notesMasterIdLst>
  <p:sldIdLst>
    <p:sldId id="2076137767" r:id="rId5"/>
    <p:sldId id="2076137768" r:id="rId6"/>
    <p:sldId id="2076137769" r:id="rId7"/>
    <p:sldId id="2076137770" r:id="rId8"/>
    <p:sldId id="2076137772" r:id="rId9"/>
    <p:sldId id="2076137773" r:id="rId10"/>
    <p:sldId id="2076137774" r:id="rId11"/>
    <p:sldId id="2076137775" r:id="rId12"/>
    <p:sldId id="2076137776" r:id="rId13"/>
    <p:sldId id="2076137777" r:id="rId14"/>
    <p:sldId id="2076137779" r:id="rId15"/>
    <p:sldId id="207613777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D66643B6-EF19-3C41-898D-B936A35B6005}">
          <p14:sldIdLst>
            <p14:sldId id="2076137767"/>
            <p14:sldId id="2076137768"/>
            <p14:sldId id="2076137769"/>
            <p14:sldId id="2076137770"/>
            <p14:sldId id="2076137772"/>
            <p14:sldId id="2076137773"/>
            <p14:sldId id="2076137774"/>
          </p14:sldIdLst>
        </p14:section>
        <p14:section name="Case Study" id="{4CDB29DD-90F4-C944-B0B7-C0AD6BF7F004}">
          <p14:sldIdLst>
            <p14:sldId id="2076137775"/>
            <p14:sldId id="2076137776"/>
            <p14:sldId id="2076137777"/>
            <p14:sldId id="2076137779"/>
            <p14:sldId id="2076137778"/>
          </p14:sldIdLst>
        </p14:section>
        <p14:section name="Ending" id="{11B2A452-5FB2-F44F-8818-37432CD5C362}">
          <p14:sldIdLst/>
        </p14:section>
      </p14:sectionLst>
    </p:ext>
    <p:ext uri="{EFAFB233-063F-42B5-8137-9DF3F51BA10A}">
      <p15:sldGuideLst xmlns:p15="http://schemas.microsoft.com/office/powerpoint/2012/main">
        <p15:guide id="2" pos="6648" userDrawn="1">
          <p15:clr>
            <a:srgbClr val="A4A3A4"/>
          </p15:clr>
        </p15:guide>
        <p15:guide id="3" orient="horz" pos="21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FD0520-4095-DF2B-6948-0C28217F062B}" name="Robin Johns" initials="RJ" userId="S::robin.johns@catonetworks.com::19caebce-c609-4232-b948-1dd9dcbd0e27" providerId="AD"/>
  <p188:author id="{9EEAC523-B1BB-00DD-ECDD-D574C3D72479}" name="Andy Beller" initials="AB" userId="S::andy.beller@catonetworks.com::42e71d24-df91-44cf-8c4e-ca7e896f8854" providerId="AD"/>
  <p188:author id="{03A4D36E-3151-6EBB-CFBC-B81F2535A524}" name="Alessandro Bergamino" initials="AB" userId="S::alessandro.bergamino@catonetworks.com::c628ff76-aa44-4774-8c5b-4389c8df845a" providerId="AD"/>
  <p188:author id="{9E88A6B5-1E61-C0BC-2743-ED8001937CA1}" name="Mihai Radoveanu" initials="MR" userId="S::mihai.radoveanu@catonetworks.com::90a13584-3da4-40ca-98a2-04fa9857928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ishay Yovel" initials="" lastIdx="3" clrIdx="0"/>
  <p:cmAuthor id="2" name="Eyal Webber-Zvik" initials="" lastIdx="7" clrIdx="1"/>
  <p:cmAuthor id="3" name="Yael Shapiro" initials="YS" lastIdx="1" clrIdx="2">
    <p:extLst>
      <p:ext uri="{19B8F6BF-5375-455C-9EA6-DF929625EA0E}">
        <p15:presenceInfo xmlns:p15="http://schemas.microsoft.com/office/powerpoint/2012/main" userId="77436e138a4d4cd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58864"/>
    <a:srgbClr val="E7EDEA"/>
    <a:srgbClr val="168864"/>
    <a:srgbClr val="127958"/>
    <a:srgbClr val="CCDAD3"/>
    <a:srgbClr val="CBD9D2"/>
    <a:srgbClr val="DFEDE9"/>
    <a:srgbClr val="0A1833"/>
    <a:srgbClr val="D9D9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B511E0-A6E0-384A-B128-52651F4C69AC}" v="4" dt="2025-07-28T17:29:55.5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2466"/>
  </p:normalViewPr>
  <p:slideViewPr>
    <p:cSldViewPr snapToGrid="0">
      <p:cViewPr varScale="1">
        <p:scale>
          <a:sx n="99" d="100"/>
          <a:sy n="99" d="100"/>
        </p:scale>
        <p:origin x="1504" y="184"/>
      </p:cViewPr>
      <p:guideLst>
        <p:guide pos="6648"/>
        <p:guide orient="horz" pos="21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83B74-BDAD-492D-9FF1-9D9E9D4A881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ADEB05-5168-4175-A66F-2235235D7F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69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DEB05-5168-4175-A66F-2235235D7F1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29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 Migration Process</a:t>
            </a: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 up</a:t>
            </a: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Refactoring</a:t>
            </a:r>
          </a:p>
          <a:p>
            <a:pPr marL="171450" indent="-171450" rtl="0" fontAlgn="ctr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Gap analysis to Cato Best 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ADEB05-5168-4175-A66F-2235235D7F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48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emf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emf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hyperlink" Target="https://twitter.com/CatoNetworks" TargetMode="External"/><Relationship Id="rId3" Type="http://schemas.openxmlformats.org/officeDocument/2006/relationships/image" Target="../media/image26.png"/><Relationship Id="rId7" Type="http://schemas.openxmlformats.org/officeDocument/2006/relationships/image" Target="../media/image28.emf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linkedin.com/company/cato-networks/" TargetMode="External"/><Relationship Id="rId5" Type="http://schemas.openxmlformats.org/officeDocument/2006/relationships/image" Target="../media/image27.emf"/><Relationship Id="rId4" Type="http://schemas.openxmlformats.org/officeDocument/2006/relationships/hyperlink" Target="https://www.facebook.com/CatoNetworks/" TargetMode="External"/><Relationship Id="rId9" Type="http://schemas.openxmlformats.org/officeDocument/2006/relationships/image" Target="../media/image2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CBD27-8EF4-46B5-8CD0-F69BBC9E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380" y="842168"/>
            <a:ext cx="7124795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4DB12-3715-4168-98CD-E08CF7E0E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2380" y="3828255"/>
            <a:ext cx="712479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AFB031-18A8-4B47-A570-6D72B1A8A0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64842" y="549442"/>
            <a:ext cx="2727158" cy="54543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2B19A9-C6E7-4C94-A457-354B8E4A29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64842" y="549442"/>
            <a:ext cx="2727158" cy="545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065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FFD90C3E-6227-4944-868A-EB9526CF0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F1850-A386-40E9-96EF-38EFC0B22B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25" y="1316038"/>
            <a:ext cx="11245759" cy="3829050"/>
          </a:xfrm>
          <a:prstGeom prst="rect">
            <a:avLst/>
          </a:prstGeom>
        </p:spPr>
        <p:txBody>
          <a:bodyPr lIns="0" rIns="0"/>
          <a:lstStyle>
            <a:lvl1pPr marL="228600" indent="-228600"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  <a:lvl2pPr marL="457200" indent="-223838"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690563" indent="-233363"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3pPr>
            <a:lvl4pPr marL="914400" indent="-223838"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862013" indent="-234950"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45075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le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>
            <a:extLst>
              <a:ext uri="{FF2B5EF4-FFF2-40B4-BE49-F238E27FC236}">
                <a16:creationId xmlns:a16="http://schemas.microsoft.com/office/drawing/2014/main" id="{35DDDCB0-915D-764F-BB9C-6EC7BEDC5DCA}"/>
              </a:ext>
            </a:extLst>
          </p:cNvPr>
          <p:cNvGrpSpPr/>
          <p:nvPr/>
        </p:nvGrpSpPr>
        <p:grpSpPr>
          <a:xfrm>
            <a:off x="9994965" y="1461676"/>
            <a:ext cx="1790875" cy="1548151"/>
            <a:chOff x="9994965" y="1461676"/>
            <a:chExt cx="1790875" cy="1548151"/>
          </a:xfrm>
        </p:grpSpPr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95362571-8E4A-3C4F-82BE-36BE66B7C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25051" y="1461676"/>
              <a:ext cx="1112760" cy="546264"/>
            </a:xfrm>
            <a:prstGeom prst="rect">
              <a:avLst/>
            </a:prstGeom>
          </p:spPr>
        </p:pic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958A0C4-1AEB-E54E-B8FC-FF7E1B68301F}"/>
                </a:ext>
              </a:extLst>
            </p:cNvPr>
            <p:cNvSpPr txBox="1"/>
            <p:nvPr/>
          </p:nvSpPr>
          <p:spPr>
            <a:xfrm>
              <a:off x="9994965" y="2071108"/>
              <a:ext cx="1790875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27958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Flexible Management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Self-service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Co-managed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Fully managed</a:t>
              </a: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FFD90C3E-6227-4944-868A-EB9526CF0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888EE3E-AEEC-954C-BC2F-BB88D43739C2}" type="slidenum">
              <a:rPr lang="en-IL" smtClean="0"/>
              <a:t>‹#›</a:t>
            </a:fld>
            <a:endParaRPr lang="en-IL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604FD00-D731-467B-BFFC-B015CC25E9D0}"/>
              </a:ext>
            </a:extLst>
          </p:cNvPr>
          <p:cNvGrpSpPr/>
          <p:nvPr/>
        </p:nvGrpSpPr>
        <p:grpSpPr>
          <a:xfrm>
            <a:off x="6144482" y="1408394"/>
            <a:ext cx="2649460" cy="1585140"/>
            <a:chOff x="5328375" y="1408394"/>
            <a:chExt cx="2649460" cy="158514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8C08CEF-4615-44E1-A6DB-26B368703C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 flipH="1">
              <a:off x="5328375" y="1554246"/>
              <a:ext cx="783699" cy="1439288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61E86DA-3EB1-4544-BBE3-CF4EF5F9ECE6}"/>
                </a:ext>
              </a:extLst>
            </p:cNvPr>
            <p:cNvGrpSpPr/>
            <p:nvPr/>
          </p:nvGrpSpPr>
          <p:grpSpPr>
            <a:xfrm>
              <a:off x="6058720" y="1408394"/>
              <a:ext cx="1919115" cy="963318"/>
              <a:chOff x="5942039" y="1446816"/>
              <a:chExt cx="1919115" cy="963318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735A553-BD6F-47E3-B6EF-448F4E46A761}"/>
                  </a:ext>
                </a:extLst>
              </p:cNvPr>
              <p:cNvSpPr/>
              <p:nvPr/>
            </p:nvSpPr>
            <p:spPr>
              <a:xfrm>
                <a:off x="5942039" y="1446816"/>
                <a:ext cx="864339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NG Firewall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BE606E-21C4-43D8-84D3-93488628884D}"/>
                  </a:ext>
                </a:extLst>
              </p:cNvPr>
              <p:cNvSpPr/>
              <p:nvPr/>
            </p:nvSpPr>
            <p:spPr>
              <a:xfrm>
                <a:off x="5942039" y="1663884"/>
                <a:ext cx="1468672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Secure Web Gateway 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8972869-C79D-4FBA-9541-C444F19C423F}"/>
                  </a:ext>
                </a:extLst>
              </p:cNvPr>
              <p:cNvSpPr/>
              <p:nvPr/>
            </p:nvSpPr>
            <p:spPr>
              <a:xfrm>
                <a:off x="5942039" y="1911367"/>
                <a:ext cx="191911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Advanced Threat Prevention  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1DEB8-8C90-42CF-8B1F-0CD1BE303DFC}"/>
                  </a:ext>
                </a:extLst>
              </p:cNvPr>
              <p:cNvSpPr/>
              <p:nvPr/>
            </p:nvSpPr>
            <p:spPr>
              <a:xfrm>
                <a:off x="5942039" y="2136276"/>
                <a:ext cx="172675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and Mobile Security</a:t>
                </a: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A687DD2-D05D-43E6-BE6C-AECC4EEB1716}"/>
              </a:ext>
            </a:extLst>
          </p:cNvPr>
          <p:cNvGrpSpPr/>
          <p:nvPr/>
        </p:nvGrpSpPr>
        <p:grpSpPr>
          <a:xfrm>
            <a:off x="3659831" y="1408394"/>
            <a:ext cx="2464573" cy="1585140"/>
            <a:chOff x="2843724" y="1408394"/>
            <a:chExt cx="2464573" cy="158514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2D5064E-0045-465F-8CAE-90BAA5B393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>
              <a:off x="4524598" y="1554246"/>
              <a:ext cx="783699" cy="1439288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CE63006-D74A-4118-8965-8B15FE7D7D3E}"/>
                </a:ext>
              </a:extLst>
            </p:cNvPr>
            <p:cNvGrpSpPr/>
            <p:nvPr/>
          </p:nvGrpSpPr>
          <p:grpSpPr>
            <a:xfrm>
              <a:off x="2843724" y="1408394"/>
              <a:ext cx="1747594" cy="963318"/>
              <a:chOff x="2640072" y="1434290"/>
              <a:chExt cx="1747594" cy="963318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23525B0-AF9E-4D9C-AC02-8332F11C343F}"/>
                  </a:ext>
                </a:extLst>
              </p:cNvPr>
              <p:cNvSpPr/>
              <p:nvPr/>
            </p:nvSpPr>
            <p:spPr>
              <a:xfrm>
                <a:off x="3066470" y="1434290"/>
                <a:ext cx="1321196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Optimization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9CB22F1-34AE-486C-8D6F-72C3BE11AD66}"/>
                  </a:ext>
                </a:extLst>
              </p:cNvPr>
              <p:cNvSpPr/>
              <p:nvPr/>
            </p:nvSpPr>
            <p:spPr>
              <a:xfrm>
                <a:off x="3096928" y="1651358"/>
                <a:ext cx="1290738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WAN Optimization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24E63C4-4D28-4457-8B9C-7F12EE67FBDD}"/>
                  </a:ext>
                </a:extLst>
              </p:cNvPr>
              <p:cNvSpPr/>
              <p:nvPr/>
            </p:nvSpPr>
            <p:spPr>
              <a:xfrm>
                <a:off x="2640072" y="1898841"/>
                <a:ext cx="1747594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Global Route Optimization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CF7012A-DB44-4496-97D9-71CAD7E1A48F}"/>
                  </a:ext>
                </a:extLst>
              </p:cNvPr>
              <p:cNvSpPr/>
              <p:nvPr/>
            </p:nvSpPr>
            <p:spPr>
              <a:xfrm>
                <a:off x="2752283" y="2123750"/>
                <a:ext cx="1635383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Self-healing Architecture</a:t>
                </a:r>
              </a:p>
            </p:txBody>
          </p:sp>
        </p:grp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672FAD07-4432-4463-BA99-D7F9667F253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1510" y="3083940"/>
            <a:ext cx="6045866" cy="1022462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73D1057B-32B5-448A-B9AE-C2BC4DD47BF3}"/>
              </a:ext>
            </a:extLst>
          </p:cNvPr>
          <p:cNvGrpSpPr/>
          <p:nvPr/>
        </p:nvGrpSpPr>
        <p:grpSpPr>
          <a:xfrm>
            <a:off x="1453471" y="2069038"/>
            <a:ext cx="2336333" cy="1811732"/>
            <a:chOff x="2285868" y="3762352"/>
            <a:chExt cx="1885286" cy="1461963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51CB5D8-B7EC-4DC9-833D-D595474E4F64}"/>
                </a:ext>
              </a:extLst>
            </p:cNvPr>
            <p:cNvCxnSpPr>
              <a:cxnSpLocks/>
            </p:cNvCxnSpPr>
            <p:nvPr/>
          </p:nvCxnSpPr>
          <p:spPr>
            <a:xfrm>
              <a:off x="3123368" y="4546943"/>
              <a:ext cx="462556" cy="316356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8866909-4BE8-4278-9661-129E2C185BA6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08" y="4467929"/>
              <a:ext cx="923980" cy="442685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D54A62B-F889-452B-B587-7B74F5855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07072" y="4303678"/>
              <a:ext cx="409034" cy="256090"/>
            </a:xfrm>
            <a:prstGeom prst="rect">
              <a:avLst/>
            </a:prstGeom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4143E21-439A-4BD9-860B-0DC0E53DB3A8}"/>
                </a:ext>
              </a:extLst>
            </p:cNvPr>
            <p:cNvCxnSpPr/>
            <p:nvPr/>
          </p:nvCxnSpPr>
          <p:spPr>
            <a:xfrm flipH="1">
              <a:off x="3750602" y="4546943"/>
              <a:ext cx="190681" cy="2860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48C00DA-442E-481B-B431-5E692E445318}"/>
                </a:ext>
              </a:extLst>
            </p:cNvPr>
            <p:cNvCxnSpPr/>
            <p:nvPr/>
          </p:nvCxnSpPr>
          <p:spPr>
            <a:xfrm>
              <a:off x="3690606" y="4178339"/>
              <a:ext cx="0" cy="684960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E09DF55-5E3F-45B7-A8EC-5C00B0793131}"/>
                </a:ext>
              </a:extLst>
            </p:cNvPr>
            <p:cNvCxnSpPr/>
            <p:nvPr/>
          </p:nvCxnSpPr>
          <p:spPr>
            <a:xfrm>
              <a:off x="3460923" y="4000903"/>
              <a:ext cx="207340" cy="87973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E1F8E92-A890-44DF-A89D-20C63917C7B6}"/>
                </a:ext>
              </a:extLst>
            </p:cNvPr>
            <p:cNvCxnSpPr>
              <a:cxnSpLocks/>
            </p:cNvCxnSpPr>
            <p:nvPr/>
          </p:nvCxnSpPr>
          <p:spPr>
            <a:xfrm>
              <a:off x="3080194" y="4068225"/>
              <a:ext cx="566401" cy="799408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750D6F-62B5-4EE0-9898-B916CE276159}"/>
                </a:ext>
              </a:extLst>
            </p:cNvPr>
            <p:cNvCxnSpPr/>
            <p:nvPr/>
          </p:nvCxnSpPr>
          <p:spPr>
            <a:xfrm>
              <a:off x="2948876" y="4766983"/>
              <a:ext cx="645715" cy="1613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EA52697-0507-4398-B909-DB22F2797AB2}"/>
                </a:ext>
              </a:extLst>
            </p:cNvPr>
            <p:cNvCxnSpPr/>
            <p:nvPr/>
          </p:nvCxnSpPr>
          <p:spPr>
            <a:xfrm flipV="1">
              <a:off x="3235573" y="4954306"/>
              <a:ext cx="341683" cy="82882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E38D608D-F9AC-40C1-88D6-591A92705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0243" y="3965009"/>
              <a:ext cx="439090" cy="291395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7E72342A-E56C-4175-80F4-FA856BCE0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47511" y="4345864"/>
              <a:ext cx="423643" cy="265236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DC30FCA6-B9D3-4924-A577-90B2FA3E0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06052" y="3762352"/>
              <a:ext cx="596783" cy="375752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EE7A3979-9854-41FB-AF8F-623D65EE5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62961" y="4586038"/>
              <a:ext cx="648357" cy="254185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DC551A04-2E53-4532-AE32-41F9CF48F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58803" y="4863299"/>
              <a:ext cx="515738" cy="361016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E00BBF32-035F-4BE1-AAC6-18F07BF80E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50940" y="3814611"/>
              <a:ext cx="364701" cy="232082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DD26B8A0-8CC9-4536-8EC4-2D5AE6D67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85868" y="4155913"/>
              <a:ext cx="519742" cy="325992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C8E7441-B8C0-467F-8F67-07052AACA5CE}"/>
              </a:ext>
            </a:extLst>
          </p:cNvPr>
          <p:cNvGrpSpPr/>
          <p:nvPr/>
        </p:nvGrpSpPr>
        <p:grpSpPr>
          <a:xfrm>
            <a:off x="1444938" y="3599432"/>
            <a:ext cx="5416190" cy="2052950"/>
            <a:chOff x="628831" y="3599432"/>
            <a:chExt cx="5416190" cy="2052950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7DDA073-4EE6-40FB-8AA8-D96D7FD99321}"/>
                </a:ext>
              </a:extLst>
            </p:cNvPr>
            <p:cNvGrpSpPr/>
            <p:nvPr/>
          </p:nvGrpSpPr>
          <p:grpSpPr>
            <a:xfrm>
              <a:off x="628831" y="3599432"/>
              <a:ext cx="5160945" cy="2052950"/>
              <a:chOff x="2341995" y="4494588"/>
              <a:chExt cx="4164579" cy="1656610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B9FA5B60-4D14-482E-8490-B6D9C406FC41}"/>
                  </a:ext>
                </a:extLst>
              </p:cNvPr>
              <p:cNvGrpSpPr/>
              <p:nvPr/>
            </p:nvGrpSpPr>
            <p:grpSpPr>
              <a:xfrm>
                <a:off x="2341995" y="4494588"/>
                <a:ext cx="4164579" cy="1656610"/>
                <a:chOff x="2341995" y="4494588"/>
                <a:chExt cx="4164579" cy="1656610"/>
              </a:xfrm>
            </p:grpSpPr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15835CAA-B9AD-438A-8B47-2A6083AD2860}"/>
                    </a:ext>
                  </a:extLst>
                </p:cNvPr>
                <p:cNvCxnSpPr/>
                <p:nvPr/>
              </p:nvCxnSpPr>
              <p:spPr>
                <a:xfrm>
                  <a:off x="6018415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940B2200-F7B9-45E6-AA13-BCFF4513B581}"/>
                    </a:ext>
                  </a:extLst>
                </p:cNvPr>
                <p:cNvCxnSpPr/>
                <p:nvPr/>
              </p:nvCxnSpPr>
              <p:spPr>
                <a:xfrm>
                  <a:off x="5964382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61288F79-52A8-4F32-8BC9-24B0272324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1102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29D88A2F-8A06-47F1-BE94-0803CE74EE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60073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59" name="Picture 58">
                  <a:extLst>
                    <a:ext uri="{FF2B5EF4-FFF2-40B4-BE49-F238E27FC236}">
                      <a16:creationId xmlns:a16="http://schemas.microsoft.com/office/drawing/2014/main" id="{D67A8DE5-E630-421E-B1A4-680AAD499B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25972" y="5539528"/>
                  <a:ext cx="386803" cy="386803"/>
                </a:xfrm>
                <a:prstGeom prst="rect">
                  <a:avLst/>
                </a:prstGeom>
              </p:spPr>
            </p:pic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54983E23-1379-41F4-ABFC-54382A6C4F93}"/>
                    </a:ext>
                  </a:extLst>
                </p:cNvPr>
                <p:cNvSpPr txBox="1"/>
                <p:nvPr/>
              </p:nvSpPr>
              <p:spPr>
                <a:xfrm>
                  <a:off x="2341995" y="5902840"/>
                  <a:ext cx="558701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Branch</a:t>
                  </a: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D0419054-0809-4E42-A204-70E3C51BAFCD}"/>
                    </a:ext>
                  </a:extLst>
                </p:cNvPr>
                <p:cNvSpPr txBox="1"/>
                <p:nvPr/>
              </p:nvSpPr>
              <p:spPr>
                <a:xfrm rot="18900000">
                  <a:off x="2906463" y="4800777"/>
                  <a:ext cx="627829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BF8B56EA-C027-468C-BF7E-7A03A98C6213}"/>
                    </a:ext>
                  </a:extLst>
                </p:cNvPr>
                <p:cNvSpPr txBox="1"/>
                <p:nvPr/>
              </p:nvSpPr>
              <p:spPr>
                <a:xfrm>
                  <a:off x="5703862" y="5902840"/>
                  <a:ext cx="802712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Datacenter</a:t>
                  </a:r>
                </a:p>
              </p:txBody>
            </p:sp>
            <p:pic>
              <p:nvPicPr>
                <p:cNvPr id="63" name="Picture 62">
                  <a:extLst>
                    <a:ext uri="{FF2B5EF4-FFF2-40B4-BE49-F238E27FC236}">
                      <a16:creationId xmlns:a16="http://schemas.microsoft.com/office/drawing/2014/main" id="{54ABA904-144D-4775-82F4-C333633279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09005" y="5539528"/>
                  <a:ext cx="386803" cy="386803"/>
                </a:xfrm>
                <a:prstGeom prst="rect">
                  <a:avLst/>
                </a:prstGeom>
              </p:spPr>
            </p:pic>
            <p:pic>
              <p:nvPicPr>
                <p:cNvPr id="64" name="Picture 63">
                  <a:extLst>
                    <a:ext uri="{FF2B5EF4-FFF2-40B4-BE49-F238E27FC236}">
                      <a16:creationId xmlns:a16="http://schemas.microsoft.com/office/drawing/2014/main" id="{1BB2179B-92BB-4A8A-B62E-01CAC5E390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86637" y="5257377"/>
                  <a:ext cx="504052" cy="232082"/>
                </a:xfrm>
                <a:prstGeom prst="rect">
                  <a:avLst/>
                </a:prstGeom>
              </p:spPr>
            </p:pic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7243A124-6680-4BA3-AE60-B25C367729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1153" y="5257377"/>
                  <a:ext cx="504052" cy="232082"/>
                </a:xfrm>
                <a:prstGeom prst="rect">
                  <a:avLst/>
                </a:prstGeom>
              </p:spPr>
            </p:pic>
          </p:grp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674DC70-698B-4731-BE7B-A79AE2977ABD}"/>
                  </a:ext>
                </a:extLst>
              </p:cNvPr>
              <p:cNvSpPr txBox="1"/>
              <p:nvPr/>
            </p:nvSpPr>
            <p:spPr>
              <a:xfrm>
                <a:off x="3149296" y="5472835"/>
                <a:ext cx="149067" cy="248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D41F829-B293-4DBE-B04F-A48C650372A6}"/>
                </a:ext>
              </a:extLst>
            </p:cNvPr>
            <p:cNvGrpSpPr/>
            <p:nvPr/>
          </p:nvGrpSpPr>
          <p:grpSpPr>
            <a:xfrm>
              <a:off x="1685531" y="3843892"/>
              <a:ext cx="4359490" cy="1334211"/>
              <a:chOff x="2396017" y="3843570"/>
              <a:chExt cx="2638394" cy="807473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8E6953C1-1279-4E3C-BBB2-18B78B93993A}"/>
                  </a:ext>
                </a:extLst>
              </p:cNvPr>
              <p:cNvGrpSpPr/>
              <p:nvPr/>
            </p:nvGrpSpPr>
            <p:grpSpPr>
              <a:xfrm>
                <a:off x="4599950" y="3843570"/>
                <a:ext cx="434461" cy="807473"/>
                <a:chOff x="6133238" y="4691857"/>
                <a:chExt cx="579279" cy="1076631"/>
              </a:xfrm>
            </p:grpSpPr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64442174-7E70-429B-B404-3BEDF3651948}"/>
                    </a:ext>
                  </a:extLst>
                </p:cNvPr>
                <p:cNvCxnSpPr/>
                <p:nvPr/>
              </p:nvCxnSpPr>
              <p:spPr>
                <a:xfrm>
                  <a:off x="6213764" y="4691857"/>
                  <a:ext cx="0" cy="1076631"/>
                </a:xfrm>
                <a:prstGeom prst="line">
                  <a:avLst/>
                </a:prstGeom>
                <a:ln w="12700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51" name="Picture 50">
                  <a:extLst>
                    <a:ext uri="{FF2B5EF4-FFF2-40B4-BE49-F238E27FC236}">
                      <a16:creationId xmlns:a16="http://schemas.microsoft.com/office/drawing/2014/main" id="{7F2C46D9-D164-4D1B-B64C-F096497AAC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33238" y="5278232"/>
                  <a:ext cx="165773" cy="165773"/>
                </a:xfrm>
                <a:prstGeom prst="rect">
                  <a:avLst/>
                </a:prstGeom>
              </p:spPr>
            </p:pic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3634E09-E0AA-4D7D-B843-2BA2F9F36E19}"/>
                    </a:ext>
                  </a:extLst>
                </p:cNvPr>
                <p:cNvSpPr txBox="1"/>
                <p:nvPr/>
              </p:nvSpPr>
              <p:spPr>
                <a:xfrm>
                  <a:off x="6251735" y="5240441"/>
                  <a:ext cx="460782" cy="2471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IPSec</a:t>
                  </a:r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43B97622-25C3-4C79-B71A-B2E848C6859B}"/>
                  </a:ext>
                </a:extLst>
              </p:cNvPr>
              <p:cNvGrpSpPr/>
              <p:nvPr/>
            </p:nvGrpSpPr>
            <p:grpSpPr>
              <a:xfrm>
                <a:off x="2396017" y="4155935"/>
                <a:ext cx="1779347" cy="380912"/>
                <a:chOff x="3194690" y="5108339"/>
                <a:chExt cx="2372462" cy="507882"/>
              </a:xfrm>
            </p:grpSpPr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97FC5C93-35B5-4F69-A080-E631B35A35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11073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D6A73DF2-B155-48C0-9561-B48F02AC16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44324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323F46C-1F84-47D3-B00F-E4BD50830249}"/>
                    </a:ext>
                  </a:extLst>
                </p:cNvPr>
                <p:cNvSpPr txBox="1"/>
                <p:nvPr/>
              </p:nvSpPr>
              <p:spPr>
                <a:xfrm>
                  <a:off x="4055159" y="5108339"/>
                  <a:ext cx="627830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6DB95155-769C-4ACF-BA27-2E7239AB0C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406670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34C1921-09DA-4B17-862A-C6F28E5732D5}"/>
                    </a:ext>
                  </a:extLst>
                </p:cNvPr>
                <p:cNvSpPr txBox="1"/>
                <p:nvPr/>
              </p:nvSpPr>
              <p:spPr>
                <a:xfrm>
                  <a:off x="4132245" y="5369098"/>
                  <a:ext cx="473654" cy="2471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MPLS</a:t>
                  </a:r>
                </a:p>
              </p:txBody>
            </p:sp>
          </p:grpSp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E96331D-D17E-402D-AA04-E14C9D593C92}"/>
              </a:ext>
            </a:extLst>
          </p:cNvPr>
          <p:cNvGrpSpPr/>
          <p:nvPr/>
        </p:nvGrpSpPr>
        <p:grpSpPr>
          <a:xfrm>
            <a:off x="8374446" y="2534521"/>
            <a:ext cx="2549849" cy="1260980"/>
            <a:chOff x="7933691" y="3635269"/>
            <a:chExt cx="2057578" cy="1017537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27423EA-DA3A-4BD0-A374-560B6BA05E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084273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5A62E0F-D870-49C5-B6B4-0BA4586B87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8653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496FCA1-0D1D-46B9-9F3B-C0A6B824C16C}"/>
                </a:ext>
              </a:extLst>
            </p:cNvPr>
            <p:cNvSpPr txBox="1"/>
            <p:nvPr/>
          </p:nvSpPr>
          <p:spPr>
            <a:xfrm>
              <a:off x="8703949" y="4404448"/>
              <a:ext cx="1287320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Hybrid/Multi Cloud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201CE7C-3BB4-46B6-9F22-46D9A23F81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158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664372F-71C2-43EB-A434-E2D0551455B5}"/>
                </a:ext>
              </a:extLst>
            </p:cNvPr>
            <p:cNvSpPr txBox="1"/>
            <p:nvPr/>
          </p:nvSpPr>
          <p:spPr>
            <a:xfrm>
              <a:off x="7933691" y="3885274"/>
              <a:ext cx="728206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Agentless</a:t>
              </a: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A8A0E6D0-1189-4492-8B90-EAB6CB8F3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81176" y="3635269"/>
              <a:ext cx="408906" cy="268920"/>
            </a:xfrm>
            <a:prstGeom prst="rect">
              <a:avLst/>
            </a:prstGeom>
          </p:spPr>
        </p:pic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8C40F7F-4F6B-45A9-9A44-AF84741047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150057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6F5A1C33-0543-463B-860E-83EDE1BA6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1182" y="4000364"/>
              <a:ext cx="405222" cy="268920"/>
            </a:xfrm>
            <a:prstGeom prst="rect">
              <a:avLst/>
            </a:prstGeom>
          </p:spPr>
        </p:pic>
      </p:grpSp>
      <p:pic>
        <p:nvPicPr>
          <p:cNvPr id="75" name="Picture 74">
            <a:extLst>
              <a:ext uri="{FF2B5EF4-FFF2-40B4-BE49-F238E27FC236}">
                <a16:creationId xmlns:a16="http://schemas.microsoft.com/office/drawing/2014/main" id="{F72FBB00-5544-4BB9-9046-0E15A5182CCD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7801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18DF045D-F446-4787-8C77-AA957A4C7BC5}"/>
              </a:ext>
            </a:extLst>
          </p:cNvPr>
          <p:cNvGrpSpPr/>
          <p:nvPr/>
        </p:nvGrpSpPr>
        <p:grpSpPr>
          <a:xfrm>
            <a:off x="8739024" y="3730813"/>
            <a:ext cx="2020784" cy="1921561"/>
            <a:chOff x="8227895" y="4600609"/>
            <a:chExt cx="1630654" cy="1550589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E292A17-9EA7-47BE-844A-859AC15EFB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9891" y="4600609"/>
              <a:ext cx="890775" cy="1036980"/>
            </a:xfrm>
            <a:prstGeom prst="line">
              <a:avLst/>
            </a:prstGeom>
            <a:ln w="12700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22830CC-FF23-4309-8811-74D007633AF4}"/>
                </a:ext>
              </a:extLst>
            </p:cNvPr>
            <p:cNvSpPr txBox="1"/>
            <p:nvPr/>
          </p:nvSpPr>
          <p:spPr>
            <a:xfrm>
              <a:off x="9293016" y="5902840"/>
              <a:ext cx="565533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Mobile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F81C2844-06F3-4769-8B9E-311786EE7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79569" y="5539528"/>
              <a:ext cx="386803" cy="386803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85C35CA9-599B-4DAD-8377-7EE8F8FC8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15862" y="5467413"/>
              <a:ext cx="121567" cy="121567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1838062-2071-4380-937C-DF0830B819BD}"/>
                </a:ext>
              </a:extLst>
            </p:cNvPr>
            <p:cNvSpPr txBox="1"/>
            <p:nvPr/>
          </p:nvSpPr>
          <p:spPr>
            <a:xfrm>
              <a:off x="8227895" y="5395827"/>
              <a:ext cx="1131994" cy="422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Client/Clientless</a:t>
              </a:r>
              <a:b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SDP</a:t>
              </a:r>
            </a:p>
          </p:txBody>
        </p:sp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9C86A21D-8367-465F-995F-165E2E420F21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9652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3DD81A35-B010-40A9-95E1-DF383F40CBA0}"/>
              </a:ext>
            </a:extLst>
          </p:cNvPr>
          <p:cNvSpPr txBox="1"/>
          <p:nvPr/>
        </p:nvSpPr>
        <p:spPr>
          <a:xfrm>
            <a:off x="8791426" y="3422022"/>
            <a:ext cx="423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2C02A2FD-0AA1-41A6-9285-E1EF511B1119}"/>
              </a:ext>
            </a:extLst>
          </p:cNvPr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9494" y="2448090"/>
            <a:ext cx="2095148" cy="2279779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CEF7CB26-DE73-43EE-BAE5-610BD1FDD619}"/>
              </a:ext>
            </a:extLst>
          </p:cNvPr>
          <p:cNvSpPr txBox="1"/>
          <p:nvPr/>
        </p:nvSpPr>
        <p:spPr>
          <a:xfrm>
            <a:off x="5661841" y="3181223"/>
            <a:ext cx="91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886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Converged Network &amp; Security 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F279D73-0E2A-4D57-A828-254F494132BA}"/>
              </a:ext>
            </a:extLst>
          </p:cNvPr>
          <p:cNvSpPr/>
          <p:nvPr/>
        </p:nvSpPr>
        <p:spPr>
          <a:xfrm>
            <a:off x="0" y="1143000"/>
            <a:ext cx="12192000" cy="5005137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62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FFD90C3E-6227-4944-868A-EB9526CF0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/>
          <a:lstStyle>
            <a:lvl1pPr algn="l"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AEEC8-9CA2-46A5-9A40-7F3B5E8B57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139" y="989920"/>
            <a:ext cx="556716" cy="9144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80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F9D04FA-057E-48B7-AAD1-20ED681FCA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0596" y="989920"/>
            <a:ext cx="4474029" cy="381679"/>
          </a:xfrm>
          <a:prstGeom prst="rect">
            <a:avLst/>
          </a:prstGeom>
        </p:spPr>
        <p:txBody>
          <a:bodyPr/>
          <a:lstStyle>
            <a:lvl1pPr marL="0" indent="0" algn="l">
              <a:spcAft>
                <a:spcPts val="600"/>
              </a:spcAft>
              <a:buFontTx/>
              <a:buNone/>
              <a:defRPr sz="180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45B5108-8745-402A-B5D2-33117E4AF2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9" y="3646035"/>
            <a:ext cx="556716" cy="9144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80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A33E5AD-D791-4ABF-A3F9-C139E3A253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0596" y="3646035"/>
            <a:ext cx="4474029" cy="381679"/>
          </a:xfrm>
          <a:prstGeom prst="rect">
            <a:avLst/>
          </a:prstGeom>
        </p:spPr>
        <p:txBody>
          <a:bodyPr/>
          <a:lstStyle>
            <a:lvl1pPr marL="0" indent="0" algn="l">
              <a:spcAft>
                <a:spcPts val="600"/>
              </a:spcAft>
              <a:buFontTx/>
              <a:buNone/>
              <a:defRPr sz="180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58DB91C0-7057-4BE4-B085-C2A089E774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25080" y="989920"/>
            <a:ext cx="556716" cy="9144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80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3E5AF7AF-402A-4650-8377-CBEBF892A2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01537" y="989920"/>
            <a:ext cx="4474029" cy="381679"/>
          </a:xfrm>
          <a:prstGeom prst="rect">
            <a:avLst/>
          </a:prstGeom>
        </p:spPr>
        <p:txBody>
          <a:bodyPr/>
          <a:lstStyle>
            <a:lvl1pPr marL="0" indent="0" algn="l">
              <a:spcAft>
                <a:spcPts val="600"/>
              </a:spcAft>
              <a:buFontTx/>
              <a:buNone/>
              <a:defRPr sz="180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9336ADC8-8CD1-408F-912E-4440FB0E78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080" y="3646035"/>
            <a:ext cx="556716" cy="9144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80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98750DF5-4F50-4796-A288-D5A6D8940D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01537" y="3646035"/>
            <a:ext cx="4474029" cy="381679"/>
          </a:xfrm>
          <a:prstGeom prst="rect">
            <a:avLst/>
          </a:prstGeom>
        </p:spPr>
        <p:txBody>
          <a:bodyPr/>
          <a:lstStyle>
            <a:lvl1pPr marL="0" indent="0" algn="l">
              <a:spcAft>
                <a:spcPts val="600"/>
              </a:spcAft>
              <a:buFontTx/>
              <a:buNone/>
              <a:defRPr sz="180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4184204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FFD90C3E-6227-4944-868A-EB9526CF0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תמונה 39">
            <a:extLst>
              <a:ext uri="{FF2B5EF4-FFF2-40B4-BE49-F238E27FC236}">
                <a16:creationId xmlns:a16="http://schemas.microsoft.com/office/drawing/2014/main" id="{F386B0FD-A641-47A2-9841-CAB5CA72CA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8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79" y="1115012"/>
            <a:ext cx="11642757" cy="564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47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53EEFEE-76A1-4292-AF4D-EA923A1574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5976"/>
            <a:ext cx="12191999" cy="686397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C9471AA-070A-4E07-8333-44531167C21F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096005" y="1174596"/>
            <a:ext cx="0" cy="2466753"/>
          </a:xfrm>
          <a:prstGeom prst="line">
            <a:avLst/>
          </a:prstGeom>
          <a:ln w="12700">
            <a:solidFill>
              <a:srgbClr val="D9D9D9">
                <a:alpha val="25098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5DF29BDE-AE56-4CD8-AFB9-CC3C9147AB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839" y="996387"/>
            <a:ext cx="1362328" cy="565494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3385DFAA-6EA8-4E74-ACD2-8753F1CEE5F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40397" y="2726331"/>
            <a:ext cx="5111207" cy="817563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233362" indent="0">
              <a:buFontTx/>
              <a:buNone/>
              <a:defRPr>
                <a:solidFill>
                  <a:schemeClr val="bg1"/>
                </a:solidFill>
              </a:defRPr>
            </a:lvl2pPr>
            <a:lvl3pPr marL="457200" indent="0">
              <a:buFontTx/>
              <a:buNone/>
              <a:defRPr>
                <a:solidFill>
                  <a:schemeClr val="bg1"/>
                </a:solidFill>
              </a:defRPr>
            </a:lvl3pPr>
            <a:lvl4pPr marL="690562" indent="0">
              <a:buFontTx/>
              <a:buNone/>
              <a:defRPr>
                <a:solidFill>
                  <a:schemeClr val="bg1"/>
                </a:solidFill>
              </a:defRPr>
            </a:lvl4pPr>
            <a:lvl5pPr marL="627063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6" name="Picture 15">
            <a:hlinkClick r:id="rId4"/>
            <a:extLst>
              <a:ext uri="{FF2B5EF4-FFF2-40B4-BE49-F238E27FC236}">
                <a16:creationId xmlns:a16="http://schemas.microsoft.com/office/drawing/2014/main" id="{C14AF1D2-2DB2-49BC-BDB6-C031175D48E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49482" y="3862252"/>
            <a:ext cx="324000" cy="324000"/>
          </a:xfrm>
          <a:prstGeom prst="rect">
            <a:avLst/>
          </a:prstGeom>
        </p:spPr>
      </p:pic>
      <p:pic>
        <p:nvPicPr>
          <p:cNvPr id="17" name="Picture 16">
            <a:hlinkClick r:id="rId6"/>
            <a:extLst>
              <a:ext uri="{FF2B5EF4-FFF2-40B4-BE49-F238E27FC236}">
                <a16:creationId xmlns:a16="http://schemas.microsoft.com/office/drawing/2014/main" id="{0C0C7C10-5E80-4F8B-AC23-505E498C21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937792" y="3862252"/>
            <a:ext cx="324000" cy="324000"/>
          </a:xfrm>
          <a:prstGeom prst="rect">
            <a:avLst/>
          </a:prstGeom>
        </p:spPr>
      </p:pic>
      <p:pic>
        <p:nvPicPr>
          <p:cNvPr id="18" name="Picture 17">
            <a:hlinkClick r:id="rId8"/>
            <a:extLst>
              <a:ext uri="{FF2B5EF4-FFF2-40B4-BE49-F238E27FC236}">
                <a16:creationId xmlns:a16="http://schemas.microsoft.com/office/drawing/2014/main" id="{697682EF-9554-4603-AD4A-87F59D3B86C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626103" y="3871296"/>
            <a:ext cx="324000" cy="324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EC029D8-4561-4F53-A993-F60E4A8D32AC}"/>
              </a:ext>
            </a:extLst>
          </p:cNvPr>
          <p:cNvSpPr txBox="1"/>
          <p:nvPr userDrawn="1"/>
        </p:nvSpPr>
        <p:spPr>
          <a:xfrm>
            <a:off x="4564372" y="1815649"/>
            <a:ext cx="33948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Cato SASE. Ready for Whatever’s Next.</a:t>
            </a:r>
          </a:p>
        </p:txBody>
      </p:sp>
    </p:spTree>
    <p:extLst>
      <p:ext uri="{BB962C8B-B14F-4D97-AF65-F5344CB8AC3E}">
        <p14:creationId xmlns:p14="http://schemas.microsoft.com/office/powerpoint/2010/main" val="1125896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79">
          <p15:clr>
            <a:srgbClr val="FBAE40"/>
          </p15:clr>
        </p15:guide>
        <p15:guide id="2" pos="383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ABCC08C-997C-490B-BE9A-73B0FF5229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DAA727-B620-4FB8-ACE2-13B7096987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165" y="2237336"/>
            <a:ext cx="1925050" cy="79907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C70749-EE80-4B1C-B417-47FA5859866C}"/>
              </a:ext>
            </a:extLst>
          </p:cNvPr>
          <p:cNvCxnSpPr/>
          <p:nvPr userDrawn="1"/>
        </p:nvCxnSpPr>
        <p:spPr>
          <a:xfrm>
            <a:off x="4348716" y="1403498"/>
            <a:ext cx="0" cy="2466753"/>
          </a:xfrm>
          <a:prstGeom prst="line">
            <a:avLst/>
          </a:prstGeom>
          <a:ln w="12700">
            <a:solidFill>
              <a:srgbClr val="D9D9D9">
                <a:alpha val="25098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31EDD91-39C3-4160-AEB1-65BC8FCCF2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94314" y="1499741"/>
            <a:ext cx="5356522" cy="110523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FontTx/>
              <a:buNone/>
              <a:defRPr sz="3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77206C0F-4298-4428-AC04-5146843F86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94314" y="2743749"/>
            <a:ext cx="5356522" cy="110523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A51F82A-C493-AE45-8C39-BB0EA0A704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94314" y="4253028"/>
            <a:ext cx="5356522" cy="31299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04A22A53-FC02-554F-BF0B-037C3AA762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94314" y="4566024"/>
            <a:ext cx="5356522" cy="31299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25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ABCC08C-997C-490B-BE9A-73B0FF5229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C1D1D9-253D-409F-9FE6-4359D6FD6C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99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2">
            <a:extLst>
              <a:ext uri="{FF2B5EF4-FFF2-40B4-BE49-F238E27FC236}">
                <a16:creationId xmlns:a16="http://schemas.microsoft.com/office/drawing/2014/main" id="{193BC3DD-B2E9-42C4-953C-D41202B6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E55AE33-E37F-4E53-8A42-3D9B6EB25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10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3DD027E-1F09-4A5D-8937-B89687FF93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2010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318046-5ACC-4F8C-97CB-B5D7F573B5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7047B4-198F-4473-ACCE-EADC2BF840EE}"/>
              </a:ext>
            </a:extLst>
          </p:cNvPr>
          <p:cNvCxnSpPr>
            <a:cxnSpLocks/>
          </p:cNvCxnSpPr>
          <p:nvPr userDrawn="1"/>
        </p:nvCxnSpPr>
        <p:spPr>
          <a:xfrm>
            <a:off x="1719618" y="0"/>
            <a:ext cx="0" cy="1173707"/>
          </a:xfrm>
          <a:prstGeom prst="line">
            <a:avLst/>
          </a:prstGeom>
          <a:ln w="635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597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FFE6299-9FD3-4C46-8D53-F398FE0EC59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1712B590-61F5-F543-8F9C-FC4F76ABDC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63A88F-EE68-4CD5-8F5C-A69EE22F5B88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0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28" r:id="rId3"/>
    <p:sldLayoutId id="2147483725" r:id="rId4"/>
    <p:sldLayoutId id="2147483720" r:id="rId5"/>
    <p:sldLayoutId id="2147483713" r:id="rId6"/>
    <p:sldLayoutId id="2147483714" r:id="rId7"/>
    <p:sldLayoutId id="2147483726" r:id="rId8"/>
    <p:sldLayoutId id="2147483718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223838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690563" indent="-233363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3838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862013" indent="-2349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18939-B2A0-94A2-0176-C707B8260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380" y="236240"/>
            <a:ext cx="7701047" cy="2852737"/>
          </a:xfrm>
        </p:spPr>
        <p:txBody>
          <a:bodyPr lIns="91440" tIns="45720" rIns="91440" bIns="45720" anchor="b">
            <a:normAutofit/>
          </a:bodyPr>
          <a:lstStyle/>
          <a:p>
            <a:r>
              <a:rPr lang="en-US" sz="3600" dirty="0">
                <a:latin typeface="Arial"/>
                <a:cs typeface="Arial"/>
              </a:rPr>
              <a:t>Zscaler to Cato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604ED-3511-2873-8CD5-6CA5C9F68A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84013" y="6518275"/>
            <a:ext cx="407987" cy="244475"/>
          </a:xfrm>
        </p:spPr>
        <p:txBody>
          <a:bodyPr/>
          <a:lstStyle/>
          <a:p>
            <a:r>
              <a:rPr lang="en-US">
                <a:latin typeface="Arial"/>
                <a:cs typeface="Arial"/>
              </a:rPr>
              <a:t>| </a:t>
            </a:r>
            <a:fld id="{FEC5E14B-9965-442C-8683-0E66DD8427DC}" type="slidenum">
              <a:rPr lang="en-US" smtClean="0">
                <a:latin typeface="Arial"/>
                <a:cs typeface="Arial"/>
              </a:rPr>
              <a:pPr/>
              <a:t>1</a:t>
            </a:fld>
            <a:endParaRPr lang="en-US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7931F0-46D2-1C45-D4D2-3E23182D3662}"/>
              </a:ext>
            </a:extLst>
          </p:cNvPr>
          <p:cNvSpPr txBox="1"/>
          <p:nvPr/>
        </p:nvSpPr>
        <p:spPr>
          <a:xfrm>
            <a:off x="1452380" y="3086787"/>
            <a:ext cx="7435238" cy="14157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 dirty="0">
                <a:latin typeface="Arial"/>
                <a:cs typeface="Arial"/>
              </a:rPr>
              <a:t>Cato Professional Services</a:t>
            </a:r>
          </a:p>
          <a:p>
            <a:endParaRPr lang="en-US" sz="3200" dirty="0">
              <a:latin typeface="Arial"/>
              <a:cs typeface="Arial"/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356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CF4BC-B166-836C-48F5-C0033CDEB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DC990DB-E83F-1104-7F27-EBFFDD703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134181"/>
            <a:ext cx="11561105" cy="480131"/>
          </a:xfrm>
        </p:spPr>
        <p:txBody>
          <a:bodyPr/>
          <a:lstStyle/>
          <a:p>
            <a:r>
              <a:rPr lang="en-US" sz="3200"/>
              <a:t>Zscaler Migration Strategy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3727EB-7E06-6817-2E58-DB51557DB86D}"/>
              </a:ext>
            </a:extLst>
          </p:cNvPr>
          <p:cNvSpPr txBox="1"/>
          <p:nvPr/>
        </p:nvSpPr>
        <p:spPr>
          <a:xfrm>
            <a:off x="79261" y="558913"/>
            <a:ext cx="5077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ea typeface="+mj-ea"/>
                <a:cs typeface="+mj-cs"/>
              </a:rPr>
              <a:t>Policy Conversion &amp; Cato Best Practices</a:t>
            </a:r>
            <a:endParaRPr lang="en-US" sz="2400">
              <a:ea typeface="+mj-ea"/>
              <a:cs typeface="+mj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9881E61-043D-75CD-0198-C3CAA3E69C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405463"/>
              </p:ext>
            </p:extLst>
          </p:nvPr>
        </p:nvGraphicFramePr>
        <p:xfrm>
          <a:off x="263659" y="1147884"/>
          <a:ext cx="1145680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6170">
                  <a:extLst>
                    <a:ext uri="{9D8B030D-6E8A-4147-A177-3AD203B41FA5}">
                      <a16:colId xmlns:a16="http://schemas.microsoft.com/office/drawing/2014/main" val="856384028"/>
                    </a:ext>
                  </a:extLst>
                </a:gridCol>
                <a:gridCol w="5600639">
                  <a:extLst>
                    <a:ext uri="{9D8B030D-6E8A-4147-A177-3AD203B41FA5}">
                      <a16:colId xmlns:a16="http://schemas.microsoft.com/office/drawing/2014/main" val="3583429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US" sz="2400"/>
                        <a:t>1. EXPORT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2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2. REVIEW &amp; 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656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GB" sz="1800" b="1"/>
                        <a:t>ZIA</a:t>
                      </a:r>
                      <a:r>
                        <a:rPr lang="en-GB" sz="1800"/>
                        <a:t>: Export policies, URL filtering, firewall, web security, DLP, Cloud App policies, Advanced Threat Protection, SSL Inspection, Bandwidth Control, and User/Group settings.</a:t>
                      </a:r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endParaRPr lang="en-GB" sz="1800" b="1"/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en-GB" sz="1800" b="1"/>
                        <a:t>ZPA</a:t>
                      </a:r>
                      <a:r>
                        <a:rPr lang="en-GB" sz="1800"/>
                        <a:t>: Export segment groups, access policies, Browser Access, Client Forwarding, Inspection policies, Trusted Networks, Server Groups, and Posture Profiles.</a:t>
                      </a:r>
                      <a:endParaRPr lang="en-US" sz="1600"/>
                    </a:p>
                  </a:txBody>
                  <a:tcPr>
                    <a:solidFill>
                      <a:srgbClr val="E7EDEA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800" b="1"/>
                        <a:t>ZIA</a:t>
                      </a:r>
                      <a:r>
                        <a:rPr lang="en-GB" sz="1800"/>
                        <a:t>: Map policies to Global Internet firewall, App Control (Tenant Restrictions, CASB, DLP), Threat Prevention, SCIM groups, and TLS Inspection.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GB" sz="1800" b="1"/>
                    </a:p>
                    <a:p>
                      <a:pPr marL="285750" marR="0" lvl="0" indent="-2857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</a:pPr>
                      <a:r>
                        <a:rPr lang="en-GB" sz="1800" b="1"/>
                        <a:t>ZPA</a:t>
                      </a:r>
                      <a:r>
                        <a:rPr lang="en-GB" sz="1800"/>
                        <a:t>: Review groups, site hosts, map to WAN firewall  and access control.</a:t>
                      </a:r>
                      <a:endParaRPr lang="en-US" sz="16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7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504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US" sz="2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3. DEPLOY</a:t>
                      </a:r>
                    </a:p>
                  </a:txBody>
                  <a:tcPr>
                    <a:solidFill>
                      <a:srgbClr val="15886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2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4. OPTIMIZE</a:t>
                      </a:r>
                    </a:p>
                  </a:txBody>
                  <a:tcPr>
                    <a:solidFill>
                      <a:srgbClr val="158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938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Wingdings" pitchFamily="2" charset="2"/>
                        <a:buChar char="§"/>
                      </a:pPr>
                      <a:r>
                        <a:rPr lang="en-GB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ZIA</a:t>
                      </a:r>
                      <a:r>
                        <a:rPr lang="en-GB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Implement Cato best practices, including category and service restrictions, firewall, TLS Inspection, CASB, and DLP monitoring policies.</a:t>
                      </a:r>
                    </a:p>
                    <a:p>
                      <a:pPr marL="285750" indent="-285750" algn="l">
                        <a:buFont typeface="Wingdings" pitchFamily="2" charset="2"/>
                        <a:buChar char="§"/>
                      </a:pPr>
                      <a:endParaRPr lang="en-GB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 typeface="Wingdings" pitchFamily="2" charset="2"/>
                        <a:buChar char="§"/>
                      </a:pPr>
                      <a:r>
                        <a:rPr lang="en-GB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ZPA</a:t>
                      </a:r>
                      <a:r>
                        <a:rPr lang="en-GB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Deploy Cato best practices for WAN firewall, segmentation, and Access Control, Browser  Access, Trusted Networks, and Group/Host configuration.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7EDEA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Wingdings" pitchFamily="2" charset="2"/>
                        <a:buChar char="§"/>
                      </a:pPr>
                      <a:r>
                        <a:rPr lang="en-GB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ZIA &amp; ZPA</a:t>
                      </a:r>
                      <a:r>
                        <a:rPr lang="en-GB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Event analysis, performance tuning, adjust policy restrictions, and enhance security through segmentation.</a:t>
                      </a:r>
                      <a:endParaRPr lang="en-U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7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05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529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27715-181D-ADCA-3835-FDBFFD674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2084EBE-BC83-4A3C-86ED-14F901CEA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134181"/>
            <a:ext cx="11561105" cy="480131"/>
          </a:xfrm>
        </p:spPr>
        <p:txBody>
          <a:bodyPr lIns="0" tIns="45720" rIns="91440" bIns="45720" anchor="t"/>
          <a:lstStyle/>
          <a:p>
            <a:r>
              <a:rPr lang="en-US" sz="3200"/>
              <a:t>Cato Advanced Security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9D7BD-BE61-0DB0-4CAA-34AF22B70D2A}"/>
              </a:ext>
            </a:extLst>
          </p:cNvPr>
          <p:cNvSpPr txBox="1"/>
          <p:nvPr/>
        </p:nvSpPr>
        <p:spPr>
          <a:xfrm>
            <a:off x="79261" y="558913"/>
            <a:ext cx="4426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ea typeface="+mj-ea"/>
                <a:cs typeface="+mj-cs"/>
              </a:rPr>
              <a:t>Servicing </a:t>
            </a:r>
            <a:r>
              <a:rPr lang="en-GB" sz="2400" err="1">
                <a:ea typeface="+mj-ea"/>
                <a:cs typeface="+mj-cs"/>
              </a:rPr>
              <a:t>PoP</a:t>
            </a:r>
            <a:r>
              <a:rPr lang="en-GB" sz="2400">
                <a:ea typeface="+mj-ea"/>
                <a:cs typeface="+mj-cs"/>
              </a:rPr>
              <a:t> Breakout &amp; SDWAN </a:t>
            </a:r>
            <a:endParaRPr lang="en-US" sz="2400">
              <a:ea typeface="+mj-ea"/>
              <a:cs typeface="+mj-cs"/>
            </a:endParaRPr>
          </a:p>
        </p:txBody>
      </p:sp>
      <p:sp>
        <p:nvSpPr>
          <p:cNvPr id="8" name="Freeform: Shape 365">
            <a:extLst>
              <a:ext uri="{FF2B5EF4-FFF2-40B4-BE49-F238E27FC236}">
                <a16:creationId xmlns:a16="http://schemas.microsoft.com/office/drawing/2014/main" id="{420D08A6-250A-FB23-4943-87956D5FADDD}"/>
              </a:ext>
            </a:extLst>
          </p:cNvPr>
          <p:cNvSpPr/>
          <p:nvPr/>
        </p:nvSpPr>
        <p:spPr>
          <a:xfrm>
            <a:off x="1226292" y="457956"/>
            <a:ext cx="8465" cy="8465"/>
          </a:xfrm>
          <a:custGeom>
            <a:avLst/>
            <a:gdLst/>
            <a:ahLst/>
            <a:cxnLst/>
            <a:rect l="l" t="t" r="r" b="b"/>
            <a:pathLst>
              <a:path w="8925" h="8925"/>
            </a:pathLst>
          </a:custGeom>
          <a:noFill/>
          <a:ln w="8925" cap="flat">
            <a:solidFill>
              <a:srgbClr val="222C33"/>
            </a:solidFill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grpSp>
        <p:nvGrpSpPr>
          <p:cNvPr id="9" name="Graphic 5">
            <a:extLst>
              <a:ext uri="{FF2B5EF4-FFF2-40B4-BE49-F238E27FC236}">
                <a16:creationId xmlns:a16="http://schemas.microsoft.com/office/drawing/2014/main" id="{7E8ACE21-0E1B-D2C0-9286-67CC062521C4}"/>
              </a:ext>
            </a:extLst>
          </p:cNvPr>
          <p:cNvGrpSpPr/>
          <p:nvPr/>
        </p:nvGrpSpPr>
        <p:grpSpPr>
          <a:xfrm>
            <a:off x="777412" y="305975"/>
            <a:ext cx="8572451" cy="4287916"/>
            <a:chOff x="-91440" y="-177926"/>
            <a:chExt cx="9038190" cy="4520878"/>
          </a:xfrm>
        </p:grpSpPr>
        <p:sp>
          <p:nvSpPr>
            <p:cNvPr id="10" name="Freeform: Shape 394">
              <a:extLst>
                <a:ext uri="{FF2B5EF4-FFF2-40B4-BE49-F238E27FC236}">
                  <a16:creationId xmlns:a16="http://schemas.microsoft.com/office/drawing/2014/main" id="{988DBE11-F567-DD61-BC83-BA74EEFDF720}"/>
                </a:ext>
              </a:extLst>
            </p:cNvPr>
            <p:cNvSpPr/>
            <p:nvPr/>
          </p:nvSpPr>
          <p:spPr>
            <a:xfrm>
              <a:off x="5895180" y="4065375"/>
              <a:ext cx="3051570" cy="277577"/>
            </a:xfrm>
            <a:custGeom>
              <a:avLst/>
              <a:gdLst>
                <a:gd name="connsiteX0" fmla="*/ 0 w 3051570"/>
                <a:gd name="connsiteY0" fmla="*/ 277578 h 277577"/>
                <a:gd name="connsiteX1" fmla="*/ 2211697 w 3051570"/>
                <a:gd name="connsiteY1" fmla="*/ 176722 h 277577"/>
                <a:gd name="connsiteX2" fmla="*/ 3051570 w 3051570"/>
                <a:gd name="connsiteY2" fmla="*/ 0 h 27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51570" h="277577">
                  <a:moveTo>
                    <a:pt x="0" y="277578"/>
                  </a:moveTo>
                  <a:cubicBezTo>
                    <a:pt x="836304" y="277578"/>
                    <a:pt x="1621733" y="241876"/>
                    <a:pt x="2211697" y="176722"/>
                  </a:cubicBezTo>
                  <a:cubicBezTo>
                    <a:pt x="2950714" y="95501"/>
                    <a:pt x="3048000" y="3570"/>
                    <a:pt x="3051570" y="0"/>
                  </a:cubicBezTo>
                </a:path>
              </a:pathLst>
            </a:custGeom>
            <a:noFill/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922DAC8-E844-0B27-DAFA-370D96262D2B}"/>
                </a:ext>
              </a:extLst>
            </p:cNvPr>
            <p:cNvSpPr txBox="1"/>
            <p:nvPr/>
          </p:nvSpPr>
          <p:spPr>
            <a:xfrm>
              <a:off x="-91440" y="-177926"/>
              <a:ext cx="258526" cy="2718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100" spc="0" baseline="0">
                  <a:ln/>
                  <a:solidFill>
                    <a:srgbClr val="158864"/>
                  </a:solidFill>
                  <a:latin typeface="NHaasGroteskDSPro-65Md"/>
                  <a:sym typeface="NHaasGroteskDSPro-65Md"/>
                  <a:rtl val="0"/>
                </a:rPr>
                <a:t>  </a:t>
              </a:r>
            </a:p>
          </p:txBody>
        </p:sp>
      </p:grpSp>
      <p:sp>
        <p:nvSpPr>
          <p:cNvPr id="12" name="Freeform: Shape 411">
            <a:extLst>
              <a:ext uri="{FF2B5EF4-FFF2-40B4-BE49-F238E27FC236}">
                <a16:creationId xmlns:a16="http://schemas.microsoft.com/office/drawing/2014/main" id="{0A9CE8CA-6644-C392-A869-4E6F929EDD9E}"/>
              </a:ext>
            </a:extLst>
          </p:cNvPr>
          <p:cNvSpPr/>
          <p:nvPr/>
        </p:nvSpPr>
        <p:spPr>
          <a:xfrm>
            <a:off x="1226292" y="457956"/>
            <a:ext cx="8465" cy="8465"/>
          </a:xfrm>
          <a:custGeom>
            <a:avLst/>
            <a:gdLst/>
            <a:ahLst/>
            <a:cxnLst/>
            <a:rect l="l" t="t" r="r" b="b"/>
            <a:pathLst>
              <a:path w="8925" h="8925"/>
            </a:pathLst>
          </a:custGeom>
          <a:noFill/>
          <a:ln w="8925" cap="flat">
            <a:solidFill>
              <a:srgbClr val="158864"/>
            </a:solidFill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sp>
        <p:nvSpPr>
          <p:cNvPr id="13" name="Freeform: Shape 412">
            <a:extLst>
              <a:ext uri="{FF2B5EF4-FFF2-40B4-BE49-F238E27FC236}">
                <a16:creationId xmlns:a16="http://schemas.microsoft.com/office/drawing/2014/main" id="{33E2488F-5C39-84F8-A956-093F92F89E1E}"/>
              </a:ext>
            </a:extLst>
          </p:cNvPr>
          <p:cNvSpPr/>
          <p:nvPr/>
        </p:nvSpPr>
        <p:spPr>
          <a:xfrm>
            <a:off x="1226292" y="457956"/>
            <a:ext cx="8465" cy="8465"/>
          </a:xfrm>
          <a:custGeom>
            <a:avLst/>
            <a:gdLst/>
            <a:ahLst/>
            <a:cxnLst/>
            <a:rect l="l" t="t" r="r" b="b"/>
            <a:pathLst>
              <a:path w="8925" h="8925"/>
            </a:pathLst>
          </a:custGeom>
          <a:noFill/>
          <a:ln w="8925" cap="flat">
            <a:solidFill>
              <a:srgbClr val="158864"/>
            </a:solidFill>
            <a:prstDash val="solid"/>
            <a:miter/>
          </a:ln>
        </p:spPr>
        <p:txBody>
          <a:bodyPr rtlCol="0" anchor="ctr"/>
          <a:lstStyle/>
          <a:p>
            <a:endParaRPr lang="en-US" sz="1600"/>
          </a:p>
        </p:txBody>
      </p:sp>
      <p:grpSp>
        <p:nvGrpSpPr>
          <p:cNvPr id="14" name="Graphic 5">
            <a:extLst>
              <a:ext uri="{FF2B5EF4-FFF2-40B4-BE49-F238E27FC236}">
                <a16:creationId xmlns:a16="http://schemas.microsoft.com/office/drawing/2014/main" id="{B2F975E6-CAC8-CD8C-1143-D385126CA371}"/>
              </a:ext>
            </a:extLst>
          </p:cNvPr>
          <p:cNvGrpSpPr/>
          <p:nvPr/>
        </p:nvGrpSpPr>
        <p:grpSpPr>
          <a:xfrm>
            <a:off x="777412" y="322905"/>
            <a:ext cx="6244464" cy="4033955"/>
            <a:chOff x="-91440" y="-160076"/>
            <a:chExt cx="6583724" cy="4253119"/>
          </a:xfrm>
        </p:grpSpPr>
        <p:sp>
          <p:nvSpPr>
            <p:cNvPr id="15" name="Freeform: Shape 536">
              <a:extLst>
                <a:ext uri="{FF2B5EF4-FFF2-40B4-BE49-F238E27FC236}">
                  <a16:creationId xmlns:a16="http://schemas.microsoft.com/office/drawing/2014/main" id="{53C02D9C-0F57-33DB-7CA8-E20C6907DEAD}"/>
                </a:ext>
              </a:extLst>
            </p:cNvPr>
            <p:cNvSpPr/>
            <p:nvPr/>
          </p:nvSpPr>
          <p:spPr>
            <a:xfrm>
              <a:off x="5590826" y="3191585"/>
              <a:ext cx="901458" cy="901458"/>
            </a:xfrm>
            <a:custGeom>
              <a:avLst/>
              <a:gdLst>
                <a:gd name="connsiteX0" fmla="*/ 450729 w 901458"/>
                <a:gd name="connsiteY0" fmla="*/ 901458 h 901458"/>
                <a:gd name="connsiteX1" fmla="*/ 0 w 901458"/>
                <a:gd name="connsiteY1" fmla="*/ 450729 h 901458"/>
                <a:gd name="connsiteX2" fmla="*/ 450729 w 901458"/>
                <a:gd name="connsiteY2" fmla="*/ 0 h 901458"/>
                <a:gd name="connsiteX3" fmla="*/ 901458 w 901458"/>
                <a:gd name="connsiteY3" fmla="*/ 450729 h 901458"/>
                <a:gd name="connsiteX4" fmla="*/ 450729 w 901458"/>
                <a:gd name="connsiteY4" fmla="*/ 901458 h 901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1458" h="901458">
                  <a:moveTo>
                    <a:pt x="450729" y="901458"/>
                  </a:moveTo>
                  <a:cubicBezTo>
                    <a:pt x="201712" y="901458"/>
                    <a:pt x="0" y="699746"/>
                    <a:pt x="0" y="450729"/>
                  </a:cubicBezTo>
                  <a:cubicBezTo>
                    <a:pt x="0" y="201713"/>
                    <a:pt x="201712" y="0"/>
                    <a:pt x="450729" y="0"/>
                  </a:cubicBezTo>
                  <a:cubicBezTo>
                    <a:pt x="699746" y="0"/>
                    <a:pt x="901458" y="201713"/>
                    <a:pt x="901458" y="450729"/>
                  </a:cubicBezTo>
                  <a:cubicBezTo>
                    <a:pt x="901458" y="699746"/>
                    <a:pt x="699746" y="901458"/>
                    <a:pt x="450729" y="901458"/>
                  </a:cubicBezTo>
                  <a:close/>
                </a:path>
              </a:pathLst>
            </a:custGeom>
            <a:noFill/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A883A6-1A29-D8C6-BA12-EC812783B046}"/>
                </a:ext>
              </a:extLst>
            </p:cNvPr>
            <p:cNvSpPr txBox="1"/>
            <p:nvPr/>
          </p:nvSpPr>
          <p:spPr>
            <a:xfrm>
              <a:off x="-91440" y="-160076"/>
              <a:ext cx="251863" cy="2558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00" spc="0" baseline="0">
                  <a:ln/>
                  <a:solidFill>
                    <a:srgbClr val="158864"/>
                  </a:solidFill>
                  <a:latin typeface="NHaasGroteskDSPro-65Md"/>
                  <a:sym typeface="NHaasGroteskDSPro-65Md"/>
                  <a:rtl val="0"/>
                </a:rPr>
                <a:t>  </a:t>
              </a:r>
            </a:p>
          </p:txBody>
        </p:sp>
      </p:grpSp>
      <p:grpSp>
        <p:nvGrpSpPr>
          <p:cNvPr id="17" name="Graphic 5">
            <a:extLst>
              <a:ext uri="{FF2B5EF4-FFF2-40B4-BE49-F238E27FC236}">
                <a16:creationId xmlns:a16="http://schemas.microsoft.com/office/drawing/2014/main" id="{5B29A4D6-E0CC-2327-719A-7E395F9FA13F}"/>
              </a:ext>
            </a:extLst>
          </p:cNvPr>
          <p:cNvGrpSpPr/>
          <p:nvPr/>
        </p:nvGrpSpPr>
        <p:grpSpPr>
          <a:xfrm>
            <a:off x="777412" y="314440"/>
            <a:ext cx="6528902" cy="4326857"/>
            <a:chOff x="-91440" y="-169001"/>
            <a:chExt cx="6883615" cy="4561935"/>
          </a:xfrm>
        </p:grpSpPr>
        <p:sp>
          <p:nvSpPr>
            <p:cNvPr id="18" name="Freeform: Shape 543">
              <a:extLst>
                <a:ext uri="{FF2B5EF4-FFF2-40B4-BE49-F238E27FC236}">
                  <a16:creationId xmlns:a16="http://schemas.microsoft.com/office/drawing/2014/main" id="{D0DFAABF-0CC7-BD1D-10B7-6BADFE5DB78B}"/>
                </a:ext>
              </a:extLst>
            </p:cNvPr>
            <p:cNvSpPr/>
            <p:nvPr/>
          </p:nvSpPr>
          <p:spPr>
            <a:xfrm>
              <a:off x="5290935" y="2891694"/>
              <a:ext cx="1501240" cy="1501240"/>
            </a:xfrm>
            <a:custGeom>
              <a:avLst/>
              <a:gdLst>
                <a:gd name="connsiteX0" fmla="*/ 750621 w 1501240"/>
                <a:gd name="connsiteY0" fmla="*/ 1501241 h 1501240"/>
                <a:gd name="connsiteX1" fmla="*/ 0 w 1501240"/>
                <a:gd name="connsiteY1" fmla="*/ 750620 h 1501240"/>
                <a:gd name="connsiteX2" fmla="*/ 750621 w 1501240"/>
                <a:gd name="connsiteY2" fmla="*/ 0 h 1501240"/>
                <a:gd name="connsiteX3" fmla="*/ 1501241 w 1501240"/>
                <a:gd name="connsiteY3" fmla="*/ 750620 h 1501240"/>
                <a:gd name="connsiteX4" fmla="*/ 750621 w 1501240"/>
                <a:gd name="connsiteY4" fmla="*/ 1501241 h 150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1240" h="1501240">
                  <a:moveTo>
                    <a:pt x="750621" y="1501241"/>
                  </a:moveTo>
                  <a:cubicBezTo>
                    <a:pt x="335593" y="1501241"/>
                    <a:pt x="0" y="1164756"/>
                    <a:pt x="0" y="750620"/>
                  </a:cubicBezTo>
                  <a:cubicBezTo>
                    <a:pt x="0" y="336485"/>
                    <a:pt x="336485" y="0"/>
                    <a:pt x="750621" y="0"/>
                  </a:cubicBezTo>
                  <a:cubicBezTo>
                    <a:pt x="1164756" y="0"/>
                    <a:pt x="1501241" y="336485"/>
                    <a:pt x="1501241" y="750620"/>
                  </a:cubicBezTo>
                  <a:cubicBezTo>
                    <a:pt x="1501241" y="1164756"/>
                    <a:pt x="1164756" y="1501241"/>
                    <a:pt x="750621" y="1501241"/>
                  </a:cubicBezTo>
                  <a:close/>
                </a:path>
              </a:pathLst>
            </a:custGeom>
            <a:noFill/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60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A7FC126-97CC-F99C-7B07-8F5A3416699E}"/>
                </a:ext>
              </a:extLst>
            </p:cNvPr>
            <p:cNvSpPr txBox="1"/>
            <p:nvPr/>
          </p:nvSpPr>
          <p:spPr>
            <a:xfrm>
              <a:off x="-91440" y="-169001"/>
              <a:ext cx="258526" cy="2718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100" spc="0" baseline="0">
                  <a:ln/>
                  <a:solidFill>
                    <a:srgbClr val="FFFFFF"/>
                  </a:solidFill>
                  <a:latin typeface="NHaasGroteskDSPro-65Md"/>
                  <a:sym typeface="NHaasGroteskDSPro-65Md"/>
                  <a:rtl val="0"/>
                </a:rPr>
                <a:t>  </a:t>
              </a:r>
            </a:p>
          </p:txBody>
        </p:sp>
      </p:grp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ADC0DA80-CDEE-93A7-C8E6-AB9C8AF15FD6}"/>
              </a:ext>
            </a:extLst>
          </p:cNvPr>
          <p:cNvSpPr txBox="1">
            <a:spLocks/>
          </p:cNvSpPr>
          <p:nvPr/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6E390EB-AD02-2727-B87C-91CA8CF95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296" y="1668881"/>
            <a:ext cx="7772400" cy="426164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81520FD-556C-39C1-F9AC-5F1ECE5047AA}"/>
              </a:ext>
            </a:extLst>
          </p:cNvPr>
          <p:cNvSpPr txBox="1"/>
          <p:nvPr/>
        </p:nvSpPr>
        <p:spPr>
          <a:xfrm>
            <a:off x="183667" y="1803387"/>
            <a:ext cx="467393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accent1"/>
                </a:solidFill>
                <a:ea typeface="+mj-ea"/>
                <a:cs typeface="+mj-cs"/>
              </a:rPr>
              <a:t>Zscaler Replacement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/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Unified Platform</a:t>
            </a:r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End-to-End Visibility</a:t>
            </a:r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Long-term Strategic Goal</a:t>
            </a:r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Simplified and standard solution</a:t>
            </a:r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Direct Internet Breakout from servicing </a:t>
            </a:r>
            <a:r>
              <a:rPr lang="en-US" err="1"/>
              <a:t>PoP</a:t>
            </a:r>
            <a:r>
              <a:rPr lang="en-US"/>
              <a:t> and SDWAN preference routing </a:t>
            </a:r>
          </a:p>
        </p:txBody>
      </p:sp>
    </p:spTree>
    <p:extLst>
      <p:ext uri="{BB962C8B-B14F-4D97-AF65-F5344CB8AC3E}">
        <p14:creationId xmlns:p14="http://schemas.microsoft.com/office/powerpoint/2010/main" val="663604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C55DA-80E3-D49C-97DE-5F16403A7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51A675E-EC27-2833-F383-A8CF11AD4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134181"/>
            <a:ext cx="11561105" cy="480131"/>
          </a:xfrm>
        </p:spPr>
        <p:txBody>
          <a:bodyPr lIns="0" tIns="45720" rIns="91440" bIns="45720" anchor="t"/>
          <a:lstStyle/>
          <a:p>
            <a:r>
              <a:rPr lang="en-US" sz="3200"/>
              <a:t>ZIA Gateway Integration – IKEv2 Multiple Active Tunnels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ED69BD-BE21-8A8C-D363-0F5E9FA01223}"/>
              </a:ext>
            </a:extLst>
          </p:cNvPr>
          <p:cNvSpPr txBox="1"/>
          <p:nvPr/>
        </p:nvSpPr>
        <p:spPr>
          <a:xfrm>
            <a:off x="79261" y="558913"/>
            <a:ext cx="6925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ea typeface="+mj-ea"/>
                <a:cs typeface="+mj-cs"/>
              </a:rPr>
              <a:t>Site Backhaul Load balance over multiple ZIA tunnels</a:t>
            </a:r>
            <a:endParaRPr lang="en-US" sz="2400"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62D16D-9B5C-3A92-848A-D23B8A916E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93"/>
          <a:stretch/>
        </p:blipFill>
        <p:spPr>
          <a:xfrm>
            <a:off x="4004056" y="1632020"/>
            <a:ext cx="8186715" cy="406068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284AF5-6891-28BC-2D6E-E3729F38C85B}"/>
              </a:ext>
            </a:extLst>
          </p:cNvPr>
          <p:cNvSpPr txBox="1"/>
          <p:nvPr/>
        </p:nvSpPr>
        <p:spPr>
          <a:xfrm>
            <a:off x="183219" y="2251207"/>
            <a:ext cx="4863235" cy="25853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/>
              <a:t>3 x Active IPSec ZIA Tunnels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/>
              <a:t>3 x Backup IPSec ZIA Tunnels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/>
              <a:t>Backhaul Load balanced based on: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/>
              <a:t>Source / Destination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/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Temporary ZIA interim solution</a:t>
            </a:r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Support for multiple interconnects</a:t>
            </a:r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Tier 1 backbone</a:t>
            </a:r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Egress from closest </a:t>
            </a:r>
            <a:r>
              <a:rPr lang="en-US" err="1"/>
              <a:t>PoP</a:t>
            </a:r>
            <a:r>
              <a:rPr lang="en-US"/>
              <a:t> to Zscaler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8518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DE2DF-0882-CC01-4179-64C917BB3C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78638C0-CD5A-7642-755C-3B54CAD73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134181"/>
            <a:ext cx="11561105" cy="480131"/>
          </a:xfrm>
        </p:spPr>
        <p:txBody>
          <a:bodyPr lIns="0" tIns="45720" rIns="91440" bIns="45720" anchor="t"/>
          <a:lstStyle/>
          <a:p>
            <a:r>
              <a:rPr lang="en-US" sz="3200"/>
              <a:t>ZIA Integration – Internet Backhaul to FW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24169D29-781F-3574-0ABB-B5D39A42027C}"/>
              </a:ext>
            </a:extLst>
          </p:cNvPr>
          <p:cNvSpPr txBox="1">
            <a:spLocks/>
          </p:cNvSpPr>
          <p:nvPr/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n-US" sz="20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lang="en-US" sz="24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lang="en-US" sz="20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lang="en-US" sz="18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2013" indent="-2349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| </a:t>
            </a:r>
            <a:fld id="{FEC5E14B-9965-442C-8683-0E66DD8427DC}" type="slidenum">
              <a:rPr smtClean="0"/>
              <a:pPr/>
              <a:t>5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EC00FD-A080-06D6-95BE-EDC0F779D12E}"/>
              </a:ext>
            </a:extLst>
          </p:cNvPr>
          <p:cNvSpPr txBox="1"/>
          <p:nvPr/>
        </p:nvSpPr>
        <p:spPr>
          <a:xfrm>
            <a:off x="79261" y="558913"/>
            <a:ext cx="5677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ea typeface="+mj-ea"/>
                <a:cs typeface="+mj-cs"/>
              </a:rPr>
              <a:t>Backhaul - Load balance &amp; Site Redundancy </a:t>
            </a:r>
            <a:endParaRPr lang="en-US" sz="2400"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901070-D6F6-850C-CAE6-B9C5D4DDA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143301"/>
            <a:ext cx="7772400" cy="49426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D3B188-F98C-FAE2-2479-EF4E09B7475E}"/>
              </a:ext>
            </a:extLst>
          </p:cNvPr>
          <p:cNvSpPr txBox="1"/>
          <p:nvPr/>
        </p:nvSpPr>
        <p:spPr>
          <a:xfrm>
            <a:off x="183219" y="2274838"/>
            <a:ext cx="48632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/>
              <a:t>Backhaul Internet Breakout by existing sites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/>
              <a:t>ZIA support from FW for GRE / IPsec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/>
              <a:t>Backhaul Load balanced based on: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/>
              <a:t>Source / Destination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/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Temporary ZIA interim solution</a:t>
            </a:r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Reuse of existing FW ZIA connectivity</a:t>
            </a:r>
          </a:p>
          <a:p>
            <a:pPr>
              <a:buClr>
                <a:schemeClr val="accent3">
                  <a:lumMod val="90000"/>
                  <a:lumOff val="10000"/>
                </a:schemeClr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3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5FF2C-C2C4-4B5C-34A7-820C62EDD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11FC5-8CC7-757C-53AB-A13CE08A9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C765AC4-6C24-B1DD-41C2-820EF61387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2" t="5169" r="4923" b="8624"/>
          <a:stretch/>
        </p:blipFill>
        <p:spPr bwMode="auto">
          <a:xfrm>
            <a:off x="4307840" y="1342337"/>
            <a:ext cx="7884160" cy="4074288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234DADC-68EF-AAF0-60B4-5EB69D192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134181"/>
            <a:ext cx="11561105" cy="480131"/>
          </a:xfrm>
        </p:spPr>
        <p:txBody>
          <a:bodyPr/>
          <a:lstStyle/>
          <a:p>
            <a:r>
              <a:rPr lang="en-US" sz="3200"/>
              <a:t>Phased ZIA Replacement – FW VLAN Termination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DABD25D5-B39F-5D91-3B89-0F513783C04D}"/>
              </a:ext>
            </a:extLst>
          </p:cNvPr>
          <p:cNvSpPr txBox="1">
            <a:spLocks/>
          </p:cNvSpPr>
          <p:nvPr/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n-US" sz="20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lang="en-US" sz="24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lang="en-US" sz="20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lang="en-US" sz="18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2013" indent="-2349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| </a:t>
            </a:r>
            <a:fld id="{FEC5E14B-9965-442C-8683-0E66DD8427DC}" type="slidenum">
              <a:rPr smtClean="0"/>
              <a:pPr/>
              <a:t>6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FC188-3781-1EEF-8844-4CACC4F7B3D7}"/>
              </a:ext>
            </a:extLst>
          </p:cNvPr>
          <p:cNvSpPr txBox="1"/>
          <p:nvPr/>
        </p:nvSpPr>
        <p:spPr>
          <a:xfrm>
            <a:off x="79261" y="558913"/>
            <a:ext cx="47434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>
                <a:ea typeface="+mj-ea"/>
                <a:cs typeface="+mj-cs"/>
              </a:rPr>
              <a:t>Parallel ZIA Connectivity through FW</a:t>
            </a:r>
            <a:endParaRPr lang="en-US" sz="2400"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55DC71-B4BB-D672-6DA9-8AE6A4B46910}"/>
              </a:ext>
            </a:extLst>
          </p:cNvPr>
          <p:cNvSpPr txBox="1"/>
          <p:nvPr/>
        </p:nvSpPr>
        <p:spPr>
          <a:xfrm>
            <a:off x="183219" y="2000305"/>
            <a:ext cx="48632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/>
              <a:t>Parallel FW ZIA connectivity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/>
              <a:t>Cato Transit Network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US"/>
              <a:t>BGP or Static routing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/>
              <a:t>Temporary Cato site routed Ranges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/>
              <a:t>Convert to VLAN during FW retirement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/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Reuse existing local FW ZIA connectivity</a:t>
            </a:r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Phased migration to Cato Internet Breakout</a:t>
            </a:r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Routed Ranges can be used in policy and later converted to VLAN</a:t>
            </a:r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Simple Bypass of Agent Connectivity</a:t>
            </a:r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No Cato Bandwidth and commercial impact</a:t>
            </a:r>
          </a:p>
        </p:txBody>
      </p:sp>
    </p:spTree>
    <p:extLst>
      <p:ext uri="{BB962C8B-B14F-4D97-AF65-F5344CB8AC3E}">
        <p14:creationId xmlns:p14="http://schemas.microsoft.com/office/powerpoint/2010/main" val="3903464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98D0C-0723-3580-6DAC-0CCB4CD82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8AEC4-5D85-D461-A0D2-A203868055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E0DFDFC-60F9-F42C-C3BF-D1804D99D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134181"/>
            <a:ext cx="11561105" cy="480131"/>
          </a:xfrm>
        </p:spPr>
        <p:txBody>
          <a:bodyPr/>
          <a:lstStyle/>
          <a:p>
            <a:r>
              <a:rPr lang="en-US" sz="3200"/>
              <a:t>Phased ZIA Replacement – Cato VLAN Termination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F53B58-02D6-574D-E020-4654EA262144}"/>
              </a:ext>
            </a:extLst>
          </p:cNvPr>
          <p:cNvSpPr txBox="1"/>
          <p:nvPr/>
        </p:nvSpPr>
        <p:spPr>
          <a:xfrm>
            <a:off x="79260" y="558913"/>
            <a:ext cx="8170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ea typeface="+mj-ea"/>
                <a:cs typeface="+mj-cs"/>
              </a:rPr>
              <a:t>Parallel ZIA Connectivity through FW</a:t>
            </a:r>
            <a:endParaRPr lang="en-US" sz="2400">
              <a:ea typeface="+mj-ea"/>
              <a:cs typeface="+mj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FE3D73-A926-9060-3604-474A05696A9E}"/>
              </a:ext>
            </a:extLst>
          </p:cNvPr>
          <p:cNvSpPr txBox="1"/>
          <p:nvPr/>
        </p:nvSpPr>
        <p:spPr>
          <a:xfrm>
            <a:off x="183219" y="1996772"/>
            <a:ext cx="4863235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/>
              <a:t>Parallel FW ZIA connectivity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/>
              <a:t>Internet Traffic Bypass on WAN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/>
              <a:t>FW DMZ handoff for socket WAN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/>
              <a:t>Socket terminates local VLAN</a:t>
            </a:r>
          </a:p>
          <a:p>
            <a:endParaRPr lang="en-US"/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Reuse existing local FW ZIA connectivity</a:t>
            </a:r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Internet Breakout from FW</a:t>
            </a:r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Phased migration to Cato Internet Breakout</a:t>
            </a:r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Socket provides termination of local VLAN</a:t>
            </a:r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No Cato Bandwidth and commercial impact</a:t>
            </a:r>
          </a:p>
          <a:p>
            <a:pPr marL="285750" indent="-285750">
              <a:buClr>
                <a:schemeClr val="accent3">
                  <a:lumMod val="90000"/>
                  <a:lumOff val="10000"/>
                </a:schemeClr>
              </a:buClr>
              <a:buFont typeface="System Font Regular"/>
              <a:buChar char="+"/>
            </a:pPr>
            <a:r>
              <a:rPr lang="en-US"/>
              <a:t>Cato managed inter-VLAN &amp; visibility</a:t>
            </a:r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7BFE859F-907B-69FA-2901-38EB4425AF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8" t="5630" r="5521" b="5186"/>
          <a:stretch/>
        </p:blipFill>
        <p:spPr bwMode="auto">
          <a:xfrm>
            <a:off x="6096000" y="902375"/>
            <a:ext cx="5096181" cy="5821444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0693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FF1CE2C-5418-93CB-FBC1-4FE1B7D4A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 - Mourant Ozannes Services Ltd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0B97992-2F8D-E0DC-810D-EF4E758F67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3E6AA-F633-49C8-ADFD-A7F9E843C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09D51-F07D-4433-E045-68C4131291A9}"/>
              </a:ext>
            </a:extLst>
          </p:cNvPr>
          <p:cNvSpPr txBox="1"/>
          <p:nvPr/>
        </p:nvSpPr>
        <p:spPr>
          <a:xfrm>
            <a:off x="314138" y="1089211"/>
            <a:ext cx="891051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Business - Legal advisory services</a:t>
            </a:r>
          </a:p>
          <a:p>
            <a:endParaRPr lang="en-US"/>
          </a:p>
          <a:p>
            <a:r>
              <a:rPr lang="en-US"/>
              <a:t>Technical - Using Zscaler ZIA (tunnels and ZCC) with identity for Internet access, not using ZPA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Heavy focus on ZTNA, MPLS for WAN access protected by legacy firewalls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Goal to better protect WAN using ZTNA model</a:t>
            </a:r>
          </a:p>
          <a:p>
            <a:endParaRPr lang="en-US"/>
          </a:p>
          <a:p>
            <a:pPr marL="0" marR="0"/>
            <a:r>
              <a:rPr lang="en-US" sz="1800">
                <a:effectLst/>
                <a:latin typeface="Calibri" panose="020F0502020204030204" pitchFamily="34" charset="0"/>
              </a:rPr>
              <a:t>Why Buy - Zscaler ZIA Replacement</a:t>
            </a:r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US" sz="1800">
                <a:effectLst/>
                <a:latin typeface="Calibri" panose="020F0502020204030204" pitchFamily="34" charset="0"/>
              </a:rPr>
              <a:t>Customer extremely unhappy with Zscaler solution</a:t>
            </a:r>
          </a:p>
          <a:p>
            <a:pPr marL="285750" indent="-285750" rtl="0" fontAlgn="ctr">
              <a:buFont typeface="Arial" panose="020B0604020202020204" pitchFamily="34" charset="0"/>
              <a:buChar char="•"/>
            </a:pPr>
            <a:r>
              <a:rPr lang="en-US" sz="1800">
                <a:effectLst/>
                <a:latin typeface="Calibri" panose="020F0502020204030204" pitchFamily="34" charset="0"/>
              </a:rPr>
              <a:t>Purchased Zscaler CASB but solution was not working for them</a:t>
            </a:r>
          </a:p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03BC1C7-0621-844C-3F95-053AEB992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396" y="4039954"/>
            <a:ext cx="6766567" cy="121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845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415F2-1E7C-52EF-9D73-2968CB8F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 - Mourant Ozannes Services Ltd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DD097-8977-489B-F4F7-B8B56C32A9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9EA7F-802B-59D8-6176-449790D894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FA26B4-310B-E6FB-F2FE-49777351E2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25" y="1316038"/>
            <a:ext cx="5662893" cy="3829050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Phase 0 - Sites on Zscaler ZIA tunnels (GRE) + Managed endpoints on Zscaler ZCC</a:t>
            </a:r>
          </a:p>
          <a:p>
            <a:r>
              <a:rPr lang="en-US"/>
              <a:t>Remote access using legacy Remote Access VPN solution (Forcepoint?)</a:t>
            </a:r>
          </a:p>
          <a:p>
            <a:r>
              <a:rPr lang="en-US"/>
              <a:t>Migrated sites to Cato sockets</a:t>
            </a:r>
          </a:p>
          <a:p>
            <a:pPr lvl="1"/>
            <a:r>
              <a:rPr lang="en-US" err="1"/>
              <a:t>Imploy</a:t>
            </a:r>
            <a:r>
              <a:rPr lang="en-US"/>
              <a:t> WAN protect using UA before moving anyone over from Zscaler ZIA</a:t>
            </a:r>
          </a:p>
          <a:p>
            <a:pPr lvl="1"/>
            <a:r>
              <a:rPr lang="en-US"/>
              <a:t>Site routing via PBR of WAN traffic to Cato</a:t>
            </a:r>
          </a:p>
          <a:p>
            <a:pPr lvl="1"/>
            <a:r>
              <a:rPr lang="en-US"/>
              <a:t>Site Internet via default route to Zscaler ZIA via tunnel</a:t>
            </a:r>
          </a:p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69A0795-9CEB-2073-1ED0-BDE8468F7A94}"/>
              </a:ext>
            </a:extLst>
          </p:cNvPr>
          <p:cNvSpPr txBox="1">
            <a:spLocks/>
          </p:cNvSpPr>
          <p:nvPr/>
        </p:nvSpPr>
        <p:spPr>
          <a:xfrm>
            <a:off x="6214782" y="1316038"/>
            <a:ext cx="5662893" cy="3829050"/>
          </a:xfrm>
          <a:prstGeom prst="rect">
            <a:avLst/>
          </a:prstGeom>
        </p:spPr>
        <p:txBody>
          <a:bodyPr lIns="0" r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2013" indent="-2349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Phase 1 - Rollout SDP to all users</a:t>
            </a:r>
          </a:p>
          <a:p>
            <a:r>
              <a:rPr lang="en-US"/>
              <a:t>Split tunnel RFC 1918 for SD-WAN over Cato</a:t>
            </a:r>
          </a:p>
          <a:p>
            <a:pPr lvl="1"/>
            <a:r>
              <a:rPr lang="en-US"/>
              <a:t>SDP not in always-on, manually enabled when remote</a:t>
            </a:r>
          </a:p>
          <a:p>
            <a:r>
              <a:rPr lang="en-US"/>
              <a:t>Internet via ZIA over tunnels at sites (default route) and Zscaler ZCC when remote</a:t>
            </a:r>
          </a:p>
          <a:p>
            <a:pPr lvl="1"/>
            <a:r>
              <a:rPr lang="en-US"/>
              <a:t>Co-existing ZCC and SDP on workstations, dual tunnels while remote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09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5E512-EE04-2767-4F0C-FC9EDCD4A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CC185-3D56-2B1B-EB39-5832F0076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 - Mourant Ozannes Services Ltd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79607-CF31-74A7-394D-63F701094D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CDF3C-D892-1DF4-B554-817F00BF0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6C962E-2974-82BE-98BA-722461350A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25" y="1316038"/>
            <a:ext cx="5662893" cy="3829050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Phase 2 - WAN rules completed following ZTNA model</a:t>
            </a:r>
          </a:p>
          <a:p>
            <a:r>
              <a:rPr lang="en-US"/>
              <a:t>Removed PBR and migrated default route to Cato for WAN access</a:t>
            </a:r>
          </a:p>
          <a:p>
            <a:pPr lvl="1"/>
            <a:r>
              <a:rPr lang="en-US"/>
              <a:t>Non-user systems (e.g., servers, IoT, etc.) migrated to Cato SWG via socket using minimal rule set, maintained visibility and relative security posture</a:t>
            </a:r>
          </a:p>
          <a:p>
            <a:r>
              <a:rPr lang="en-US"/>
              <a:t>ZTNA policies only using Cato UA identities for enforcement</a:t>
            </a:r>
          </a:p>
          <a:p>
            <a:r>
              <a:rPr lang="en-US"/>
              <a:t>Zscaler ZIA still running via ZCC on all managed endpoints for Internet protection</a:t>
            </a:r>
          </a:p>
          <a:p>
            <a:pPr lvl="1"/>
            <a:r>
              <a:rPr lang="en-US"/>
              <a:t>Zscaler ZCC tunnel inside Cato socket tunnel when onsite</a:t>
            </a:r>
          </a:p>
          <a:p>
            <a:pPr lvl="1"/>
            <a:r>
              <a:rPr lang="en-US"/>
              <a:t>Zscaler ZCC tunnel and Cato SDP tunnel co-existing when remote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70C473E-3B4A-09A0-5296-FB4A59FFD271}"/>
              </a:ext>
            </a:extLst>
          </p:cNvPr>
          <p:cNvSpPr txBox="1">
            <a:spLocks/>
          </p:cNvSpPr>
          <p:nvPr/>
        </p:nvSpPr>
        <p:spPr>
          <a:xfrm>
            <a:off x="6214782" y="1316038"/>
            <a:ext cx="5662893" cy="3829050"/>
          </a:xfrm>
          <a:prstGeom prst="rect">
            <a:avLst/>
          </a:prstGeom>
        </p:spPr>
        <p:txBody>
          <a:bodyPr lIns="0" r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2013" indent="-2349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Phase 3 - Copy Zscaler SWG policies into Cato SWG</a:t>
            </a:r>
          </a:p>
          <a:p>
            <a:r>
              <a:rPr lang="en-US"/>
              <a:t>Testing subset of users by removing Zscaler ZCC agent (on-prem sandbox) and confirmed functionality</a:t>
            </a:r>
          </a:p>
          <a:p>
            <a:pPr lvl="1"/>
            <a:r>
              <a:rPr lang="en-US"/>
              <a:t>Isolated SDP policy dependency from testing methodology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b="1"/>
              <a:t>Phase 4 - Clear path to removal of Zscaler ZCC across all managed endpoints</a:t>
            </a:r>
          </a:p>
          <a:p>
            <a:r>
              <a:rPr lang="en-US"/>
              <a:t>Enable SDP always-on, still split-tunnel RFC 1918, still relying on Zscaler ZCC for ZIA</a:t>
            </a:r>
          </a:p>
          <a:p>
            <a:r>
              <a:rPr lang="en-US"/>
              <a:t>Big bang removal of split tunnel</a:t>
            </a:r>
          </a:p>
          <a:p>
            <a:pPr lvl="1"/>
            <a:r>
              <a:rPr lang="en-US"/>
              <a:t>SDP provides default route to Internet via Cato POP, ZCC forms ZIA tunnel via Cato to Zscaler POP</a:t>
            </a:r>
          </a:p>
          <a:p>
            <a:r>
              <a:rPr lang="en-US"/>
              <a:t>Remove Zscaler ZCC client at convenience, Internet traffic flips from Zscaler ZIA to Cato SWG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84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56A55-2109-6C94-4F41-BF952389A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A9D74-3B45-F355-C85C-8F5652161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Study - Mourant Ozannes Services Ltd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73733-A981-1F1A-FC10-4B645FF810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D62A8-A282-00A7-D4A4-2496018DD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26BEC9-8E80-5977-B05A-F852FD32C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25" y="1316038"/>
            <a:ext cx="5662893" cy="3829050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Results</a:t>
            </a:r>
          </a:p>
          <a:p>
            <a:r>
              <a:rPr lang="en-US"/>
              <a:t>Full SDP for remote access and SWG</a:t>
            </a:r>
          </a:p>
          <a:p>
            <a:r>
              <a:rPr lang="en-US"/>
              <a:t>Eliminated Zscaler ZIA and ZCC solution</a:t>
            </a:r>
          </a:p>
          <a:p>
            <a:r>
              <a:rPr lang="en-US"/>
              <a:t>Eliminated legacy remote access VPN solution</a:t>
            </a:r>
          </a:p>
          <a:p>
            <a:pPr marL="0" indent="0">
              <a:buNone/>
            </a:pPr>
            <a:r>
              <a:rPr lang="en-US" b="1"/>
              <a:t>Future Projects</a:t>
            </a:r>
          </a:p>
          <a:p>
            <a:r>
              <a:rPr lang="en-US"/>
              <a:t>Phase X - CASB &amp; DLP - Achieve security posture originally desired when using Zscaler </a:t>
            </a:r>
          </a:p>
          <a:p>
            <a:r>
              <a:rPr lang="en-US"/>
              <a:t>Phase Y - Eliminate legacy firewall platform for only Cato NGFW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165899A-C5B4-5528-0D29-211C896E428D}"/>
              </a:ext>
            </a:extLst>
          </p:cNvPr>
          <p:cNvSpPr txBox="1">
            <a:spLocks/>
          </p:cNvSpPr>
          <p:nvPr/>
        </p:nvSpPr>
        <p:spPr>
          <a:xfrm>
            <a:off x="6214782" y="1316038"/>
            <a:ext cx="5662893" cy="3829050"/>
          </a:xfrm>
          <a:prstGeom prst="rect">
            <a:avLst/>
          </a:prstGeom>
        </p:spPr>
        <p:txBody>
          <a:bodyPr lIns="0" r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2013" indent="-2349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9B6FE9C-958C-CA38-BC1D-7111B5602644}"/>
              </a:ext>
            </a:extLst>
          </p:cNvPr>
          <p:cNvSpPr txBox="1">
            <a:spLocks/>
          </p:cNvSpPr>
          <p:nvPr/>
        </p:nvSpPr>
        <p:spPr>
          <a:xfrm>
            <a:off x="6261891" y="1316037"/>
            <a:ext cx="5662893" cy="5202515"/>
          </a:xfrm>
          <a:prstGeom prst="rect">
            <a:avLst/>
          </a:prstGeom>
        </p:spPr>
        <p:txBody>
          <a:bodyPr lIns="0" rIns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0563" indent="-2333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2013" indent="-2349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Hindsight Being 20/20</a:t>
            </a:r>
          </a:p>
          <a:p>
            <a:r>
              <a:rPr lang="en-US"/>
              <a:t>All SDP users being identified as "All Unidentified Users" group while logic for specific users groups worked behind socket, caused SWG policy logic failure</a:t>
            </a:r>
          </a:p>
          <a:p>
            <a:pPr lvl="1"/>
            <a:r>
              <a:rPr lang="en-US"/>
              <a:t>Flaw in Cato logic, being fixed, and quickly resolved using exception for All SDP Users groups</a:t>
            </a:r>
          </a:p>
          <a:p>
            <a:r>
              <a:rPr lang="en-US"/>
              <a:t>TLSi caused issues with Outlook, change management delayed diagnostic testing, resulted in little more than a month delay in rollout</a:t>
            </a:r>
          </a:p>
          <a:p>
            <a:pPr lvl="1"/>
            <a:r>
              <a:rPr lang="en-US"/>
              <a:t>Issue on customer side, resolved via Cato support ticket</a:t>
            </a:r>
          </a:p>
          <a:p>
            <a:r>
              <a:rPr lang="en-US"/>
              <a:t>Tight change control and windows resulted in extremely slow progress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Looking Forward</a:t>
            </a:r>
          </a:p>
          <a:p>
            <a:r>
              <a:rPr lang="en-US"/>
              <a:t>Integrated (recently released) SDP agenda-based identity with WMI based identity to improve UA experience</a:t>
            </a:r>
          </a:p>
          <a:p>
            <a:r>
              <a:rPr lang="en-US"/>
              <a:t>Utilization of (soon to be released) user/group based split tunnel policies to simplify Phase 3 testing and Phase 4 gradual cutover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95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480B2C-DF78-51DF-CF1C-7C54E02F2DF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28D0F-99B7-E920-F965-5F9773A574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84013" y="6518275"/>
            <a:ext cx="407987" cy="244475"/>
          </a:xfrm>
        </p:spPr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85796"/>
      </p:ext>
    </p:extLst>
  </p:cSld>
  <p:clrMapOvr>
    <a:masterClrMapping/>
  </p:clrMapOvr>
</p:sld>
</file>

<file path=ppt/theme/theme1.xml><?xml version="1.0" encoding="utf-8"?>
<a:theme xmlns:a="http://schemas.openxmlformats.org/drawingml/2006/main" name="cato template may 2019">
  <a:themeElements>
    <a:clrScheme name="Custom 23">
      <a:dk1>
        <a:srgbClr val="222C33"/>
      </a:dk1>
      <a:lt1>
        <a:srgbClr val="FFFFFF"/>
      </a:lt1>
      <a:dk2>
        <a:srgbClr val="222222"/>
      </a:dk2>
      <a:lt2>
        <a:srgbClr val="FAFAFA"/>
      </a:lt2>
      <a:accent1>
        <a:srgbClr val="158864"/>
      </a:accent1>
      <a:accent2>
        <a:srgbClr val="127958"/>
      </a:accent2>
      <a:accent3>
        <a:srgbClr val="0C513B"/>
      </a:accent3>
      <a:accent4>
        <a:srgbClr val="FF715B"/>
      </a:accent4>
      <a:accent5>
        <a:srgbClr val="FDCA0B"/>
      </a:accent5>
      <a:accent6>
        <a:srgbClr val="FAA934"/>
      </a:accent6>
      <a:hlink>
        <a:srgbClr val="0277BD"/>
      </a:hlink>
      <a:folHlink>
        <a:srgbClr val="03A9F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>
          <a:solidFill>
            <a:schemeClr val="tx1">
              <a:lumMod val="25000"/>
              <a:lumOff val="75000"/>
            </a:schemeClr>
          </a:solidFill>
          <a:prstDash val="solid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bg1">
              <a:lumMod val="50000"/>
            </a:schemeClr>
          </a:solidFill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ato template may 2019" id="{F7C1A1FB-95FF-43AD-A0C7-87E8B517571F}" vid="{2D4FF52F-E2B8-4128-AEA0-8E08DF9F60F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A455B4BA93394CBA4CAD9961D1F0FC" ma:contentTypeVersion="18" ma:contentTypeDescription="Create a new document." ma:contentTypeScope="" ma:versionID="7eb32558fe5701cb0a66e82837746832">
  <xsd:schema xmlns:xsd="http://www.w3.org/2001/XMLSchema" xmlns:xs="http://www.w3.org/2001/XMLSchema" xmlns:p="http://schemas.microsoft.com/office/2006/metadata/properties" xmlns:ns2="f84ea2c0-04cb-4194-8a8c-8ceb8a537a83" xmlns:ns3="2908c1ca-64e7-4e1d-b7d3-758dca5b6f51" targetNamespace="http://schemas.microsoft.com/office/2006/metadata/properties" ma:root="true" ma:fieldsID="bb15a2e71ceaee096d30387e547f03f4" ns2:_="" ns3:_="">
    <xsd:import namespace="f84ea2c0-04cb-4194-8a8c-8ceb8a537a83"/>
    <xsd:import namespace="2908c1ca-64e7-4e1d-b7d3-758dca5b6f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4ea2c0-04cb-4194-8a8c-8ceb8a537a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b4fd814-cd30-4341-b83e-5a3d1412f9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08c1ca-64e7-4e1d-b7d3-758dca5b6f5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ee7350df-2095-4d66-9a3b-083525117158}" ma:internalName="TaxCatchAll" ma:showField="CatchAllData" ma:web="2908c1ca-64e7-4e1d-b7d3-758dca5b6f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84ea2c0-04cb-4194-8a8c-8ceb8a537a83">
      <Terms xmlns="http://schemas.microsoft.com/office/infopath/2007/PartnerControls"/>
    </lcf76f155ced4ddcb4097134ff3c332f>
    <TaxCatchAll xmlns="2908c1ca-64e7-4e1d-b7d3-758dca5b6f51" xsi:nil="true"/>
  </documentManagement>
</p:properties>
</file>

<file path=customXml/itemProps1.xml><?xml version="1.0" encoding="utf-8"?>
<ds:datastoreItem xmlns:ds="http://schemas.openxmlformats.org/officeDocument/2006/customXml" ds:itemID="{A4E04F70-3349-4B00-B2B0-AA3DA8533729}">
  <ds:schemaRefs>
    <ds:schemaRef ds:uri="2908c1ca-64e7-4e1d-b7d3-758dca5b6f51"/>
    <ds:schemaRef ds:uri="f84ea2c0-04cb-4194-8a8c-8ceb8a537a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9FE3E8F-4600-4A38-8764-EA322A2DA5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43B0E8-7E33-4667-8F8E-B9364FBF805B}">
  <ds:schemaRefs>
    <ds:schemaRef ds:uri="http://schemas.microsoft.com/office/2006/documentManagement/types"/>
    <ds:schemaRef ds:uri="http://schemas.microsoft.com/office/2006/metadata/properties"/>
    <ds:schemaRef ds:uri="2908c1ca-64e7-4e1d-b7d3-758dca5b6f51"/>
    <ds:schemaRef ds:uri="http://www.w3.org/XML/1998/namespace"/>
    <ds:schemaRef ds:uri="http://schemas.openxmlformats.org/package/2006/metadata/core-properties"/>
    <ds:schemaRef ds:uri="f84ea2c0-04cb-4194-8a8c-8ceb8a537a83"/>
    <ds:schemaRef ds:uri="http://purl.org/dc/dcmitype/"/>
    <ds:schemaRef ds:uri="http://purl.org/dc/terms/"/>
    <ds:schemaRef ds:uri="http://purl.org/dc/elements/1.1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1107</Words>
  <Application>Microsoft Office PowerPoint</Application>
  <PresentationFormat>Widescreen</PresentationFormat>
  <Paragraphs>152</Paragraphs>
  <Slides>12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cato template may 2019</vt:lpstr>
      <vt:lpstr>Zscaler to Cato </vt:lpstr>
      <vt:lpstr>Zscaler Migration Strategy</vt:lpstr>
      <vt:lpstr>Cato Advanced Security</vt:lpstr>
      <vt:lpstr>ZIA Gateway Integration – IKEv2 Multiple Active Tunnels</vt:lpstr>
      <vt:lpstr>ZIA Integration – Internet Backhaul to FW</vt:lpstr>
      <vt:lpstr>Phased ZIA Replacement – FW VLAN Termination</vt:lpstr>
      <vt:lpstr>Phased ZIA Replacement – Cato VLAN Termination</vt:lpstr>
      <vt:lpstr>Case Study - Mourant Ozannes Services Ltd</vt:lpstr>
      <vt:lpstr>Case Study - Mourant Ozannes Services Ltd</vt:lpstr>
      <vt:lpstr>Case Study - Mourant Ozannes Services Ltd</vt:lpstr>
      <vt:lpstr>Case Study - Mourant Ozannes Services Ltd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Yael Shapiro</dc:creator>
  <cp:lastModifiedBy>Dane Jackson</cp:lastModifiedBy>
  <cp:revision>2</cp:revision>
  <cp:lastPrinted>2025-02-17T02:38:13Z</cp:lastPrinted>
  <dcterms:created xsi:type="dcterms:W3CDTF">2019-04-22T07:53:34Z</dcterms:created>
  <dcterms:modified xsi:type="dcterms:W3CDTF">2025-09-09T14:39:55Z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0x010100A5A455B4BA93394CBA4CAD9961D1F0FC</vt:lpwstr>
  </property>
  <property fmtid="{D5CDD505-2E9C-101B-9397-08002B2CF9AE}" pid="3" name="MediaServiceImageTags">
    <vt:lpwstr/>
  </property>
</Properties>
</file>
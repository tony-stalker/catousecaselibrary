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a short session on ISO/IEC 27001:2022 and where Cato fits. One sentence up front: no product makes an organisation ISO 27001 compliant. Certification attests a management system. What a platform can do is enforce the controls you select, continuously, and generate the evidence a Stage 2 auditor asks for. That is the whole story in nine slides: why the 2022 edition matters now, what certification actually requires, device posture as the enforcement gate, an Annex A map, the evidence surfaces, supplier due diligence, and how we would prove it in your tenant. Let's start with why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now. Under IAF MD 26 the 2013 to 2022 transition closed on the thirty-first of October 2025. Every accredited 2013 certificate was withdrawn on that date, whatever its printed expiry, so every certificate you meet this year is a 2022 certificate and a lapsed organisation starts again at Stage 1. Annex A is now ninety-three controls in four themes, and eleven of them are new. Five of those eleven — cloud services, configuration management, data leakage prevention, monitoring and web filtering — are exactly what a SASE platform does. Two ideas carry the conversation: the auditor tests operation, not intent, and the evidence burden scales with the number of consoles. Before we go further, let's be precise about what certification actually requires.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two halves apart. Clauses 4 to 10 are the management system — context, leadership, planning, support, operation, performance evaluation and improvement. All mandatory, all organisational, and nothing a vendor can do for you. Annex A is different: ninety-three reference controls, selected by your own risk assessment and recorded in the Statement of Applicability. The journey runs scope, risk assessment, SoA, Stage 1 readiness review, then Stage 2 about six to eight weeks later, where auditors test the operational reality — walkthroughs, interviews, technical evidence. The certificate then runs three years with surveillance audits in years one and two. Practitioners commonly advise holding around twelve months of reviewed records; that's guidance, not standard text, but auditors do ask. So: certification attests an ISMS; a platform enforces controls and generates the evidence. The sharpest example is the endpoint —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anchor. Device posture is not a separate agent: the Cato Client already on the laptop evaluates Device Checks — eleven documented types, with your existing EDR, firewall, patch and DLP agents matched through OPSWAT as a drop-down. Checks bundle into a Posture Profile, where they combine with AND, and the profile becomes a condition on a Client Connectivity Policy rule; several profiles on one rule combine with OR. Actions are allow WAN and Internet, allow Internet only, or block, over a final implicit block. Since the seventh of August 2026 the checks re-run every ten minutes by default — the ISO sentence: enforced all the time, not proven once at login. A device that fails is refused or disconnected, Details names the unmet requirement, and an event records it. No warn-but-allow. One vocabulary trap: device posture and account posture are different things. Now the map.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and every tick is a “supports and evidences” claim — applicability stays your SoA decision. Read it across the five columns: device posture, access and identity, threat prevention, data control, and logging and evidence. The five NEW markers are the 2022 controls we spoke about — cloud services, web filtering, configuration management, data leakage prevention and monitoring — all core SASE capability. One row is marked partial: privileged access rights, because PAM proper is out of scope. Supplier due diligence, A.5.19 to 22, is handled by the supplier file rather than a tick, and we'll come to it. The banner underneath is the posture anchor in four facts — eleven check types, ten-minute checks, what failure means, and where the gate applies. The strip below that is where the evidence comes from,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the story is that none of this evidence is assembled by hand. The Audit Trail holds twelve months of attributed configuration change, viewable three months at a time, with before-and-after values for certain policies — change control without a spreadsheet. Events land in the Data Lake: three months base retention, extendable to twelve, exportable at up to two hundred and fifty thousand events per query over thirty-one days, or streamed to your SIEM. The Posture Compliance Report maps account-posture checks to ISO 27001:2022, GDPR and NIST, and it can be scheduled monthly to the compliance mailing list. Policy revisions mean nothing takes effect until Publish, and admin access to the console itself is SSO or MFA with nine predefined roles. One thing this platform cannot evidence is you as a supplier's customer — that's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organisational controls — A.5.19 to A.5.22 — ask you to evidence that you assessed your suppliers, and A.8.21 adds security of outsourced network services explicitly. When the network service is Cato, Cato's own attestations are exactly what goes in that file. The Trust Center lists ISO/IEC 27001:2022, 27017, 27018 and 27701, a SOC 2 Type II report and SOC 3, PCI DSS, a NIST SP 800-53 attestation, and Cyber Essentials. That list is vendor-published, so treat it as reported: pull the actual certificates under NDA so your file holds issuer, scope and expiry — the scope of each certificate isn't public. And the honest line: these evidence Cato, never you. They are not your certificate. So how do we prove the customer-side controls? In your tenant, against agreed criteria — the last content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has no toggle, so what a pilot can prove is that a named Annex A control is enforced on real devices and evidenced by platform-generated artefacts. Five criteria, agreed before we configure anything. One: the posture profile enforced on a cohort of ten to thirty laptops. Two: a deliberately broken device is blocked and the failure recorded with the unmet requirement. Three: the Posture Compliance Report generated, scheduled and delivered to the compliance mailing list without anyone logging in. Four: a policy change attributed in the Audit Trail with before-and-after values. Five: a thirty-day events export inside the window, and the retention licence for the audit period agreed. Two caveats I'd rather say now: posture is one control family, and the report is an aid, not an audit opinion. The ISMS owner keeps the pack as their working paper for Stage 2. Which brings us to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next step. Agree a scoped proof of value against the five criteria you've just seen: a pilot cohort of ten to thirty managed laptops, your ISMS owner choosing which Annex A rows from your own SoA, and the criteria written down before we configure anything. Two things to settle in week one: the Client versions on the cohort against the check minimums, and the Data Lake retention conversation, because three months base will not cover a twelve-month evidence expectation. What you keep at the end is the pack — the rows evidenced, the rows marked out of pilot scope, and the retention decision — as your working paper for Stage 2. Thank you; questions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05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ato-lockup" descr="lockup-white.png"/>
          <p:cNvPicPr>
            <a:picLocks noChangeAspect="1"/>
          </p:cNvPicPr>
          <p:nvPr/>
        </p:nvPicPr>
        <p:blipFill>
          <a:blip r:embed="rId2"/>
          <a:stretch>
            <a:fillRect/>
          </a:stretch>
        </p:blipFill>
        <p:spPr>
          <a:xfrm>
            <a:off x="838504" y="599846"/>
            <a:ext cx="2267424" cy="936345"/>
          </a:xfrm>
          <a:prstGeom prst="rect">
            <a:avLst/>
          </a:prstGeom>
        </p:spPr>
      </p:pic>
      <p:sp>
        <p:nvSpPr>
          <p:cNvPr id="4" name="TextBox 3"/>
          <p:cNvSpPr txBox="1"/>
          <p:nvPr/>
        </p:nvSpPr>
        <p:spPr>
          <a:xfrm>
            <a:off x="838504" y="2002536"/>
            <a:ext cx="10514685" cy="365760"/>
          </a:xfrm>
          <a:prstGeom prst="rect">
            <a:avLst/>
          </a:prstGeom>
          <a:noFill/>
        </p:spPr>
        <p:txBody>
          <a:bodyPr wrap="square" lIns="0" rIns="0" tIns="9144" bIns="9144" anchor="ctr">
            <a:spAutoFit/>
          </a:bodyPr>
          <a:lstStyle/>
          <a:p>
            <a:pPr algn="l"/>
            <a:r>
              <a:rPr sz="1200" b="1" i="0">
                <a:solidFill>
                  <a:srgbClr val="12A380"/>
                </a:solidFill>
                <a:latin typeface="Calibri"/>
              </a:rPr>
              <a:t>SECURITY USE CASE</a:t>
            </a:r>
          </a:p>
        </p:txBody>
      </p:sp>
      <p:sp>
        <p:nvSpPr>
          <p:cNvPr id="5" name="TextBox 4"/>
          <p:cNvSpPr txBox="1"/>
          <p:nvPr/>
        </p:nvSpPr>
        <p:spPr>
          <a:xfrm>
            <a:off x="838504" y="2450592"/>
            <a:ext cx="10514685" cy="1097280"/>
          </a:xfrm>
          <a:prstGeom prst="rect">
            <a:avLst/>
          </a:prstGeom>
          <a:noFill/>
        </p:spPr>
        <p:txBody>
          <a:bodyPr wrap="square" lIns="0" rIns="0" tIns="9144" bIns="9144" anchor="ctr">
            <a:spAutoFit/>
          </a:bodyPr>
          <a:lstStyle/>
          <a:p>
            <a:pPr algn="l"/>
            <a:r>
              <a:rPr sz="4000" b="1" i="0">
                <a:solidFill>
                  <a:srgbClr val="FFFFFF"/>
                </a:solidFill>
                <a:latin typeface="Calibri"/>
              </a:rPr>
              <a:t>ISO/IEC 27001:2022 with Cato</a:t>
            </a:r>
          </a:p>
        </p:txBody>
      </p:sp>
      <p:sp>
        <p:nvSpPr>
          <p:cNvPr id="6" name="accent"/>
          <p:cNvSpPr/>
          <p:nvPr/>
        </p:nvSpPr>
        <p:spPr>
          <a:xfrm>
            <a:off x="838504" y="3703320"/>
            <a:ext cx="1828800" cy="61264"/>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504" y="3931920"/>
            <a:ext cx="10514685" cy="822960"/>
          </a:xfrm>
          <a:prstGeom prst="rect">
            <a:avLst/>
          </a:prstGeom>
          <a:noFill/>
        </p:spPr>
        <p:txBody>
          <a:bodyPr wrap="square" lIns="0" rIns="0" tIns="9144" bIns="9144" anchor="t">
            <a:spAutoFit/>
          </a:bodyPr>
          <a:lstStyle/>
          <a:p>
            <a:pPr algn="l"/>
            <a:r>
              <a:rPr sz="2000" b="0" i="0">
                <a:solidFill>
                  <a:srgbClr val="B9D2C9"/>
                </a:solidFill>
                <a:latin typeface="Calibri"/>
              </a:rPr>
              <a:t>Posture-enforced controls, audit-ready evidence</a:t>
            </a:r>
          </a:p>
        </p:txBody>
      </p:sp>
      <p:sp>
        <p:nvSpPr>
          <p:cNvPr id="8" name="TextBox 7"/>
          <p:cNvSpPr txBox="1"/>
          <p:nvPr/>
        </p:nvSpPr>
        <p:spPr>
          <a:xfrm>
            <a:off x="838504" y="6300216"/>
            <a:ext cx="10514685" cy="347472"/>
          </a:xfrm>
          <a:prstGeom prst="rect">
            <a:avLst/>
          </a:prstGeom>
          <a:noFill/>
        </p:spPr>
        <p:txBody>
          <a:bodyPr wrap="square" lIns="0" rIns="0" tIns="9144" bIns="9144" anchor="ctr">
            <a:spAutoFit/>
          </a:bodyPr>
          <a:lstStyle/>
          <a:p>
            <a:pPr algn="l"/>
            <a:r>
              <a:rPr sz="1100" b="0" i="0">
                <a:solidFill>
                  <a:srgbClr val="8AA39B"/>
                </a:solidFill>
                <a:latin typeface="Calibri"/>
              </a:rPr>
              <a:t>Cato Networks — SASE enablement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B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292608"/>
          </a:xfrm>
          <a:prstGeom prst="rect">
            <a:avLst/>
          </a:prstGeom>
          <a:noFill/>
        </p:spPr>
        <p:txBody>
          <a:bodyPr wrap="square" lIns="0" rIns="0" tIns="9144" bIns="9144" anchor="ctr">
            <a:spAutoFit/>
          </a:bodyPr>
          <a:lstStyle/>
          <a:p>
            <a:pPr algn="l"/>
            <a:r>
              <a:rPr sz="1100" b="1" i="0">
                <a:solidFill>
                  <a:srgbClr val="0E8A6D"/>
                </a:solidFill>
                <a:latin typeface="Calibri"/>
              </a:rPr>
              <a:t>WHY NOW</a:t>
            </a:r>
          </a:p>
        </p:txBody>
      </p:sp>
      <p:sp>
        <p:nvSpPr>
          <p:cNvPr id="4" name="TextBox 3"/>
          <p:cNvSpPr txBox="1"/>
          <p:nvPr/>
        </p:nvSpPr>
        <p:spPr>
          <a:xfrm>
            <a:off x="548640" y="676656"/>
            <a:ext cx="11094415" cy="566928"/>
          </a:xfrm>
          <a:prstGeom prst="rect">
            <a:avLst/>
          </a:prstGeom>
          <a:noFill/>
        </p:spPr>
        <p:txBody>
          <a:bodyPr wrap="square" lIns="0" rIns="0" tIns="9144" bIns="9144" anchor="ctr">
            <a:spAutoFit/>
          </a:bodyPr>
          <a:lstStyle/>
          <a:p>
            <a:pPr algn="l"/>
            <a:r>
              <a:rPr sz="2600" b="1" i="0">
                <a:solidFill>
                  <a:srgbClr val="0D1A16"/>
                </a:solidFill>
                <a:latin typeface="Calibri"/>
              </a:rPr>
              <a:t>Every live certificate is a 2022 certificate</a:t>
            </a:r>
          </a:p>
        </p:txBody>
      </p:sp>
      <p:sp>
        <p:nvSpPr>
          <p:cNvPr id="5" name="titlebar"/>
          <p:cNvSpPr/>
          <p:nvPr/>
        </p:nvSpPr>
        <p:spPr>
          <a:xfrm>
            <a:off x="548640" y="1298448"/>
            <a:ext cx="914400" cy="4572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to-lockup" descr="lockup-green.png"/>
          <p:cNvPicPr>
            <a:picLocks noChangeAspect="1"/>
          </p:cNvPicPr>
          <p:nvPr/>
        </p:nvPicPr>
        <p:blipFill>
          <a:blip r:embed="rId2"/>
          <a:stretch>
            <a:fillRect/>
          </a:stretch>
        </p:blipFill>
        <p:spPr>
          <a:xfrm>
            <a:off x="10602342" y="6153912"/>
            <a:ext cx="1040713" cy="429768"/>
          </a:xfrm>
          <a:prstGeom prst="rect">
            <a:avLst/>
          </a:prstGeom>
        </p:spPr>
      </p:pic>
      <p:sp>
        <p:nvSpPr>
          <p:cNvPr id="7" name="TextBox 6"/>
          <p:cNvSpPr txBox="1"/>
          <p:nvPr/>
        </p:nvSpPr>
        <p:spPr>
          <a:xfrm>
            <a:off x="548640" y="6327648"/>
            <a:ext cx="6858000" cy="274320"/>
          </a:xfrm>
          <a:prstGeom prst="rect">
            <a:avLst/>
          </a:prstGeom>
          <a:noFill/>
        </p:spPr>
        <p:txBody>
          <a:bodyPr wrap="square" lIns="0" rIns="0" tIns="9144" bIns="9144" anchor="ctr">
            <a:spAutoFit/>
          </a:bodyPr>
          <a:lstStyle/>
          <a:p>
            <a:pPr algn="l"/>
            <a:r>
              <a:rPr sz="1100" b="1" i="0">
                <a:solidFill>
                  <a:srgbClr val="45524D"/>
                </a:solidFill>
                <a:latin typeface="Calibri"/>
              </a:rPr>
              <a:t>ISO/IEC 27001:2022 with Cato</a:t>
            </a:r>
            <a:r>
              <a:rPr sz="1100" b="0" i="0">
                <a:solidFill>
                  <a:srgbClr val="45524D"/>
                </a:solidFill>
                <a:latin typeface="Calibri"/>
              </a:rPr>
              <a:t>   ·   Cato Networks — SASE enablement   ·   2 / 9</a:t>
            </a:r>
          </a:p>
        </p:txBody>
      </p:sp>
      <p:sp>
        <p:nvSpPr>
          <p:cNvPr id="8" name="TextBox 7"/>
          <p:cNvSpPr txBox="1"/>
          <p:nvPr/>
        </p:nvSpPr>
        <p:spPr>
          <a:xfrm>
            <a:off x="548640" y="1417320"/>
            <a:ext cx="11094415" cy="868680"/>
          </a:xfrm>
          <a:prstGeom prst="rect">
            <a:avLst/>
          </a:prstGeom>
          <a:noFill/>
        </p:spPr>
        <p:txBody>
          <a:bodyPr wrap="square" lIns="0" rIns="0" tIns="9144" bIns="9144" anchor="t">
            <a:spAutoFit/>
          </a:bodyPr>
          <a:lstStyle/>
          <a:p>
            <a:pPr algn="l">
              <a:lnSpc>
                <a:spcPct val="110000"/>
              </a:lnSpc>
            </a:pPr>
            <a:r>
              <a:rPr sz="1300" b="0" i="0">
                <a:solidFill>
                  <a:srgbClr val="0D1A16"/>
                </a:solidFill>
                <a:latin typeface="Calibri"/>
              </a:rPr>
              <a:t>The 2022 edition restructured Annex A and closed the door on 2013. Under IAF MD 26 the transition ended on 31 October 2025, so every organisation certifying or recertifying today is on the 2022 edition — and five of its new controls sit squarely in SASE territory. The auditor tests operation, not intent, and the evidence burden scales with the number of consoles you export from.</a:t>
            </a:r>
          </a:p>
        </p:txBody>
      </p:sp>
      <p:sp>
        <p:nvSpPr>
          <p:cNvPr id="9" name="card"/>
          <p:cNvSpPr/>
          <p:nvPr/>
        </p:nvSpPr>
        <p:spPr>
          <a:xfrm>
            <a:off x="548640" y="2468880"/>
            <a:ext cx="3515258" cy="3063240"/>
          </a:xfrm>
          <a:prstGeom prst="roundRect">
            <a:avLst>
              <a:gd name="adj" fmla="val 2388"/>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leaccent"/>
          <p:cNvSpPr/>
          <p:nvPr/>
        </p:nvSpPr>
        <p:spPr>
          <a:xfrm>
            <a:off x="548640" y="2468880"/>
            <a:ext cx="64008" cy="306324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97480"/>
            <a:ext cx="3058058" cy="685800"/>
          </a:xfrm>
          <a:prstGeom prst="rect">
            <a:avLst/>
          </a:prstGeom>
          <a:noFill/>
        </p:spPr>
        <p:txBody>
          <a:bodyPr wrap="square" lIns="0" rIns="0" tIns="9144" bIns="9144" anchor="ctr">
            <a:spAutoFit/>
          </a:bodyPr>
          <a:lstStyle/>
          <a:p>
            <a:pPr algn="l"/>
            <a:r>
              <a:rPr sz="3000" b="1" i="0">
                <a:solidFill>
                  <a:srgbClr val="0E8A6D"/>
                </a:solidFill>
                <a:latin typeface="Calibri"/>
              </a:rPr>
              <a:t>31 Oct 2025</a:t>
            </a:r>
          </a:p>
        </p:txBody>
      </p:sp>
      <p:sp>
        <p:nvSpPr>
          <p:cNvPr id="12" name="TextBox 11"/>
          <p:cNvSpPr txBox="1"/>
          <p:nvPr/>
        </p:nvSpPr>
        <p:spPr>
          <a:xfrm>
            <a:off x="822959" y="3429000"/>
            <a:ext cx="3058058" cy="502920"/>
          </a:xfrm>
          <a:prstGeom prst="rect">
            <a:avLst/>
          </a:prstGeom>
          <a:noFill/>
        </p:spPr>
        <p:txBody>
          <a:bodyPr wrap="square" lIns="0" rIns="0" tIns="9144" bIns="9144" anchor="t">
            <a:spAutoFit/>
          </a:bodyPr>
          <a:lstStyle/>
          <a:p>
            <a:pPr algn="l"/>
            <a:r>
              <a:rPr sz="1400" b="1" i="0">
                <a:solidFill>
                  <a:srgbClr val="0D1A16"/>
                </a:solidFill>
                <a:latin typeface="Calibri"/>
              </a:rPr>
              <a:t>2013 certificates withdrawn — IAF MD 26</a:t>
            </a:r>
          </a:p>
        </p:txBody>
      </p:sp>
      <p:sp>
        <p:nvSpPr>
          <p:cNvPr id="13" name="hair"/>
          <p:cNvSpPr/>
          <p:nvPr/>
        </p:nvSpPr>
        <p:spPr>
          <a:xfrm>
            <a:off x="822959" y="4023360"/>
            <a:ext cx="2966618"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4133088"/>
            <a:ext cx="3012338" cy="1234440"/>
          </a:xfrm>
          <a:prstGeom prst="rect">
            <a:avLst/>
          </a:prstGeom>
          <a:noFill/>
        </p:spPr>
        <p:txBody>
          <a:bodyPr wrap="square" lIns="0" rIns="0" tIns="9144" bIns="9144" anchor="t">
            <a:spAutoFit/>
          </a:bodyPr>
          <a:lstStyle/>
          <a:p>
            <a:pPr algn="l">
              <a:lnSpc>
                <a:spcPct val="110000"/>
              </a:lnSpc>
            </a:pPr>
            <a:r>
              <a:rPr sz="1200" b="0" i="0">
                <a:solidFill>
                  <a:srgbClr val="45524D"/>
                </a:solidFill>
                <a:latin typeface="Calibri"/>
              </a:rPr>
              <a:t>Every accredited ISO/IEC 27001:2013 certificate expired or was withdrawn on that date, regardless of its printed expiry. A lapsed organisation cannot revive it — it starts a fresh Stage 1 and Stage 2 against 2022.</a:t>
            </a:r>
          </a:p>
        </p:txBody>
      </p:sp>
      <p:sp>
        <p:nvSpPr>
          <p:cNvPr id="15" name="card"/>
          <p:cNvSpPr/>
          <p:nvPr/>
        </p:nvSpPr>
        <p:spPr>
          <a:xfrm>
            <a:off x="4338218" y="2468880"/>
            <a:ext cx="3515258" cy="3063240"/>
          </a:xfrm>
          <a:prstGeom prst="roundRect">
            <a:avLst>
              <a:gd name="adj" fmla="val 2388"/>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ileaccent"/>
          <p:cNvSpPr/>
          <p:nvPr/>
        </p:nvSpPr>
        <p:spPr>
          <a:xfrm>
            <a:off x="4338218" y="2468880"/>
            <a:ext cx="64008" cy="306324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2538" y="2697480"/>
            <a:ext cx="3058058" cy="685800"/>
          </a:xfrm>
          <a:prstGeom prst="rect">
            <a:avLst/>
          </a:prstGeom>
          <a:noFill/>
        </p:spPr>
        <p:txBody>
          <a:bodyPr wrap="square" lIns="0" rIns="0" tIns="9144" bIns="9144" anchor="ctr">
            <a:spAutoFit/>
          </a:bodyPr>
          <a:lstStyle/>
          <a:p>
            <a:pPr algn="l"/>
            <a:r>
              <a:rPr sz="3000" b="1" i="0">
                <a:solidFill>
                  <a:srgbClr val="0E8A6D"/>
                </a:solidFill>
                <a:latin typeface="Calibri"/>
              </a:rPr>
              <a:t>93 controls</a:t>
            </a:r>
          </a:p>
        </p:txBody>
      </p:sp>
      <p:sp>
        <p:nvSpPr>
          <p:cNvPr id="18" name="TextBox 17"/>
          <p:cNvSpPr txBox="1"/>
          <p:nvPr/>
        </p:nvSpPr>
        <p:spPr>
          <a:xfrm>
            <a:off x="4612538" y="3429000"/>
            <a:ext cx="3058058" cy="502920"/>
          </a:xfrm>
          <a:prstGeom prst="rect">
            <a:avLst/>
          </a:prstGeom>
          <a:noFill/>
        </p:spPr>
        <p:txBody>
          <a:bodyPr wrap="square" lIns="0" rIns="0" tIns="9144" bIns="9144" anchor="t">
            <a:spAutoFit/>
          </a:bodyPr>
          <a:lstStyle/>
          <a:p>
            <a:pPr algn="l"/>
            <a:r>
              <a:rPr sz="1400" b="1" i="0">
                <a:solidFill>
                  <a:srgbClr val="0D1A16"/>
                </a:solidFill>
                <a:latin typeface="Calibri"/>
              </a:rPr>
              <a:t>in 4 themes — 37 / 8 / 14 / 34</a:t>
            </a:r>
          </a:p>
        </p:txBody>
      </p:sp>
      <p:sp>
        <p:nvSpPr>
          <p:cNvPr id="19" name="hair"/>
          <p:cNvSpPr/>
          <p:nvPr/>
        </p:nvSpPr>
        <p:spPr>
          <a:xfrm>
            <a:off x="4612538" y="4023360"/>
            <a:ext cx="2966618"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2538" y="4133088"/>
            <a:ext cx="3012338" cy="1234440"/>
          </a:xfrm>
          <a:prstGeom prst="rect">
            <a:avLst/>
          </a:prstGeom>
          <a:noFill/>
        </p:spPr>
        <p:txBody>
          <a:bodyPr wrap="square" lIns="0" rIns="0" tIns="9144" bIns="9144" anchor="t">
            <a:spAutoFit/>
          </a:bodyPr>
          <a:lstStyle/>
          <a:p>
            <a:pPr algn="l">
              <a:lnSpc>
                <a:spcPct val="110000"/>
              </a:lnSpc>
            </a:pPr>
            <a:r>
              <a:rPr sz="1200" b="0" i="0">
                <a:solidFill>
                  <a:srgbClr val="45524D"/>
                </a:solidFill>
                <a:latin typeface="Calibri"/>
              </a:rPr>
              <a:t>Organizational (37), People (8), Physical (14) and Technological (34); 114 controls in 14 domains under 2013. A reference set selected by the customer's own risk assessment and recorded in the Statement of Applicability.</a:t>
            </a:r>
          </a:p>
        </p:txBody>
      </p:sp>
      <p:sp>
        <p:nvSpPr>
          <p:cNvPr id="21" name="card"/>
          <p:cNvSpPr/>
          <p:nvPr/>
        </p:nvSpPr>
        <p:spPr>
          <a:xfrm>
            <a:off x="8127796" y="2468880"/>
            <a:ext cx="3515258" cy="3063240"/>
          </a:xfrm>
          <a:prstGeom prst="roundRect">
            <a:avLst>
              <a:gd name="adj" fmla="val 2388"/>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ileaccent"/>
          <p:cNvSpPr/>
          <p:nvPr/>
        </p:nvSpPr>
        <p:spPr>
          <a:xfrm>
            <a:off x="8127796" y="2468880"/>
            <a:ext cx="64008" cy="306324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02116" y="2697480"/>
            <a:ext cx="3058058" cy="685800"/>
          </a:xfrm>
          <a:prstGeom prst="rect">
            <a:avLst/>
          </a:prstGeom>
          <a:noFill/>
        </p:spPr>
        <p:txBody>
          <a:bodyPr wrap="square" lIns="0" rIns="0" tIns="9144" bIns="9144" anchor="ctr">
            <a:spAutoFit/>
          </a:bodyPr>
          <a:lstStyle/>
          <a:p>
            <a:pPr algn="l"/>
            <a:r>
              <a:rPr sz="3000" b="1" i="0">
                <a:solidFill>
                  <a:srgbClr val="0E8A6D"/>
                </a:solidFill>
                <a:latin typeface="Calibri"/>
              </a:rPr>
              <a:t>11 new controls</a:t>
            </a:r>
          </a:p>
        </p:txBody>
      </p:sp>
      <p:sp>
        <p:nvSpPr>
          <p:cNvPr id="24" name="TextBox 23"/>
          <p:cNvSpPr txBox="1"/>
          <p:nvPr/>
        </p:nvSpPr>
        <p:spPr>
          <a:xfrm>
            <a:off x="8402116" y="3429000"/>
            <a:ext cx="3058058" cy="502920"/>
          </a:xfrm>
          <a:prstGeom prst="rect">
            <a:avLst/>
          </a:prstGeom>
          <a:noFill/>
        </p:spPr>
        <p:txBody>
          <a:bodyPr wrap="square" lIns="0" rIns="0" tIns="9144" bIns="9144" anchor="t">
            <a:spAutoFit/>
          </a:bodyPr>
          <a:lstStyle/>
          <a:p>
            <a:pPr algn="l"/>
            <a:r>
              <a:rPr sz="1400" b="1" i="0">
                <a:solidFill>
                  <a:srgbClr val="0D1A16"/>
                </a:solidFill>
                <a:latin typeface="Calibri"/>
              </a:rPr>
              <a:t>5 in SASE territory</a:t>
            </a:r>
          </a:p>
        </p:txBody>
      </p:sp>
      <p:sp>
        <p:nvSpPr>
          <p:cNvPr id="25" name="hair"/>
          <p:cNvSpPr/>
          <p:nvPr/>
        </p:nvSpPr>
        <p:spPr>
          <a:xfrm>
            <a:off x="8402116" y="4023360"/>
            <a:ext cx="2966618"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02116" y="4133088"/>
            <a:ext cx="3012338" cy="1234440"/>
          </a:xfrm>
          <a:prstGeom prst="rect">
            <a:avLst/>
          </a:prstGeom>
          <a:noFill/>
        </p:spPr>
        <p:txBody>
          <a:bodyPr wrap="square" lIns="0" rIns="0" tIns="9144" bIns="9144" anchor="t">
            <a:spAutoFit/>
          </a:bodyPr>
          <a:lstStyle/>
          <a:p>
            <a:pPr algn="l">
              <a:lnSpc>
                <a:spcPct val="110000"/>
              </a:lnSpc>
            </a:pPr>
            <a:r>
              <a:rPr sz="1200" b="0" i="0">
                <a:solidFill>
                  <a:srgbClr val="45524D"/>
                </a:solidFill>
                <a:latin typeface="Calibri"/>
              </a:rPr>
              <a:t>A.5.23 Information security for use of cloud services · A.8.9 Configuration management · A.8.12 Data leakage prevention · A.8.16 Monitoring activities · A.8.23 Web filtering.</a:t>
            </a:r>
          </a:p>
        </p:txBody>
      </p:sp>
      <p:sp>
        <p:nvSpPr>
          <p:cNvPr id="27" name="TextBox 26"/>
          <p:cNvSpPr txBox="1"/>
          <p:nvPr/>
        </p:nvSpPr>
        <p:spPr>
          <a:xfrm>
            <a:off x="548640" y="5715000"/>
            <a:ext cx="9768535" cy="457200"/>
          </a:xfrm>
          <a:prstGeom prst="rect">
            <a:avLst/>
          </a:prstGeom>
          <a:noFill/>
        </p:spPr>
        <p:txBody>
          <a:bodyPr wrap="square" lIns="0" rIns="0" tIns="9144" bIns="9144" anchor="ctr">
            <a:spAutoFit/>
          </a:bodyPr>
          <a:lstStyle/>
          <a:p>
            <a:pPr algn="l"/>
            <a:r>
              <a:rPr sz="1200" b="1" i="0">
                <a:solidFill>
                  <a:srgbClr val="0E8A6D"/>
                </a:solidFill>
                <a:latin typeface="Calibri"/>
              </a:rPr>
              <a:t>The honest claim: </a:t>
            </a:r>
            <a:r>
              <a:rPr sz="1200" b="0" i="0">
                <a:solidFill>
                  <a:srgbClr val="0D1A16"/>
                </a:solidFill>
                <a:latin typeface="Calibri"/>
              </a:rPr>
              <a:t>Cato helps implement and evidence the Annex A controls the customer selects — never “makes you compliant”.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B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292608"/>
          </a:xfrm>
          <a:prstGeom prst="rect">
            <a:avLst/>
          </a:prstGeom>
          <a:noFill/>
        </p:spPr>
        <p:txBody>
          <a:bodyPr wrap="square" lIns="0" rIns="0" tIns="9144" bIns="9144" anchor="ctr">
            <a:spAutoFit/>
          </a:bodyPr>
          <a:lstStyle/>
          <a:p>
            <a:pPr algn="l"/>
            <a:r>
              <a:rPr sz="1100" b="1" i="0">
                <a:solidFill>
                  <a:srgbClr val="0E8A6D"/>
                </a:solidFill>
                <a:latin typeface="Calibri"/>
              </a:rPr>
              <a:t>WHAT CERTIFICATION ACTUALLY REQUIRES</a:t>
            </a:r>
          </a:p>
        </p:txBody>
      </p:sp>
      <p:sp>
        <p:nvSpPr>
          <p:cNvPr id="4" name="TextBox 3"/>
          <p:cNvSpPr txBox="1"/>
          <p:nvPr/>
        </p:nvSpPr>
        <p:spPr>
          <a:xfrm>
            <a:off x="548640" y="676656"/>
            <a:ext cx="11094415" cy="566928"/>
          </a:xfrm>
          <a:prstGeom prst="rect">
            <a:avLst/>
          </a:prstGeom>
          <a:noFill/>
        </p:spPr>
        <p:txBody>
          <a:bodyPr wrap="square" lIns="0" rIns="0" tIns="9144" bIns="9144" anchor="ctr">
            <a:spAutoFit/>
          </a:bodyPr>
          <a:lstStyle/>
          <a:p>
            <a:pPr algn="l"/>
            <a:r>
              <a:rPr sz="2600" b="1" i="0">
                <a:solidFill>
                  <a:srgbClr val="0D1A16"/>
                </a:solidFill>
                <a:latin typeface="Calibri"/>
              </a:rPr>
              <a:t>Stage 2 wants operation, records and consistency</a:t>
            </a:r>
          </a:p>
        </p:txBody>
      </p:sp>
      <p:sp>
        <p:nvSpPr>
          <p:cNvPr id="5" name="titlebar"/>
          <p:cNvSpPr/>
          <p:nvPr/>
        </p:nvSpPr>
        <p:spPr>
          <a:xfrm>
            <a:off x="548640" y="1298448"/>
            <a:ext cx="914400" cy="4572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to-lockup" descr="lockup-green.png"/>
          <p:cNvPicPr>
            <a:picLocks noChangeAspect="1"/>
          </p:cNvPicPr>
          <p:nvPr/>
        </p:nvPicPr>
        <p:blipFill>
          <a:blip r:embed="rId2"/>
          <a:stretch>
            <a:fillRect/>
          </a:stretch>
        </p:blipFill>
        <p:spPr>
          <a:xfrm>
            <a:off x="10602342" y="6153912"/>
            <a:ext cx="1040713" cy="429768"/>
          </a:xfrm>
          <a:prstGeom prst="rect">
            <a:avLst/>
          </a:prstGeom>
        </p:spPr>
      </p:pic>
      <p:sp>
        <p:nvSpPr>
          <p:cNvPr id="7" name="TextBox 6"/>
          <p:cNvSpPr txBox="1"/>
          <p:nvPr/>
        </p:nvSpPr>
        <p:spPr>
          <a:xfrm>
            <a:off x="548640" y="6327648"/>
            <a:ext cx="6858000" cy="274320"/>
          </a:xfrm>
          <a:prstGeom prst="rect">
            <a:avLst/>
          </a:prstGeom>
          <a:noFill/>
        </p:spPr>
        <p:txBody>
          <a:bodyPr wrap="square" lIns="0" rIns="0" tIns="9144" bIns="9144" anchor="ctr">
            <a:spAutoFit/>
          </a:bodyPr>
          <a:lstStyle/>
          <a:p>
            <a:pPr algn="l"/>
            <a:r>
              <a:rPr sz="1100" b="1" i="0">
                <a:solidFill>
                  <a:srgbClr val="45524D"/>
                </a:solidFill>
                <a:latin typeface="Calibri"/>
              </a:rPr>
              <a:t>ISO/IEC 27001:2022 with Cato</a:t>
            </a:r>
            <a:r>
              <a:rPr sz="1100" b="0" i="0">
                <a:solidFill>
                  <a:srgbClr val="45524D"/>
                </a:solidFill>
                <a:latin typeface="Calibri"/>
              </a:rPr>
              <a:t>   ·   Cato Networks — SASE enablement   ·   3 / 9</a:t>
            </a:r>
          </a:p>
        </p:txBody>
      </p:sp>
      <p:sp>
        <p:nvSpPr>
          <p:cNvPr id="8" name="card"/>
          <p:cNvSpPr/>
          <p:nvPr/>
        </p:nvSpPr>
        <p:spPr>
          <a:xfrm>
            <a:off x="548640" y="1417320"/>
            <a:ext cx="5410047" cy="2331720"/>
          </a:xfrm>
          <a:prstGeom prst="roundRect">
            <a:avLst>
              <a:gd name="adj" fmla="val 3137"/>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4952847" cy="384048"/>
          </a:xfrm>
          <a:prstGeom prst="rect">
            <a:avLst/>
          </a:prstGeom>
          <a:noFill/>
        </p:spPr>
        <p:txBody>
          <a:bodyPr wrap="square" lIns="0" rIns="0" tIns="9144" bIns="9144" anchor="ctr">
            <a:spAutoFit/>
          </a:bodyPr>
          <a:lstStyle/>
          <a:p>
            <a:pPr algn="l"/>
            <a:r>
              <a:rPr sz="1500" b="1" i="0">
                <a:solidFill>
                  <a:srgbClr val="051820"/>
                </a:solidFill>
                <a:latin typeface="Calibri"/>
              </a:rPr>
              <a:t>The ISMS (clauses 4–10)</a:t>
            </a:r>
          </a:p>
        </p:txBody>
      </p:sp>
      <p:sp>
        <p:nvSpPr>
          <p:cNvPr id="10" name="hair"/>
          <p:cNvSpPr/>
          <p:nvPr/>
        </p:nvSpPr>
        <p:spPr>
          <a:xfrm>
            <a:off x="777240" y="1965960"/>
            <a:ext cx="4952847"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57400"/>
            <a:ext cx="4952847" cy="1554479"/>
          </a:xfrm>
          <a:prstGeom prst="rect">
            <a:avLst/>
          </a:prstGeom>
          <a:noFill/>
        </p:spPr>
        <p:txBody>
          <a:bodyPr wrap="square" lIns="0" rIns="0" tIns="9144" bIns="9144" anchor="t">
            <a:spAutoFit/>
          </a:bodyPr>
          <a:lstStyle/>
          <a:p>
            <a:pPr algn="l">
              <a:lnSpc>
                <a:spcPct val="108000"/>
              </a:lnSpc>
              <a:spcAft>
                <a:spcPts val="500"/>
              </a:spcAft>
            </a:pPr>
            <a:r>
              <a:rPr sz="1200" b="1" i="0">
                <a:solidFill>
                  <a:srgbClr val="12A380"/>
                </a:solidFill>
                <a:latin typeface="Calibri"/>
              </a:rPr>
              <a:t>•  </a:t>
            </a:r>
            <a:r>
              <a:rPr sz="1200" b="0" i="0">
                <a:solidFill>
                  <a:srgbClr val="0D1A16"/>
                </a:solidFill>
                <a:latin typeface="Calibri"/>
              </a:rPr>
              <a:t>Context, leadership, planning, support, operation, performance evaluation, improvement — all “shall”, none can be excluded.</a:t>
            </a:r>
          </a:p>
          <a:p>
            <a:pPr algn="l">
              <a:lnSpc>
                <a:spcPct val="108000"/>
              </a:lnSpc>
              <a:spcAft>
                <a:spcPts val="500"/>
              </a:spcAft>
            </a:pPr>
            <a:r>
              <a:rPr sz="1200" b="1" i="0">
                <a:solidFill>
                  <a:srgbClr val="12A380"/>
                </a:solidFill>
                <a:latin typeface="Calibri"/>
              </a:rPr>
              <a:t>•  </a:t>
            </a:r>
            <a:r>
              <a:rPr sz="1200" b="0" i="0">
                <a:solidFill>
                  <a:srgbClr val="0D1A16"/>
                </a:solidFill>
                <a:latin typeface="Calibri"/>
              </a:rPr>
              <a:t>Organisational, and nothing a vendor can perform for the customer. The 2022 revision added 6.3 Planning of changes.</a:t>
            </a:r>
          </a:p>
          <a:p>
            <a:pPr algn="l">
              <a:lnSpc>
                <a:spcPct val="108000"/>
              </a:lnSpc>
              <a:spcAft>
                <a:spcPts val="500"/>
              </a:spcAft>
            </a:pPr>
            <a:r>
              <a:rPr sz="1200" b="1" i="0">
                <a:solidFill>
                  <a:srgbClr val="12A380"/>
                </a:solidFill>
                <a:latin typeface="Calibri"/>
              </a:rPr>
              <a:t>•  </a:t>
            </a:r>
            <a:r>
              <a:rPr sz="1200" b="0" i="0">
                <a:solidFill>
                  <a:srgbClr val="0D1A16"/>
                </a:solidFill>
                <a:latin typeface="Calibri"/>
              </a:rPr>
              <a:t>Certification attests this management system, not a product.</a:t>
            </a:r>
          </a:p>
        </p:txBody>
      </p:sp>
      <p:sp>
        <p:nvSpPr>
          <p:cNvPr id="12" name="card"/>
          <p:cNvSpPr/>
          <p:nvPr/>
        </p:nvSpPr>
        <p:spPr>
          <a:xfrm>
            <a:off x="6233007" y="1417320"/>
            <a:ext cx="5410047" cy="2331720"/>
          </a:xfrm>
          <a:prstGeom prst="roundRect">
            <a:avLst>
              <a:gd name="adj" fmla="val 3137"/>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1554480"/>
            <a:ext cx="4952847" cy="384048"/>
          </a:xfrm>
          <a:prstGeom prst="rect">
            <a:avLst/>
          </a:prstGeom>
          <a:noFill/>
        </p:spPr>
        <p:txBody>
          <a:bodyPr wrap="square" lIns="0" rIns="0" tIns="9144" bIns="9144" anchor="ctr">
            <a:spAutoFit/>
          </a:bodyPr>
          <a:lstStyle/>
          <a:p>
            <a:pPr algn="l"/>
            <a:r>
              <a:rPr sz="1500" b="1" i="0">
                <a:solidFill>
                  <a:srgbClr val="051820"/>
                </a:solidFill>
                <a:latin typeface="Calibri"/>
              </a:rPr>
              <a:t>Annex A controls (via the SoA)</a:t>
            </a:r>
          </a:p>
        </p:txBody>
      </p:sp>
      <p:sp>
        <p:nvSpPr>
          <p:cNvPr id="14" name="hair"/>
          <p:cNvSpPr/>
          <p:nvPr/>
        </p:nvSpPr>
        <p:spPr>
          <a:xfrm>
            <a:off x="6461607" y="1965960"/>
            <a:ext cx="4952847"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2057400"/>
            <a:ext cx="4952847" cy="1554479"/>
          </a:xfrm>
          <a:prstGeom prst="rect">
            <a:avLst/>
          </a:prstGeom>
          <a:noFill/>
        </p:spPr>
        <p:txBody>
          <a:bodyPr wrap="square" lIns="0" rIns="0" tIns="9144" bIns="9144" anchor="t">
            <a:spAutoFit/>
          </a:bodyPr>
          <a:lstStyle/>
          <a:p>
            <a:pPr algn="l">
              <a:lnSpc>
                <a:spcPct val="108000"/>
              </a:lnSpc>
              <a:spcAft>
                <a:spcPts val="500"/>
              </a:spcAft>
            </a:pPr>
            <a:r>
              <a:rPr sz="1200" b="1" i="0">
                <a:solidFill>
                  <a:srgbClr val="12A380"/>
                </a:solidFill>
                <a:latin typeface="Calibri"/>
              </a:rPr>
              <a:t>•  </a:t>
            </a:r>
            <a:r>
              <a:rPr sz="1200" b="0" i="0">
                <a:solidFill>
                  <a:srgbClr val="0D1A16"/>
                </a:solidFill>
                <a:latin typeface="Calibri"/>
              </a:rPr>
              <a:t>93 reference controls — a reference set, not a mandatory checklist.</a:t>
            </a:r>
          </a:p>
          <a:p>
            <a:pPr algn="l">
              <a:lnSpc>
                <a:spcPct val="108000"/>
              </a:lnSpc>
              <a:spcAft>
                <a:spcPts val="500"/>
              </a:spcAft>
            </a:pPr>
            <a:r>
              <a:rPr sz="1200" b="1" i="0">
                <a:solidFill>
                  <a:srgbClr val="12A380"/>
                </a:solidFill>
                <a:latin typeface="Calibri"/>
              </a:rPr>
              <a:t>•  </a:t>
            </a:r>
            <a:r>
              <a:rPr sz="1200" b="0" i="0">
                <a:solidFill>
                  <a:srgbClr val="0D1A16"/>
                </a:solidFill>
                <a:latin typeface="Calibri"/>
              </a:rPr>
              <a:t>Selected through risk assessment and treatment (6.1.3 d); the Statement of Applicability records which apply, which are excluded, the justification and implementation status.</a:t>
            </a:r>
          </a:p>
          <a:p>
            <a:pPr algn="l">
              <a:lnSpc>
                <a:spcPct val="108000"/>
              </a:lnSpc>
              <a:spcAft>
                <a:spcPts val="500"/>
              </a:spcAft>
            </a:pPr>
            <a:r>
              <a:rPr sz="1200" b="1" i="0">
                <a:solidFill>
                  <a:srgbClr val="12A380"/>
                </a:solidFill>
                <a:latin typeface="Calibri"/>
              </a:rPr>
              <a:t>•  </a:t>
            </a:r>
            <a:r>
              <a:rPr sz="1200" b="0" i="0">
                <a:solidFill>
                  <a:srgbClr val="0D1A16"/>
                </a:solidFill>
                <a:latin typeface="Calibri"/>
              </a:rPr>
              <a:t>This is where a platform helps: implementing and evidencing the controls the customer selects.</a:t>
            </a:r>
          </a:p>
        </p:txBody>
      </p:sp>
      <p:sp>
        <p:nvSpPr>
          <p:cNvPr id="16" name="TextBox 15"/>
          <p:cNvSpPr txBox="1"/>
          <p:nvPr/>
        </p:nvSpPr>
        <p:spPr>
          <a:xfrm>
            <a:off x="548640" y="4023359"/>
            <a:ext cx="2743200" cy="274320"/>
          </a:xfrm>
          <a:prstGeom prst="rect">
            <a:avLst/>
          </a:prstGeom>
          <a:noFill/>
        </p:spPr>
        <p:txBody>
          <a:bodyPr wrap="square" lIns="0" rIns="0" tIns="9144" bIns="9144" anchor="ctr">
            <a:spAutoFit/>
          </a:bodyPr>
          <a:lstStyle/>
          <a:p>
            <a:pPr algn="l"/>
            <a:r>
              <a:rPr sz="1100" b="1" i="0">
                <a:solidFill>
                  <a:srgbClr val="0E8A6D"/>
                </a:solidFill>
                <a:latin typeface="Calibri"/>
              </a:rPr>
              <a:t>THE CERTIFICATION JOURNEY</a:t>
            </a:r>
          </a:p>
        </p:txBody>
      </p:sp>
      <p:sp>
        <p:nvSpPr>
          <p:cNvPr id="17" name="card"/>
          <p:cNvSpPr/>
          <p:nvPr/>
        </p:nvSpPr>
        <p:spPr>
          <a:xfrm>
            <a:off x="548640" y="4370831"/>
            <a:ext cx="1650949" cy="658368"/>
          </a:xfrm>
          <a:prstGeom prst="roundRect">
            <a:avLst>
              <a:gd name="adj" fmla="val 11111"/>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416551"/>
            <a:ext cx="1468069" cy="566928"/>
          </a:xfrm>
          <a:prstGeom prst="rect">
            <a:avLst/>
          </a:prstGeom>
          <a:noFill/>
        </p:spPr>
        <p:txBody>
          <a:bodyPr wrap="square" lIns="0" rIns="0" tIns="9144" bIns="9144" anchor="ctr">
            <a:spAutoFit/>
          </a:bodyPr>
          <a:lstStyle/>
          <a:p>
            <a:pPr algn="ctr"/>
            <a:r>
              <a:rPr sz="1100" b="1" i="0">
                <a:solidFill>
                  <a:srgbClr val="051820"/>
                </a:solidFill>
                <a:latin typeface="Calibri"/>
              </a:rPr>
              <a:t>Scope the ISMS</a:t>
            </a:r>
          </a:p>
          <a:p>
            <a:pPr algn="ctr"/>
            <a:r>
              <a:rPr sz="1100" b="0" i="0">
                <a:solidFill>
                  <a:srgbClr val="45524D"/>
                </a:solidFill>
                <a:latin typeface="Calibri"/>
              </a:rPr>
              <a:t>clause 4.3</a:t>
            </a:r>
          </a:p>
        </p:txBody>
      </p:sp>
      <p:sp>
        <p:nvSpPr>
          <p:cNvPr id="19" name="arrow"/>
          <p:cNvSpPr/>
          <p:nvPr/>
        </p:nvSpPr>
        <p:spPr>
          <a:xfrm>
            <a:off x="2217877" y="4599431"/>
            <a:ext cx="201168" cy="201168"/>
          </a:xfrm>
          <a:prstGeom prst="rightArrow">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ard"/>
          <p:cNvSpPr/>
          <p:nvPr/>
        </p:nvSpPr>
        <p:spPr>
          <a:xfrm>
            <a:off x="2437333" y="4370831"/>
            <a:ext cx="1650949" cy="658368"/>
          </a:xfrm>
          <a:prstGeom prst="roundRect">
            <a:avLst>
              <a:gd name="adj" fmla="val 11111"/>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28773" y="4416551"/>
            <a:ext cx="1468069" cy="566928"/>
          </a:xfrm>
          <a:prstGeom prst="rect">
            <a:avLst/>
          </a:prstGeom>
          <a:noFill/>
        </p:spPr>
        <p:txBody>
          <a:bodyPr wrap="square" lIns="0" rIns="0" tIns="9144" bIns="9144" anchor="ctr">
            <a:spAutoFit/>
          </a:bodyPr>
          <a:lstStyle/>
          <a:p>
            <a:pPr algn="ctr"/>
            <a:r>
              <a:rPr sz="1100" b="1" i="0">
                <a:solidFill>
                  <a:srgbClr val="051820"/>
                </a:solidFill>
                <a:latin typeface="Calibri"/>
              </a:rPr>
              <a:t>Risk assessment &amp; treatment</a:t>
            </a:r>
          </a:p>
          <a:p>
            <a:pPr algn="ctr"/>
            <a:r>
              <a:rPr sz="1100" b="0" i="0">
                <a:solidFill>
                  <a:srgbClr val="45524D"/>
                </a:solidFill>
                <a:latin typeface="Calibri"/>
              </a:rPr>
              <a:t>6.1.2 / 6.1.3</a:t>
            </a:r>
          </a:p>
        </p:txBody>
      </p:sp>
      <p:sp>
        <p:nvSpPr>
          <p:cNvPr id="22" name="arrow"/>
          <p:cNvSpPr/>
          <p:nvPr/>
        </p:nvSpPr>
        <p:spPr>
          <a:xfrm>
            <a:off x="4106570" y="4599431"/>
            <a:ext cx="201168" cy="201168"/>
          </a:xfrm>
          <a:prstGeom prst="rightArrow">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
          <p:cNvSpPr/>
          <p:nvPr/>
        </p:nvSpPr>
        <p:spPr>
          <a:xfrm>
            <a:off x="4326026" y="4370831"/>
            <a:ext cx="1650949" cy="658368"/>
          </a:xfrm>
          <a:prstGeom prst="roundRect">
            <a:avLst>
              <a:gd name="adj" fmla="val 11111"/>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17466" y="4416551"/>
            <a:ext cx="1468069" cy="566928"/>
          </a:xfrm>
          <a:prstGeom prst="rect">
            <a:avLst/>
          </a:prstGeom>
          <a:noFill/>
        </p:spPr>
        <p:txBody>
          <a:bodyPr wrap="square" lIns="0" rIns="0" tIns="9144" bIns="9144" anchor="ctr">
            <a:spAutoFit/>
          </a:bodyPr>
          <a:lstStyle/>
          <a:p>
            <a:pPr algn="ctr"/>
            <a:r>
              <a:rPr sz="1100" b="1" i="0">
                <a:solidFill>
                  <a:srgbClr val="051820"/>
                </a:solidFill>
                <a:latin typeface="Calibri"/>
              </a:rPr>
              <a:t>SoA — implement &amp; operate</a:t>
            </a:r>
          </a:p>
          <a:p>
            <a:pPr algn="ctr"/>
            <a:r>
              <a:rPr sz="1100" b="0" i="0">
                <a:solidFill>
                  <a:srgbClr val="45524D"/>
                </a:solidFill>
                <a:latin typeface="Calibri"/>
              </a:rPr>
              <a:t>records over time</a:t>
            </a:r>
          </a:p>
        </p:txBody>
      </p:sp>
      <p:sp>
        <p:nvSpPr>
          <p:cNvPr id="25" name="arrow"/>
          <p:cNvSpPr/>
          <p:nvPr/>
        </p:nvSpPr>
        <p:spPr>
          <a:xfrm>
            <a:off x="5995263" y="4599431"/>
            <a:ext cx="201168" cy="201168"/>
          </a:xfrm>
          <a:prstGeom prst="rightArrow">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rd"/>
          <p:cNvSpPr/>
          <p:nvPr/>
        </p:nvSpPr>
        <p:spPr>
          <a:xfrm>
            <a:off x="6214719" y="4370831"/>
            <a:ext cx="1650949" cy="658368"/>
          </a:xfrm>
          <a:prstGeom prst="roundRect">
            <a:avLst>
              <a:gd name="adj" fmla="val 11111"/>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6159" y="4416551"/>
            <a:ext cx="1468069" cy="566928"/>
          </a:xfrm>
          <a:prstGeom prst="rect">
            <a:avLst/>
          </a:prstGeom>
          <a:noFill/>
        </p:spPr>
        <p:txBody>
          <a:bodyPr wrap="square" lIns="0" rIns="0" tIns="9144" bIns="9144" anchor="ctr">
            <a:spAutoFit/>
          </a:bodyPr>
          <a:lstStyle/>
          <a:p>
            <a:pPr algn="ctr"/>
            <a:r>
              <a:rPr sz="1100" b="1" i="0">
                <a:solidFill>
                  <a:srgbClr val="051820"/>
                </a:solidFill>
                <a:latin typeface="Calibri"/>
              </a:rPr>
              <a:t>Stage 1</a:t>
            </a:r>
          </a:p>
          <a:p>
            <a:pPr algn="ctr"/>
            <a:r>
              <a:rPr sz="1100" b="0" i="0">
                <a:solidFill>
                  <a:srgbClr val="45524D"/>
                </a:solidFill>
                <a:latin typeface="Calibri"/>
              </a:rPr>
              <a:t>readiness review</a:t>
            </a:r>
          </a:p>
        </p:txBody>
      </p:sp>
      <p:sp>
        <p:nvSpPr>
          <p:cNvPr id="28" name="arrow"/>
          <p:cNvSpPr/>
          <p:nvPr/>
        </p:nvSpPr>
        <p:spPr>
          <a:xfrm>
            <a:off x="7883956" y="4599431"/>
            <a:ext cx="201168" cy="201168"/>
          </a:xfrm>
          <a:prstGeom prst="rightArrow">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rd"/>
          <p:cNvSpPr/>
          <p:nvPr/>
        </p:nvSpPr>
        <p:spPr>
          <a:xfrm>
            <a:off x="8103412" y="4370831"/>
            <a:ext cx="1650949" cy="658368"/>
          </a:xfrm>
          <a:prstGeom prst="roundRect">
            <a:avLst>
              <a:gd name="adj" fmla="val 11111"/>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94852" y="4416551"/>
            <a:ext cx="1468069" cy="566928"/>
          </a:xfrm>
          <a:prstGeom prst="rect">
            <a:avLst/>
          </a:prstGeom>
          <a:noFill/>
        </p:spPr>
        <p:txBody>
          <a:bodyPr wrap="square" lIns="0" rIns="0" tIns="9144" bIns="9144" anchor="ctr">
            <a:spAutoFit/>
          </a:bodyPr>
          <a:lstStyle/>
          <a:p>
            <a:pPr algn="ctr"/>
            <a:r>
              <a:rPr sz="1100" b="1" i="0">
                <a:solidFill>
                  <a:srgbClr val="051820"/>
                </a:solidFill>
                <a:latin typeface="Calibri"/>
              </a:rPr>
              <a:t>Stage 2</a:t>
            </a:r>
          </a:p>
          <a:p>
            <a:pPr algn="ctr"/>
            <a:r>
              <a:rPr sz="1100" b="0" i="0">
                <a:solidFill>
                  <a:srgbClr val="45524D"/>
                </a:solidFill>
                <a:latin typeface="Calibri"/>
              </a:rPr>
              <a:t>6–8 weeks later</a:t>
            </a:r>
          </a:p>
        </p:txBody>
      </p:sp>
      <p:sp>
        <p:nvSpPr>
          <p:cNvPr id="31" name="arrow"/>
          <p:cNvSpPr/>
          <p:nvPr/>
        </p:nvSpPr>
        <p:spPr>
          <a:xfrm>
            <a:off x="9772650" y="4599431"/>
            <a:ext cx="201168" cy="201168"/>
          </a:xfrm>
          <a:prstGeom prst="rightArrow">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ard"/>
          <p:cNvSpPr/>
          <p:nvPr/>
        </p:nvSpPr>
        <p:spPr>
          <a:xfrm>
            <a:off x="9992106" y="4370831"/>
            <a:ext cx="1650949" cy="658368"/>
          </a:xfrm>
          <a:prstGeom prst="roundRect">
            <a:avLst>
              <a:gd name="adj" fmla="val 11111"/>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83546" y="4416551"/>
            <a:ext cx="1468069" cy="566928"/>
          </a:xfrm>
          <a:prstGeom prst="rect">
            <a:avLst/>
          </a:prstGeom>
          <a:noFill/>
        </p:spPr>
        <p:txBody>
          <a:bodyPr wrap="square" lIns="0" rIns="0" tIns="9144" bIns="9144" anchor="ctr">
            <a:spAutoFit/>
          </a:bodyPr>
          <a:lstStyle/>
          <a:p>
            <a:pPr algn="ctr"/>
            <a:r>
              <a:rPr sz="1100" b="1" i="0">
                <a:solidFill>
                  <a:srgbClr val="051820"/>
                </a:solidFill>
                <a:latin typeface="Calibri"/>
              </a:rPr>
              <a:t>3-year certificate</a:t>
            </a:r>
          </a:p>
          <a:p>
            <a:pPr algn="ctr"/>
            <a:r>
              <a:rPr sz="1100" b="0" i="0">
                <a:solidFill>
                  <a:srgbClr val="45524D"/>
                </a:solidFill>
                <a:latin typeface="Calibri"/>
              </a:rPr>
              <a:t>surveillance yrs 1–2 · recert yr 3</a:t>
            </a:r>
          </a:p>
        </p:txBody>
      </p:sp>
      <p:sp>
        <p:nvSpPr>
          <p:cNvPr id="34" name="hl"/>
          <p:cNvSpPr/>
          <p:nvPr/>
        </p:nvSpPr>
        <p:spPr>
          <a:xfrm>
            <a:off x="548640" y="5285231"/>
            <a:ext cx="11094415" cy="457200"/>
          </a:xfrm>
          <a:prstGeom prst="roundRect">
            <a:avLst>
              <a:gd name="adj" fmla="val 15000"/>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285231"/>
            <a:ext cx="10728655" cy="457200"/>
          </a:xfrm>
          <a:prstGeom prst="rect">
            <a:avLst/>
          </a:prstGeom>
          <a:noFill/>
        </p:spPr>
        <p:txBody>
          <a:bodyPr wrap="square" lIns="0" rIns="0" tIns="9144" bIns="9144" anchor="ctr">
            <a:spAutoFit/>
          </a:bodyPr>
          <a:lstStyle/>
          <a:p>
            <a:pPr algn="l"/>
            <a:r>
              <a:rPr sz="1400" b="1" i="0">
                <a:solidFill>
                  <a:srgbClr val="FFFFFF"/>
                </a:solidFill>
                <a:latin typeface="Calibri"/>
              </a:rPr>
              <a:t>Certification attests an ISMS. </a:t>
            </a:r>
            <a:r>
              <a:rPr sz="1400" b="0" i="0">
                <a:solidFill>
                  <a:srgbClr val="FFFFFF"/>
                </a:solidFill>
                <a:latin typeface="Calibri"/>
              </a:rPr>
              <a:t>A platform can enforce controls continuously and generate the evidence.</a:t>
            </a:r>
          </a:p>
        </p:txBody>
      </p:sp>
      <p:sp>
        <p:nvSpPr>
          <p:cNvPr id="36" name="TextBox 35"/>
          <p:cNvSpPr txBox="1"/>
          <p:nvPr/>
        </p:nvSpPr>
        <p:spPr>
          <a:xfrm>
            <a:off x="548640" y="5815583"/>
            <a:ext cx="9768535" cy="457200"/>
          </a:xfrm>
          <a:prstGeom prst="rect">
            <a:avLst/>
          </a:prstGeom>
          <a:noFill/>
        </p:spPr>
        <p:txBody>
          <a:bodyPr wrap="square" lIns="0" rIns="0" tIns="9144" bIns="9144" anchor="t">
            <a:spAutoFit/>
          </a:bodyPr>
          <a:lstStyle/>
          <a:p>
            <a:pPr algn="l">
              <a:lnSpc>
                <a:spcPct val="105000"/>
              </a:lnSpc>
            </a:pPr>
            <a:r>
              <a:rPr sz="1100" b="1" i="0">
                <a:solidFill>
                  <a:srgbClr val="45524D"/>
                </a:solidFill>
                <a:latin typeface="Calibri"/>
              </a:rPr>
              <a:t>Evidence expectation (practitioner guidance, reported — not standard text): </a:t>
            </a:r>
            <a:r>
              <a:rPr sz="1100" b="0" i="0">
                <a:solidFill>
                  <a:srgbClr val="45524D"/>
                </a:solidFill>
                <a:latin typeface="Calibri"/>
              </a:rPr>
              <a:t>around twelve months of reviewed records — and proof they are reviewed, anomalies handled and outcomes recorded. A snapshot on audit day is not a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B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292608"/>
          </a:xfrm>
          <a:prstGeom prst="rect">
            <a:avLst/>
          </a:prstGeom>
          <a:noFill/>
        </p:spPr>
        <p:txBody>
          <a:bodyPr wrap="square" lIns="0" rIns="0" tIns="9144" bIns="9144" anchor="ctr">
            <a:spAutoFit/>
          </a:bodyPr>
          <a:lstStyle/>
          <a:p>
            <a:pPr algn="l"/>
            <a:r>
              <a:rPr sz="1100" b="1" i="0">
                <a:solidFill>
                  <a:srgbClr val="0E8A6D"/>
                </a:solidFill>
                <a:latin typeface="Calibri"/>
              </a:rPr>
              <a:t>THE ENFORCEMENT GATE — DEVICE POSTURE</a:t>
            </a:r>
          </a:p>
        </p:txBody>
      </p:sp>
      <p:sp>
        <p:nvSpPr>
          <p:cNvPr id="4" name="TextBox 3"/>
          <p:cNvSpPr txBox="1"/>
          <p:nvPr/>
        </p:nvSpPr>
        <p:spPr>
          <a:xfrm>
            <a:off x="548640" y="676656"/>
            <a:ext cx="11094415" cy="566928"/>
          </a:xfrm>
          <a:prstGeom prst="rect">
            <a:avLst/>
          </a:prstGeom>
          <a:noFill/>
        </p:spPr>
        <p:txBody>
          <a:bodyPr wrap="square" lIns="0" rIns="0" tIns="9144" bIns="9144" anchor="ctr">
            <a:spAutoFit/>
          </a:bodyPr>
          <a:lstStyle/>
          <a:p>
            <a:pPr algn="l"/>
            <a:r>
              <a:rPr sz="2600" b="1" i="0">
                <a:solidFill>
                  <a:srgbClr val="0D1A16"/>
                </a:solidFill>
                <a:latin typeface="Calibri"/>
              </a:rPr>
              <a:t>The endpoint control that is otherwise hardest to prove</a:t>
            </a:r>
          </a:p>
        </p:txBody>
      </p:sp>
      <p:sp>
        <p:nvSpPr>
          <p:cNvPr id="5" name="titlebar"/>
          <p:cNvSpPr/>
          <p:nvPr/>
        </p:nvSpPr>
        <p:spPr>
          <a:xfrm>
            <a:off x="548640" y="1298448"/>
            <a:ext cx="914400" cy="4572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to-lockup" descr="lockup-green.png"/>
          <p:cNvPicPr>
            <a:picLocks noChangeAspect="1"/>
          </p:cNvPicPr>
          <p:nvPr/>
        </p:nvPicPr>
        <p:blipFill>
          <a:blip r:embed="rId2"/>
          <a:stretch>
            <a:fillRect/>
          </a:stretch>
        </p:blipFill>
        <p:spPr>
          <a:xfrm>
            <a:off x="10602342" y="6153912"/>
            <a:ext cx="1040713" cy="429768"/>
          </a:xfrm>
          <a:prstGeom prst="rect">
            <a:avLst/>
          </a:prstGeom>
        </p:spPr>
      </p:pic>
      <p:sp>
        <p:nvSpPr>
          <p:cNvPr id="7" name="TextBox 6"/>
          <p:cNvSpPr txBox="1"/>
          <p:nvPr/>
        </p:nvSpPr>
        <p:spPr>
          <a:xfrm>
            <a:off x="548640" y="6327648"/>
            <a:ext cx="6858000" cy="274320"/>
          </a:xfrm>
          <a:prstGeom prst="rect">
            <a:avLst/>
          </a:prstGeom>
          <a:noFill/>
        </p:spPr>
        <p:txBody>
          <a:bodyPr wrap="square" lIns="0" rIns="0" tIns="9144" bIns="9144" anchor="ctr">
            <a:spAutoFit/>
          </a:bodyPr>
          <a:lstStyle/>
          <a:p>
            <a:pPr algn="l"/>
            <a:r>
              <a:rPr sz="1100" b="1" i="0">
                <a:solidFill>
                  <a:srgbClr val="45524D"/>
                </a:solidFill>
                <a:latin typeface="Calibri"/>
              </a:rPr>
              <a:t>ISO/IEC 27001:2022 with Cato</a:t>
            </a:r>
            <a:r>
              <a:rPr sz="1100" b="0" i="0">
                <a:solidFill>
                  <a:srgbClr val="45524D"/>
                </a:solidFill>
                <a:latin typeface="Calibri"/>
              </a:rPr>
              <a:t>   ·   Cato Networks — SASE enablement   ·   4 / 9</a:t>
            </a:r>
          </a:p>
        </p:txBody>
      </p:sp>
      <p:sp>
        <p:nvSpPr>
          <p:cNvPr id="8" name="TextBox 7"/>
          <p:cNvSpPr txBox="1"/>
          <p:nvPr/>
        </p:nvSpPr>
        <p:spPr>
          <a:xfrm>
            <a:off x="548640" y="1417320"/>
            <a:ext cx="11094415" cy="274320"/>
          </a:xfrm>
          <a:prstGeom prst="rect">
            <a:avLst/>
          </a:prstGeom>
          <a:noFill/>
        </p:spPr>
        <p:txBody>
          <a:bodyPr wrap="square" lIns="0" rIns="0" tIns="9144" bIns="9144" anchor="ctr">
            <a:spAutoFit/>
          </a:bodyPr>
          <a:lstStyle/>
          <a:p>
            <a:pPr algn="l"/>
            <a:r>
              <a:rPr sz="1100" b="1" i="0">
                <a:solidFill>
                  <a:srgbClr val="0E8A6D"/>
                </a:solidFill>
                <a:latin typeface="Calibri"/>
              </a:rPr>
              <a:t>ELEVEN DEVICE CHECK TYPES</a:t>
            </a:r>
            <a:r>
              <a:rPr sz="1100" b="0" i="0">
                <a:solidFill>
                  <a:srgbClr val="45524D"/>
                </a:solidFill>
                <a:latin typeface="Calibri"/>
              </a:rPr>
              <a:t>   (KB names) — evaluated by the Cato Client already on the device; third-party agents matched via OPSWAT</a:t>
            </a:r>
          </a:p>
        </p:txBody>
      </p:sp>
      <p:sp>
        <p:nvSpPr>
          <p:cNvPr id="9" name="chip"/>
          <p:cNvSpPr/>
          <p:nvPr/>
        </p:nvSpPr>
        <p:spPr>
          <a:xfrm>
            <a:off x="548640" y="1783080"/>
            <a:ext cx="1251204"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Anti-Malware</a:t>
            </a:r>
          </a:p>
        </p:txBody>
      </p:sp>
      <p:sp>
        <p:nvSpPr>
          <p:cNvPr id="10" name="chip"/>
          <p:cNvSpPr/>
          <p:nvPr/>
        </p:nvSpPr>
        <p:spPr>
          <a:xfrm>
            <a:off x="1909572" y="1783080"/>
            <a:ext cx="943864"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Firewall</a:t>
            </a:r>
          </a:p>
        </p:txBody>
      </p:sp>
      <p:sp>
        <p:nvSpPr>
          <p:cNvPr id="11" name="chip"/>
          <p:cNvSpPr/>
          <p:nvPr/>
        </p:nvSpPr>
        <p:spPr>
          <a:xfrm>
            <a:off x="2963164" y="1783080"/>
            <a:ext cx="1481709"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Disk Encryption</a:t>
            </a:r>
          </a:p>
        </p:txBody>
      </p:sp>
      <p:sp>
        <p:nvSpPr>
          <p:cNvPr id="12" name="chip"/>
          <p:cNvSpPr/>
          <p:nvPr/>
        </p:nvSpPr>
        <p:spPr>
          <a:xfrm>
            <a:off x="4554601" y="1783080"/>
            <a:ext cx="1558544"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Patch Management</a:t>
            </a:r>
          </a:p>
        </p:txBody>
      </p:sp>
      <p:sp>
        <p:nvSpPr>
          <p:cNvPr id="13" name="chip"/>
          <p:cNvSpPr/>
          <p:nvPr/>
        </p:nvSpPr>
        <p:spPr>
          <a:xfrm>
            <a:off x="6222873" y="1783080"/>
            <a:ext cx="1712214"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Device Certificate</a:t>
            </a:r>
          </a:p>
        </p:txBody>
      </p:sp>
      <p:sp>
        <p:nvSpPr>
          <p:cNvPr id="14" name="chip"/>
          <p:cNvSpPr/>
          <p:nvPr/>
        </p:nvSpPr>
        <p:spPr>
          <a:xfrm>
            <a:off x="8044815" y="1783080"/>
            <a:ext cx="559689"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DLP</a:t>
            </a:r>
          </a:p>
        </p:txBody>
      </p:sp>
      <p:sp>
        <p:nvSpPr>
          <p:cNvPr id="15" name="chip"/>
          <p:cNvSpPr/>
          <p:nvPr/>
        </p:nvSpPr>
        <p:spPr>
          <a:xfrm>
            <a:off x="8714232" y="1783080"/>
            <a:ext cx="1789048"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Cato Client Version</a:t>
            </a:r>
          </a:p>
        </p:txBody>
      </p:sp>
      <p:sp>
        <p:nvSpPr>
          <p:cNvPr id="16" name="chip"/>
          <p:cNvSpPr/>
          <p:nvPr/>
        </p:nvSpPr>
        <p:spPr>
          <a:xfrm>
            <a:off x="548640" y="2167128"/>
            <a:ext cx="1481709"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Running Process</a:t>
            </a:r>
          </a:p>
        </p:txBody>
      </p:sp>
      <p:sp>
        <p:nvSpPr>
          <p:cNvPr id="17" name="chip"/>
          <p:cNvSpPr/>
          <p:nvPr/>
        </p:nvSpPr>
        <p:spPr>
          <a:xfrm>
            <a:off x="2140077" y="2167128"/>
            <a:ext cx="1328039"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Registry Keys</a:t>
            </a:r>
          </a:p>
        </p:txBody>
      </p:sp>
      <p:sp>
        <p:nvSpPr>
          <p:cNvPr id="18" name="chip"/>
          <p:cNvSpPr/>
          <p:nvPr/>
        </p:nvSpPr>
        <p:spPr>
          <a:xfrm>
            <a:off x="3577844" y="2167128"/>
            <a:ext cx="1942719"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Property List (plist)</a:t>
            </a:r>
          </a:p>
        </p:txBody>
      </p:sp>
      <p:sp>
        <p:nvSpPr>
          <p:cNvPr id="19" name="chip"/>
          <p:cNvSpPr/>
          <p:nvPr/>
        </p:nvSpPr>
        <p:spPr>
          <a:xfrm>
            <a:off x="5630291" y="2167128"/>
            <a:ext cx="1097534" cy="292608"/>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OS Version</a:t>
            </a:r>
          </a:p>
        </p:txBody>
      </p:sp>
      <p:sp>
        <p:nvSpPr>
          <p:cNvPr id="20" name="TextBox 19"/>
          <p:cNvSpPr txBox="1"/>
          <p:nvPr/>
        </p:nvSpPr>
        <p:spPr>
          <a:xfrm>
            <a:off x="548640" y="2734056"/>
            <a:ext cx="11094415" cy="274320"/>
          </a:xfrm>
          <a:prstGeom prst="rect">
            <a:avLst/>
          </a:prstGeom>
          <a:noFill/>
        </p:spPr>
        <p:txBody>
          <a:bodyPr wrap="square" lIns="0" rIns="0" tIns="9144" bIns="9144" anchor="ctr">
            <a:spAutoFit/>
          </a:bodyPr>
          <a:lstStyle/>
          <a:p>
            <a:pPr algn="l"/>
            <a:r>
              <a:rPr sz="1100" b="1" i="0">
                <a:solidFill>
                  <a:srgbClr val="0E8A6D"/>
                </a:solidFill>
                <a:latin typeface="Calibri"/>
              </a:rPr>
              <a:t>HOW THE GATE WORKS</a:t>
            </a:r>
          </a:p>
        </p:txBody>
      </p:sp>
      <p:sp>
        <p:nvSpPr>
          <p:cNvPr id="21" name="card"/>
          <p:cNvSpPr/>
          <p:nvPr/>
        </p:nvSpPr>
        <p:spPr>
          <a:xfrm>
            <a:off x="548640" y="3044951"/>
            <a:ext cx="2377440" cy="822960"/>
          </a:xfrm>
          <a:prstGeom prst="roundRect">
            <a:avLst>
              <a:gd name="adj" fmla="val 8888"/>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099815"/>
            <a:ext cx="2103120" cy="713232"/>
          </a:xfrm>
          <a:prstGeom prst="rect">
            <a:avLst/>
          </a:prstGeom>
          <a:noFill/>
        </p:spPr>
        <p:txBody>
          <a:bodyPr wrap="square" lIns="0" rIns="0" tIns="9144" bIns="9144" anchor="ctr">
            <a:spAutoFit/>
          </a:bodyPr>
          <a:lstStyle/>
          <a:p>
            <a:pPr algn="l"/>
            <a:r>
              <a:rPr sz="1100" b="1" i="0">
                <a:solidFill>
                  <a:srgbClr val="051820"/>
                </a:solidFill>
                <a:latin typeface="Calibri"/>
              </a:rPr>
              <a:t>Device Posture Profile</a:t>
            </a:r>
          </a:p>
          <a:p>
            <a:pPr algn="l"/>
            <a:r>
              <a:rPr sz="1100" b="0" i="0">
                <a:solidFill>
                  <a:srgbClr val="45524D"/>
                </a:solidFill>
                <a:latin typeface="Calibri"/>
              </a:rPr>
              <a:t>bundles Device Checks — checks combine with AND</a:t>
            </a:r>
          </a:p>
        </p:txBody>
      </p:sp>
      <p:sp>
        <p:nvSpPr>
          <p:cNvPr id="23" name="arrow"/>
          <p:cNvSpPr/>
          <p:nvPr/>
        </p:nvSpPr>
        <p:spPr>
          <a:xfrm>
            <a:off x="2971800" y="3355848"/>
            <a:ext cx="237744" cy="201168"/>
          </a:xfrm>
          <a:prstGeom prst="rightArrow">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d"/>
          <p:cNvSpPr/>
          <p:nvPr/>
        </p:nvSpPr>
        <p:spPr>
          <a:xfrm>
            <a:off x="3255264" y="3044951"/>
            <a:ext cx="3108960" cy="822960"/>
          </a:xfrm>
          <a:prstGeom prst="roundRect">
            <a:avLst>
              <a:gd name="adj" fmla="val 8888"/>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92424" y="3099815"/>
            <a:ext cx="2834640" cy="713232"/>
          </a:xfrm>
          <a:prstGeom prst="rect">
            <a:avLst/>
          </a:prstGeom>
          <a:noFill/>
        </p:spPr>
        <p:txBody>
          <a:bodyPr wrap="square" lIns="0" rIns="0" tIns="9144" bIns="9144" anchor="ctr">
            <a:spAutoFit/>
          </a:bodyPr>
          <a:lstStyle/>
          <a:p>
            <a:pPr algn="l"/>
            <a:r>
              <a:rPr sz="1100" b="1" i="0">
                <a:solidFill>
                  <a:srgbClr val="051820"/>
                </a:solidFill>
                <a:latin typeface="Calibri"/>
              </a:rPr>
              <a:t>Client Connectivity Policy rule</a:t>
            </a:r>
          </a:p>
          <a:p>
            <a:pPr algn="l"/>
            <a:r>
              <a:rPr sz="1100" b="0" i="0">
                <a:solidFill>
                  <a:srgbClr val="45524D"/>
                </a:solidFill>
                <a:latin typeface="Calibri"/>
              </a:rPr>
              <a:t>profiles on one rule combine with an implicit OR; scoped by users, groups, countries, OS</a:t>
            </a:r>
          </a:p>
        </p:txBody>
      </p:sp>
      <p:sp>
        <p:nvSpPr>
          <p:cNvPr id="26" name="arrow"/>
          <p:cNvSpPr/>
          <p:nvPr/>
        </p:nvSpPr>
        <p:spPr>
          <a:xfrm>
            <a:off x="6409944" y="3355848"/>
            <a:ext cx="237744" cy="201168"/>
          </a:xfrm>
          <a:prstGeom prst="rightArrow">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ard"/>
          <p:cNvSpPr/>
          <p:nvPr/>
        </p:nvSpPr>
        <p:spPr>
          <a:xfrm>
            <a:off x="6693408" y="3044951"/>
            <a:ext cx="4937760" cy="822960"/>
          </a:xfrm>
          <a:prstGeom prst="roundRect">
            <a:avLst>
              <a:gd name="adj" fmla="val 8888"/>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30568" y="3099815"/>
            <a:ext cx="4663440" cy="713232"/>
          </a:xfrm>
          <a:prstGeom prst="rect">
            <a:avLst/>
          </a:prstGeom>
          <a:noFill/>
        </p:spPr>
        <p:txBody>
          <a:bodyPr wrap="square" lIns="0" rIns="0" tIns="9144" bIns="9144" anchor="ctr">
            <a:spAutoFit/>
          </a:bodyPr>
          <a:lstStyle/>
          <a:p>
            <a:pPr algn="l"/>
            <a:r>
              <a:rPr sz="1100" b="1" i="0">
                <a:solidFill>
                  <a:srgbClr val="FFFFFF"/>
                </a:solidFill>
                <a:latin typeface="Calibri"/>
              </a:rPr>
              <a:t>Allow WAN and Internet · Allow Internet only · Block WAN and Internet</a:t>
            </a:r>
          </a:p>
          <a:p>
            <a:pPr algn="l"/>
            <a:r>
              <a:rPr sz="1100" b="0" i="0">
                <a:solidFill>
                  <a:srgbClr val="FFFFFF"/>
                </a:solidFill>
                <a:latin typeface="Calibri"/>
              </a:rPr>
              <a:t>over a final implicit ANY ANY block — a device that fails never establishes a tunnel</a:t>
            </a:r>
          </a:p>
        </p:txBody>
      </p:sp>
      <p:sp>
        <p:nvSpPr>
          <p:cNvPr id="29" name="card"/>
          <p:cNvSpPr/>
          <p:nvPr/>
        </p:nvSpPr>
        <p:spPr>
          <a:xfrm>
            <a:off x="548640" y="4096511"/>
            <a:ext cx="3545738" cy="1984248"/>
          </a:xfrm>
          <a:prstGeom prst="roundRect">
            <a:avLst>
              <a:gd name="adj" fmla="val 3686"/>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187951"/>
            <a:ext cx="3179978" cy="310896"/>
          </a:xfrm>
          <a:prstGeom prst="rect">
            <a:avLst/>
          </a:prstGeom>
          <a:noFill/>
        </p:spPr>
        <p:txBody>
          <a:bodyPr wrap="square" lIns="0" rIns="0" tIns="9144" bIns="9144" anchor="ctr">
            <a:spAutoFit/>
          </a:bodyPr>
          <a:lstStyle/>
          <a:p>
            <a:pPr algn="l"/>
            <a:r>
              <a:rPr sz="1300" b="1" i="0">
                <a:solidFill>
                  <a:srgbClr val="0E8A6D"/>
                </a:solidFill>
                <a:latin typeface="Calibri"/>
              </a:rPr>
              <a:t>Every 10 minutes</a:t>
            </a:r>
          </a:p>
        </p:txBody>
      </p:sp>
      <p:sp>
        <p:nvSpPr>
          <p:cNvPr id="31" name="TextBox 30"/>
          <p:cNvSpPr txBox="1"/>
          <p:nvPr/>
        </p:nvSpPr>
        <p:spPr>
          <a:xfrm>
            <a:off x="731520" y="4535423"/>
            <a:ext cx="3179978" cy="1472184"/>
          </a:xfrm>
          <a:prstGeom prst="rect">
            <a:avLst/>
          </a:prstGeom>
          <a:noFill/>
        </p:spPr>
        <p:txBody>
          <a:bodyPr wrap="square" lIns="0" rIns="0" tIns="9144" bIns="9144" anchor="t">
            <a:spAutoFit/>
          </a:bodyPr>
          <a:lstStyle/>
          <a:p>
            <a:pPr algn="l">
              <a:lnSpc>
                <a:spcPct val="105000"/>
              </a:lnSpc>
            </a:pPr>
            <a:r>
              <a:rPr sz="1100" b="0" i="0">
                <a:solidFill>
                  <a:srgbClr val="0D1A16"/>
                </a:solidFill>
                <a:latin typeface="Calibri"/>
              </a:rPr>
              <a:t>Continuous checks by default since 7 August 2026 (recommended interval 10 minutes; bounds 5–1,440). Modes: continuous even when disconnected, on connect and while connected, or one-time. Needs Windows Client 5.15+ / macOS Client 5.9+. The same profiles apply to devices behind a Socket, so office and home worker meet one baseline.</a:t>
            </a:r>
          </a:p>
        </p:txBody>
      </p:sp>
      <p:sp>
        <p:nvSpPr>
          <p:cNvPr id="32" name="card"/>
          <p:cNvSpPr/>
          <p:nvPr/>
        </p:nvSpPr>
        <p:spPr>
          <a:xfrm>
            <a:off x="4322978" y="4096511"/>
            <a:ext cx="3545738" cy="1984248"/>
          </a:xfrm>
          <a:prstGeom prst="roundRect">
            <a:avLst>
              <a:gd name="adj" fmla="val 3686"/>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05858" y="4187951"/>
            <a:ext cx="3179978" cy="310896"/>
          </a:xfrm>
          <a:prstGeom prst="rect">
            <a:avLst/>
          </a:prstGeom>
          <a:noFill/>
        </p:spPr>
        <p:txBody>
          <a:bodyPr wrap="square" lIns="0" rIns="0" tIns="9144" bIns="9144" anchor="ctr">
            <a:spAutoFit/>
          </a:bodyPr>
          <a:lstStyle/>
          <a:p>
            <a:pPr algn="l"/>
            <a:r>
              <a:rPr sz="1300" b="1" i="0">
                <a:solidFill>
                  <a:srgbClr val="0E8A6D"/>
                </a:solidFill>
                <a:latin typeface="Calibri"/>
              </a:rPr>
              <a:t>On failure: refused or disconnected</a:t>
            </a:r>
          </a:p>
        </p:txBody>
      </p:sp>
      <p:sp>
        <p:nvSpPr>
          <p:cNvPr id="34" name="TextBox 33"/>
          <p:cNvSpPr txBox="1"/>
          <p:nvPr/>
        </p:nvSpPr>
        <p:spPr>
          <a:xfrm>
            <a:off x="4505858" y="4535423"/>
            <a:ext cx="3179978" cy="1472184"/>
          </a:xfrm>
          <a:prstGeom prst="rect">
            <a:avLst/>
          </a:prstGeom>
          <a:noFill/>
        </p:spPr>
        <p:txBody>
          <a:bodyPr wrap="square" lIns="0" rIns="0" tIns="9144" bIns="9144" anchor="t">
            <a:spAutoFit/>
          </a:bodyPr>
          <a:lstStyle/>
          <a:p>
            <a:pPr algn="l">
              <a:lnSpc>
                <a:spcPct val="105000"/>
              </a:lnSpc>
            </a:pPr>
            <a:r>
              <a:rPr sz="1100" b="0" i="0">
                <a:solidFill>
                  <a:srgbClr val="0D1A16"/>
                </a:solidFill>
                <a:latin typeface="Calibri"/>
              </a:rPr>
              <a:t>At connect the Client does not connect and shows an error; a Details button names the unmet requirement. Failing a periodic check while connected disconnects the Client. A Block event (Event Sub-Type Client Connectivity Policy) records the same detail. No warn-but-allow — the graduated path is Allow Internet only.</a:t>
            </a:r>
          </a:p>
        </p:txBody>
      </p:sp>
      <p:sp>
        <p:nvSpPr>
          <p:cNvPr id="35" name="card"/>
          <p:cNvSpPr/>
          <p:nvPr/>
        </p:nvSpPr>
        <p:spPr>
          <a:xfrm>
            <a:off x="8097316" y="4096511"/>
            <a:ext cx="3545738" cy="1984248"/>
          </a:xfrm>
          <a:prstGeom prst="roundRect">
            <a:avLst>
              <a:gd name="adj" fmla="val 3686"/>
            </a:avLst>
          </a:prstGeom>
          <a:solidFill>
            <a:srgbClr val="FFFFFF"/>
          </a:solidFill>
          <a:ln w="9525">
            <a:solidFill>
              <a:srgbClr val="12A3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80196" y="4187951"/>
            <a:ext cx="3179978" cy="310896"/>
          </a:xfrm>
          <a:prstGeom prst="rect">
            <a:avLst/>
          </a:prstGeom>
          <a:noFill/>
        </p:spPr>
        <p:txBody>
          <a:bodyPr wrap="square" lIns="0" rIns="0" tIns="9144" bIns="9144" anchor="ctr">
            <a:spAutoFit/>
          </a:bodyPr>
          <a:lstStyle/>
          <a:p>
            <a:pPr algn="l"/>
            <a:r>
              <a:rPr sz="1300" b="1" i="0">
                <a:solidFill>
                  <a:srgbClr val="051820"/>
                </a:solidFill>
                <a:latin typeface="Calibri"/>
              </a:rPr>
              <a:t>Two things called “posture”</a:t>
            </a:r>
          </a:p>
        </p:txBody>
      </p:sp>
      <p:sp>
        <p:nvSpPr>
          <p:cNvPr id="37" name="TextBox 36"/>
          <p:cNvSpPr txBox="1"/>
          <p:nvPr/>
        </p:nvSpPr>
        <p:spPr>
          <a:xfrm>
            <a:off x="8280196" y="4535423"/>
            <a:ext cx="3179978" cy="1472184"/>
          </a:xfrm>
          <a:prstGeom prst="rect">
            <a:avLst/>
          </a:prstGeom>
          <a:noFill/>
        </p:spPr>
        <p:txBody>
          <a:bodyPr wrap="square" lIns="0" rIns="0" tIns="9144" bIns="9144" anchor="t">
            <a:spAutoFit/>
          </a:bodyPr>
          <a:lstStyle/>
          <a:p>
            <a:pPr algn="l">
              <a:lnSpc>
                <a:spcPct val="105000"/>
              </a:lnSpc>
            </a:pPr>
            <a:r>
              <a:rPr sz="1100" b="0" i="0">
                <a:solidFill>
                  <a:srgbClr val="0D1A16"/>
                </a:solidFill>
                <a:latin typeface="Calibri"/>
              </a:rPr>
              <a:t>Device Posture is the endpoint checks above (Resources → Device Posture). Account Posture is a set of best-practice checks Cato runs against the CMA configuration every 24 hours — an Account Score under Home → Posture, each check labelled ISO 27001:2022, NIST SP 800-53 Rev. 5 or GDPR. Both are evidence; not the same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B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band"/>
          <p:cNvSpPr/>
          <p:nvPr/>
        </p:nvSpPr>
        <p:spPr>
          <a:xfrm>
            <a:off x="0" y="0"/>
            <a:ext cx="12191695" cy="914400"/>
          </a:xfrm>
          <a:prstGeom prst="rect">
            <a:avLst/>
          </a:prstGeom>
          <a:solidFill>
            <a:srgbClr val="05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rule"/>
          <p:cNvSpPr/>
          <p:nvPr/>
        </p:nvSpPr>
        <p:spPr>
          <a:xfrm>
            <a:off x="0" y="914400"/>
            <a:ext cx="12191695" cy="36576"/>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lockup" descr="lockup-white.png"/>
          <p:cNvPicPr>
            <a:picLocks noChangeAspect="1"/>
          </p:cNvPicPr>
          <p:nvPr/>
        </p:nvPicPr>
        <p:blipFill>
          <a:blip r:embed="rId2"/>
          <a:stretch>
            <a:fillRect/>
          </a:stretch>
        </p:blipFill>
        <p:spPr>
          <a:xfrm>
            <a:off x="384048" y="256032"/>
            <a:ext cx="960120" cy="396487"/>
          </a:xfrm>
          <a:prstGeom prst="rect">
            <a:avLst/>
          </a:prstGeom>
        </p:spPr>
      </p:pic>
      <p:sp>
        <p:nvSpPr>
          <p:cNvPr id="6" name="TextBox 5"/>
          <p:cNvSpPr txBox="1"/>
          <p:nvPr/>
        </p:nvSpPr>
        <p:spPr>
          <a:xfrm>
            <a:off x="1572768" y="109728"/>
            <a:ext cx="10241280" cy="384048"/>
          </a:xfrm>
          <a:prstGeom prst="rect">
            <a:avLst/>
          </a:prstGeom>
          <a:noFill/>
        </p:spPr>
        <p:txBody>
          <a:bodyPr wrap="square" lIns="27432" rIns="27432" tIns="9144" bIns="9144" anchor="ctr">
            <a:spAutoFit/>
          </a:bodyPr>
          <a:lstStyle/>
          <a:p>
            <a:pPr algn="l"/>
            <a:r>
              <a:rPr sz="2000" b="1" i="0">
                <a:solidFill>
                  <a:srgbClr val="FFFFFF"/>
                </a:solidFill>
                <a:latin typeface="Calibri"/>
              </a:rPr>
              <a:t>ISO/IEC 27001:2022 — Annex A controls Cato supports and evidences</a:t>
            </a:r>
          </a:p>
        </p:txBody>
      </p:sp>
      <p:sp>
        <p:nvSpPr>
          <p:cNvPr id="7" name="TextBox 6"/>
          <p:cNvSpPr txBox="1"/>
          <p:nvPr/>
        </p:nvSpPr>
        <p:spPr>
          <a:xfrm>
            <a:off x="1572768" y="502920"/>
            <a:ext cx="10241280" cy="384048"/>
          </a:xfrm>
          <a:prstGeom prst="rect">
            <a:avLst/>
          </a:prstGeom>
          <a:noFill/>
        </p:spPr>
        <p:txBody>
          <a:bodyPr wrap="square" lIns="27432" rIns="27432" tIns="9144" bIns="9144" anchor="ctr">
            <a:spAutoFit/>
          </a:bodyPr>
          <a:lstStyle/>
          <a:p>
            <a:pPr algn="l"/>
            <a:r>
              <a:rPr sz="1100" b="1" i="0">
                <a:solidFill>
                  <a:srgbClr val="FFFFFF"/>
                </a:solidFill>
                <a:latin typeface="Calibri"/>
              </a:rPr>
              <a:t>Certification attests an ISMS. </a:t>
            </a:r>
            <a:r>
              <a:rPr sz="1100" b="0" i="0">
                <a:solidFill>
                  <a:srgbClr val="C9D6D1"/>
                </a:solidFill>
                <a:latin typeface="Calibri"/>
              </a:rPr>
              <a:t>Cato enforces the Annex A controls the customer selects — continuously — and generates the evidence a Stage 2 auditor asks for. Applicability is the customer's SoA decision; every tick is a “supports and evidences” claim.</a:t>
            </a:r>
          </a:p>
        </p:txBody>
      </p:sp>
      <p:sp>
        <p:nvSpPr>
          <p:cNvPr id="8" name="TextBox 7"/>
          <p:cNvSpPr txBox="1"/>
          <p:nvPr/>
        </p:nvSpPr>
        <p:spPr>
          <a:xfrm>
            <a:off x="2717276" y="1024128"/>
            <a:ext cx="603504" cy="329184"/>
          </a:xfrm>
          <a:prstGeom prst="rect">
            <a:avLst/>
          </a:prstGeom>
          <a:noFill/>
        </p:spPr>
        <p:txBody>
          <a:bodyPr wrap="square" lIns="0" rIns="0" tIns="9144" bIns="9144" anchor="b">
            <a:spAutoFit/>
          </a:bodyPr>
          <a:lstStyle/>
          <a:p>
            <a:pPr algn="ctr"/>
            <a:r>
              <a:rPr sz="1000" b="1" i="0">
                <a:solidFill>
                  <a:srgbClr val="051820"/>
                </a:solidFill>
                <a:latin typeface="Calibri"/>
              </a:rPr>
              <a:t>Device</a:t>
            </a:r>
          </a:p>
          <a:p>
            <a:pPr algn="ctr"/>
            <a:r>
              <a:rPr sz="1000" b="1" i="0">
                <a:solidFill>
                  <a:srgbClr val="051820"/>
                </a:solidFill>
                <a:latin typeface="Calibri"/>
              </a:rPr>
              <a:t>posture</a:t>
            </a:r>
          </a:p>
        </p:txBody>
      </p:sp>
      <p:sp>
        <p:nvSpPr>
          <p:cNvPr id="9" name="TextBox 8"/>
          <p:cNvSpPr txBox="1"/>
          <p:nvPr/>
        </p:nvSpPr>
        <p:spPr>
          <a:xfrm>
            <a:off x="3378662" y="1024128"/>
            <a:ext cx="603504" cy="329184"/>
          </a:xfrm>
          <a:prstGeom prst="rect">
            <a:avLst/>
          </a:prstGeom>
          <a:noFill/>
        </p:spPr>
        <p:txBody>
          <a:bodyPr wrap="square" lIns="0" rIns="0" tIns="9144" bIns="9144" anchor="b">
            <a:spAutoFit/>
          </a:bodyPr>
          <a:lstStyle/>
          <a:p>
            <a:pPr algn="ctr"/>
            <a:r>
              <a:rPr sz="1000" b="1" i="0">
                <a:solidFill>
                  <a:srgbClr val="051820"/>
                </a:solidFill>
                <a:latin typeface="Calibri"/>
              </a:rPr>
              <a:t>Access &amp;</a:t>
            </a:r>
          </a:p>
          <a:p>
            <a:pPr algn="ctr"/>
            <a:r>
              <a:rPr sz="1000" b="1" i="0">
                <a:solidFill>
                  <a:srgbClr val="051820"/>
                </a:solidFill>
                <a:latin typeface="Calibri"/>
              </a:rPr>
              <a:t>identity</a:t>
            </a:r>
          </a:p>
        </p:txBody>
      </p:sp>
      <p:sp>
        <p:nvSpPr>
          <p:cNvPr id="10" name="TextBox 9"/>
          <p:cNvSpPr txBox="1"/>
          <p:nvPr/>
        </p:nvSpPr>
        <p:spPr>
          <a:xfrm>
            <a:off x="3985183" y="1024128"/>
            <a:ext cx="713232" cy="329184"/>
          </a:xfrm>
          <a:prstGeom prst="rect">
            <a:avLst/>
          </a:prstGeom>
          <a:noFill/>
        </p:spPr>
        <p:txBody>
          <a:bodyPr wrap="square" lIns="0" rIns="0" tIns="9144" bIns="9144" anchor="b">
            <a:spAutoFit/>
          </a:bodyPr>
          <a:lstStyle/>
          <a:p>
            <a:pPr algn="ctr"/>
            <a:r>
              <a:rPr sz="1000" b="1" i="0">
                <a:solidFill>
                  <a:srgbClr val="051820"/>
                </a:solidFill>
                <a:latin typeface="Calibri"/>
              </a:rPr>
              <a:t>Threat</a:t>
            </a:r>
          </a:p>
          <a:p>
            <a:pPr algn="ctr"/>
            <a:r>
              <a:rPr sz="1000" b="1" i="0">
                <a:solidFill>
                  <a:srgbClr val="051820"/>
                </a:solidFill>
                <a:latin typeface="Calibri"/>
              </a:rPr>
              <a:t>prevention</a:t>
            </a:r>
          </a:p>
        </p:txBody>
      </p:sp>
      <p:sp>
        <p:nvSpPr>
          <p:cNvPr id="11" name="TextBox 10"/>
          <p:cNvSpPr txBox="1"/>
          <p:nvPr/>
        </p:nvSpPr>
        <p:spPr>
          <a:xfrm>
            <a:off x="4728865" y="1024128"/>
            <a:ext cx="548640" cy="329184"/>
          </a:xfrm>
          <a:prstGeom prst="rect">
            <a:avLst/>
          </a:prstGeom>
          <a:noFill/>
        </p:spPr>
        <p:txBody>
          <a:bodyPr wrap="square" lIns="0" rIns="0" tIns="9144" bIns="9144" anchor="b">
            <a:spAutoFit/>
          </a:bodyPr>
          <a:lstStyle/>
          <a:p>
            <a:pPr algn="ctr"/>
            <a:r>
              <a:rPr sz="1000" b="1" i="0">
                <a:solidFill>
                  <a:srgbClr val="051820"/>
                </a:solidFill>
                <a:latin typeface="Calibri"/>
              </a:rPr>
              <a:t>Data</a:t>
            </a:r>
          </a:p>
          <a:p>
            <a:pPr algn="ctr"/>
            <a:r>
              <a:rPr sz="1000" b="1" i="0">
                <a:solidFill>
                  <a:srgbClr val="051820"/>
                </a:solidFill>
                <a:latin typeface="Calibri"/>
              </a:rPr>
              <a:t>control</a:t>
            </a:r>
          </a:p>
        </p:txBody>
      </p:sp>
      <p:sp>
        <p:nvSpPr>
          <p:cNvPr id="12" name="TextBox 11"/>
          <p:cNvSpPr txBox="1"/>
          <p:nvPr/>
        </p:nvSpPr>
        <p:spPr>
          <a:xfrm>
            <a:off x="5326242" y="1024128"/>
            <a:ext cx="676656" cy="329184"/>
          </a:xfrm>
          <a:prstGeom prst="rect">
            <a:avLst/>
          </a:prstGeom>
          <a:noFill/>
        </p:spPr>
        <p:txBody>
          <a:bodyPr wrap="square" lIns="0" rIns="0" tIns="9144" bIns="9144" anchor="b">
            <a:spAutoFit/>
          </a:bodyPr>
          <a:lstStyle/>
          <a:p>
            <a:pPr algn="ctr"/>
            <a:r>
              <a:rPr sz="1000" b="1" i="0">
                <a:solidFill>
                  <a:srgbClr val="051820"/>
                </a:solidFill>
                <a:latin typeface="Calibri"/>
              </a:rPr>
              <a:t>Logging &amp;</a:t>
            </a:r>
          </a:p>
          <a:p>
            <a:pPr algn="ctr"/>
            <a:r>
              <a:rPr sz="1000" b="1" i="0">
                <a:solidFill>
                  <a:srgbClr val="051820"/>
                </a:solidFill>
                <a:latin typeface="Calibri"/>
              </a:rPr>
              <a:t>evidence</a:t>
            </a:r>
          </a:p>
        </p:txBody>
      </p:sp>
      <p:sp>
        <p:nvSpPr>
          <p:cNvPr id="13" name="TextBox 12"/>
          <p:cNvSpPr txBox="1"/>
          <p:nvPr/>
        </p:nvSpPr>
        <p:spPr>
          <a:xfrm>
            <a:off x="201168" y="1024128"/>
            <a:ext cx="2487168" cy="329184"/>
          </a:xfrm>
          <a:prstGeom prst="rect">
            <a:avLst/>
          </a:prstGeom>
          <a:noFill/>
        </p:spPr>
        <p:txBody>
          <a:bodyPr wrap="square" lIns="36576" rIns="36576" tIns="9144" bIns="9144" anchor="b">
            <a:spAutoFit/>
          </a:bodyPr>
          <a:lstStyle/>
          <a:p>
            <a:pPr algn="l"/>
            <a:r>
              <a:rPr sz="1000" b="1" i="0">
                <a:solidFill>
                  <a:srgbClr val="45524D"/>
                </a:solidFill>
                <a:latin typeface="Calibri"/>
              </a:rPr>
              <a:t>Annex A control (2022)</a:t>
            </a:r>
          </a:p>
        </p:txBody>
      </p:sp>
      <p:sp>
        <p:nvSpPr>
          <p:cNvPr id="14" name="hdrrule"/>
          <p:cNvSpPr/>
          <p:nvPr/>
        </p:nvSpPr>
        <p:spPr>
          <a:xfrm>
            <a:off x="201168" y="1353312"/>
            <a:ext cx="5794095" cy="18288"/>
          </a:xfrm>
          <a:prstGeom prst="rect">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rouphdr"/>
          <p:cNvSpPr/>
          <p:nvPr/>
        </p:nvSpPr>
        <p:spPr>
          <a:xfrm>
            <a:off x="201168" y="1389888"/>
            <a:ext cx="5794095" cy="192024"/>
          </a:xfrm>
          <a:prstGeom prst="rect">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1168" y="1389888"/>
            <a:ext cx="5794095" cy="192024"/>
          </a:xfrm>
          <a:prstGeom prst="rect">
            <a:avLst/>
          </a:prstGeom>
          <a:noFill/>
        </p:spPr>
        <p:txBody>
          <a:bodyPr wrap="square" lIns="73152" rIns="73152" tIns="9144" bIns="9144" anchor="ctr">
            <a:spAutoFit/>
          </a:bodyPr>
          <a:lstStyle/>
          <a:p>
            <a:pPr algn="l"/>
            <a:r>
              <a:rPr sz="1000" b="1" i="0">
                <a:solidFill>
                  <a:srgbClr val="0E8A6D"/>
                </a:solidFill>
                <a:latin typeface="Calibri"/>
              </a:rPr>
              <a:t>ORGANIZATIONAL — A.5</a:t>
            </a:r>
          </a:p>
        </p:txBody>
      </p:sp>
      <p:sp>
        <p:nvSpPr>
          <p:cNvPr id="17" name="TextBox 16"/>
          <p:cNvSpPr txBox="1"/>
          <p:nvPr/>
        </p:nvSpPr>
        <p:spPr>
          <a:xfrm>
            <a:off x="201168" y="16002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A.5.14  </a:t>
            </a:r>
            <a:r>
              <a:rPr sz="1000" b="0" i="0">
                <a:solidFill>
                  <a:srgbClr val="0D1A16"/>
                </a:solidFill>
                <a:latin typeface="Calibri"/>
              </a:rPr>
              <a:t>Information transfer</a:t>
            </a:r>
          </a:p>
        </p:txBody>
      </p:sp>
      <p:sp>
        <p:nvSpPr>
          <p:cNvPr id="18" name="tick"/>
          <p:cNvSpPr/>
          <p:nvPr/>
        </p:nvSpPr>
        <p:spPr>
          <a:xfrm>
            <a:off x="2932160" y="1627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9" name="tick"/>
          <p:cNvSpPr/>
          <p:nvPr/>
        </p:nvSpPr>
        <p:spPr>
          <a:xfrm>
            <a:off x="4254931" y="1627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20" name="tick"/>
          <p:cNvSpPr/>
          <p:nvPr/>
        </p:nvSpPr>
        <p:spPr>
          <a:xfrm>
            <a:off x="4916317" y="1627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21" name="tick"/>
          <p:cNvSpPr/>
          <p:nvPr/>
        </p:nvSpPr>
        <p:spPr>
          <a:xfrm>
            <a:off x="5577702" y="1627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22" name="hair"/>
          <p:cNvSpPr/>
          <p:nvPr/>
        </p:nvSpPr>
        <p:spPr>
          <a:xfrm>
            <a:off x="201168" y="18242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 y="18288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A.5.15  </a:t>
            </a:r>
            <a:r>
              <a:rPr sz="1000" b="0" i="0">
                <a:solidFill>
                  <a:srgbClr val="0D1A16"/>
                </a:solidFill>
                <a:latin typeface="Calibri"/>
              </a:rPr>
              <a:t>Access control</a:t>
            </a:r>
          </a:p>
        </p:txBody>
      </p:sp>
      <p:sp>
        <p:nvSpPr>
          <p:cNvPr id="24" name="tick"/>
          <p:cNvSpPr/>
          <p:nvPr/>
        </p:nvSpPr>
        <p:spPr>
          <a:xfrm>
            <a:off x="3593546" y="1856231"/>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25" name="tick"/>
          <p:cNvSpPr/>
          <p:nvPr/>
        </p:nvSpPr>
        <p:spPr>
          <a:xfrm>
            <a:off x="5577702" y="1856231"/>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26" name="hair"/>
          <p:cNvSpPr/>
          <p:nvPr/>
        </p:nvSpPr>
        <p:spPr>
          <a:xfrm>
            <a:off x="201168" y="20528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 y="20574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A.5.16  </a:t>
            </a:r>
            <a:r>
              <a:rPr sz="1000" b="0" i="0">
                <a:solidFill>
                  <a:srgbClr val="0D1A16"/>
                </a:solidFill>
                <a:latin typeface="Calibri"/>
              </a:rPr>
              <a:t>Identity management</a:t>
            </a:r>
          </a:p>
        </p:txBody>
      </p:sp>
      <p:sp>
        <p:nvSpPr>
          <p:cNvPr id="28" name="tick"/>
          <p:cNvSpPr/>
          <p:nvPr/>
        </p:nvSpPr>
        <p:spPr>
          <a:xfrm>
            <a:off x="3593546" y="2084831"/>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29" name="hair"/>
          <p:cNvSpPr/>
          <p:nvPr/>
        </p:nvSpPr>
        <p:spPr>
          <a:xfrm>
            <a:off x="201168" y="22814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1168" y="22860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A.5.17  </a:t>
            </a:r>
            <a:r>
              <a:rPr sz="1000" b="0" i="0">
                <a:solidFill>
                  <a:srgbClr val="0D1A16"/>
                </a:solidFill>
                <a:latin typeface="Calibri"/>
              </a:rPr>
              <a:t>Authentication information</a:t>
            </a:r>
          </a:p>
        </p:txBody>
      </p:sp>
      <p:sp>
        <p:nvSpPr>
          <p:cNvPr id="31" name="tick"/>
          <p:cNvSpPr/>
          <p:nvPr/>
        </p:nvSpPr>
        <p:spPr>
          <a:xfrm>
            <a:off x="3593546" y="2313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32" name="hair"/>
          <p:cNvSpPr/>
          <p:nvPr/>
        </p:nvSpPr>
        <p:spPr>
          <a:xfrm>
            <a:off x="201168" y="25100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1168" y="25146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A.5.18  </a:t>
            </a:r>
            <a:r>
              <a:rPr sz="1000" b="0" i="0">
                <a:solidFill>
                  <a:srgbClr val="0D1A16"/>
                </a:solidFill>
                <a:latin typeface="Calibri"/>
              </a:rPr>
              <a:t>Access rights</a:t>
            </a:r>
          </a:p>
        </p:txBody>
      </p:sp>
      <p:sp>
        <p:nvSpPr>
          <p:cNvPr id="34" name="tick"/>
          <p:cNvSpPr/>
          <p:nvPr/>
        </p:nvSpPr>
        <p:spPr>
          <a:xfrm>
            <a:off x="3593546" y="25420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35" name="tick"/>
          <p:cNvSpPr/>
          <p:nvPr/>
        </p:nvSpPr>
        <p:spPr>
          <a:xfrm>
            <a:off x="5577702" y="25420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36" name="hair"/>
          <p:cNvSpPr/>
          <p:nvPr/>
        </p:nvSpPr>
        <p:spPr>
          <a:xfrm>
            <a:off x="201168" y="27386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1168" y="27432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A.5.19–22  </a:t>
            </a:r>
            <a:r>
              <a:rPr sz="1000" b="0" i="0">
                <a:solidFill>
                  <a:srgbClr val="0D1A16"/>
                </a:solidFill>
                <a:latin typeface="Calibri"/>
              </a:rPr>
              <a:t>Supplier due diligence</a:t>
            </a:r>
          </a:p>
        </p:txBody>
      </p:sp>
      <p:sp>
        <p:nvSpPr>
          <p:cNvPr id="38" name="TextBox 37"/>
          <p:cNvSpPr txBox="1"/>
          <p:nvPr/>
        </p:nvSpPr>
        <p:spPr>
          <a:xfrm>
            <a:off x="2688336" y="2743200"/>
            <a:ext cx="3306927" cy="228600"/>
          </a:xfrm>
          <a:prstGeom prst="rect">
            <a:avLst/>
          </a:prstGeom>
          <a:noFill/>
        </p:spPr>
        <p:txBody>
          <a:bodyPr wrap="square" lIns="36576" rIns="36576" tIns="9144" bIns="9144" anchor="ctr">
            <a:spAutoFit/>
          </a:bodyPr>
          <a:lstStyle/>
          <a:p>
            <a:pPr algn="ctr"/>
            <a:r>
              <a:rPr sz="1000" b="0" i="1">
                <a:solidFill>
                  <a:srgbClr val="45524D"/>
                </a:solidFill>
                <a:latin typeface="Calibri"/>
              </a:rPr>
              <a:t>Trust Center certifications — supplier file</a:t>
            </a:r>
          </a:p>
        </p:txBody>
      </p:sp>
      <p:sp>
        <p:nvSpPr>
          <p:cNvPr id="39" name="hair"/>
          <p:cNvSpPr/>
          <p:nvPr/>
        </p:nvSpPr>
        <p:spPr>
          <a:xfrm>
            <a:off x="201168" y="29672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1168" y="2971800"/>
            <a:ext cx="2029968" cy="228600"/>
          </a:xfrm>
          <a:prstGeom prst="rect">
            <a:avLst/>
          </a:prstGeom>
          <a:noFill/>
        </p:spPr>
        <p:txBody>
          <a:bodyPr wrap="square" lIns="54864" rIns="54864" tIns="9144" bIns="9144" anchor="ctr">
            <a:spAutoFit/>
          </a:bodyPr>
          <a:lstStyle/>
          <a:p>
            <a:pPr algn="l"/>
            <a:r>
              <a:rPr sz="1000" b="1" i="0">
                <a:solidFill>
                  <a:srgbClr val="051820"/>
                </a:solidFill>
                <a:latin typeface="Calibri"/>
              </a:rPr>
              <a:t>A.5.23  </a:t>
            </a:r>
            <a:r>
              <a:rPr sz="1000" b="0" i="0">
                <a:solidFill>
                  <a:srgbClr val="0D1A16"/>
                </a:solidFill>
                <a:latin typeface="Calibri"/>
              </a:rPr>
              <a:t>Use of cloud services</a:t>
            </a:r>
          </a:p>
        </p:txBody>
      </p:sp>
      <p:sp>
        <p:nvSpPr>
          <p:cNvPr id="41" name="chip"/>
          <p:cNvSpPr/>
          <p:nvPr/>
        </p:nvSpPr>
        <p:spPr>
          <a:xfrm>
            <a:off x="2258568" y="2999232"/>
            <a:ext cx="420624" cy="173736"/>
          </a:xfrm>
          <a:prstGeom prst="roundRect">
            <a:avLst>
              <a:gd name="adj" fmla="val 50000"/>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NEW</a:t>
            </a:r>
          </a:p>
        </p:txBody>
      </p:sp>
      <p:sp>
        <p:nvSpPr>
          <p:cNvPr id="42" name="tick"/>
          <p:cNvSpPr/>
          <p:nvPr/>
        </p:nvSpPr>
        <p:spPr>
          <a:xfrm>
            <a:off x="4916317" y="29992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43" name="tick"/>
          <p:cNvSpPr/>
          <p:nvPr/>
        </p:nvSpPr>
        <p:spPr>
          <a:xfrm>
            <a:off x="5577702" y="29992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44" name="hair"/>
          <p:cNvSpPr/>
          <p:nvPr/>
        </p:nvSpPr>
        <p:spPr>
          <a:xfrm>
            <a:off x="201168" y="31958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rouphdr"/>
          <p:cNvSpPr/>
          <p:nvPr/>
        </p:nvSpPr>
        <p:spPr>
          <a:xfrm>
            <a:off x="201168" y="3218688"/>
            <a:ext cx="5794095" cy="192024"/>
          </a:xfrm>
          <a:prstGeom prst="rect">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1168" y="3218688"/>
            <a:ext cx="5794095" cy="192024"/>
          </a:xfrm>
          <a:prstGeom prst="rect">
            <a:avLst/>
          </a:prstGeom>
          <a:noFill/>
        </p:spPr>
        <p:txBody>
          <a:bodyPr wrap="square" lIns="73152" rIns="73152" tIns="9144" bIns="9144" anchor="ctr">
            <a:spAutoFit/>
          </a:bodyPr>
          <a:lstStyle/>
          <a:p>
            <a:pPr algn="l"/>
            <a:r>
              <a:rPr sz="1000" b="1" i="0">
                <a:solidFill>
                  <a:srgbClr val="0E8A6D"/>
                </a:solidFill>
                <a:latin typeface="Calibri"/>
              </a:rPr>
              <a:t>PEOPLE &amp; ENDPOINT DEVICES — A.6 / A.8</a:t>
            </a:r>
          </a:p>
        </p:txBody>
      </p:sp>
      <p:sp>
        <p:nvSpPr>
          <p:cNvPr id="47" name="TextBox 46"/>
          <p:cNvSpPr txBox="1"/>
          <p:nvPr/>
        </p:nvSpPr>
        <p:spPr>
          <a:xfrm>
            <a:off x="201168" y="34290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A.6.7  </a:t>
            </a:r>
            <a:r>
              <a:rPr sz="1000" b="0" i="0">
                <a:solidFill>
                  <a:srgbClr val="0D1A16"/>
                </a:solidFill>
                <a:latin typeface="Calibri"/>
              </a:rPr>
              <a:t>Remote working</a:t>
            </a:r>
          </a:p>
        </p:txBody>
      </p:sp>
      <p:sp>
        <p:nvSpPr>
          <p:cNvPr id="48" name="tick"/>
          <p:cNvSpPr/>
          <p:nvPr/>
        </p:nvSpPr>
        <p:spPr>
          <a:xfrm>
            <a:off x="2932160" y="3456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49" name="tick"/>
          <p:cNvSpPr/>
          <p:nvPr/>
        </p:nvSpPr>
        <p:spPr>
          <a:xfrm>
            <a:off x="3593546" y="3456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50" name="tick"/>
          <p:cNvSpPr/>
          <p:nvPr/>
        </p:nvSpPr>
        <p:spPr>
          <a:xfrm>
            <a:off x="5577702" y="3456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51" name="hair"/>
          <p:cNvSpPr/>
          <p:nvPr/>
        </p:nvSpPr>
        <p:spPr>
          <a:xfrm>
            <a:off x="201168" y="36530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1168" y="36576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A.8.1  </a:t>
            </a:r>
            <a:r>
              <a:rPr sz="1000" b="0" i="0">
                <a:solidFill>
                  <a:srgbClr val="0D1A16"/>
                </a:solidFill>
                <a:latin typeface="Calibri"/>
              </a:rPr>
              <a:t>User endpoint devices</a:t>
            </a:r>
          </a:p>
        </p:txBody>
      </p:sp>
      <p:sp>
        <p:nvSpPr>
          <p:cNvPr id="53" name="tick"/>
          <p:cNvSpPr/>
          <p:nvPr/>
        </p:nvSpPr>
        <p:spPr>
          <a:xfrm>
            <a:off x="2932160" y="36850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54" name="tick"/>
          <p:cNvSpPr/>
          <p:nvPr/>
        </p:nvSpPr>
        <p:spPr>
          <a:xfrm>
            <a:off x="3593546" y="36850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55" name="tick"/>
          <p:cNvSpPr/>
          <p:nvPr/>
        </p:nvSpPr>
        <p:spPr>
          <a:xfrm>
            <a:off x="5577702" y="36850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56" name="hair"/>
          <p:cNvSpPr/>
          <p:nvPr/>
        </p:nvSpPr>
        <p:spPr>
          <a:xfrm>
            <a:off x="201168" y="38816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01168" y="3886200"/>
            <a:ext cx="1920240" cy="228600"/>
          </a:xfrm>
          <a:prstGeom prst="rect">
            <a:avLst/>
          </a:prstGeom>
          <a:noFill/>
        </p:spPr>
        <p:txBody>
          <a:bodyPr wrap="square" lIns="54864" rIns="54864" tIns="9144" bIns="9144" anchor="ctr">
            <a:spAutoFit/>
          </a:bodyPr>
          <a:lstStyle/>
          <a:p>
            <a:pPr algn="l"/>
            <a:r>
              <a:rPr sz="1000" b="1" i="0">
                <a:solidFill>
                  <a:srgbClr val="051820"/>
                </a:solidFill>
                <a:latin typeface="Calibri"/>
              </a:rPr>
              <a:t>A.8.2  </a:t>
            </a:r>
            <a:r>
              <a:rPr sz="1000" b="0" i="0">
                <a:solidFill>
                  <a:srgbClr val="0D1A16"/>
                </a:solidFill>
                <a:latin typeface="Calibri"/>
              </a:rPr>
              <a:t>Privileged access rights</a:t>
            </a:r>
          </a:p>
        </p:txBody>
      </p:sp>
      <p:sp>
        <p:nvSpPr>
          <p:cNvPr id="58" name="chip"/>
          <p:cNvSpPr/>
          <p:nvPr/>
        </p:nvSpPr>
        <p:spPr>
          <a:xfrm>
            <a:off x="2148840" y="3913632"/>
            <a:ext cx="530352" cy="173736"/>
          </a:xfrm>
          <a:prstGeom prst="roundRect">
            <a:avLst>
              <a:gd name="adj" fmla="val 50000"/>
            </a:avLst>
          </a:prstGeom>
          <a:solidFill>
            <a:srgbClr val="FBFDFC"/>
          </a:solidFill>
          <a:ln w="9525">
            <a:solidFill>
              <a:srgbClr val="45524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45524D"/>
                </a:solidFill>
                <a:latin typeface="Calibri"/>
              </a:rPr>
              <a:t>partial</a:t>
            </a:r>
          </a:p>
        </p:txBody>
      </p:sp>
      <p:sp>
        <p:nvSpPr>
          <p:cNvPr id="59" name="tick"/>
          <p:cNvSpPr/>
          <p:nvPr/>
        </p:nvSpPr>
        <p:spPr>
          <a:xfrm>
            <a:off x="2932160" y="3913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60" name="tick"/>
          <p:cNvSpPr/>
          <p:nvPr/>
        </p:nvSpPr>
        <p:spPr>
          <a:xfrm>
            <a:off x="3593546" y="3913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61" name="hair"/>
          <p:cNvSpPr/>
          <p:nvPr/>
        </p:nvSpPr>
        <p:spPr>
          <a:xfrm>
            <a:off x="201168" y="41102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01168" y="41148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A.8.5  </a:t>
            </a:r>
            <a:r>
              <a:rPr sz="1000" b="0" i="0">
                <a:solidFill>
                  <a:srgbClr val="0D1A16"/>
                </a:solidFill>
                <a:latin typeface="Calibri"/>
              </a:rPr>
              <a:t>Secure authentication</a:t>
            </a:r>
          </a:p>
        </p:txBody>
      </p:sp>
      <p:sp>
        <p:nvSpPr>
          <p:cNvPr id="63" name="tick"/>
          <p:cNvSpPr/>
          <p:nvPr/>
        </p:nvSpPr>
        <p:spPr>
          <a:xfrm>
            <a:off x="2932160" y="41422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64" name="tick"/>
          <p:cNvSpPr/>
          <p:nvPr/>
        </p:nvSpPr>
        <p:spPr>
          <a:xfrm>
            <a:off x="3593546" y="41422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65" name="hair"/>
          <p:cNvSpPr/>
          <p:nvPr/>
        </p:nvSpPr>
        <p:spPr>
          <a:xfrm>
            <a:off x="201168" y="43388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01168" y="43434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A.8.7  </a:t>
            </a:r>
            <a:r>
              <a:rPr sz="1000" b="0" i="0">
                <a:solidFill>
                  <a:srgbClr val="0D1A16"/>
                </a:solidFill>
                <a:latin typeface="Calibri"/>
              </a:rPr>
              <a:t>Protection against malware</a:t>
            </a:r>
          </a:p>
        </p:txBody>
      </p:sp>
      <p:sp>
        <p:nvSpPr>
          <p:cNvPr id="67" name="tick"/>
          <p:cNvSpPr/>
          <p:nvPr/>
        </p:nvSpPr>
        <p:spPr>
          <a:xfrm>
            <a:off x="2932160" y="43708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68" name="tick"/>
          <p:cNvSpPr/>
          <p:nvPr/>
        </p:nvSpPr>
        <p:spPr>
          <a:xfrm>
            <a:off x="4254931" y="43708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69" name="tick"/>
          <p:cNvSpPr/>
          <p:nvPr/>
        </p:nvSpPr>
        <p:spPr>
          <a:xfrm>
            <a:off x="5577702" y="43708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70" name="hair"/>
          <p:cNvSpPr/>
          <p:nvPr/>
        </p:nvSpPr>
        <p:spPr>
          <a:xfrm>
            <a:off x="201168" y="45674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712540" y="1024128"/>
            <a:ext cx="603504" cy="329184"/>
          </a:xfrm>
          <a:prstGeom prst="rect">
            <a:avLst/>
          </a:prstGeom>
          <a:noFill/>
        </p:spPr>
        <p:txBody>
          <a:bodyPr wrap="square" lIns="0" rIns="0" tIns="9144" bIns="9144" anchor="b">
            <a:spAutoFit/>
          </a:bodyPr>
          <a:lstStyle/>
          <a:p>
            <a:pPr algn="ctr"/>
            <a:r>
              <a:rPr sz="1000" b="1" i="0">
                <a:solidFill>
                  <a:srgbClr val="051820"/>
                </a:solidFill>
                <a:latin typeface="Calibri"/>
              </a:rPr>
              <a:t>Device</a:t>
            </a:r>
          </a:p>
          <a:p>
            <a:pPr algn="ctr"/>
            <a:r>
              <a:rPr sz="1000" b="1" i="0">
                <a:solidFill>
                  <a:srgbClr val="051820"/>
                </a:solidFill>
                <a:latin typeface="Calibri"/>
              </a:rPr>
              <a:t>posture</a:t>
            </a:r>
          </a:p>
        </p:txBody>
      </p:sp>
      <p:sp>
        <p:nvSpPr>
          <p:cNvPr id="72" name="TextBox 71"/>
          <p:cNvSpPr txBox="1"/>
          <p:nvPr/>
        </p:nvSpPr>
        <p:spPr>
          <a:xfrm>
            <a:off x="9373925" y="1024128"/>
            <a:ext cx="603504" cy="329184"/>
          </a:xfrm>
          <a:prstGeom prst="rect">
            <a:avLst/>
          </a:prstGeom>
          <a:noFill/>
        </p:spPr>
        <p:txBody>
          <a:bodyPr wrap="square" lIns="0" rIns="0" tIns="9144" bIns="9144" anchor="b">
            <a:spAutoFit/>
          </a:bodyPr>
          <a:lstStyle/>
          <a:p>
            <a:pPr algn="ctr"/>
            <a:r>
              <a:rPr sz="1000" b="1" i="0">
                <a:solidFill>
                  <a:srgbClr val="051820"/>
                </a:solidFill>
                <a:latin typeface="Calibri"/>
              </a:rPr>
              <a:t>Access &amp;</a:t>
            </a:r>
          </a:p>
          <a:p>
            <a:pPr algn="ctr"/>
            <a:r>
              <a:rPr sz="1000" b="1" i="0">
                <a:solidFill>
                  <a:srgbClr val="051820"/>
                </a:solidFill>
                <a:latin typeface="Calibri"/>
              </a:rPr>
              <a:t>identity</a:t>
            </a:r>
          </a:p>
        </p:txBody>
      </p:sp>
      <p:sp>
        <p:nvSpPr>
          <p:cNvPr id="73" name="TextBox 72"/>
          <p:cNvSpPr txBox="1"/>
          <p:nvPr/>
        </p:nvSpPr>
        <p:spPr>
          <a:xfrm>
            <a:off x="9980447" y="1024128"/>
            <a:ext cx="713232" cy="329184"/>
          </a:xfrm>
          <a:prstGeom prst="rect">
            <a:avLst/>
          </a:prstGeom>
          <a:noFill/>
        </p:spPr>
        <p:txBody>
          <a:bodyPr wrap="square" lIns="0" rIns="0" tIns="9144" bIns="9144" anchor="b">
            <a:spAutoFit/>
          </a:bodyPr>
          <a:lstStyle/>
          <a:p>
            <a:pPr algn="ctr"/>
            <a:r>
              <a:rPr sz="1000" b="1" i="0">
                <a:solidFill>
                  <a:srgbClr val="051820"/>
                </a:solidFill>
                <a:latin typeface="Calibri"/>
              </a:rPr>
              <a:t>Threat</a:t>
            </a:r>
          </a:p>
          <a:p>
            <a:pPr algn="ctr"/>
            <a:r>
              <a:rPr sz="1000" b="1" i="0">
                <a:solidFill>
                  <a:srgbClr val="051820"/>
                </a:solidFill>
                <a:latin typeface="Calibri"/>
              </a:rPr>
              <a:t>prevention</a:t>
            </a:r>
          </a:p>
        </p:txBody>
      </p:sp>
      <p:sp>
        <p:nvSpPr>
          <p:cNvPr id="74" name="TextBox 73"/>
          <p:cNvSpPr txBox="1"/>
          <p:nvPr/>
        </p:nvSpPr>
        <p:spPr>
          <a:xfrm>
            <a:off x="10724128" y="1024128"/>
            <a:ext cx="548640" cy="329184"/>
          </a:xfrm>
          <a:prstGeom prst="rect">
            <a:avLst/>
          </a:prstGeom>
          <a:noFill/>
        </p:spPr>
        <p:txBody>
          <a:bodyPr wrap="square" lIns="0" rIns="0" tIns="9144" bIns="9144" anchor="b">
            <a:spAutoFit/>
          </a:bodyPr>
          <a:lstStyle/>
          <a:p>
            <a:pPr algn="ctr"/>
            <a:r>
              <a:rPr sz="1000" b="1" i="0">
                <a:solidFill>
                  <a:srgbClr val="051820"/>
                </a:solidFill>
                <a:latin typeface="Calibri"/>
              </a:rPr>
              <a:t>Data</a:t>
            </a:r>
          </a:p>
          <a:p>
            <a:pPr algn="ctr"/>
            <a:r>
              <a:rPr sz="1000" b="1" i="0">
                <a:solidFill>
                  <a:srgbClr val="051820"/>
                </a:solidFill>
                <a:latin typeface="Calibri"/>
              </a:rPr>
              <a:t>control</a:t>
            </a:r>
          </a:p>
        </p:txBody>
      </p:sp>
      <p:sp>
        <p:nvSpPr>
          <p:cNvPr id="75" name="TextBox 74"/>
          <p:cNvSpPr txBox="1"/>
          <p:nvPr/>
        </p:nvSpPr>
        <p:spPr>
          <a:xfrm>
            <a:off x="11321506" y="1024128"/>
            <a:ext cx="676656" cy="329184"/>
          </a:xfrm>
          <a:prstGeom prst="rect">
            <a:avLst/>
          </a:prstGeom>
          <a:noFill/>
        </p:spPr>
        <p:txBody>
          <a:bodyPr wrap="square" lIns="0" rIns="0" tIns="9144" bIns="9144" anchor="b">
            <a:spAutoFit/>
          </a:bodyPr>
          <a:lstStyle/>
          <a:p>
            <a:pPr algn="ctr"/>
            <a:r>
              <a:rPr sz="1000" b="1" i="0">
                <a:solidFill>
                  <a:srgbClr val="051820"/>
                </a:solidFill>
                <a:latin typeface="Calibri"/>
              </a:rPr>
              <a:t>Logging &amp;</a:t>
            </a:r>
          </a:p>
          <a:p>
            <a:pPr algn="ctr"/>
            <a:r>
              <a:rPr sz="1000" b="1" i="0">
                <a:solidFill>
                  <a:srgbClr val="051820"/>
                </a:solidFill>
                <a:latin typeface="Calibri"/>
              </a:rPr>
              <a:t>evidence</a:t>
            </a:r>
          </a:p>
        </p:txBody>
      </p:sp>
      <p:sp>
        <p:nvSpPr>
          <p:cNvPr id="76" name="TextBox 75"/>
          <p:cNvSpPr txBox="1"/>
          <p:nvPr/>
        </p:nvSpPr>
        <p:spPr>
          <a:xfrm>
            <a:off x="6196431" y="1024128"/>
            <a:ext cx="2487168" cy="329184"/>
          </a:xfrm>
          <a:prstGeom prst="rect">
            <a:avLst/>
          </a:prstGeom>
          <a:noFill/>
        </p:spPr>
        <p:txBody>
          <a:bodyPr wrap="square" lIns="36576" rIns="36576" tIns="9144" bIns="9144" anchor="b">
            <a:spAutoFit/>
          </a:bodyPr>
          <a:lstStyle/>
          <a:p>
            <a:pPr algn="l"/>
            <a:r>
              <a:rPr sz="1000" b="1" i="0">
                <a:solidFill>
                  <a:srgbClr val="45524D"/>
                </a:solidFill>
                <a:latin typeface="Calibri"/>
              </a:rPr>
              <a:t>Annex A control (2022)</a:t>
            </a:r>
          </a:p>
        </p:txBody>
      </p:sp>
      <p:sp>
        <p:nvSpPr>
          <p:cNvPr id="77" name="hdrrule"/>
          <p:cNvSpPr/>
          <p:nvPr/>
        </p:nvSpPr>
        <p:spPr>
          <a:xfrm>
            <a:off x="6196431" y="1353312"/>
            <a:ext cx="5794095" cy="18288"/>
          </a:xfrm>
          <a:prstGeom prst="rect">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grouphdr"/>
          <p:cNvSpPr/>
          <p:nvPr/>
        </p:nvSpPr>
        <p:spPr>
          <a:xfrm>
            <a:off x="6196431" y="1389888"/>
            <a:ext cx="5794095" cy="192024"/>
          </a:xfrm>
          <a:prstGeom prst="rect">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196431" y="1389888"/>
            <a:ext cx="5794095" cy="192024"/>
          </a:xfrm>
          <a:prstGeom prst="rect">
            <a:avLst/>
          </a:prstGeom>
          <a:noFill/>
        </p:spPr>
        <p:txBody>
          <a:bodyPr wrap="square" lIns="73152" rIns="73152" tIns="9144" bIns="9144" anchor="ctr">
            <a:spAutoFit/>
          </a:bodyPr>
          <a:lstStyle/>
          <a:p>
            <a:pPr algn="l"/>
            <a:r>
              <a:rPr sz="1000" b="1" i="0">
                <a:solidFill>
                  <a:srgbClr val="0E8A6D"/>
                </a:solidFill>
                <a:latin typeface="Calibri"/>
              </a:rPr>
              <a:t>NETWORK &amp; ACCESS — A.8</a:t>
            </a:r>
          </a:p>
        </p:txBody>
      </p:sp>
      <p:sp>
        <p:nvSpPr>
          <p:cNvPr id="80" name="TextBox 79"/>
          <p:cNvSpPr txBox="1"/>
          <p:nvPr/>
        </p:nvSpPr>
        <p:spPr>
          <a:xfrm>
            <a:off x="6196431" y="16002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A.8.3  </a:t>
            </a:r>
            <a:r>
              <a:rPr sz="1000" b="0" i="0">
                <a:solidFill>
                  <a:srgbClr val="0D1A16"/>
                </a:solidFill>
                <a:latin typeface="Calibri"/>
              </a:rPr>
              <a:t>Information access restriction</a:t>
            </a:r>
          </a:p>
        </p:txBody>
      </p:sp>
      <p:sp>
        <p:nvSpPr>
          <p:cNvPr id="81" name="tick"/>
          <p:cNvSpPr/>
          <p:nvPr/>
        </p:nvSpPr>
        <p:spPr>
          <a:xfrm>
            <a:off x="8927424" y="1627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82" name="tick"/>
          <p:cNvSpPr/>
          <p:nvPr/>
        </p:nvSpPr>
        <p:spPr>
          <a:xfrm>
            <a:off x="9588809" y="1627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83" name="tick"/>
          <p:cNvSpPr/>
          <p:nvPr/>
        </p:nvSpPr>
        <p:spPr>
          <a:xfrm>
            <a:off x="11572966" y="1627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84" name="hair"/>
          <p:cNvSpPr/>
          <p:nvPr/>
        </p:nvSpPr>
        <p:spPr>
          <a:xfrm>
            <a:off x="6196431" y="18242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96431" y="18288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A.8.20  </a:t>
            </a:r>
            <a:r>
              <a:rPr sz="1000" b="0" i="0">
                <a:solidFill>
                  <a:srgbClr val="0D1A16"/>
                </a:solidFill>
                <a:latin typeface="Calibri"/>
              </a:rPr>
              <a:t>Networks security</a:t>
            </a:r>
          </a:p>
        </p:txBody>
      </p:sp>
      <p:sp>
        <p:nvSpPr>
          <p:cNvPr id="86" name="tick"/>
          <p:cNvSpPr/>
          <p:nvPr/>
        </p:nvSpPr>
        <p:spPr>
          <a:xfrm>
            <a:off x="8927424" y="1856231"/>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87" name="tick"/>
          <p:cNvSpPr/>
          <p:nvPr/>
        </p:nvSpPr>
        <p:spPr>
          <a:xfrm>
            <a:off x="9588809" y="1856231"/>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88" name="tick"/>
          <p:cNvSpPr/>
          <p:nvPr/>
        </p:nvSpPr>
        <p:spPr>
          <a:xfrm>
            <a:off x="10250195" y="1856231"/>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89" name="hair"/>
          <p:cNvSpPr/>
          <p:nvPr/>
        </p:nvSpPr>
        <p:spPr>
          <a:xfrm>
            <a:off x="6196431" y="20528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96431" y="20574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A.8.21  </a:t>
            </a:r>
            <a:r>
              <a:rPr sz="1000" b="0" i="0">
                <a:solidFill>
                  <a:srgbClr val="0D1A16"/>
                </a:solidFill>
                <a:latin typeface="Calibri"/>
              </a:rPr>
              <a:t>Security of network services</a:t>
            </a:r>
          </a:p>
        </p:txBody>
      </p:sp>
      <p:sp>
        <p:nvSpPr>
          <p:cNvPr id="91" name="tick"/>
          <p:cNvSpPr/>
          <p:nvPr/>
        </p:nvSpPr>
        <p:spPr>
          <a:xfrm>
            <a:off x="11572966" y="2084831"/>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92" name="hair"/>
          <p:cNvSpPr/>
          <p:nvPr/>
        </p:nvSpPr>
        <p:spPr>
          <a:xfrm>
            <a:off x="6196431" y="22814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196431" y="22860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A.8.22  </a:t>
            </a:r>
            <a:r>
              <a:rPr sz="1000" b="0" i="0">
                <a:solidFill>
                  <a:srgbClr val="0D1A16"/>
                </a:solidFill>
                <a:latin typeface="Calibri"/>
              </a:rPr>
              <a:t>Segregation of networks</a:t>
            </a:r>
          </a:p>
        </p:txBody>
      </p:sp>
      <p:sp>
        <p:nvSpPr>
          <p:cNvPr id="94" name="tick"/>
          <p:cNvSpPr/>
          <p:nvPr/>
        </p:nvSpPr>
        <p:spPr>
          <a:xfrm>
            <a:off x="8927424" y="2313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95" name="tick"/>
          <p:cNvSpPr/>
          <p:nvPr/>
        </p:nvSpPr>
        <p:spPr>
          <a:xfrm>
            <a:off x="9588809" y="2313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96" name="tick"/>
          <p:cNvSpPr/>
          <p:nvPr/>
        </p:nvSpPr>
        <p:spPr>
          <a:xfrm>
            <a:off x="11572966" y="2313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97" name="hair"/>
          <p:cNvSpPr/>
          <p:nvPr/>
        </p:nvSpPr>
        <p:spPr>
          <a:xfrm>
            <a:off x="6196431" y="25100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196431" y="2514600"/>
            <a:ext cx="20299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A.8.23  </a:t>
            </a:r>
            <a:r>
              <a:rPr sz="1000" b="0" i="0">
                <a:solidFill>
                  <a:srgbClr val="0D1A16"/>
                </a:solidFill>
                <a:latin typeface="Calibri"/>
              </a:rPr>
              <a:t>Web filtering</a:t>
            </a:r>
          </a:p>
        </p:txBody>
      </p:sp>
      <p:sp>
        <p:nvSpPr>
          <p:cNvPr id="99" name="chip"/>
          <p:cNvSpPr/>
          <p:nvPr/>
        </p:nvSpPr>
        <p:spPr>
          <a:xfrm>
            <a:off x="8253831" y="2542032"/>
            <a:ext cx="420624" cy="173736"/>
          </a:xfrm>
          <a:prstGeom prst="roundRect">
            <a:avLst>
              <a:gd name="adj" fmla="val 50000"/>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NEW</a:t>
            </a:r>
          </a:p>
        </p:txBody>
      </p:sp>
      <p:sp>
        <p:nvSpPr>
          <p:cNvPr id="100" name="tick"/>
          <p:cNvSpPr/>
          <p:nvPr/>
        </p:nvSpPr>
        <p:spPr>
          <a:xfrm>
            <a:off x="9588809" y="25420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01" name="tick"/>
          <p:cNvSpPr/>
          <p:nvPr/>
        </p:nvSpPr>
        <p:spPr>
          <a:xfrm>
            <a:off x="11572966" y="25420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02" name="hair"/>
          <p:cNvSpPr/>
          <p:nvPr/>
        </p:nvSpPr>
        <p:spPr>
          <a:xfrm>
            <a:off x="6196431" y="27386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196431" y="27432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A.8.24  </a:t>
            </a:r>
            <a:r>
              <a:rPr sz="1000" b="0" i="0">
                <a:solidFill>
                  <a:srgbClr val="0D1A16"/>
                </a:solidFill>
                <a:latin typeface="Calibri"/>
              </a:rPr>
              <a:t>Use of cryptography</a:t>
            </a:r>
          </a:p>
        </p:txBody>
      </p:sp>
      <p:sp>
        <p:nvSpPr>
          <p:cNvPr id="104" name="tick"/>
          <p:cNvSpPr/>
          <p:nvPr/>
        </p:nvSpPr>
        <p:spPr>
          <a:xfrm>
            <a:off x="8927424" y="2770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05" name="tick"/>
          <p:cNvSpPr/>
          <p:nvPr/>
        </p:nvSpPr>
        <p:spPr>
          <a:xfrm>
            <a:off x="10250195" y="2770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06" name="hair"/>
          <p:cNvSpPr/>
          <p:nvPr/>
        </p:nvSpPr>
        <p:spPr>
          <a:xfrm>
            <a:off x="6196431" y="29672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grouphdr"/>
          <p:cNvSpPr/>
          <p:nvPr/>
        </p:nvSpPr>
        <p:spPr>
          <a:xfrm>
            <a:off x="6196431" y="2990088"/>
            <a:ext cx="5794095" cy="192024"/>
          </a:xfrm>
          <a:prstGeom prst="rect">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196431" y="2990088"/>
            <a:ext cx="5794095" cy="192024"/>
          </a:xfrm>
          <a:prstGeom prst="rect">
            <a:avLst/>
          </a:prstGeom>
          <a:noFill/>
        </p:spPr>
        <p:txBody>
          <a:bodyPr wrap="square" lIns="73152" rIns="73152" tIns="9144" bIns="9144" anchor="ctr">
            <a:spAutoFit/>
          </a:bodyPr>
          <a:lstStyle/>
          <a:p>
            <a:pPr algn="l"/>
            <a:r>
              <a:rPr sz="1000" b="1" i="0">
                <a:solidFill>
                  <a:srgbClr val="0E8A6D"/>
                </a:solidFill>
                <a:latin typeface="Calibri"/>
              </a:rPr>
              <a:t>CONFIGURATION, DATA &amp; MONITORING — A.8</a:t>
            </a:r>
          </a:p>
        </p:txBody>
      </p:sp>
      <p:sp>
        <p:nvSpPr>
          <p:cNvPr id="109" name="TextBox 108"/>
          <p:cNvSpPr txBox="1"/>
          <p:nvPr/>
        </p:nvSpPr>
        <p:spPr>
          <a:xfrm>
            <a:off x="6196431" y="3200400"/>
            <a:ext cx="20299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A.8.9  </a:t>
            </a:r>
            <a:r>
              <a:rPr sz="1000" b="0" i="0">
                <a:solidFill>
                  <a:srgbClr val="0D1A16"/>
                </a:solidFill>
                <a:latin typeface="Calibri"/>
              </a:rPr>
              <a:t>Configuration management</a:t>
            </a:r>
          </a:p>
        </p:txBody>
      </p:sp>
      <p:sp>
        <p:nvSpPr>
          <p:cNvPr id="110" name="chip"/>
          <p:cNvSpPr/>
          <p:nvPr/>
        </p:nvSpPr>
        <p:spPr>
          <a:xfrm>
            <a:off x="8253831" y="3227832"/>
            <a:ext cx="420624" cy="173736"/>
          </a:xfrm>
          <a:prstGeom prst="roundRect">
            <a:avLst>
              <a:gd name="adj" fmla="val 50000"/>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NEW</a:t>
            </a:r>
          </a:p>
        </p:txBody>
      </p:sp>
      <p:sp>
        <p:nvSpPr>
          <p:cNvPr id="111" name="tick"/>
          <p:cNvSpPr/>
          <p:nvPr/>
        </p:nvSpPr>
        <p:spPr>
          <a:xfrm>
            <a:off x="8927424" y="32278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12" name="tick"/>
          <p:cNvSpPr/>
          <p:nvPr/>
        </p:nvSpPr>
        <p:spPr>
          <a:xfrm>
            <a:off x="11572966" y="32278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13" name="hair"/>
          <p:cNvSpPr/>
          <p:nvPr/>
        </p:nvSpPr>
        <p:spPr>
          <a:xfrm>
            <a:off x="6196431" y="34244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196431" y="3429000"/>
            <a:ext cx="20299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A.8.12  </a:t>
            </a:r>
            <a:r>
              <a:rPr sz="1000" b="0" i="0">
                <a:solidFill>
                  <a:srgbClr val="0D1A16"/>
                </a:solidFill>
                <a:latin typeface="Calibri"/>
              </a:rPr>
              <a:t>Data leakage prevention</a:t>
            </a:r>
          </a:p>
        </p:txBody>
      </p:sp>
      <p:sp>
        <p:nvSpPr>
          <p:cNvPr id="115" name="chip"/>
          <p:cNvSpPr/>
          <p:nvPr/>
        </p:nvSpPr>
        <p:spPr>
          <a:xfrm>
            <a:off x="8253831" y="3456432"/>
            <a:ext cx="420624" cy="173736"/>
          </a:xfrm>
          <a:prstGeom prst="roundRect">
            <a:avLst>
              <a:gd name="adj" fmla="val 50000"/>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NEW</a:t>
            </a:r>
          </a:p>
        </p:txBody>
      </p:sp>
      <p:sp>
        <p:nvSpPr>
          <p:cNvPr id="116" name="tick"/>
          <p:cNvSpPr/>
          <p:nvPr/>
        </p:nvSpPr>
        <p:spPr>
          <a:xfrm>
            <a:off x="8927424" y="3456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17" name="tick"/>
          <p:cNvSpPr/>
          <p:nvPr/>
        </p:nvSpPr>
        <p:spPr>
          <a:xfrm>
            <a:off x="10911580" y="3456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18" name="tick"/>
          <p:cNvSpPr/>
          <p:nvPr/>
        </p:nvSpPr>
        <p:spPr>
          <a:xfrm>
            <a:off x="11572966" y="34564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19" name="hair"/>
          <p:cNvSpPr/>
          <p:nvPr/>
        </p:nvSpPr>
        <p:spPr>
          <a:xfrm>
            <a:off x="6196431" y="36530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196431" y="3657600"/>
            <a:ext cx="24871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A.8.15  </a:t>
            </a:r>
            <a:r>
              <a:rPr sz="1000" b="0" i="0">
                <a:solidFill>
                  <a:srgbClr val="0D1A16"/>
                </a:solidFill>
                <a:latin typeface="Calibri"/>
              </a:rPr>
              <a:t>Logging</a:t>
            </a:r>
          </a:p>
        </p:txBody>
      </p:sp>
      <p:sp>
        <p:nvSpPr>
          <p:cNvPr id="121" name="tick"/>
          <p:cNvSpPr/>
          <p:nvPr/>
        </p:nvSpPr>
        <p:spPr>
          <a:xfrm>
            <a:off x="11572966" y="36850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22" name="hair"/>
          <p:cNvSpPr/>
          <p:nvPr/>
        </p:nvSpPr>
        <p:spPr>
          <a:xfrm>
            <a:off x="6196431" y="38816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196431" y="3886200"/>
            <a:ext cx="2029968" cy="228600"/>
          </a:xfrm>
          <a:prstGeom prst="rect">
            <a:avLst/>
          </a:prstGeom>
          <a:noFill/>
        </p:spPr>
        <p:txBody>
          <a:bodyPr wrap="square" lIns="54864" rIns="54864" tIns="9144" bIns="9144" anchor="ctr">
            <a:spAutoFit/>
          </a:bodyPr>
          <a:lstStyle/>
          <a:p>
            <a:pPr algn="l"/>
            <a:r>
              <a:rPr sz="1000" b="1" i="0">
                <a:solidFill>
                  <a:srgbClr val="051820"/>
                </a:solidFill>
                <a:latin typeface="Calibri"/>
              </a:rPr>
              <a:t>A.8.16  </a:t>
            </a:r>
            <a:r>
              <a:rPr sz="1000" b="0" i="0">
                <a:solidFill>
                  <a:srgbClr val="0D1A16"/>
                </a:solidFill>
                <a:latin typeface="Calibri"/>
              </a:rPr>
              <a:t>Monitoring activities</a:t>
            </a:r>
          </a:p>
        </p:txBody>
      </p:sp>
      <p:sp>
        <p:nvSpPr>
          <p:cNvPr id="124" name="chip"/>
          <p:cNvSpPr/>
          <p:nvPr/>
        </p:nvSpPr>
        <p:spPr>
          <a:xfrm>
            <a:off x="8253831" y="3913632"/>
            <a:ext cx="420624" cy="173736"/>
          </a:xfrm>
          <a:prstGeom prst="roundRect">
            <a:avLst>
              <a:gd name="adj" fmla="val 50000"/>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NEW</a:t>
            </a:r>
          </a:p>
        </p:txBody>
      </p:sp>
      <p:sp>
        <p:nvSpPr>
          <p:cNvPr id="125" name="tick"/>
          <p:cNvSpPr/>
          <p:nvPr/>
        </p:nvSpPr>
        <p:spPr>
          <a:xfrm>
            <a:off x="10250195" y="3913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26" name="tick"/>
          <p:cNvSpPr/>
          <p:nvPr/>
        </p:nvSpPr>
        <p:spPr>
          <a:xfrm>
            <a:off x="11572966" y="3913632"/>
            <a:ext cx="173736" cy="173736"/>
          </a:xfrm>
          <a:prstGeom prst="ellipse">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000" b="1" i="0">
                <a:solidFill>
                  <a:srgbClr val="FFFFFF"/>
                </a:solidFill>
                <a:latin typeface="Calibri"/>
              </a:rPr>
              <a:t>✓</a:t>
            </a:r>
          </a:p>
        </p:txBody>
      </p:sp>
      <p:sp>
        <p:nvSpPr>
          <p:cNvPr id="127" name="hair"/>
          <p:cNvSpPr/>
          <p:nvPr/>
        </p:nvSpPr>
        <p:spPr>
          <a:xfrm>
            <a:off x="6196431" y="4110228"/>
            <a:ext cx="5794095" cy="914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196431" y="4151376"/>
            <a:ext cx="5794095" cy="402336"/>
          </a:xfrm>
          <a:prstGeom prst="rect">
            <a:avLst/>
          </a:prstGeom>
          <a:noFill/>
        </p:spPr>
        <p:txBody>
          <a:bodyPr wrap="square" lIns="54864" rIns="54864" tIns="9144" bIns="9144" anchor="t">
            <a:spAutoFit/>
          </a:bodyPr>
          <a:lstStyle/>
          <a:p>
            <a:pPr algn="l"/>
            <a:r>
              <a:rPr sz="1000" b="1" i="0">
                <a:solidFill>
                  <a:srgbClr val="12A380"/>
                </a:solidFill>
                <a:latin typeface="Calibri"/>
              </a:rPr>
              <a:t>✓</a:t>
            </a:r>
            <a:r>
              <a:rPr sz="1000" b="0" i="0">
                <a:solidFill>
                  <a:srgbClr val="45524D"/>
                </a:solidFill>
                <a:latin typeface="Calibri"/>
              </a:rPr>
              <a:t>  supports and evidences the control — applicability stays the customer's SoA decision</a:t>
            </a:r>
          </a:p>
          <a:p>
            <a:pPr algn="l"/>
            <a:r>
              <a:rPr sz="1000" b="1" i="0">
                <a:solidFill>
                  <a:srgbClr val="12A380"/>
                </a:solidFill>
                <a:latin typeface="Calibri"/>
              </a:rPr>
              <a:t>NEW</a:t>
            </a:r>
            <a:r>
              <a:rPr sz="1000" b="0" i="0">
                <a:solidFill>
                  <a:srgbClr val="45524D"/>
                </a:solidFill>
                <a:latin typeface="Calibri"/>
              </a:rPr>
              <a:t>  new in the 2022 edition, core SASE capability   ·   </a:t>
            </a:r>
            <a:r>
              <a:rPr sz="1000" b="1" i="0">
                <a:solidFill>
                  <a:srgbClr val="45524D"/>
                </a:solidFill>
                <a:latin typeface="Calibri"/>
              </a:rPr>
              <a:t>partial</a:t>
            </a:r>
            <a:r>
              <a:rPr sz="1000" b="0" i="0">
                <a:solidFill>
                  <a:srgbClr val="45524D"/>
                </a:solidFill>
                <a:latin typeface="Calibri"/>
              </a:rPr>
              <a:t>  PAM proper is out of scope</a:t>
            </a:r>
          </a:p>
        </p:txBody>
      </p:sp>
      <p:sp>
        <p:nvSpPr>
          <p:cNvPr id="129" name="TextBox 128"/>
          <p:cNvSpPr txBox="1"/>
          <p:nvPr/>
        </p:nvSpPr>
        <p:spPr>
          <a:xfrm>
            <a:off x="201168" y="4626864"/>
            <a:ext cx="11789359" cy="329184"/>
          </a:xfrm>
          <a:prstGeom prst="rect">
            <a:avLst/>
          </a:prstGeom>
          <a:noFill/>
        </p:spPr>
        <p:txBody>
          <a:bodyPr wrap="square" lIns="54864" rIns="54864" tIns="9144" bIns="9144" anchor="t">
            <a:spAutoFit/>
          </a:bodyPr>
          <a:lstStyle/>
          <a:p>
            <a:pPr algn="l"/>
            <a:r>
              <a:rPr sz="1000" b="1" i="0">
                <a:solidFill>
                  <a:srgbClr val="051820"/>
                </a:solidFill>
                <a:latin typeface="Calibri"/>
              </a:rPr>
              <a:t>Column key  </a:t>
            </a:r>
            <a:r>
              <a:rPr sz="1000" b="1" i="0">
                <a:solidFill>
                  <a:srgbClr val="0D1A16"/>
                </a:solidFill>
                <a:latin typeface="Calibri"/>
              </a:rPr>
              <a:t>Device posture</a:t>
            </a:r>
            <a:r>
              <a:rPr sz="1000" b="0" i="0">
                <a:solidFill>
                  <a:srgbClr val="45524D"/>
                </a:solidFill>
                <a:latin typeface="Calibri"/>
              </a:rPr>
              <a:t> Device Checks, Posture Profiles, Check Policy  ·  </a:t>
            </a:r>
            <a:r>
              <a:rPr sz="1000" b="1" i="0">
                <a:solidFill>
                  <a:srgbClr val="0D1A16"/>
                </a:solidFill>
                <a:latin typeface="Calibri"/>
              </a:rPr>
              <a:t>Access &amp; identity</a:t>
            </a:r>
            <a:r>
              <a:rPr sz="1000" b="0" i="0">
                <a:solidFill>
                  <a:srgbClr val="45524D"/>
                </a:solidFill>
                <a:latin typeface="Calibri"/>
              </a:rPr>
              <a:t> Client Connectivity Policy, WAN and Internet Firewall, Always-On, SSO/MFA, SCIM, RBAC  ·  </a:t>
            </a:r>
            <a:r>
              <a:rPr sz="1000" b="1" i="0">
                <a:solidFill>
                  <a:srgbClr val="0D1A16"/>
                </a:solidFill>
                <a:latin typeface="Calibri"/>
              </a:rPr>
              <a:t>Threat prevention</a:t>
            </a:r>
            <a:r>
              <a:rPr sz="1000" b="0" i="0">
                <a:solidFill>
                  <a:srgbClr val="45524D"/>
                </a:solidFill>
                <a:latin typeface="Calibri"/>
              </a:rPr>
              <a:t> Anti-Malware, IPS, TLS Inspection  ·  </a:t>
            </a:r>
            <a:r>
              <a:rPr sz="1000" b="1" i="0">
                <a:solidFill>
                  <a:srgbClr val="0D1A16"/>
                </a:solidFill>
                <a:latin typeface="Calibri"/>
              </a:rPr>
              <a:t>Data control</a:t>
            </a:r>
            <a:r>
              <a:rPr sz="1000" b="0" i="0">
                <a:solidFill>
                  <a:srgbClr val="45524D"/>
                </a:solidFill>
                <a:latin typeface="Calibri"/>
              </a:rPr>
              <a:t> Data Control (DLP), CASB Application Control  ·  </a:t>
            </a:r>
            <a:r>
              <a:rPr sz="1000" b="1" i="0">
                <a:solidFill>
                  <a:srgbClr val="0D1A16"/>
                </a:solidFill>
                <a:latin typeface="Calibri"/>
              </a:rPr>
              <a:t>Logging &amp; evidence</a:t>
            </a:r>
            <a:r>
              <a:rPr sz="1000" b="0" i="0">
                <a:solidFill>
                  <a:srgbClr val="45524D"/>
                </a:solidFill>
                <a:latin typeface="Calibri"/>
              </a:rPr>
              <a:t> events and Data Lake, Audit Trail, reports, Trust Center</a:t>
            </a:r>
          </a:p>
        </p:txBody>
      </p:sp>
      <p:sp>
        <p:nvSpPr>
          <p:cNvPr id="130" name="posture"/>
          <p:cNvSpPr/>
          <p:nvPr/>
        </p:nvSpPr>
        <p:spPr>
          <a:xfrm>
            <a:off x="201168" y="4992624"/>
            <a:ext cx="11789359" cy="640080"/>
          </a:xfrm>
          <a:prstGeom prst="roundRect">
            <a:avLst>
              <a:gd name="adj" fmla="val 12000"/>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10896" y="4992624"/>
            <a:ext cx="1417320" cy="640080"/>
          </a:xfrm>
          <a:prstGeom prst="rect">
            <a:avLst/>
          </a:prstGeom>
          <a:noFill/>
        </p:spPr>
        <p:txBody>
          <a:bodyPr wrap="square" lIns="36576" rIns="36576" tIns="9144" bIns="9144" anchor="ctr">
            <a:spAutoFit/>
          </a:bodyPr>
          <a:lstStyle/>
          <a:p>
            <a:pPr algn="l"/>
            <a:r>
              <a:rPr sz="1100" b="1" i="0">
                <a:solidFill>
                  <a:srgbClr val="FFFFFF"/>
                </a:solidFill>
                <a:latin typeface="Calibri"/>
              </a:rPr>
              <a:t>DEVICE POSTURE</a:t>
            </a:r>
          </a:p>
          <a:p>
            <a:pPr algn="l"/>
            <a:r>
              <a:rPr sz="1100" b="1" i="0">
                <a:solidFill>
                  <a:srgbClr val="FFFFFF"/>
                </a:solidFill>
                <a:latin typeface="Calibri"/>
              </a:rPr>
              <a:t>— the anchor</a:t>
            </a:r>
          </a:p>
        </p:txBody>
      </p:sp>
      <p:sp>
        <p:nvSpPr>
          <p:cNvPr id="132" name="sep"/>
          <p:cNvSpPr/>
          <p:nvPr/>
        </p:nvSpPr>
        <p:spPr>
          <a:xfrm>
            <a:off x="1773936" y="5102352"/>
            <a:ext cx="10972" cy="420623"/>
          </a:xfrm>
          <a:prstGeom prst="rect">
            <a:avLst/>
          </a:prstGeom>
          <a:solidFill>
            <a:srgbClr val="7FC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828800" y="4992624"/>
            <a:ext cx="2421559" cy="640080"/>
          </a:xfrm>
          <a:prstGeom prst="rect">
            <a:avLst/>
          </a:prstGeom>
          <a:noFill/>
        </p:spPr>
        <p:txBody>
          <a:bodyPr wrap="square" lIns="27432" rIns="27432" tIns="9144" bIns="9144" anchor="ctr">
            <a:spAutoFit/>
          </a:bodyPr>
          <a:lstStyle/>
          <a:p>
            <a:pPr algn="l"/>
            <a:r>
              <a:rPr sz="1100" b="1" i="0">
                <a:solidFill>
                  <a:srgbClr val="FFFFFF"/>
                </a:solidFill>
                <a:latin typeface="Calibri"/>
              </a:rPr>
              <a:t>11  </a:t>
            </a:r>
            <a:r>
              <a:rPr sz="1000" b="0" i="0">
                <a:solidFill>
                  <a:srgbClr val="FFFFFF"/>
                </a:solidFill>
                <a:latin typeface="Calibri"/>
              </a:rPr>
              <a:t>Device Check types — anti-malware, firewall, disk encryption, patch, certificate, DLP agent and more</a:t>
            </a:r>
          </a:p>
        </p:txBody>
      </p:sp>
      <p:sp>
        <p:nvSpPr>
          <p:cNvPr id="134" name="sep"/>
          <p:cNvSpPr/>
          <p:nvPr/>
        </p:nvSpPr>
        <p:spPr>
          <a:xfrm>
            <a:off x="4305223" y="5102352"/>
            <a:ext cx="10972" cy="420623"/>
          </a:xfrm>
          <a:prstGeom prst="rect">
            <a:avLst/>
          </a:prstGeom>
          <a:solidFill>
            <a:srgbClr val="7FC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4360087" y="4992624"/>
            <a:ext cx="2421559" cy="640080"/>
          </a:xfrm>
          <a:prstGeom prst="rect">
            <a:avLst/>
          </a:prstGeom>
          <a:noFill/>
        </p:spPr>
        <p:txBody>
          <a:bodyPr wrap="square" lIns="27432" rIns="27432" tIns="9144" bIns="9144" anchor="ctr">
            <a:spAutoFit/>
          </a:bodyPr>
          <a:lstStyle/>
          <a:p>
            <a:pPr algn="l"/>
            <a:r>
              <a:rPr sz="1100" b="1" i="0">
                <a:solidFill>
                  <a:srgbClr val="FFFFFF"/>
                </a:solidFill>
                <a:latin typeface="Calibri"/>
              </a:rPr>
              <a:t>10 min  </a:t>
            </a:r>
            <a:r>
              <a:rPr sz="1000" b="0" i="0">
                <a:solidFill>
                  <a:srgbClr val="FFFFFF"/>
                </a:solidFill>
                <a:latin typeface="Calibri"/>
              </a:rPr>
              <a:t>continuous checks by default since 7 Aug 2026 — enforced all the time, not proven once at login</a:t>
            </a:r>
          </a:p>
        </p:txBody>
      </p:sp>
      <p:sp>
        <p:nvSpPr>
          <p:cNvPr id="136" name="sep"/>
          <p:cNvSpPr/>
          <p:nvPr/>
        </p:nvSpPr>
        <p:spPr>
          <a:xfrm>
            <a:off x="6836511" y="5102352"/>
            <a:ext cx="10972" cy="420623"/>
          </a:xfrm>
          <a:prstGeom prst="rect">
            <a:avLst/>
          </a:prstGeom>
          <a:solidFill>
            <a:srgbClr val="7FC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891375" y="4992624"/>
            <a:ext cx="2421559" cy="640080"/>
          </a:xfrm>
          <a:prstGeom prst="rect">
            <a:avLst/>
          </a:prstGeom>
          <a:noFill/>
        </p:spPr>
        <p:txBody>
          <a:bodyPr wrap="square" lIns="27432" rIns="27432" tIns="9144" bIns="9144" anchor="ctr">
            <a:spAutoFit/>
          </a:bodyPr>
          <a:lstStyle/>
          <a:p>
            <a:pPr algn="l"/>
            <a:r>
              <a:rPr sz="1100" b="1" i="0">
                <a:solidFill>
                  <a:srgbClr val="FFFFFF"/>
                </a:solidFill>
                <a:latin typeface="Calibri"/>
              </a:rPr>
              <a:t>Fail  </a:t>
            </a:r>
            <a:r>
              <a:rPr sz="1000" b="0" i="0">
                <a:solidFill>
                  <a:srgbClr val="FFFFFF"/>
                </a:solidFill>
                <a:latin typeface="Calibri"/>
              </a:rPr>
              <a:t>refused or disconnected; a Client Connectivity Policy event records the unmet requirement</a:t>
            </a:r>
          </a:p>
        </p:txBody>
      </p:sp>
      <p:sp>
        <p:nvSpPr>
          <p:cNvPr id="138" name="sep"/>
          <p:cNvSpPr/>
          <p:nvPr/>
        </p:nvSpPr>
        <p:spPr>
          <a:xfrm>
            <a:off x="9367799" y="5102352"/>
            <a:ext cx="10972" cy="420623"/>
          </a:xfrm>
          <a:prstGeom prst="rect">
            <a:avLst/>
          </a:prstGeom>
          <a:solidFill>
            <a:srgbClr val="7FC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9422663" y="4992624"/>
            <a:ext cx="2421559" cy="640080"/>
          </a:xfrm>
          <a:prstGeom prst="rect">
            <a:avLst/>
          </a:prstGeom>
          <a:noFill/>
        </p:spPr>
        <p:txBody>
          <a:bodyPr wrap="square" lIns="27432" rIns="27432" tIns="9144" bIns="9144" anchor="ctr">
            <a:spAutoFit/>
          </a:bodyPr>
          <a:lstStyle/>
          <a:p>
            <a:pPr algn="l"/>
            <a:r>
              <a:rPr sz="1100" b="1" i="0">
                <a:solidFill>
                  <a:srgbClr val="FFFFFF"/>
                </a:solidFill>
                <a:latin typeface="Calibri"/>
              </a:rPr>
              <a:t>Gate  </a:t>
            </a:r>
            <a:r>
              <a:rPr sz="1000" b="0" i="0">
                <a:solidFill>
                  <a:srgbClr val="FFFFFF"/>
                </a:solidFill>
                <a:latin typeface="Calibri"/>
              </a:rPr>
              <a:t>Posture Profiles are conditions in Client Connectivity Policy, Firewall rules and Always-On — no opt-out</a:t>
            </a:r>
          </a:p>
        </p:txBody>
      </p:sp>
      <p:sp>
        <p:nvSpPr>
          <p:cNvPr id="140" name="evidence"/>
          <p:cNvSpPr/>
          <p:nvPr/>
        </p:nvSpPr>
        <p:spPr>
          <a:xfrm>
            <a:off x="201168" y="5705856"/>
            <a:ext cx="11789359" cy="512064"/>
          </a:xfrm>
          <a:prstGeom prst="roundRect">
            <a:avLst>
              <a:gd name="adj" fmla="val 12000"/>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10896" y="5705856"/>
            <a:ext cx="1417320" cy="512064"/>
          </a:xfrm>
          <a:prstGeom prst="rect">
            <a:avLst/>
          </a:prstGeom>
          <a:noFill/>
        </p:spPr>
        <p:txBody>
          <a:bodyPr wrap="square" lIns="36576" rIns="36576" tIns="9144" bIns="9144" anchor="ctr">
            <a:spAutoFit/>
          </a:bodyPr>
          <a:lstStyle/>
          <a:p>
            <a:pPr algn="l"/>
            <a:r>
              <a:rPr sz="1100" b="1" i="0">
                <a:solidFill>
                  <a:srgbClr val="051820"/>
                </a:solidFill>
                <a:latin typeface="Calibri"/>
              </a:rPr>
              <a:t>EVIDENCE</a:t>
            </a:r>
          </a:p>
          <a:p>
            <a:pPr algn="l"/>
            <a:r>
              <a:rPr sz="1100" b="1" i="0">
                <a:solidFill>
                  <a:srgbClr val="051820"/>
                </a:solidFill>
                <a:latin typeface="Calibri"/>
              </a:rPr>
              <a:t>surfaces</a:t>
            </a:r>
          </a:p>
        </p:txBody>
      </p:sp>
      <p:sp>
        <p:nvSpPr>
          <p:cNvPr id="142" name="sep"/>
          <p:cNvSpPr/>
          <p:nvPr/>
        </p:nvSpPr>
        <p:spPr>
          <a:xfrm>
            <a:off x="1773936" y="5797296"/>
            <a:ext cx="10972" cy="32918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828800" y="5705856"/>
            <a:ext cx="3265322" cy="512064"/>
          </a:xfrm>
          <a:prstGeom prst="rect">
            <a:avLst/>
          </a:prstGeom>
          <a:noFill/>
        </p:spPr>
        <p:txBody>
          <a:bodyPr wrap="square" lIns="27432" rIns="27432" tIns="9144" bIns="9144" anchor="ctr">
            <a:spAutoFit/>
          </a:bodyPr>
          <a:lstStyle/>
          <a:p>
            <a:pPr algn="l"/>
            <a:r>
              <a:rPr sz="1000" b="1" i="0">
                <a:solidFill>
                  <a:srgbClr val="0E8A6D"/>
                </a:solidFill>
                <a:latin typeface="Calibri"/>
              </a:rPr>
              <a:t>Audit Trail  </a:t>
            </a:r>
            <a:r>
              <a:rPr sz="1000" b="0" i="0">
                <a:solidFill>
                  <a:srgbClr val="0D1A16"/>
                </a:solidFill>
                <a:latin typeface="Calibri"/>
              </a:rPr>
              <a:t>12 months of attributed configuration change, before/after values for certain policies (Account → Audit Trail)</a:t>
            </a:r>
          </a:p>
        </p:txBody>
      </p:sp>
      <p:sp>
        <p:nvSpPr>
          <p:cNvPr id="144" name="sep"/>
          <p:cNvSpPr/>
          <p:nvPr/>
        </p:nvSpPr>
        <p:spPr>
          <a:xfrm>
            <a:off x="5148986" y="5797296"/>
            <a:ext cx="10972" cy="32918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203850" y="5705856"/>
            <a:ext cx="3265322" cy="512064"/>
          </a:xfrm>
          <a:prstGeom prst="rect">
            <a:avLst/>
          </a:prstGeom>
          <a:noFill/>
        </p:spPr>
        <p:txBody>
          <a:bodyPr wrap="square" lIns="27432" rIns="27432" tIns="9144" bIns="9144" anchor="ctr">
            <a:spAutoFit/>
          </a:bodyPr>
          <a:lstStyle/>
          <a:p>
            <a:pPr algn="l"/>
            <a:r>
              <a:rPr sz="1000" b="1" i="0">
                <a:solidFill>
                  <a:srgbClr val="0E8A6D"/>
                </a:solidFill>
                <a:latin typeface="Calibri"/>
              </a:rPr>
              <a:t>Events &amp; Data Lake  </a:t>
            </a:r>
            <a:r>
              <a:rPr sz="1000" b="0" i="0">
                <a:solidFill>
                  <a:srgbClr val="0D1A16"/>
                </a:solidFill>
                <a:latin typeface="Calibri"/>
              </a:rPr>
              <a:t>every enforcement decision, identity-attributed; 3 months base retention, extendable to 12 (Home → Events)</a:t>
            </a:r>
          </a:p>
        </p:txBody>
      </p:sp>
      <p:sp>
        <p:nvSpPr>
          <p:cNvPr id="146" name="sep"/>
          <p:cNvSpPr/>
          <p:nvPr/>
        </p:nvSpPr>
        <p:spPr>
          <a:xfrm>
            <a:off x="8524036" y="5797296"/>
            <a:ext cx="10972" cy="329184"/>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8578900" y="5705856"/>
            <a:ext cx="3265322" cy="512064"/>
          </a:xfrm>
          <a:prstGeom prst="rect">
            <a:avLst/>
          </a:prstGeom>
          <a:noFill/>
        </p:spPr>
        <p:txBody>
          <a:bodyPr wrap="square" lIns="27432" rIns="27432" tIns="9144" bIns="9144" anchor="ctr">
            <a:spAutoFit/>
          </a:bodyPr>
          <a:lstStyle/>
          <a:p>
            <a:pPr algn="l"/>
            <a:r>
              <a:rPr sz="1000" b="1" i="0">
                <a:solidFill>
                  <a:srgbClr val="0E8A6D"/>
                </a:solidFill>
                <a:latin typeface="Calibri"/>
              </a:rPr>
              <a:t>Scheduled reports  </a:t>
            </a:r>
            <a:r>
              <a:rPr sz="1000" b="0" i="0">
                <a:solidFill>
                  <a:srgbClr val="0D1A16"/>
                </a:solidFill>
                <a:latin typeface="Calibri"/>
              </a:rPr>
              <a:t>Posture Compliance Report (account-posture checks) — daily, weekly or monthly, emailed or downloaded</a:t>
            </a:r>
          </a:p>
        </p:txBody>
      </p:sp>
      <p:sp>
        <p:nvSpPr>
          <p:cNvPr id="148" name="footrule"/>
          <p:cNvSpPr/>
          <p:nvPr/>
        </p:nvSpPr>
        <p:spPr>
          <a:xfrm>
            <a:off x="201168" y="6291072"/>
            <a:ext cx="11789359"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01168" y="6318504"/>
            <a:ext cx="8778240" cy="384048"/>
          </a:xfrm>
          <a:prstGeom prst="rect">
            <a:avLst/>
          </a:prstGeom>
          <a:noFill/>
        </p:spPr>
        <p:txBody>
          <a:bodyPr wrap="square" lIns="54864" rIns="54864" tIns="9144" bIns="9144" anchor="t">
            <a:spAutoFit/>
          </a:bodyPr>
          <a:lstStyle/>
          <a:p>
            <a:pPr algn="l"/>
            <a:r>
              <a:rPr sz="1000" b="1" i="0">
                <a:solidFill>
                  <a:srgbClr val="051820"/>
                </a:solidFill>
                <a:latin typeface="Calibri"/>
              </a:rPr>
              <a:t>Supplier file (A.5.19–5.22, A.8.21)  </a:t>
            </a:r>
            <a:r>
              <a:rPr sz="1000" b="0" i="0">
                <a:solidFill>
                  <a:srgbClr val="45524D"/>
                </a:solidFill>
                <a:latin typeface="Calibri"/>
              </a:rPr>
              <a:t>Cato's own ISO/IEC 27001:2022 and SOC 2 Type II are listed on the Cato Trust Center (vendor-reported; pull the certificates under NDA). They evidence the supplier, never the customer.</a:t>
            </a:r>
          </a:p>
        </p:txBody>
      </p:sp>
      <p:sp>
        <p:nvSpPr>
          <p:cNvPr id="150" name="TextBox 149"/>
          <p:cNvSpPr txBox="1"/>
          <p:nvPr/>
        </p:nvSpPr>
        <p:spPr>
          <a:xfrm>
            <a:off x="9064447" y="6318504"/>
            <a:ext cx="2926080" cy="384048"/>
          </a:xfrm>
          <a:prstGeom prst="rect">
            <a:avLst/>
          </a:prstGeom>
          <a:noFill/>
        </p:spPr>
        <p:txBody>
          <a:bodyPr wrap="square" lIns="54864" rIns="54864" tIns="9144" bIns="9144" anchor="t">
            <a:spAutoFit/>
          </a:bodyPr>
          <a:lstStyle/>
          <a:p>
            <a:pPr algn="r"/>
            <a:r>
              <a:rPr sz="1000" b="0" i="0">
                <a:solidFill>
                  <a:srgbClr val="45524D"/>
                </a:solidFill>
                <a:latin typeface="Calibri"/>
              </a:rPr>
              <a:t>Cato Networks — SE enablement</a:t>
            </a:r>
          </a:p>
          <a:p>
            <a:pPr algn="r"/>
            <a:r>
              <a:rPr sz="1000" b="0" i="0">
                <a:solidFill>
                  <a:srgbClr val="45524D"/>
                </a:solidFill>
                <a:latin typeface="Calibri"/>
              </a:rPr>
              <a:t>Use Case Library · security-iso27001 · Sep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B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292608"/>
          </a:xfrm>
          <a:prstGeom prst="rect">
            <a:avLst/>
          </a:prstGeom>
          <a:noFill/>
        </p:spPr>
        <p:txBody>
          <a:bodyPr wrap="square" lIns="0" rIns="0" tIns="9144" bIns="9144" anchor="ctr">
            <a:spAutoFit/>
          </a:bodyPr>
          <a:lstStyle/>
          <a:p>
            <a:pPr algn="l"/>
            <a:r>
              <a:rPr sz="1100" b="1" i="0">
                <a:solidFill>
                  <a:srgbClr val="0E8A6D"/>
                </a:solidFill>
                <a:latin typeface="Calibri"/>
              </a:rPr>
              <a:t>EVIDENCE SURFACES</a:t>
            </a:r>
          </a:p>
        </p:txBody>
      </p:sp>
      <p:sp>
        <p:nvSpPr>
          <p:cNvPr id="4" name="TextBox 3"/>
          <p:cNvSpPr txBox="1"/>
          <p:nvPr/>
        </p:nvSpPr>
        <p:spPr>
          <a:xfrm>
            <a:off x="548640" y="676656"/>
            <a:ext cx="11094415" cy="566928"/>
          </a:xfrm>
          <a:prstGeom prst="rect">
            <a:avLst/>
          </a:prstGeom>
          <a:noFill/>
        </p:spPr>
        <p:txBody>
          <a:bodyPr wrap="square" lIns="0" rIns="0" tIns="9144" bIns="9144" anchor="ctr">
            <a:spAutoFit/>
          </a:bodyPr>
          <a:lstStyle/>
          <a:p>
            <a:pPr algn="l"/>
            <a:r>
              <a:rPr sz="2600" b="1" i="0">
                <a:solidFill>
                  <a:srgbClr val="0D1A16"/>
                </a:solidFill>
                <a:latin typeface="Calibri"/>
              </a:rPr>
              <a:t>Where the auditor's artefacts come from</a:t>
            </a:r>
          </a:p>
        </p:txBody>
      </p:sp>
      <p:sp>
        <p:nvSpPr>
          <p:cNvPr id="5" name="titlebar"/>
          <p:cNvSpPr/>
          <p:nvPr/>
        </p:nvSpPr>
        <p:spPr>
          <a:xfrm>
            <a:off x="548640" y="1298448"/>
            <a:ext cx="914400" cy="4572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to-lockup" descr="lockup-green.png"/>
          <p:cNvPicPr>
            <a:picLocks noChangeAspect="1"/>
          </p:cNvPicPr>
          <p:nvPr/>
        </p:nvPicPr>
        <p:blipFill>
          <a:blip r:embed="rId2"/>
          <a:stretch>
            <a:fillRect/>
          </a:stretch>
        </p:blipFill>
        <p:spPr>
          <a:xfrm>
            <a:off x="10602342" y="6153912"/>
            <a:ext cx="1040713" cy="429768"/>
          </a:xfrm>
          <a:prstGeom prst="rect">
            <a:avLst/>
          </a:prstGeom>
        </p:spPr>
      </p:pic>
      <p:sp>
        <p:nvSpPr>
          <p:cNvPr id="7" name="TextBox 6"/>
          <p:cNvSpPr txBox="1"/>
          <p:nvPr/>
        </p:nvSpPr>
        <p:spPr>
          <a:xfrm>
            <a:off x="548640" y="6327648"/>
            <a:ext cx="6858000" cy="274320"/>
          </a:xfrm>
          <a:prstGeom prst="rect">
            <a:avLst/>
          </a:prstGeom>
          <a:noFill/>
        </p:spPr>
        <p:txBody>
          <a:bodyPr wrap="square" lIns="0" rIns="0" tIns="9144" bIns="9144" anchor="ctr">
            <a:spAutoFit/>
          </a:bodyPr>
          <a:lstStyle/>
          <a:p>
            <a:pPr algn="l"/>
            <a:r>
              <a:rPr sz="1100" b="1" i="0">
                <a:solidFill>
                  <a:srgbClr val="45524D"/>
                </a:solidFill>
                <a:latin typeface="Calibri"/>
              </a:rPr>
              <a:t>ISO/IEC 27001:2022 with Cato</a:t>
            </a:r>
            <a:r>
              <a:rPr sz="1100" b="0" i="0">
                <a:solidFill>
                  <a:srgbClr val="45524D"/>
                </a:solidFill>
                <a:latin typeface="Calibri"/>
              </a:rPr>
              <a:t>   ·   Cato Networks — SASE enablement   ·   6 / 9</a:t>
            </a:r>
          </a:p>
        </p:txBody>
      </p:sp>
      <p:sp>
        <p:nvSpPr>
          <p:cNvPr id="8" name="TextBox 7"/>
          <p:cNvSpPr txBox="1"/>
          <p:nvPr/>
        </p:nvSpPr>
        <p:spPr>
          <a:xfrm>
            <a:off x="548640" y="1417320"/>
            <a:ext cx="11094415" cy="365760"/>
          </a:xfrm>
          <a:prstGeom prst="rect">
            <a:avLst/>
          </a:prstGeom>
          <a:noFill/>
        </p:spPr>
        <p:txBody>
          <a:bodyPr wrap="square" lIns="0" rIns="0" tIns="9144" bIns="9144" anchor="ctr">
            <a:spAutoFit/>
          </a:bodyPr>
          <a:lstStyle/>
          <a:p>
            <a:pPr algn="l"/>
            <a:r>
              <a:rPr sz="1200" b="0" i="0">
                <a:solidFill>
                  <a:srgbClr val="45524D"/>
                </a:solidFill>
                <a:latin typeface="Calibri"/>
              </a:rPr>
              <a:t>None of this evidence is assembled by hand — each surface is a standing feature of the platform, and the proof of value turns each one into a dated artefact.</a:t>
            </a:r>
          </a:p>
        </p:txBody>
      </p:sp>
      <p:sp>
        <p:nvSpPr>
          <p:cNvPr id="9" name="card"/>
          <p:cNvSpPr/>
          <p:nvPr/>
        </p:nvSpPr>
        <p:spPr>
          <a:xfrm>
            <a:off x="548640" y="1874519"/>
            <a:ext cx="2087209" cy="4041648"/>
          </a:xfrm>
          <a:prstGeom prst="roundRect">
            <a:avLst>
              <a:gd name="adj" fmla="val 3504"/>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top"/>
          <p:cNvSpPr/>
          <p:nvPr/>
        </p:nvSpPr>
        <p:spPr>
          <a:xfrm>
            <a:off x="548640" y="1874519"/>
            <a:ext cx="2087209" cy="64008"/>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39112"/>
            <a:ext cx="1758025" cy="566928"/>
          </a:xfrm>
          <a:prstGeom prst="rect">
            <a:avLst/>
          </a:prstGeom>
          <a:noFill/>
        </p:spPr>
        <p:txBody>
          <a:bodyPr wrap="square" lIns="0" rIns="0" tIns="9144" bIns="9144" anchor="t">
            <a:spAutoFit/>
          </a:bodyPr>
          <a:lstStyle/>
          <a:p>
            <a:pPr algn="l">
              <a:lnSpc>
                <a:spcPct val="100000"/>
              </a:lnSpc>
            </a:pPr>
            <a:r>
              <a:rPr sz="1400" b="1" i="0">
                <a:solidFill>
                  <a:srgbClr val="051820"/>
                </a:solidFill>
                <a:latin typeface="Calibri"/>
              </a:rPr>
              <a:t>Audit Trail</a:t>
            </a:r>
          </a:p>
        </p:txBody>
      </p:sp>
      <p:sp>
        <p:nvSpPr>
          <p:cNvPr id="12" name="TextBox 11"/>
          <p:cNvSpPr txBox="1"/>
          <p:nvPr/>
        </p:nvSpPr>
        <p:spPr>
          <a:xfrm>
            <a:off x="713232" y="2624327"/>
            <a:ext cx="1758025" cy="384048"/>
          </a:xfrm>
          <a:prstGeom prst="rect">
            <a:avLst/>
          </a:prstGeom>
          <a:noFill/>
        </p:spPr>
        <p:txBody>
          <a:bodyPr wrap="square" lIns="0" rIns="0" tIns="9144" bIns="9144" anchor="t">
            <a:spAutoFit/>
          </a:bodyPr>
          <a:lstStyle/>
          <a:p>
            <a:pPr algn="l"/>
            <a:r>
              <a:rPr sz="1100" b="1" i="0">
                <a:solidFill>
                  <a:srgbClr val="0E8A6D"/>
                </a:solidFill>
                <a:latin typeface="Calibri"/>
              </a:rPr>
              <a:t>Account → Audit Trail</a:t>
            </a:r>
          </a:p>
        </p:txBody>
      </p:sp>
      <p:sp>
        <p:nvSpPr>
          <p:cNvPr id="13" name="hair"/>
          <p:cNvSpPr/>
          <p:nvPr/>
        </p:nvSpPr>
        <p:spPr>
          <a:xfrm>
            <a:off x="713232" y="3035808"/>
            <a:ext cx="1758025"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118104"/>
            <a:ext cx="1758025" cy="1664208"/>
          </a:xfrm>
          <a:prstGeom prst="rect">
            <a:avLst/>
          </a:prstGeom>
          <a:noFill/>
        </p:spPr>
        <p:txBody>
          <a:bodyPr wrap="square" lIns="0" rIns="0" tIns="9144" bIns="9144" anchor="t">
            <a:spAutoFit/>
          </a:bodyPr>
          <a:lstStyle/>
          <a:p>
            <a:pPr algn="l">
              <a:lnSpc>
                <a:spcPct val="105000"/>
              </a:lnSpc>
            </a:pPr>
            <a:r>
              <a:rPr sz="1100" b="0" i="0">
                <a:solidFill>
                  <a:srgbClr val="0D1A16"/>
                </a:solidFill>
                <a:latin typeface="Calibri"/>
              </a:rPr>
              <a:t>Every configuration change by an administrator or the API — additions, deletions and edits — with before/after values for certain policies.</a:t>
            </a:r>
          </a:p>
        </p:txBody>
      </p:sp>
      <p:sp>
        <p:nvSpPr>
          <p:cNvPr id="15" name="TextBox 14"/>
          <p:cNvSpPr txBox="1"/>
          <p:nvPr/>
        </p:nvSpPr>
        <p:spPr>
          <a:xfrm>
            <a:off x="713232" y="4818888"/>
            <a:ext cx="1758025" cy="713232"/>
          </a:xfrm>
          <a:prstGeom prst="rect">
            <a:avLst/>
          </a:prstGeom>
          <a:noFill/>
        </p:spPr>
        <p:txBody>
          <a:bodyPr wrap="square" lIns="0" rIns="0" tIns="9144" bIns="9144" anchor="t">
            <a:spAutoFit/>
          </a:bodyPr>
          <a:lstStyle/>
          <a:p>
            <a:pPr algn="l">
              <a:lnSpc>
                <a:spcPct val="105000"/>
              </a:lnSpc>
            </a:pPr>
            <a:r>
              <a:rPr sz="1100" b="1" i="0">
                <a:solidFill>
                  <a:srgbClr val="45524D"/>
                </a:solidFill>
                <a:latin typeface="Calibri"/>
              </a:rPr>
              <a:t>12 months retained, viewable 3 months at a time.</a:t>
            </a:r>
          </a:p>
        </p:txBody>
      </p:sp>
      <p:sp>
        <p:nvSpPr>
          <p:cNvPr id="16" name="TextBox 15"/>
          <p:cNvSpPr txBox="1"/>
          <p:nvPr/>
        </p:nvSpPr>
        <p:spPr>
          <a:xfrm>
            <a:off x="713232" y="5568696"/>
            <a:ext cx="1758025" cy="274320"/>
          </a:xfrm>
          <a:prstGeom prst="rect">
            <a:avLst/>
          </a:prstGeom>
          <a:noFill/>
        </p:spPr>
        <p:txBody>
          <a:bodyPr wrap="square" lIns="0" rIns="0" tIns="9144" bIns="9144" anchor="ctr">
            <a:spAutoFit/>
          </a:bodyPr>
          <a:lstStyle/>
          <a:p>
            <a:pPr algn="l"/>
            <a:r>
              <a:rPr sz="1100" b="1" i="0">
                <a:solidFill>
                  <a:srgbClr val="0E8A6D"/>
                </a:solidFill>
                <a:latin typeface="Calibri"/>
              </a:rPr>
              <a:t>A.8.9 · A.5.15 · A.5.18</a:t>
            </a:r>
          </a:p>
        </p:txBody>
      </p:sp>
      <p:sp>
        <p:nvSpPr>
          <p:cNvPr id="17" name="card"/>
          <p:cNvSpPr/>
          <p:nvPr/>
        </p:nvSpPr>
        <p:spPr>
          <a:xfrm>
            <a:off x="2800441" y="1874519"/>
            <a:ext cx="2087209" cy="4041648"/>
          </a:xfrm>
          <a:prstGeom prst="roundRect">
            <a:avLst>
              <a:gd name="adj" fmla="val 3504"/>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dtop"/>
          <p:cNvSpPr/>
          <p:nvPr/>
        </p:nvSpPr>
        <p:spPr>
          <a:xfrm>
            <a:off x="2800441" y="1874519"/>
            <a:ext cx="2087209" cy="64008"/>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65033" y="2039112"/>
            <a:ext cx="1758025" cy="566928"/>
          </a:xfrm>
          <a:prstGeom prst="rect">
            <a:avLst/>
          </a:prstGeom>
          <a:noFill/>
        </p:spPr>
        <p:txBody>
          <a:bodyPr wrap="square" lIns="0" rIns="0" tIns="9144" bIns="9144" anchor="t">
            <a:spAutoFit/>
          </a:bodyPr>
          <a:lstStyle/>
          <a:p>
            <a:pPr algn="l">
              <a:lnSpc>
                <a:spcPct val="100000"/>
              </a:lnSpc>
            </a:pPr>
            <a:r>
              <a:rPr sz="1400" b="1" i="0">
                <a:solidFill>
                  <a:srgbClr val="051820"/>
                </a:solidFill>
                <a:latin typeface="Calibri"/>
              </a:rPr>
              <a:t>Events &amp; Data Lake</a:t>
            </a:r>
          </a:p>
        </p:txBody>
      </p:sp>
      <p:sp>
        <p:nvSpPr>
          <p:cNvPr id="20" name="TextBox 19"/>
          <p:cNvSpPr txBox="1"/>
          <p:nvPr/>
        </p:nvSpPr>
        <p:spPr>
          <a:xfrm>
            <a:off x="2965033" y="2624327"/>
            <a:ext cx="1758025" cy="384048"/>
          </a:xfrm>
          <a:prstGeom prst="rect">
            <a:avLst/>
          </a:prstGeom>
          <a:noFill/>
        </p:spPr>
        <p:txBody>
          <a:bodyPr wrap="square" lIns="0" rIns="0" tIns="9144" bIns="9144" anchor="t">
            <a:spAutoFit/>
          </a:bodyPr>
          <a:lstStyle/>
          <a:p>
            <a:pPr algn="l"/>
            <a:r>
              <a:rPr sz="1100" b="1" i="0">
                <a:solidFill>
                  <a:srgbClr val="0E8A6D"/>
                </a:solidFill>
                <a:latin typeface="Calibri"/>
              </a:rPr>
              <a:t>Home → Events</a:t>
            </a:r>
          </a:p>
        </p:txBody>
      </p:sp>
      <p:sp>
        <p:nvSpPr>
          <p:cNvPr id="21" name="hair"/>
          <p:cNvSpPr/>
          <p:nvPr/>
        </p:nvSpPr>
        <p:spPr>
          <a:xfrm>
            <a:off x="2965033" y="3035808"/>
            <a:ext cx="1758025"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65033" y="3118104"/>
            <a:ext cx="1758025" cy="1664208"/>
          </a:xfrm>
          <a:prstGeom prst="rect">
            <a:avLst/>
          </a:prstGeom>
          <a:noFill/>
        </p:spPr>
        <p:txBody>
          <a:bodyPr wrap="square" lIns="0" rIns="0" tIns="9144" bIns="9144" anchor="t">
            <a:spAutoFit/>
          </a:bodyPr>
          <a:lstStyle/>
          <a:p>
            <a:pPr algn="l">
              <a:lnSpc>
                <a:spcPct val="105000"/>
              </a:lnSpc>
            </a:pPr>
            <a:r>
              <a:rPr sz="1100" b="0" i="0">
                <a:solidFill>
                  <a:srgbClr val="0D1A16"/>
                </a:solidFill>
                <a:latin typeface="Calibri"/>
              </a:rPr>
              <a:t>Every enforcement decision from every engine as an identity-attributed event; stream to a SIEM via Event Integrations.</a:t>
            </a:r>
          </a:p>
        </p:txBody>
      </p:sp>
      <p:sp>
        <p:nvSpPr>
          <p:cNvPr id="23" name="TextBox 22"/>
          <p:cNvSpPr txBox="1"/>
          <p:nvPr/>
        </p:nvSpPr>
        <p:spPr>
          <a:xfrm>
            <a:off x="2965033" y="4818888"/>
            <a:ext cx="1758025" cy="713232"/>
          </a:xfrm>
          <a:prstGeom prst="rect">
            <a:avLst/>
          </a:prstGeom>
          <a:noFill/>
        </p:spPr>
        <p:txBody>
          <a:bodyPr wrap="square" lIns="0" rIns="0" tIns="9144" bIns="9144" anchor="t">
            <a:spAutoFit/>
          </a:bodyPr>
          <a:lstStyle/>
          <a:p>
            <a:pPr algn="l">
              <a:lnSpc>
                <a:spcPct val="105000"/>
              </a:lnSpc>
            </a:pPr>
            <a:r>
              <a:rPr sz="1100" b="1" i="0">
                <a:solidFill>
                  <a:srgbClr val="45524D"/>
                </a:solidFill>
                <a:latin typeface="Calibri"/>
              </a:rPr>
              <a:t>3 months base retention, extendable to 12. Export cap 250,000 events per query, 31-day range.</a:t>
            </a:r>
          </a:p>
        </p:txBody>
      </p:sp>
      <p:sp>
        <p:nvSpPr>
          <p:cNvPr id="24" name="TextBox 23"/>
          <p:cNvSpPr txBox="1"/>
          <p:nvPr/>
        </p:nvSpPr>
        <p:spPr>
          <a:xfrm>
            <a:off x="2965033" y="5568696"/>
            <a:ext cx="1758025" cy="274320"/>
          </a:xfrm>
          <a:prstGeom prst="rect">
            <a:avLst/>
          </a:prstGeom>
          <a:noFill/>
        </p:spPr>
        <p:txBody>
          <a:bodyPr wrap="square" lIns="0" rIns="0" tIns="9144" bIns="9144" anchor="ctr">
            <a:spAutoFit/>
          </a:bodyPr>
          <a:lstStyle/>
          <a:p>
            <a:pPr algn="l"/>
            <a:r>
              <a:rPr sz="1100" b="1" i="0">
                <a:solidFill>
                  <a:srgbClr val="0E8A6D"/>
                </a:solidFill>
                <a:latin typeface="Calibri"/>
              </a:rPr>
              <a:t>A.8.15 · A.8.16</a:t>
            </a:r>
          </a:p>
        </p:txBody>
      </p:sp>
      <p:sp>
        <p:nvSpPr>
          <p:cNvPr id="25" name="card"/>
          <p:cNvSpPr/>
          <p:nvPr/>
        </p:nvSpPr>
        <p:spPr>
          <a:xfrm>
            <a:off x="5052242" y="1874519"/>
            <a:ext cx="2087209" cy="4041648"/>
          </a:xfrm>
          <a:prstGeom prst="roundRect">
            <a:avLst>
              <a:gd name="adj" fmla="val 3504"/>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rdtop"/>
          <p:cNvSpPr/>
          <p:nvPr/>
        </p:nvSpPr>
        <p:spPr>
          <a:xfrm>
            <a:off x="5052242" y="1874519"/>
            <a:ext cx="2087209" cy="64008"/>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6834" y="2039112"/>
            <a:ext cx="1758025" cy="566928"/>
          </a:xfrm>
          <a:prstGeom prst="rect">
            <a:avLst/>
          </a:prstGeom>
          <a:noFill/>
        </p:spPr>
        <p:txBody>
          <a:bodyPr wrap="square" lIns="0" rIns="0" tIns="9144" bIns="9144" anchor="t">
            <a:spAutoFit/>
          </a:bodyPr>
          <a:lstStyle/>
          <a:p>
            <a:pPr algn="l">
              <a:lnSpc>
                <a:spcPct val="100000"/>
              </a:lnSpc>
            </a:pPr>
            <a:r>
              <a:rPr sz="1400" b="1" i="0">
                <a:solidFill>
                  <a:srgbClr val="051820"/>
                </a:solidFill>
                <a:latin typeface="Calibri"/>
              </a:rPr>
              <a:t>Scheduled reports</a:t>
            </a:r>
          </a:p>
        </p:txBody>
      </p:sp>
      <p:sp>
        <p:nvSpPr>
          <p:cNvPr id="28" name="TextBox 27"/>
          <p:cNvSpPr txBox="1"/>
          <p:nvPr/>
        </p:nvSpPr>
        <p:spPr>
          <a:xfrm>
            <a:off x="5216834" y="2624327"/>
            <a:ext cx="1758025" cy="384048"/>
          </a:xfrm>
          <a:prstGeom prst="rect">
            <a:avLst/>
          </a:prstGeom>
          <a:noFill/>
        </p:spPr>
        <p:txBody>
          <a:bodyPr wrap="square" lIns="0" rIns="0" tIns="9144" bIns="9144" anchor="t">
            <a:spAutoFit/>
          </a:bodyPr>
          <a:lstStyle/>
          <a:p>
            <a:pPr algn="l"/>
            <a:r>
              <a:rPr sz="1100" b="1" i="0">
                <a:solidFill>
                  <a:srgbClr val="0E8A6D"/>
                </a:solidFill>
                <a:latin typeface="Calibri"/>
              </a:rPr>
              <a:t>Home → Reports</a:t>
            </a:r>
          </a:p>
        </p:txBody>
      </p:sp>
      <p:sp>
        <p:nvSpPr>
          <p:cNvPr id="29" name="hair"/>
          <p:cNvSpPr/>
          <p:nvPr/>
        </p:nvSpPr>
        <p:spPr>
          <a:xfrm>
            <a:off x="5216834" y="3035808"/>
            <a:ext cx="1758025"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6834" y="3118104"/>
            <a:ext cx="1758025" cy="1664208"/>
          </a:xfrm>
          <a:prstGeom prst="rect">
            <a:avLst/>
          </a:prstGeom>
          <a:noFill/>
        </p:spPr>
        <p:txBody>
          <a:bodyPr wrap="square" lIns="0" rIns="0" tIns="9144" bIns="9144" anchor="t">
            <a:spAutoFit/>
          </a:bodyPr>
          <a:lstStyle/>
          <a:p>
            <a:pPr algn="l">
              <a:lnSpc>
                <a:spcPct val="105000"/>
              </a:lnSpc>
            </a:pPr>
            <a:r>
              <a:rPr sz="1100" b="0" i="0">
                <a:solidFill>
                  <a:srgbClr val="0D1A16"/>
                </a:solidFill>
                <a:latin typeface="Calibri"/>
              </a:rPr>
              <a:t>The Posture Compliance Report maps account-posture checks to ISO 27001:2022, GDPR and NIST SP 800-53 Rev. 5 — coverage, gaps, remediation priority.</a:t>
            </a:r>
          </a:p>
        </p:txBody>
      </p:sp>
      <p:sp>
        <p:nvSpPr>
          <p:cNvPr id="31" name="TextBox 30"/>
          <p:cNvSpPr txBox="1"/>
          <p:nvPr/>
        </p:nvSpPr>
        <p:spPr>
          <a:xfrm>
            <a:off x="5216834" y="4818888"/>
            <a:ext cx="1758025" cy="713232"/>
          </a:xfrm>
          <a:prstGeom prst="rect">
            <a:avLst/>
          </a:prstGeom>
          <a:noFill/>
        </p:spPr>
        <p:txBody>
          <a:bodyPr wrap="square" lIns="0" rIns="0" tIns="9144" bIns="9144" anchor="t">
            <a:spAutoFit/>
          </a:bodyPr>
          <a:lstStyle/>
          <a:p>
            <a:pPr algn="l">
              <a:lnSpc>
                <a:spcPct val="105000"/>
              </a:lnSpc>
            </a:pPr>
            <a:r>
              <a:rPr sz="1100" b="1" i="0">
                <a:solidFill>
                  <a:srgbClr val="45524D"/>
                </a:solidFill>
                <a:latin typeface="Calibri"/>
              </a:rPr>
              <a:t>Daily, weekly or monthly; emailed or downloaded.</a:t>
            </a:r>
          </a:p>
        </p:txBody>
      </p:sp>
      <p:sp>
        <p:nvSpPr>
          <p:cNvPr id="32" name="TextBox 31"/>
          <p:cNvSpPr txBox="1"/>
          <p:nvPr/>
        </p:nvSpPr>
        <p:spPr>
          <a:xfrm>
            <a:off x="5216834" y="5568696"/>
            <a:ext cx="1758025" cy="274320"/>
          </a:xfrm>
          <a:prstGeom prst="rect">
            <a:avLst/>
          </a:prstGeom>
          <a:noFill/>
        </p:spPr>
        <p:txBody>
          <a:bodyPr wrap="square" lIns="0" rIns="0" tIns="9144" bIns="9144" anchor="ctr">
            <a:spAutoFit/>
          </a:bodyPr>
          <a:lstStyle/>
          <a:p>
            <a:pPr algn="l"/>
            <a:r>
              <a:rPr sz="1100" b="1" i="0">
                <a:solidFill>
                  <a:srgbClr val="0E8A6D"/>
                </a:solidFill>
                <a:latin typeface="Calibri"/>
              </a:rPr>
              <a:t>A.8.9 · A.8.16</a:t>
            </a:r>
          </a:p>
        </p:txBody>
      </p:sp>
      <p:sp>
        <p:nvSpPr>
          <p:cNvPr id="33" name="card"/>
          <p:cNvSpPr/>
          <p:nvPr/>
        </p:nvSpPr>
        <p:spPr>
          <a:xfrm>
            <a:off x="7304044" y="1874519"/>
            <a:ext cx="2087209" cy="4041648"/>
          </a:xfrm>
          <a:prstGeom prst="roundRect">
            <a:avLst>
              <a:gd name="adj" fmla="val 3504"/>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ardtop"/>
          <p:cNvSpPr/>
          <p:nvPr/>
        </p:nvSpPr>
        <p:spPr>
          <a:xfrm>
            <a:off x="7304044" y="1874519"/>
            <a:ext cx="2087209" cy="64008"/>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68636" y="2039112"/>
            <a:ext cx="1758025" cy="566928"/>
          </a:xfrm>
          <a:prstGeom prst="rect">
            <a:avLst/>
          </a:prstGeom>
          <a:noFill/>
        </p:spPr>
        <p:txBody>
          <a:bodyPr wrap="square" lIns="0" rIns="0" tIns="9144" bIns="9144" anchor="t">
            <a:spAutoFit/>
          </a:bodyPr>
          <a:lstStyle/>
          <a:p>
            <a:pPr algn="l">
              <a:lnSpc>
                <a:spcPct val="100000"/>
              </a:lnSpc>
            </a:pPr>
            <a:r>
              <a:rPr sz="1400" b="1" i="0">
                <a:solidFill>
                  <a:srgbClr val="051820"/>
                </a:solidFill>
                <a:latin typeface="Calibri"/>
              </a:rPr>
              <a:t>Policy revisions &amp; Publish</a:t>
            </a:r>
          </a:p>
        </p:txBody>
      </p:sp>
      <p:sp>
        <p:nvSpPr>
          <p:cNvPr id="36" name="TextBox 35"/>
          <p:cNvSpPr txBox="1"/>
          <p:nvPr/>
        </p:nvSpPr>
        <p:spPr>
          <a:xfrm>
            <a:off x="7468636" y="2624327"/>
            <a:ext cx="1758025" cy="384048"/>
          </a:xfrm>
          <a:prstGeom prst="rect">
            <a:avLst/>
          </a:prstGeom>
          <a:noFill/>
        </p:spPr>
        <p:txBody>
          <a:bodyPr wrap="square" lIns="0" rIns="0" tIns="9144" bIns="9144" anchor="t">
            <a:spAutoFit/>
          </a:bodyPr>
          <a:lstStyle/>
          <a:p>
            <a:pPr algn="l"/>
            <a:r>
              <a:rPr sz="1100" b="1" i="0">
                <a:solidFill>
                  <a:srgbClr val="0E8A6D"/>
                </a:solidFill>
                <a:latin typeface="Calibri"/>
              </a:rPr>
              <a:t>change control by design</a:t>
            </a:r>
          </a:p>
        </p:txBody>
      </p:sp>
      <p:sp>
        <p:nvSpPr>
          <p:cNvPr id="37" name="hair"/>
          <p:cNvSpPr/>
          <p:nvPr/>
        </p:nvSpPr>
        <p:spPr>
          <a:xfrm>
            <a:off x="7468636" y="3035808"/>
            <a:ext cx="1758025"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68636" y="3118104"/>
            <a:ext cx="1758025" cy="1664208"/>
          </a:xfrm>
          <a:prstGeom prst="rect">
            <a:avLst/>
          </a:prstGeom>
          <a:noFill/>
        </p:spPr>
        <p:txBody>
          <a:bodyPr wrap="square" lIns="0" rIns="0" tIns="9144" bIns="9144" anchor="t">
            <a:spAutoFit/>
          </a:bodyPr>
          <a:lstStyle/>
          <a:p>
            <a:pPr algn="l">
              <a:lnSpc>
                <a:spcPct val="105000"/>
              </a:lnSpc>
            </a:pPr>
            <a:r>
              <a:rPr sz="1100" b="0" i="0">
                <a:solidFill>
                  <a:srgbClr val="0D1A16"/>
                </a:solidFill>
                <a:latin typeface="Calibri"/>
              </a:rPr>
              <a:t>Each admin edits in a private unpublished revision; nothing takes effect until Publish and the Publish Revision confirmation.</a:t>
            </a:r>
          </a:p>
        </p:txBody>
      </p:sp>
      <p:sp>
        <p:nvSpPr>
          <p:cNvPr id="39" name="TextBox 38"/>
          <p:cNvSpPr txBox="1"/>
          <p:nvPr/>
        </p:nvSpPr>
        <p:spPr>
          <a:xfrm>
            <a:off x="7468636" y="4818888"/>
            <a:ext cx="1758025" cy="713232"/>
          </a:xfrm>
          <a:prstGeom prst="rect">
            <a:avLst/>
          </a:prstGeom>
          <a:noFill/>
        </p:spPr>
        <p:txBody>
          <a:bodyPr wrap="square" lIns="0" rIns="0" tIns="9144" bIns="9144" anchor="t">
            <a:spAutoFit/>
          </a:bodyPr>
          <a:lstStyle/>
          <a:p>
            <a:pPr algn="l">
              <a:lnSpc>
                <a:spcPct val="105000"/>
              </a:lnSpc>
            </a:pPr>
            <a:r>
              <a:rPr sz="1100" b="1" i="0">
                <a:solidFill>
                  <a:srgbClr val="45524D"/>
                </a:solidFill>
                <a:latin typeface="Calibri"/>
              </a:rPr>
              <a:t>Paired with the Audit Trail: the who, what and when of change.</a:t>
            </a:r>
          </a:p>
        </p:txBody>
      </p:sp>
      <p:sp>
        <p:nvSpPr>
          <p:cNvPr id="40" name="TextBox 39"/>
          <p:cNvSpPr txBox="1"/>
          <p:nvPr/>
        </p:nvSpPr>
        <p:spPr>
          <a:xfrm>
            <a:off x="7468636" y="5568696"/>
            <a:ext cx="1758025" cy="274320"/>
          </a:xfrm>
          <a:prstGeom prst="rect">
            <a:avLst/>
          </a:prstGeom>
          <a:noFill/>
        </p:spPr>
        <p:txBody>
          <a:bodyPr wrap="square" lIns="0" rIns="0" tIns="9144" bIns="9144" anchor="ctr">
            <a:spAutoFit/>
          </a:bodyPr>
          <a:lstStyle/>
          <a:p>
            <a:pPr algn="l"/>
            <a:r>
              <a:rPr sz="1100" b="1" i="0">
                <a:solidFill>
                  <a:srgbClr val="0E8A6D"/>
                </a:solidFill>
                <a:latin typeface="Calibri"/>
              </a:rPr>
              <a:t>A.8.9</a:t>
            </a:r>
          </a:p>
        </p:txBody>
      </p:sp>
      <p:sp>
        <p:nvSpPr>
          <p:cNvPr id="41" name="card"/>
          <p:cNvSpPr/>
          <p:nvPr/>
        </p:nvSpPr>
        <p:spPr>
          <a:xfrm>
            <a:off x="9555845" y="1874519"/>
            <a:ext cx="2087209" cy="4041648"/>
          </a:xfrm>
          <a:prstGeom prst="roundRect">
            <a:avLst>
              <a:gd name="adj" fmla="val 3504"/>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ardtop"/>
          <p:cNvSpPr/>
          <p:nvPr/>
        </p:nvSpPr>
        <p:spPr>
          <a:xfrm>
            <a:off x="9555845" y="1874519"/>
            <a:ext cx="2087209" cy="64008"/>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20437" y="2039112"/>
            <a:ext cx="1758025" cy="566928"/>
          </a:xfrm>
          <a:prstGeom prst="rect">
            <a:avLst/>
          </a:prstGeom>
          <a:noFill/>
        </p:spPr>
        <p:txBody>
          <a:bodyPr wrap="square" lIns="0" rIns="0" tIns="9144" bIns="9144" anchor="t">
            <a:spAutoFit/>
          </a:bodyPr>
          <a:lstStyle/>
          <a:p>
            <a:pPr algn="l">
              <a:lnSpc>
                <a:spcPct val="100000"/>
              </a:lnSpc>
            </a:pPr>
            <a:r>
              <a:rPr sz="1400" b="1" i="0">
                <a:solidFill>
                  <a:srgbClr val="051820"/>
                </a:solidFill>
                <a:latin typeface="Calibri"/>
              </a:rPr>
              <a:t>Admin MFA / SSO + RBAC</a:t>
            </a:r>
          </a:p>
        </p:txBody>
      </p:sp>
      <p:sp>
        <p:nvSpPr>
          <p:cNvPr id="44" name="TextBox 43"/>
          <p:cNvSpPr txBox="1"/>
          <p:nvPr/>
        </p:nvSpPr>
        <p:spPr>
          <a:xfrm>
            <a:off x="9720437" y="2624327"/>
            <a:ext cx="1758025" cy="384048"/>
          </a:xfrm>
          <a:prstGeom prst="rect">
            <a:avLst/>
          </a:prstGeom>
          <a:noFill/>
        </p:spPr>
        <p:txBody>
          <a:bodyPr wrap="square" lIns="0" rIns="0" tIns="9144" bIns="9144" anchor="t">
            <a:spAutoFit/>
          </a:bodyPr>
          <a:lstStyle/>
          <a:p>
            <a:pPr algn="l"/>
            <a:r>
              <a:rPr sz="1100" b="1" i="0">
                <a:solidFill>
                  <a:srgbClr val="0E8A6D"/>
                </a:solidFill>
                <a:latin typeface="Calibri"/>
              </a:rPr>
              <a:t>Account → Roles &amp; Permissions</a:t>
            </a:r>
          </a:p>
        </p:txBody>
      </p:sp>
      <p:sp>
        <p:nvSpPr>
          <p:cNvPr id="45" name="hair"/>
          <p:cNvSpPr/>
          <p:nvPr/>
        </p:nvSpPr>
        <p:spPr>
          <a:xfrm>
            <a:off x="9720437" y="3035808"/>
            <a:ext cx="1758025"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20437" y="3118104"/>
            <a:ext cx="1758025" cy="1664208"/>
          </a:xfrm>
          <a:prstGeom prst="rect">
            <a:avLst/>
          </a:prstGeom>
          <a:noFill/>
        </p:spPr>
        <p:txBody>
          <a:bodyPr wrap="square" lIns="0" rIns="0" tIns="9144" bIns="9144" anchor="t">
            <a:spAutoFit/>
          </a:bodyPr>
          <a:lstStyle/>
          <a:p>
            <a:pPr algn="l">
              <a:lnSpc>
                <a:spcPct val="105000"/>
              </a:lnSpc>
            </a:pPr>
            <a:r>
              <a:rPr sz="1100" b="0" i="0">
                <a:solidFill>
                  <a:srgbClr val="0D1A16"/>
                </a:solidFill>
                <a:latin typeface="Calibri"/>
              </a:rPr>
              <a:t>SSO (recommended), or Cato credentials — authenticator-app MFA on by default for new admins. Nine predefined roles plus custom roles with page-level and entity scoping.</a:t>
            </a:r>
          </a:p>
        </p:txBody>
      </p:sp>
      <p:sp>
        <p:nvSpPr>
          <p:cNvPr id="47" name="TextBox 46"/>
          <p:cNvSpPr txBox="1"/>
          <p:nvPr/>
        </p:nvSpPr>
        <p:spPr>
          <a:xfrm>
            <a:off x="9720437" y="4818888"/>
            <a:ext cx="1758025" cy="713232"/>
          </a:xfrm>
          <a:prstGeom prst="rect">
            <a:avLst/>
          </a:prstGeom>
          <a:noFill/>
        </p:spPr>
        <p:txBody>
          <a:bodyPr wrap="square" lIns="0" rIns="0" tIns="9144" bIns="9144" anchor="t">
            <a:spAutoFit/>
          </a:bodyPr>
          <a:lstStyle/>
          <a:p>
            <a:pPr algn="l">
              <a:lnSpc>
                <a:spcPct val="105000"/>
              </a:lnSpc>
            </a:pPr>
            <a:r>
              <a:rPr sz="1100" b="1" i="0">
                <a:solidFill>
                  <a:srgbClr val="45524D"/>
                </a:solidFill>
                <a:latin typeface="Calibri"/>
              </a:rPr>
              <a:t>The console is itself in scope.</a:t>
            </a:r>
          </a:p>
        </p:txBody>
      </p:sp>
      <p:sp>
        <p:nvSpPr>
          <p:cNvPr id="48" name="TextBox 47"/>
          <p:cNvSpPr txBox="1"/>
          <p:nvPr/>
        </p:nvSpPr>
        <p:spPr>
          <a:xfrm>
            <a:off x="9720437" y="5568696"/>
            <a:ext cx="1758025" cy="274320"/>
          </a:xfrm>
          <a:prstGeom prst="rect">
            <a:avLst/>
          </a:prstGeom>
          <a:noFill/>
        </p:spPr>
        <p:txBody>
          <a:bodyPr wrap="square" lIns="0" rIns="0" tIns="9144" bIns="9144" anchor="ctr">
            <a:spAutoFit/>
          </a:bodyPr>
          <a:lstStyle/>
          <a:p>
            <a:pPr algn="l"/>
            <a:r>
              <a:rPr sz="1100" b="1" i="0">
                <a:solidFill>
                  <a:srgbClr val="0E8A6D"/>
                </a:solidFill>
                <a:latin typeface="Calibri"/>
              </a:rPr>
              <a:t>A.5.17 · A.8.2 · A.8.5</a:t>
            </a:r>
          </a:p>
        </p:txBody>
      </p:sp>
      <p:sp>
        <p:nvSpPr>
          <p:cNvPr id="49" name="TextBox 48"/>
          <p:cNvSpPr txBox="1"/>
          <p:nvPr/>
        </p:nvSpPr>
        <p:spPr>
          <a:xfrm>
            <a:off x="548640" y="5989320"/>
            <a:ext cx="9768535" cy="274320"/>
          </a:xfrm>
          <a:prstGeom prst="rect">
            <a:avLst/>
          </a:prstGeom>
          <a:noFill/>
        </p:spPr>
        <p:txBody>
          <a:bodyPr wrap="square" lIns="0" rIns="0" tIns="9144" bIns="9144" anchor="ctr">
            <a:spAutoFit/>
          </a:bodyPr>
          <a:lstStyle/>
          <a:p>
            <a:pPr algn="l"/>
            <a:r>
              <a:rPr sz="1100" b="0" i="0">
                <a:solidFill>
                  <a:srgbClr val="45524D"/>
                </a:solidFill>
                <a:latin typeface="Calibri"/>
              </a:rPr>
              <a:t>Controls listed under each card are this deck's mapping — the control a surface evidences is decided by the customer's SoA.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B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292608"/>
          </a:xfrm>
          <a:prstGeom prst="rect">
            <a:avLst/>
          </a:prstGeom>
          <a:noFill/>
        </p:spPr>
        <p:txBody>
          <a:bodyPr wrap="square" lIns="0" rIns="0" tIns="9144" bIns="9144" anchor="ctr">
            <a:spAutoFit/>
          </a:bodyPr>
          <a:lstStyle/>
          <a:p>
            <a:pPr algn="l"/>
            <a:r>
              <a:rPr sz="1100" b="1" i="0">
                <a:solidFill>
                  <a:srgbClr val="0E8A6D"/>
                </a:solidFill>
                <a:latin typeface="Calibri"/>
              </a:rPr>
              <a:t>SUPPLIER DUE DILIGENCE</a:t>
            </a:r>
          </a:p>
        </p:txBody>
      </p:sp>
      <p:sp>
        <p:nvSpPr>
          <p:cNvPr id="4" name="TextBox 3"/>
          <p:cNvSpPr txBox="1"/>
          <p:nvPr/>
        </p:nvSpPr>
        <p:spPr>
          <a:xfrm>
            <a:off x="548640" y="676656"/>
            <a:ext cx="11094415" cy="566928"/>
          </a:xfrm>
          <a:prstGeom prst="rect">
            <a:avLst/>
          </a:prstGeom>
          <a:noFill/>
        </p:spPr>
        <p:txBody>
          <a:bodyPr wrap="square" lIns="0" rIns="0" tIns="9144" bIns="9144" anchor="ctr">
            <a:spAutoFit/>
          </a:bodyPr>
          <a:lstStyle/>
          <a:p>
            <a:pPr algn="l"/>
            <a:r>
              <a:rPr sz="2600" b="1" i="0">
                <a:solidFill>
                  <a:srgbClr val="0D1A16"/>
                </a:solidFill>
                <a:latin typeface="Calibri"/>
              </a:rPr>
              <a:t>Cato's own certifications belong in the customer's supplier file</a:t>
            </a:r>
          </a:p>
        </p:txBody>
      </p:sp>
      <p:sp>
        <p:nvSpPr>
          <p:cNvPr id="5" name="titlebar"/>
          <p:cNvSpPr/>
          <p:nvPr/>
        </p:nvSpPr>
        <p:spPr>
          <a:xfrm>
            <a:off x="548640" y="1298448"/>
            <a:ext cx="914400" cy="4572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to-lockup" descr="lockup-green.png"/>
          <p:cNvPicPr>
            <a:picLocks noChangeAspect="1"/>
          </p:cNvPicPr>
          <p:nvPr/>
        </p:nvPicPr>
        <p:blipFill>
          <a:blip r:embed="rId2"/>
          <a:stretch>
            <a:fillRect/>
          </a:stretch>
        </p:blipFill>
        <p:spPr>
          <a:xfrm>
            <a:off x="10602342" y="6153912"/>
            <a:ext cx="1040713" cy="429768"/>
          </a:xfrm>
          <a:prstGeom prst="rect">
            <a:avLst/>
          </a:prstGeom>
        </p:spPr>
      </p:pic>
      <p:sp>
        <p:nvSpPr>
          <p:cNvPr id="7" name="TextBox 6"/>
          <p:cNvSpPr txBox="1"/>
          <p:nvPr/>
        </p:nvSpPr>
        <p:spPr>
          <a:xfrm>
            <a:off x="548640" y="6327648"/>
            <a:ext cx="6858000" cy="274320"/>
          </a:xfrm>
          <a:prstGeom prst="rect">
            <a:avLst/>
          </a:prstGeom>
          <a:noFill/>
        </p:spPr>
        <p:txBody>
          <a:bodyPr wrap="square" lIns="0" rIns="0" tIns="9144" bIns="9144" anchor="ctr">
            <a:spAutoFit/>
          </a:bodyPr>
          <a:lstStyle/>
          <a:p>
            <a:pPr algn="l"/>
            <a:r>
              <a:rPr sz="1100" b="1" i="0">
                <a:solidFill>
                  <a:srgbClr val="45524D"/>
                </a:solidFill>
                <a:latin typeface="Calibri"/>
              </a:rPr>
              <a:t>ISO/IEC 27001:2022 with Cato</a:t>
            </a:r>
            <a:r>
              <a:rPr sz="1100" b="0" i="0">
                <a:solidFill>
                  <a:srgbClr val="45524D"/>
                </a:solidFill>
                <a:latin typeface="Calibri"/>
              </a:rPr>
              <a:t>   ·   Cato Networks — SASE enablement   ·   7 / 9</a:t>
            </a:r>
          </a:p>
        </p:txBody>
      </p:sp>
      <p:sp>
        <p:nvSpPr>
          <p:cNvPr id="8" name="card"/>
          <p:cNvSpPr/>
          <p:nvPr/>
        </p:nvSpPr>
        <p:spPr>
          <a:xfrm>
            <a:off x="548640" y="1417320"/>
            <a:ext cx="5120640" cy="3886200"/>
          </a:xfrm>
          <a:prstGeom prst="roundRect">
            <a:avLst>
              <a:gd name="adj" fmla="val 1882"/>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4663440" cy="329184"/>
          </a:xfrm>
          <a:prstGeom prst="rect">
            <a:avLst/>
          </a:prstGeom>
          <a:noFill/>
        </p:spPr>
        <p:txBody>
          <a:bodyPr wrap="square" lIns="0" rIns="0" tIns="9144" bIns="9144" anchor="ctr">
            <a:spAutoFit/>
          </a:bodyPr>
          <a:lstStyle/>
          <a:p>
            <a:pPr algn="l"/>
            <a:r>
              <a:rPr sz="1100" b="1" i="0">
                <a:solidFill>
                  <a:srgbClr val="0E8A6D"/>
                </a:solidFill>
                <a:latin typeface="Calibri"/>
              </a:rPr>
              <a:t>WHAT THE AUDITOR WANTS FROM THE SUPPLIER FILE</a:t>
            </a:r>
          </a:p>
        </p:txBody>
      </p:sp>
      <p:sp>
        <p:nvSpPr>
          <p:cNvPr id="10" name="TextBox 9"/>
          <p:cNvSpPr txBox="1"/>
          <p:nvPr/>
        </p:nvSpPr>
        <p:spPr>
          <a:xfrm>
            <a:off x="777240" y="1947672"/>
            <a:ext cx="4663440" cy="1965960"/>
          </a:xfrm>
          <a:prstGeom prst="rect">
            <a:avLst/>
          </a:prstGeom>
          <a:noFill/>
        </p:spPr>
        <p:txBody>
          <a:bodyPr wrap="square" lIns="0" rIns="0" tIns="9144" bIns="9144" anchor="t">
            <a:spAutoFit/>
          </a:bodyPr>
          <a:lstStyle/>
          <a:p>
            <a:pPr algn="l">
              <a:lnSpc>
                <a:spcPct val="105000"/>
              </a:lnSpc>
              <a:spcAft>
                <a:spcPts val="600"/>
              </a:spcAft>
            </a:pPr>
            <a:r>
              <a:rPr sz="1200" b="1" i="0">
                <a:solidFill>
                  <a:srgbClr val="051820"/>
                </a:solidFill>
                <a:latin typeface="Calibri"/>
              </a:rPr>
              <a:t>A.5.19   </a:t>
            </a:r>
            <a:r>
              <a:rPr sz="1200" b="0" i="0">
                <a:solidFill>
                  <a:srgbClr val="0D1A16"/>
                </a:solidFill>
                <a:latin typeface="Calibri"/>
              </a:rPr>
              <a:t>Information security in supplier relationships</a:t>
            </a:r>
          </a:p>
          <a:p>
            <a:pPr algn="l">
              <a:lnSpc>
                <a:spcPct val="105000"/>
              </a:lnSpc>
              <a:spcAft>
                <a:spcPts val="600"/>
              </a:spcAft>
            </a:pPr>
            <a:r>
              <a:rPr sz="1200" b="1" i="0">
                <a:solidFill>
                  <a:srgbClr val="051820"/>
                </a:solidFill>
                <a:latin typeface="Calibri"/>
              </a:rPr>
              <a:t>A.5.20   </a:t>
            </a:r>
            <a:r>
              <a:rPr sz="1200" b="0" i="0">
                <a:solidFill>
                  <a:srgbClr val="0D1A16"/>
                </a:solidFill>
                <a:latin typeface="Calibri"/>
              </a:rPr>
              <a:t>Addressing information security within supplier agreements</a:t>
            </a:r>
          </a:p>
          <a:p>
            <a:pPr algn="l">
              <a:lnSpc>
                <a:spcPct val="105000"/>
              </a:lnSpc>
              <a:spcAft>
                <a:spcPts val="600"/>
              </a:spcAft>
            </a:pPr>
            <a:r>
              <a:rPr sz="1200" b="1" i="0">
                <a:solidFill>
                  <a:srgbClr val="051820"/>
                </a:solidFill>
                <a:latin typeface="Calibri"/>
              </a:rPr>
              <a:t>A.5.21   </a:t>
            </a:r>
            <a:r>
              <a:rPr sz="1200" b="0" i="0">
                <a:solidFill>
                  <a:srgbClr val="0D1A16"/>
                </a:solidFill>
                <a:latin typeface="Calibri"/>
              </a:rPr>
              <a:t>Managing information security in the ICT supply chain</a:t>
            </a:r>
          </a:p>
          <a:p>
            <a:pPr algn="l">
              <a:lnSpc>
                <a:spcPct val="105000"/>
              </a:lnSpc>
              <a:spcAft>
                <a:spcPts val="600"/>
              </a:spcAft>
            </a:pPr>
            <a:r>
              <a:rPr sz="1200" b="1" i="0">
                <a:solidFill>
                  <a:srgbClr val="051820"/>
                </a:solidFill>
                <a:latin typeface="Calibri"/>
              </a:rPr>
              <a:t>A.5.22   </a:t>
            </a:r>
            <a:r>
              <a:rPr sz="1200" b="0" i="0">
                <a:solidFill>
                  <a:srgbClr val="0D1A16"/>
                </a:solidFill>
                <a:latin typeface="Calibri"/>
              </a:rPr>
              <a:t>Monitoring, review and change management of supplier services</a:t>
            </a:r>
          </a:p>
          <a:p>
            <a:pPr algn="l">
              <a:lnSpc>
                <a:spcPct val="105000"/>
              </a:lnSpc>
              <a:spcAft>
                <a:spcPts val="600"/>
              </a:spcAft>
            </a:pPr>
            <a:r>
              <a:rPr sz="1200" b="1" i="0">
                <a:solidFill>
                  <a:srgbClr val="051820"/>
                </a:solidFill>
                <a:latin typeface="Calibri"/>
              </a:rPr>
              <a:t>A.8.21   </a:t>
            </a:r>
            <a:r>
              <a:rPr sz="1200" b="0" i="0">
                <a:solidFill>
                  <a:srgbClr val="0D1A16"/>
                </a:solidFill>
                <a:latin typeface="Calibri"/>
              </a:rPr>
              <a:t>Security of network services — explicitly including outsourced ones</a:t>
            </a:r>
          </a:p>
        </p:txBody>
      </p:sp>
      <p:sp>
        <p:nvSpPr>
          <p:cNvPr id="11" name="hair"/>
          <p:cNvSpPr/>
          <p:nvPr/>
        </p:nvSpPr>
        <p:spPr>
          <a:xfrm>
            <a:off x="777240" y="3977639"/>
            <a:ext cx="4663440"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69080"/>
            <a:ext cx="4663440" cy="1143000"/>
          </a:xfrm>
          <a:prstGeom prst="rect">
            <a:avLst/>
          </a:prstGeom>
          <a:noFill/>
        </p:spPr>
        <p:txBody>
          <a:bodyPr wrap="square" lIns="0" rIns="0" tIns="9144" bIns="9144" anchor="t">
            <a:spAutoFit/>
          </a:bodyPr>
          <a:lstStyle/>
          <a:p>
            <a:pPr algn="l">
              <a:lnSpc>
                <a:spcPct val="105000"/>
              </a:lnSpc>
            </a:pPr>
            <a:r>
              <a:rPr sz="1200" b="1" i="0">
                <a:solidFill>
                  <a:srgbClr val="0D1A16"/>
                </a:solidFill>
                <a:latin typeface="Calibri"/>
              </a:rPr>
              <a:t>The evidence: </a:t>
            </a:r>
            <a:r>
              <a:rPr sz="1200" b="0" i="0">
                <a:solidFill>
                  <a:srgbClr val="0D1A16"/>
                </a:solidFill>
                <a:latin typeface="Calibri"/>
              </a:rPr>
              <a:t>a supplier register, security clauses in agreements, and review records of supplier attestations — the issuer, scope and expiry of each certificate the customer's auditor will check.</a:t>
            </a:r>
          </a:p>
        </p:txBody>
      </p:sp>
      <p:sp>
        <p:nvSpPr>
          <p:cNvPr id="13" name="card"/>
          <p:cNvSpPr/>
          <p:nvPr/>
        </p:nvSpPr>
        <p:spPr>
          <a:xfrm>
            <a:off x="5989319" y="1417320"/>
            <a:ext cx="5653735" cy="3886200"/>
          </a:xfrm>
          <a:prstGeom prst="roundRect">
            <a:avLst>
              <a:gd name="adj" fmla="val 1882"/>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19" y="1554480"/>
            <a:ext cx="5196535" cy="329184"/>
          </a:xfrm>
          <a:prstGeom prst="rect">
            <a:avLst/>
          </a:prstGeom>
          <a:noFill/>
        </p:spPr>
        <p:txBody>
          <a:bodyPr wrap="square" lIns="0" rIns="0" tIns="9144" bIns="9144" anchor="ctr">
            <a:spAutoFit/>
          </a:bodyPr>
          <a:lstStyle/>
          <a:p>
            <a:pPr algn="l"/>
            <a:r>
              <a:rPr sz="1100" b="1" i="0">
                <a:solidFill>
                  <a:srgbClr val="0E8A6D"/>
                </a:solidFill>
                <a:latin typeface="Calibri"/>
              </a:rPr>
              <a:t>AS LISTED ON THE CATO TRUST CENTER</a:t>
            </a:r>
          </a:p>
        </p:txBody>
      </p:sp>
      <p:sp>
        <p:nvSpPr>
          <p:cNvPr id="15" name="TextBox 14"/>
          <p:cNvSpPr txBox="1"/>
          <p:nvPr/>
        </p:nvSpPr>
        <p:spPr>
          <a:xfrm>
            <a:off x="6217919" y="1874519"/>
            <a:ext cx="5196535" cy="274320"/>
          </a:xfrm>
          <a:prstGeom prst="rect">
            <a:avLst/>
          </a:prstGeom>
          <a:noFill/>
        </p:spPr>
        <p:txBody>
          <a:bodyPr wrap="square" lIns="0" rIns="0" tIns="9144" bIns="9144" anchor="ctr">
            <a:spAutoFit/>
          </a:bodyPr>
          <a:lstStyle/>
          <a:p>
            <a:pPr algn="l"/>
            <a:r>
              <a:rPr sz="1100" b="0" i="0">
                <a:solidFill>
                  <a:srgbClr val="45524D"/>
                </a:solidFill>
                <a:latin typeface="Calibri"/>
              </a:rPr>
              <a:t>Vendor self-published (reported) — checked 24 Sep 2026</a:t>
            </a:r>
          </a:p>
        </p:txBody>
      </p:sp>
      <p:sp>
        <p:nvSpPr>
          <p:cNvPr id="16" name="chip"/>
          <p:cNvSpPr/>
          <p:nvPr/>
        </p:nvSpPr>
        <p:spPr>
          <a:xfrm>
            <a:off x="6217919" y="2286000"/>
            <a:ext cx="1712214"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ISO/IEC 27001:2022</a:t>
            </a:r>
          </a:p>
        </p:txBody>
      </p:sp>
      <p:sp>
        <p:nvSpPr>
          <p:cNvPr id="17" name="chip"/>
          <p:cNvSpPr/>
          <p:nvPr/>
        </p:nvSpPr>
        <p:spPr>
          <a:xfrm>
            <a:off x="8039861" y="2286000"/>
            <a:ext cx="1328039"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ISO/IEC 27017</a:t>
            </a:r>
          </a:p>
        </p:txBody>
      </p:sp>
      <p:sp>
        <p:nvSpPr>
          <p:cNvPr id="18" name="chip"/>
          <p:cNvSpPr/>
          <p:nvPr/>
        </p:nvSpPr>
        <p:spPr>
          <a:xfrm>
            <a:off x="9477629" y="2286000"/>
            <a:ext cx="1328039"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ISO/IEC 27018</a:t>
            </a:r>
          </a:p>
        </p:txBody>
      </p:sp>
      <p:sp>
        <p:nvSpPr>
          <p:cNvPr id="19" name="chip"/>
          <p:cNvSpPr/>
          <p:nvPr/>
        </p:nvSpPr>
        <p:spPr>
          <a:xfrm>
            <a:off x="6217919" y="2706624"/>
            <a:ext cx="1328039"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ISO/IEC 27701</a:t>
            </a:r>
          </a:p>
        </p:txBody>
      </p:sp>
      <p:sp>
        <p:nvSpPr>
          <p:cNvPr id="20" name="chip"/>
          <p:cNvSpPr/>
          <p:nvPr/>
        </p:nvSpPr>
        <p:spPr>
          <a:xfrm>
            <a:off x="7655687" y="2706624"/>
            <a:ext cx="1328039"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SOC 2 Type II</a:t>
            </a:r>
          </a:p>
        </p:txBody>
      </p:sp>
      <p:sp>
        <p:nvSpPr>
          <p:cNvPr id="21" name="chip"/>
          <p:cNvSpPr/>
          <p:nvPr/>
        </p:nvSpPr>
        <p:spPr>
          <a:xfrm>
            <a:off x="9093454" y="2706624"/>
            <a:ext cx="713359"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SOC 3</a:t>
            </a:r>
          </a:p>
        </p:txBody>
      </p:sp>
      <p:sp>
        <p:nvSpPr>
          <p:cNvPr id="22" name="chip"/>
          <p:cNvSpPr/>
          <p:nvPr/>
        </p:nvSpPr>
        <p:spPr>
          <a:xfrm>
            <a:off x="9916541" y="2706624"/>
            <a:ext cx="867029"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PCI DSS</a:t>
            </a:r>
          </a:p>
        </p:txBody>
      </p:sp>
      <p:sp>
        <p:nvSpPr>
          <p:cNvPr id="23" name="chip"/>
          <p:cNvSpPr/>
          <p:nvPr/>
        </p:nvSpPr>
        <p:spPr>
          <a:xfrm>
            <a:off x="6217919" y="3127248"/>
            <a:ext cx="2864739"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NIST SP 800-53 Rev. 5 attestation</a:t>
            </a:r>
          </a:p>
        </p:txBody>
      </p:sp>
      <p:sp>
        <p:nvSpPr>
          <p:cNvPr id="24" name="chip"/>
          <p:cNvSpPr/>
          <p:nvPr/>
        </p:nvSpPr>
        <p:spPr>
          <a:xfrm>
            <a:off x="9192386" y="3127248"/>
            <a:ext cx="1558544" cy="310896"/>
          </a:xfrm>
          <a:prstGeom prst="roundRect">
            <a:avLst>
              <a:gd name="adj" fmla="val 50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100" b="1" i="0">
                <a:solidFill>
                  <a:srgbClr val="051820"/>
                </a:solidFill>
                <a:latin typeface="Calibri"/>
              </a:rPr>
              <a:t>Cyber Essentials</a:t>
            </a:r>
          </a:p>
        </p:txBody>
      </p:sp>
      <p:sp>
        <p:nvSpPr>
          <p:cNvPr id="25" name="hair"/>
          <p:cNvSpPr/>
          <p:nvPr/>
        </p:nvSpPr>
        <p:spPr>
          <a:xfrm>
            <a:off x="6217919" y="3621024"/>
            <a:ext cx="5196535" cy="10972"/>
          </a:xfrm>
          <a:prstGeom prst="rect">
            <a:avLst/>
          </a:prstGeom>
          <a:solidFill>
            <a:srgbClr val="DDE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19" y="3712463"/>
            <a:ext cx="5196535" cy="1499615"/>
          </a:xfrm>
          <a:prstGeom prst="rect">
            <a:avLst/>
          </a:prstGeom>
          <a:noFill/>
        </p:spPr>
        <p:txBody>
          <a:bodyPr wrap="square" lIns="0" rIns="0" tIns="9144" bIns="9144" anchor="t">
            <a:spAutoFit/>
          </a:bodyPr>
          <a:lstStyle/>
          <a:p>
            <a:pPr algn="l">
              <a:lnSpc>
                <a:spcPct val="105000"/>
              </a:lnSpc>
            </a:pPr>
            <a:r>
              <a:rPr sz="1200" b="1" i="0">
                <a:solidFill>
                  <a:srgbClr val="0D1A16"/>
                </a:solidFill>
                <a:latin typeface="Calibri"/>
              </a:rPr>
              <a:t>How to use it: </a:t>
            </a:r>
            <a:r>
              <a:rPr sz="1200" b="0" i="0">
                <a:solidFill>
                  <a:srgbClr val="0D1A16"/>
                </a:solidFill>
                <a:latin typeface="Calibri"/>
              </a:rPr>
              <a:t>do not paraphrase the list into a customer document. Pull the certificates and reports under NDA via the Trust Center, so the supplier file holds issuer, scope and expiry — the scope of each certificate is not public. Any supplier still presenting a 2013-edition certificate is presenting a withdrawn one.</a:t>
            </a:r>
          </a:p>
        </p:txBody>
      </p:sp>
      <p:sp>
        <p:nvSpPr>
          <p:cNvPr id="27" name="hl"/>
          <p:cNvSpPr/>
          <p:nvPr/>
        </p:nvSpPr>
        <p:spPr>
          <a:xfrm>
            <a:off x="548640" y="5486400"/>
            <a:ext cx="11094415" cy="438912"/>
          </a:xfrm>
          <a:prstGeom prst="roundRect">
            <a:avLst>
              <a:gd name="adj" fmla="val 15000"/>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486400"/>
            <a:ext cx="10728655" cy="438912"/>
          </a:xfrm>
          <a:prstGeom prst="rect">
            <a:avLst/>
          </a:prstGeom>
          <a:noFill/>
        </p:spPr>
        <p:txBody>
          <a:bodyPr wrap="square" lIns="0" rIns="0" tIns="9144" bIns="9144" anchor="ctr">
            <a:spAutoFit/>
          </a:bodyPr>
          <a:lstStyle/>
          <a:p>
            <a:pPr algn="l"/>
            <a:r>
              <a:rPr sz="1300" b="1" i="0">
                <a:solidFill>
                  <a:srgbClr val="FFFFFF"/>
                </a:solidFill>
                <a:latin typeface="Calibri"/>
              </a:rPr>
              <a:t>These evidence the supplier, never the customer. </a:t>
            </a:r>
            <a:r>
              <a:rPr sz="1300" b="0" i="0">
                <a:solidFill>
                  <a:srgbClr val="FFFFFF"/>
                </a:solidFill>
                <a:latin typeface="Calibri"/>
              </a:rPr>
              <a:t>They go in the A.5.19–5.22 file; they are not the customer's certificate.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B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292608"/>
          </a:xfrm>
          <a:prstGeom prst="rect">
            <a:avLst/>
          </a:prstGeom>
          <a:noFill/>
        </p:spPr>
        <p:txBody>
          <a:bodyPr wrap="square" lIns="0" rIns="0" tIns="9144" bIns="9144" anchor="ctr">
            <a:spAutoFit/>
          </a:bodyPr>
          <a:lstStyle/>
          <a:p>
            <a:pPr algn="l"/>
            <a:r>
              <a:rPr sz="1100" b="1" i="0">
                <a:solidFill>
                  <a:srgbClr val="0E8A6D"/>
                </a:solidFill>
                <a:latin typeface="Calibri"/>
              </a:rPr>
              <a:t>PROVING IT — THE PROOF OF VALUE</a:t>
            </a:r>
          </a:p>
        </p:txBody>
      </p:sp>
      <p:sp>
        <p:nvSpPr>
          <p:cNvPr id="4" name="TextBox 3"/>
          <p:cNvSpPr txBox="1"/>
          <p:nvPr/>
        </p:nvSpPr>
        <p:spPr>
          <a:xfrm>
            <a:off x="548640" y="676656"/>
            <a:ext cx="11094415" cy="566928"/>
          </a:xfrm>
          <a:prstGeom prst="rect">
            <a:avLst/>
          </a:prstGeom>
          <a:noFill/>
        </p:spPr>
        <p:txBody>
          <a:bodyPr wrap="square" lIns="0" rIns="0" tIns="9144" bIns="9144" anchor="ctr">
            <a:spAutoFit/>
          </a:bodyPr>
          <a:lstStyle/>
          <a:p>
            <a:pPr algn="l"/>
            <a:r>
              <a:rPr sz="2600" b="1" i="0">
                <a:solidFill>
                  <a:srgbClr val="0D1A16"/>
                </a:solidFill>
                <a:latin typeface="Calibri"/>
              </a:rPr>
              <a:t>Five success criteria, five platform-generated artefacts</a:t>
            </a:r>
          </a:p>
        </p:txBody>
      </p:sp>
      <p:sp>
        <p:nvSpPr>
          <p:cNvPr id="5" name="titlebar"/>
          <p:cNvSpPr/>
          <p:nvPr/>
        </p:nvSpPr>
        <p:spPr>
          <a:xfrm>
            <a:off x="548640" y="1298448"/>
            <a:ext cx="914400" cy="45720"/>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to-lockup" descr="lockup-green.png"/>
          <p:cNvPicPr>
            <a:picLocks noChangeAspect="1"/>
          </p:cNvPicPr>
          <p:nvPr/>
        </p:nvPicPr>
        <p:blipFill>
          <a:blip r:embed="rId2"/>
          <a:stretch>
            <a:fillRect/>
          </a:stretch>
        </p:blipFill>
        <p:spPr>
          <a:xfrm>
            <a:off x="10602342" y="6153912"/>
            <a:ext cx="1040713" cy="429768"/>
          </a:xfrm>
          <a:prstGeom prst="rect">
            <a:avLst/>
          </a:prstGeom>
        </p:spPr>
      </p:pic>
      <p:sp>
        <p:nvSpPr>
          <p:cNvPr id="7" name="TextBox 6"/>
          <p:cNvSpPr txBox="1"/>
          <p:nvPr/>
        </p:nvSpPr>
        <p:spPr>
          <a:xfrm>
            <a:off x="548640" y="6327648"/>
            <a:ext cx="6858000" cy="274320"/>
          </a:xfrm>
          <a:prstGeom prst="rect">
            <a:avLst/>
          </a:prstGeom>
          <a:noFill/>
        </p:spPr>
        <p:txBody>
          <a:bodyPr wrap="square" lIns="0" rIns="0" tIns="9144" bIns="9144" anchor="ctr">
            <a:spAutoFit/>
          </a:bodyPr>
          <a:lstStyle/>
          <a:p>
            <a:pPr algn="l"/>
            <a:r>
              <a:rPr sz="1100" b="1" i="0">
                <a:solidFill>
                  <a:srgbClr val="45524D"/>
                </a:solidFill>
                <a:latin typeface="Calibri"/>
              </a:rPr>
              <a:t>ISO/IEC 27001:2022 with Cato</a:t>
            </a:r>
            <a:r>
              <a:rPr sz="1100" b="0" i="0">
                <a:solidFill>
                  <a:srgbClr val="45524D"/>
                </a:solidFill>
                <a:latin typeface="Calibri"/>
              </a:rPr>
              <a:t>   ·   Cato Networks — SASE enablement   ·   8 / 9</a:t>
            </a:r>
          </a:p>
        </p:txBody>
      </p:sp>
      <p:sp>
        <p:nvSpPr>
          <p:cNvPr id="8" name="TextBox 7"/>
          <p:cNvSpPr txBox="1"/>
          <p:nvPr/>
        </p:nvSpPr>
        <p:spPr>
          <a:xfrm>
            <a:off x="548640" y="1417320"/>
            <a:ext cx="11094415" cy="256032"/>
          </a:xfrm>
          <a:prstGeom prst="rect">
            <a:avLst/>
          </a:prstGeom>
          <a:noFill/>
        </p:spPr>
        <p:txBody>
          <a:bodyPr wrap="square" lIns="0" rIns="0" tIns="9144" bIns="9144" anchor="ctr">
            <a:spAutoFit/>
          </a:bodyPr>
          <a:lstStyle/>
          <a:p>
            <a:pPr algn="l"/>
            <a:r>
              <a:rPr sz="1100" b="0" i="0">
                <a:solidFill>
                  <a:srgbClr val="45524D"/>
                </a:solidFill>
                <a:latin typeface="Calibri"/>
              </a:rPr>
              <a:t>Scoped to a pilot cohort of ten to thirty managed laptops; the ISMS owner chooses the Annex A rows from their own SoA; criteria agreed before anything is configured.</a:t>
            </a:r>
          </a:p>
        </p:txBody>
      </p:sp>
      <p:sp>
        <p:nvSpPr>
          <p:cNvPr id="9" name="TextBox 8"/>
          <p:cNvSpPr txBox="1"/>
          <p:nvPr/>
        </p:nvSpPr>
        <p:spPr>
          <a:xfrm>
            <a:off x="1143000" y="1709928"/>
            <a:ext cx="4846320" cy="237744"/>
          </a:xfrm>
          <a:prstGeom prst="rect">
            <a:avLst/>
          </a:prstGeom>
          <a:noFill/>
        </p:spPr>
        <p:txBody>
          <a:bodyPr wrap="square" lIns="0" rIns="0" tIns="9144" bIns="9144" anchor="ctr">
            <a:spAutoFit/>
          </a:bodyPr>
          <a:lstStyle/>
          <a:p>
            <a:pPr algn="l"/>
            <a:r>
              <a:rPr sz="1100" b="1" i="0">
                <a:solidFill>
                  <a:srgbClr val="0E8A6D"/>
                </a:solidFill>
                <a:latin typeface="Calibri"/>
              </a:rPr>
              <a:t>CRITERION — WHAT WE PROVE</a:t>
            </a:r>
          </a:p>
        </p:txBody>
      </p:sp>
      <p:sp>
        <p:nvSpPr>
          <p:cNvPr id="10" name="TextBox 9"/>
          <p:cNvSpPr txBox="1"/>
          <p:nvPr/>
        </p:nvSpPr>
        <p:spPr>
          <a:xfrm>
            <a:off x="6217920" y="1709928"/>
            <a:ext cx="5425135" cy="237744"/>
          </a:xfrm>
          <a:prstGeom prst="rect">
            <a:avLst/>
          </a:prstGeom>
          <a:noFill/>
        </p:spPr>
        <p:txBody>
          <a:bodyPr wrap="square" lIns="0" rIns="0" tIns="9144" bIns="9144" anchor="ctr">
            <a:spAutoFit/>
          </a:bodyPr>
          <a:lstStyle/>
          <a:p>
            <a:pPr algn="l"/>
            <a:r>
              <a:rPr sz="1100" b="1" i="0">
                <a:solidFill>
                  <a:srgbClr val="0E8A6D"/>
                </a:solidFill>
                <a:latin typeface="Calibri"/>
              </a:rPr>
              <a:t>EVIDENCE ARTEFACT — WHERE IT LIVES</a:t>
            </a:r>
          </a:p>
        </p:txBody>
      </p:sp>
      <p:sp>
        <p:nvSpPr>
          <p:cNvPr id="11" name="card"/>
          <p:cNvSpPr/>
          <p:nvPr/>
        </p:nvSpPr>
        <p:spPr>
          <a:xfrm>
            <a:off x="548640" y="1984248"/>
            <a:ext cx="11094415" cy="731520"/>
          </a:xfrm>
          <a:prstGeom prst="roundRect">
            <a:avLst>
              <a:gd name="adj" fmla="val 10000"/>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
          <p:cNvSpPr/>
          <p:nvPr/>
        </p:nvSpPr>
        <p:spPr>
          <a:xfrm>
            <a:off x="658368" y="2185416"/>
            <a:ext cx="329184" cy="329184"/>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300" b="1" i="0">
                <a:solidFill>
                  <a:srgbClr val="FFFFFF"/>
                </a:solidFill>
                <a:latin typeface="Calibri"/>
              </a:rPr>
              <a:t>1</a:t>
            </a:r>
          </a:p>
        </p:txBody>
      </p:sp>
      <p:sp>
        <p:nvSpPr>
          <p:cNvPr id="13" name="TextBox 12"/>
          <p:cNvSpPr txBox="1"/>
          <p:nvPr/>
        </p:nvSpPr>
        <p:spPr>
          <a:xfrm>
            <a:off x="1143000" y="2029967"/>
            <a:ext cx="4846320" cy="640080"/>
          </a:xfrm>
          <a:prstGeom prst="rect">
            <a:avLst/>
          </a:prstGeom>
          <a:noFill/>
        </p:spPr>
        <p:txBody>
          <a:bodyPr wrap="square" lIns="0" rIns="0" tIns="9144" bIns="9144" anchor="ctr">
            <a:spAutoFit/>
          </a:bodyPr>
          <a:lstStyle/>
          <a:p>
            <a:pPr algn="l">
              <a:lnSpc>
                <a:spcPct val="100000"/>
              </a:lnSpc>
            </a:pPr>
            <a:r>
              <a:rPr sz="1100" b="1" i="0">
                <a:solidFill>
                  <a:srgbClr val="051820"/>
                </a:solidFill>
                <a:latin typeface="Calibri"/>
              </a:rPr>
              <a:t>Posture profile enforced on the pilot cohort</a:t>
            </a:r>
          </a:p>
          <a:p>
            <a:pPr algn="l">
              <a:lnSpc>
                <a:spcPct val="100000"/>
              </a:lnSpc>
            </a:pPr>
            <a:r>
              <a:rPr sz="1100" b="0" i="0">
                <a:solidFill>
                  <a:srgbClr val="0D1A16"/>
                </a:solidFill>
                <a:latin typeface="Calibri"/>
              </a:rPr>
              <a:t>Every pilot device connects only via a Client Connectivity rule requiring the agreed profile, re-evaluated at the tenant's interval.</a:t>
            </a:r>
          </a:p>
        </p:txBody>
      </p:sp>
      <p:sp>
        <p:nvSpPr>
          <p:cNvPr id="14" name="TextBox 13"/>
          <p:cNvSpPr txBox="1"/>
          <p:nvPr/>
        </p:nvSpPr>
        <p:spPr>
          <a:xfrm>
            <a:off x="6217920" y="2029967"/>
            <a:ext cx="5425135" cy="640080"/>
          </a:xfrm>
          <a:prstGeom prst="rect">
            <a:avLst/>
          </a:prstGeom>
          <a:noFill/>
        </p:spPr>
        <p:txBody>
          <a:bodyPr wrap="square" lIns="0" rIns="0" tIns="9144" bIns="9144" anchor="ctr">
            <a:spAutoFit/>
          </a:bodyPr>
          <a:lstStyle/>
          <a:p>
            <a:pPr algn="l">
              <a:lnSpc>
                <a:spcPct val="100000"/>
              </a:lnSpc>
            </a:pPr>
            <a:r>
              <a:rPr sz="1100" b="0" i="0">
                <a:solidFill>
                  <a:srgbClr val="0D1A16"/>
                </a:solidFill>
                <a:latin typeface="Calibri"/>
              </a:rPr>
              <a:t>The profile and its checks; the Check Policy setting; the pilot rule; Client Connectivity events for cohort users</a:t>
            </a:r>
          </a:p>
          <a:p>
            <a:pPr algn="l">
              <a:lnSpc>
                <a:spcPct val="100000"/>
              </a:lnSpc>
            </a:pPr>
            <a:r>
              <a:rPr sz="1100" b="1" i="0">
                <a:solidFill>
                  <a:srgbClr val="0E8A6D"/>
                </a:solidFill>
                <a:latin typeface="Calibri"/>
              </a:rPr>
              <a:t>Resources → Device Posture · Access → Client Connectivity Policy · Home → Events</a:t>
            </a:r>
          </a:p>
        </p:txBody>
      </p:sp>
      <p:sp>
        <p:nvSpPr>
          <p:cNvPr id="15" name="card"/>
          <p:cNvSpPr/>
          <p:nvPr/>
        </p:nvSpPr>
        <p:spPr>
          <a:xfrm>
            <a:off x="548640" y="2752344"/>
            <a:ext cx="11094415" cy="731520"/>
          </a:xfrm>
          <a:prstGeom prst="roundRect">
            <a:avLst>
              <a:gd name="adj" fmla="val 10000"/>
            </a:avLst>
          </a:prstGeom>
          <a:solidFill>
            <a:srgbClr val="FBFDFC"/>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
          <p:cNvSpPr/>
          <p:nvPr/>
        </p:nvSpPr>
        <p:spPr>
          <a:xfrm>
            <a:off x="658368" y="2953512"/>
            <a:ext cx="329184" cy="329184"/>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300" b="1" i="0">
                <a:solidFill>
                  <a:srgbClr val="FFFFFF"/>
                </a:solidFill>
                <a:latin typeface="Calibri"/>
              </a:rPr>
              <a:t>2</a:t>
            </a:r>
          </a:p>
        </p:txBody>
      </p:sp>
      <p:sp>
        <p:nvSpPr>
          <p:cNvPr id="17" name="TextBox 16"/>
          <p:cNvSpPr txBox="1"/>
          <p:nvPr/>
        </p:nvSpPr>
        <p:spPr>
          <a:xfrm>
            <a:off x="1143000" y="2798063"/>
            <a:ext cx="4846320" cy="640080"/>
          </a:xfrm>
          <a:prstGeom prst="rect">
            <a:avLst/>
          </a:prstGeom>
          <a:noFill/>
        </p:spPr>
        <p:txBody>
          <a:bodyPr wrap="square" lIns="0" rIns="0" tIns="9144" bIns="9144" anchor="ctr">
            <a:spAutoFit/>
          </a:bodyPr>
          <a:lstStyle/>
          <a:p>
            <a:pPr algn="l">
              <a:lnSpc>
                <a:spcPct val="100000"/>
              </a:lnSpc>
            </a:pPr>
            <a:r>
              <a:rPr sz="1100" b="1" i="0">
                <a:solidFill>
                  <a:srgbClr val="051820"/>
                </a:solidFill>
                <a:latin typeface="Calibri"/>
              </a:rPr>
              <a:t>A non-compliant device is blocked and evidenced</a:t>
            </a:r>
          </a:p>
          <a:p>
            <a:pPr algn="l">
              <a:lnSpc>
                <a:spcPct val="100000"/>
              </a:lnSpc>
            </a:pPr>
            <a:r>
              <a:rPr sz="1100" b="0" i="0">
                <a:solidFill>
                  <a:srgbClr val="0D1A16"/>
                </a:solidFill>
                <a:latin typeface="Calibri"/>
              </a:rPr>
              <a:t>One check deliberately broken: refused at connect, disconnected while connected, and the failure recorded with the unmet requirement.</a:t>
            </a:r>
          </a:p>
        </p:txBody>
      </p:sp>
      <p:sp>
        <p:nvSpPr>
          <p:cNvPr id="18" name="TextBox 17"/>
          <p:cNvSpPr txBox="1"/>
          <p:nvPr/>
        </p:nvSpPr>
        <p:spPr>
          <a:xfrm>
            <a:off x="6217920" y="2798063"/>
            <a:ext cx="5425135" cy="640080"/>
          </a:xfrm>
          <a:prstGeom prst="rect">
            <a:avLst/>
          </a:prstGeom>
          <a:noFill/>
        </p:spPr>
        <p:txBody>
          <a:bodyPr wrap="square" lIns="0" rIns="0" tIns="9144" bIns="9144" anchor="ctr">
            <a:spAutoFit/>
          </a:bodyPr>
          <a:lstStyle/>
          <a:p>
            <a:pPr algn="l">
              <a:lnSpc>
                <a:spcPct val="100000"/>
              </a:lnSpc>
            </a:pPr>
            <a:r>
              <a:rPr sz="1100" b="0" i="0">
                <a:solidFill>
                  <a:srgbClr val="0D1A16"/>
                </a:solidFill>
                <a:latin typeface="Calibri"/>
              </a:rPr>
              <a:t>Client Details dialog screenshot beside the dated posture-failure event for that user</a:t>
            </a:r>
          </a:p>
          <a:p>
            <a:pPr algn="l">
              <a:lnSpc>
                <a:spcPct val="100000"/>
              </a:lnSpc>
            </a:pPr>
            <a:r>
              <a:rPr sz="1100" b="1" i="0">
                <a:solidFill>
                  <a:srgbClr val="0E8A6D"/>
                </a:solidFill>
                <a:latin typeface="Calibri"/>
              </a:rPr>
              <a:t>Cato Client · Home → Events</a:t>
            </a:r>
          </a:p>
        </p:txBody>
      </p:sp>
      <p:sp>
        <p:nvSpPr>
          <p:cNvPr id="19" name="card"/>
          <p:cNvSpPr/>
          <p:nvPr/>
        </p:nvSpPr>
        <p:spPr>
          <a:xfrm>
            <a:off x="548640" y="3520440"/>
            <a:ext cx="11094415" cy="731520"/>
          </a:xfrm>
          <a:prstGeom prst="roundRect">
            <a:avLst>
              <a:gd name="adj" fmla="val 10000"/>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num"/>
          <p:cNvSpPr/>
          <p:nvPr/>
        </p:nvSpPr>
        <p:spPr>
          <a:xfrm>
            <a:off x="658368" y="3721608"/>
            <a:ext cx="329184" cy="329184"/>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300" b="1" i="0">
                <a:solidFill>
                  <a:srgbClr val="FFFFFF"/>
                </a:solidFill>
                <a:latin typeface="Calibri"/>
              </a:rPr>
              <a:t>3</a:t>
            </a:r>
          </a:p>
        </p:txBody>
      </p:sp>
      <p:sp>
        <p:nvSpPr>
          <p:cNvPr id="21" name="TextBox 20"/>
          <p:cNvSpPr txBox="1"/>
          <p:nvPr/>
        </p:nvSpPr>
        <p:spPr>
          <a:xfrm>
            <a:off x="1143000" y="3566160"/>
            <a:ext cx="4846320" cy="640080"/>
          </a:xfrm>
          <a:prstGeom prst="rect">
            <a:avLst/>
          </a:prstGeom>
          <a:noFill/>
        </p:spPr>
        <p:txBody>
          <a:bodyPr wrap="square" lIns="0" rIns="0" tIns="9144" bIns="9144" anchor="ctr">
            <a:spAutoFit/>
          </a:bodyPr>
          <a:lstStyle/>
          <a:p>
            <a:pPr algn="l">
              <a:lnSpc>
                <a:spcPct val="100000"/>
              </a:lnSpc>
            </a:pPr>
            <a:r>
              <a:rPr sz="1100" b="1" i="0">
                <a:solidFill>
                  <a:srgbClr val="051820"/>
                </a:solidFill>
                <a:latin typeface="Calibri"/>
              </a:rPr>
              <a:t>Posture Compliance Report scheduled and delivered</a:t>
            </a:r>
          </a:p>
          <a:p>
            <a:pPr algn="l">
              <a:lnSpc>
                <a:spcPct val="100000"/>
              </a:lnSpc>
            </a:pPr>
            <a:r>
              <a:rPr sz="1100" b="0" i="0">
                <a:solidFill>
                  <a:srgbClr val="0D1A16"/>
                </a:solidFill>
                <a:latin typeface="Calibri"/>
              </a:rPr>
              <a:t>The ISO 27001:2022-mapped report generated once, then scheduled and received by the compliance mailing list — nobody logs in.</a:t>
            </a:r>
          </a:p>
        </p:txBody>
      </p:sp>
      <p:sp>
        <p:nvSpPr>
          <p:cNvPr id="22" name="TextBox 21"/>
          <p:cNvSpPr txBox="1"/>
          <p:nvPr/>
        </p:nvSpPr>
        <p:spPr>
          <a:xfrm>
            <a:off x="6217920" y="3566160"/>
            <a:ext cx="5425135" cy="640080"/>
          </a:xfrm>
          <a:prstGeom prst="rect">
            <a:avLst/>
          </a:prstGeom>
          <a:noFill/>
        </p:spPr>
        <p:txBody>
          <a:bodyPr wrap="square" lIns="0" rIns="0" tIns="9144" bIns="9144" anchor="ctr">
            <a:spAutoFit/>
          </a:bodyPr>
          <a:lstStyle/>
          <a:p>
            <a:pPr algn="l">
              <a:lnSpc>
                <a:spcPct val="100000"/>
              </a:lnSpc>
            </a:pPr>
            <a:r>
              <a:rPr sz="1100" b="0" i="0">
                <a:solidFill>
                  <a:srgbClr val="0D1A16"/>
                </a:solidFill>
                <a:latin typeface="Calibri"/>
              </a:rPr>
              <a:t>The generated PDF; the schedule row; the delivery email</a:t>
            </a:r>
          </a:p>
          <a:p>
            <a:pPr algn="l">
              <a:lnSpc>
                <a:spcPct val="100000"/>
              </a:lnSpc>
            </a:pPr>
            <a:r>
              <a:rPr sz="1100" b="1" i="0">
                <a:solidFill>
                  <a:srgbClr val="0E8A6D"/>
                </a:solidFill>
                <a:latin typeface="Calibri"/>
              </a:rPr>
              <a:t>Home → Reports</a:t>
            </a:r>
          </a:p>
        </p:txBody>
      </p:sp>
      <p:sp>
        <p:nvSpPr>
          <p:cNvPr id="23" name="card"/>
          <p:cNvSpPr/>
          <p:nvPr/>
        </p:nvSpPr>
        <p:spPr>
          <a:xfrm>
            <a:off x="548640" y="4288536"/>
            <a:ext cx="11094415" cy="731520"/>
          </a:xfrm>
          <a:prstGeom prst="roundRect">
            <a:avLst>
              <a:gd name="adj" fmla="val 10000"/>
            </a:avLst>
          </a:prstGeom>
          <a:solidFill>
            <a:srgbClr val="FBFDFC"/>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
          <p:cNvSpPr/>
          <p:nvPr/>
        </p:nvSpPr>
        <p:spPr>
          <a:xfrm>
            <a:off x="658368" y="4489704"/>
            <a:ext cx="329184" cy="329184"/>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300" b="1" i="0">
                <a:solidFill>
                  <a:srgbClr val="FFFFFF"/>
                </a:solidFill>
                <a:latin typeface="Calibri"/>
              </a:rPr>
              <a:t>4</a:t>
            </a:r>
          </a:p>
        </p:txBody>
      </p:sp>
      <p:sp>
        <p:nvSpPr>
          <p:cNvPr id="25" name="TextBox 24"/>
          <p:cNvSpPr txBox="1"/>
          <p:nvPr/>
        </p:nvSpPr>
        <p:spPr>
          <a:xfrm>
            <a:off x="1143000" y="4334256"/>
            <a:ext cx="4846320" cy="640080"/>
          </a:xfrm>
          <a:prstGeom prst="rect">
            <a:avLst/>
          </a:prstGeom>
          <a:noFill/>
        </p:spPr>
        <p:txBody>
          <a:bodyPr wrap="square" lIns="0" rIns="0" tIns="9144" bIns="9144" anchor="ctr">
            <a:spAutoFit/>
          </a:bodyPr>
          <a:lstStyle/>
          <a:p>
            <a:pPr algn="l">
              <a:lnSpc>
                <a:spcPct val="100000"/>
              </a:lnSpc>
            </a:pPr>
            <a:r>
              <a:rPr sz="1100" b="1" i="0">
                <a:solidFill>
                  <a:srgbClr val="051820"/>
                </a:solidFill>
                <a:latin typeface="Calibri"/>
              </a:rPr>
              <a:t>Policy change attributed with before/after</a:t>
            </a:r>
          </a:p>
          <a:p>
            <a:pPr algn="l">
              <a:lnSpc>
                <a:spcPct val="100000"/>
              </a:lnSpc>
            </a:pPr>
            <a:r>
              <a:rPr sz="1100" b="0" i="0">
                <a:solidFill>
                  <a:srgbClr val="0D1A16"/>
                </a:solidFill>
                <a:latin typeface="Calibri"/>
              </a:rPr>
              <a:t>A pilot change in the Audit Trail with admin, time and — where the policy supports it — previous and new values, beside the Publish receipt.</a:t>
            </a:r>
          </a:p>
        </p:txBody>
      </p:sp>
      <p:sp>
        <p:nvSpPr>
          <p:cNvPr id="26" name="TextBox 25"/>
          <p:cNvSpPr txBox="1"/>
          <p:nvPr/>
        </p:nvSpPr>
        <p:spPr>
          <a:xfrm>
            <a:off x="6217920" y="4334256"/>
            <a:ext cx="5425135" cy="640080"/>
          </a:xfrm>
          <a:prstGeom prst="rect">
            <a:avLst/>
          </a:prstGeom>
          <a:noFill/>
        </p:spPr>
        <p:txBody>
          <a:bodyPr wrap="square" lIns="0" rIns="0" tIns="9144" bIns="9144" anchor="ctr">
            <a:spAutoFit/>
          </a:bodyPr>
          <a:lstStyle/>
          <a:p>
            <a:pPr algn="l">
              <a:lnSpc>
                <a:spcPct val="100000"/>
              </a:lnSpc>
            </a:pPr>
            <a:r>
              <a:rPr sz="1100" b="0" i="0">
                <a:solidFill>
                  <a:srgbClr val="0D1A16"/>
                </a:solidFill>
                <a:latin typeface="Calibri"/>
              </a:rPr>
              <a:t>Audit Trail view filtered to the pilot window; the My Policy Changes publish record</a:t>
            </a:r>
          </a:p>
          <a:p>
            <a:pPr algn="l">
              <a:lnSpc>
                <a:spcPct val="100000"/>
              </a:lnSpc>
            </a:pPr>
            <a:r>
              <a:rPr sz="1100" b="1" i="0">
                <a:solidFill>
                  <a:srgbClr val="0E8A6D"/>
                </a:solidFill>
                <a:latin typeface="Calibri"/>
              </a:rPr>
              <a:t>Account → Audit Trail · Notifications → My Policy Changes</a:t>
            </a:r>
          </a:p>
        </p:txBody>
      </p:sp>
      <p:sp>
        <p:nvSpPr>
          <p:cNvPr id="27" name="card"/>
          <p:cNvSpPr/>
          <p:nvPr/>
        </p:nvSpPr>
        <p:spPr>
          <a:xfrm>
            <a:off x="548640" y="5056632"/>
            <a:ext cx="11094415" cy="731520"/>
          </a:xfrm>
          <a:prstGeom prst="roundRect">
            <a:avLst>
              <a:gd name="adj" fmla="val 10000"/>
            </a:avLst>
          </a:prstGeom>
          <a:solidFill>
            <a:srgbClr val="FFFFFF"/>
          </a:solidFill>
          <a:ln w="9525">
            <a:solidFill>
              <a:srgbClr val="DDE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um"/>
          <p:cNvSpPr/>
          <p:nvPr/>
        </p:nvSpPr>
        <p:spPr>
          <a:xfrm>
            <a:off x="658368" y="5257800"/>
            <a:ext cx="329184" cy="329184"/>
          </a:xfrm>
          <a:prstGeom prst="ellipse">
            <a:avLst/>
          </a:prstGeom>
          <a:solidFill>
            <a:srgbClr val="0E8A6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9144" bIns="9144"/>
          <a:lstStyle/>
          <a:p>
            <a:pPr algn="ctr"/>
            <a:r>
              <a:rPr sz="1300" b="1" i="0">
                <a:solidFill>
                  <a:srgbClr val="FFFFFF"/>
                </a:solidFill>
                <a:latin typeface="Calibri"/>
              </a:rPr>
              <a:t>5</a:t>
            </a:r>
          </a:p>
        </p:txBody>
      </p:sp>
      <p:sp>
        <p:nvSpPr>
          <p:cNvPr id="29" name="TextBox 28"/>
          <p:cNvSpPr txBox="1"/>
          <p:nvPr/>
        </p:nvSpPr>
        <p:spPr>
          <a:xfrm>
            <a:off x="1143000" y="5102352"/>
            <a:ext cx="4846320" cy="640080"/>
          </a:xfrm>
          <a:prstGeom prst="rect">
            <a:avLst/>
          </a:prstGeom>
          <a:noFill/>
        </p:spPr>
        <p:txBody>
          <a:bodyPr wrap="square" lIns="0" rIns="0" tIns="9144" bIns="9144" anchor="ctr">
            <a:spAutoFit/>
          </a:bodyPr>
          <a:lstStyle/>
          <a:p>
            <a:pPr algn="l">
              <a:lnSpc>
                <a:spcPct val="100000"/>
              </a:lnSpc>
            </a:pPr>
            <a:r>
              <a:rPr sz="1100" b="1" i="0">
                <a:solidFill>
                  <a:srgbClr val="051820"/>
                </a:solidFill>
                <a:latin typeface="Calibri"/>
              </a:rPr>
              <a:t>Evidence retention proven, not promised</a:t>
            </a:r>
          </a:p>
          <a:p>
            <a:pPr algn="l">
              <a:lnSpc>
                <a:spcPct val="100000"/>
              </a:lnSpc>
            </a:pPr>
            <a:r>
              <a:rPr sz="1100" b="0" i="0">
                <a:solidFill>
                  <a:srgbClr val="0D1A16"/>
                </a:solidFill>
                <a:latin typeface="Calibri"/>
              </a:rPr>
              <a:t>A 30-day export of cohort events is produced inside the window and the retention licence covering the audit period is agreed.</a:t>
            </a:r>
          </a:p>
        </p:txBody>
      </p:sp>
      <p:sp>
        <p:nvSpPr>
          <p:cNvPr id="30" name="TextBox 29"/>
          <p:cNvSpPr txBox="1"/>
          <p:nvPr/>
        </p:nvSpPr>
        <p:spPr>
          <a:xfrm>
            <a:off x="6217920" y="5102352"/>
            <a:ext cx="5425135" cy="640080"/>
          </a:xfrm>
          <a:prstGeom prst="rect">
            <a:avLst/>
          </a:prstGeom>
          <a:noFill/>
        </p:spPr>
        <p:txBody>
          <a:bodyPr wrap="square" lIns="0" rIns="0" tIns="9144" bIns="9144" anchor="ctr">
            <a:spAutoFit/>
          </a:bodyPr>
          <a:lstStyle/>
          <a:p>
            <a:pPr algn="l">
              <a:lnSpc>
                <a:spcPct val="100000"/>
              </a:lnSpc>
            </a:pPr>
            <a:r>
              <a:rPr sz="1100" b="0" i="0">
                <a:solidFill>
                  <a:srgbClr val="0D1A16"/>
                </a:solidFill>
                <a:latin typeface="Calibri"/>
              </a:rPr>
              <a:t>The dated events export (CSV); the Data Lake retention decision in the pack</a:t>
            </a:r>
          </a:p>
          <a:p>
            <a:pPr algn="l">
              <a:lnSpc>
                <a:spcPct val="100000"/>
              </a:lnSpc>
            </a:pPr>
            <a:r>
              <a:rPr sz="1100" b="1" i="0">
                <a:solidFill>
                  <a:srgbClr val="0E8A6D"/>
                </a:solidFill>
                <a:latin typeface="Calibri"/>
              </a:rPr>
              <a:t>Home → Events · commercial proposal</a:t>
            </a:r>
          </a:p>
        </p:txBody>
      </p:sp>
      <p:sp>
        <p:nvSpPr>
          <p:cNvPr id="31" name="TextBox 30"/>
          <p:cNvSpPr txBox="1"/>
          <p:nvPr/>
        </p:nvSpPr>
        <p:spPr>
          <a:xfrm>
            <a:off x="548640" y="5879592"/>
            <a:ext cx="9768535" cy="411480"/>
          </a:xfrm>
          <a:prstGeom prst="rect">
            <a:avLst/>
          </a:prstGeom>
          <a:noFill/>
        </p:spPr>
        <p:txBody>
          <a:bodyPr wrap="square" lIns="0" rIns="0" tIns="9144" bIns="9144" anchor="t">
            <a:spAutoFit/>
          </a:bodyPr>
          <a:lstStyle/>
          <a:p>
            <a:pPr algn="l">
              <a:lnSpc>
                <a:spcPct val="100000"/>
              </a:lnSpc>
            </a:pPr>
            <a:r>
              <a:rPr sz="1100" b="1" i="0">
                <a:solidFill>
                  <a:srgbClr val="051820"/>
                </a:solidFill>
                <a:latin typeface="Calibri"/>
              </a:rPr>
              <a:t>Honest caveats: </a:t>
            </a:r>
            <a:r>
              <a:rPr sz="1100" b="0" i="0">
                <a:solidFill>
                  <a:srgbClr val="45524D"/>
                </a:solidFill>
                <a:latin typeface="Calibri"/>
              </a:rPr>
              <a:t>posture is one control family — the ISMS still needs its organisational controls, and A.8.2 privileged access is only partial. The Posture Compliance Report is an aid, not an audit opinion — it maps account-posture checks, not device posture. Say “supports and evidences”, never “closes”.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05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ato-lockup" descr="lockup-white.png"/>
          <p:cNvPicPr>
            <a:picLocks noChangeAspect="1"/>
          </p:cNvPicPr>
          <p:nvPr/>
        </p:nvPicPr>
        <p:blipFill>
          <a:blip r:embed="rId2"/>
          <a:stretch>
            <a:fillRect/>
          </a:stretch>
        </p:blipFill>
        <p:spPr>
          <a:xfrm>
            <a:off x="5243348" y="1371600"/>
            <a:ext cx="1704997" cy="704088"/>
          </a:xfrm>
          <a:prstGeom prst="rect">
            <a:avLst/>
          </a:prstGeom>
        </p:spPr>
      </p:pic>
      <p:sp>
        <p:nvSpPr>
          <p:cNvPr id="4" name="TextBox 3"/>
          <p:cNvSpPr txBox="1"/>
          <p:nvPr/>
        </p:nvSpPr>
        <p:spPr>
          <a:xfrm>
            <a:off x="838504" y="2514600"/>
            <a:ext cx="10514685" cy="868680"/>
          </a:xfrm>
          <a:prstGeom prst="rect">
            <a:avLst/>
          </a:prstGeom>
          <a:noFill/>
        </p:spPr>
        <p:txBody>
          <a:bodyPr wrap="square" lIns="0" rIns="0" tIns="9144" bIns="9144" anchor="ctr">
            <a:spAutoFit/>
          </a:bodyPr>
          <a:lstStyle/>
          <a:p>
            <a:pPr algn="ctr"/>
            <a:r>
              <a:rPr sz="4000" b="1" i="0">
                <a:solidFill>
                  <a:srgbClr val="FFFFFF"/>
                </a:solidFill>
                <a:latin typeface="Calibri"/>
              </a:rPr>
              <a:t>Next step</a:t>
            </a:r>
          </a:p>
        </p:txBody>
      </p:sp>
      <p:sp>
        <p:nvSpPr>
          <p:cNvPr id="5" name="accent"/>
          <p:cNvSpPr/>
          <p:nvPr/>
        </p:nvSpPr>
        <p:spPr>
          <a:xfrm>
            <a:off x="5181447" y="3456432"/>
            <a:ext cx="1828800" cy="61264"/>
          </a:xfrm>
          <a:prstGeom prst="rect">
            <a:avLst/>
          </a:prstGeom>
          <a:solidFill>
            <a:srgbClr val="12A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703320"/>
            <a:ext cx="9448495" cy="2011680"/>
          </a:xfrm>
          <a:prstGeom prst="rect">
            <a:avLst/>
          </a:prstGeom>
          <a:noFill/>
        </p:spPr>
        <p:txBody>
          <a:bodyPr wrap="square" lIns="0" rIns="0" tIns="9144" bIns="9144" anchor="t">
            <a:spAutoFit/>
          </a:bodyPr>
          <a:lstStyle/>
          <a:p>
            <a:pPr algn="ctr">
              <a:lnSpc>
                <a:spcPct val="110000"/>
              </a:lnSpc>
              <a:spcAft>
                <a:spcPts val="1000"/>
              </a:spcAft>
            </a:pPr>
            <a:r>
              <a:rPr sz="1500" b="0" i="0">
                <a:solidFill>
                  <a:srgbClr val="B9D2C9"/>
                </a:solidFill>
                <a:latin typeface="Calibri"/>
              </a:rPr>
              <a:t>A scoped proof of value against the five criteria on slide 8 — a pilot cohort of ten to thirty managed laptops, the ISMS owner choosing the Annex A rows from their own SoA, and the success criteria agreed before anything is configured.</a:t>
            </a:r>
          </a:p>
          <a:p>
            <a:pPr algn="ctr">
              <a:lnSpc>
                <a:spcPct val="110000"/>
              </a:lnSpc>
              <a:spcAft>
                <a:spcPts val="1000"/>
              </a:spcAft>
            </a:pPr>
            <a:r>
              <a:rPr sz="1500" b="0" i="0">
                <a:solidFill>
                  <a:srgbClr val="B9D2C9"/>
                </a:solidFill>
                <a:latin typeface="Calibri"/>
              </a:rPr>
              <a:t>The pack you keep: the mapping rows evidenced, the rows marked “not in pilot scope”, and the retention decision — your working paper for Stage 2.</a:t>
            </a:r>
          </a:p>
        </p:txBody>
      </p:sp>
      <p:sp>
        <p:nvSpPr>
          <p:cNvPr id="7" name="TextBox 6"/>
          <p:cNvSpPr txBox="1"/>
          <p:nvPr/>
        </p:nvSpPr>
        <p:spPr>
          <a:xfrm>
            <a:off x="838504" y="6254496"/>
            <a:ext cx="10514685" cy="320040"/>
          </a:xfrm>
          <a:prstGeom prst="rect">
            <a:avLst/>
          </a:prstGeom>
          <a:noFill/>
        </p:spPr>
        <p:txBody>
          <a:bodyPr wrap="square" lIns="0" rIns="0" tIns="9144" bIns="9144" anchor="ctr">
            <a:spAutoFit/>
          </a:bodyPr>
          <a:lstStyle/>
          <a:p>
            <a:pPr algn="ctr"/>
            <a:r>
              <a:rPr sz="1100" b="0" i="0">
                <a:solidFill>
                  <a:srgbClr val="8AA39B"/>
                </a:solidFill>
                <a:latin typeface="Calibri"/>
              </a:rPr>
              <a:t>catonetworks.com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
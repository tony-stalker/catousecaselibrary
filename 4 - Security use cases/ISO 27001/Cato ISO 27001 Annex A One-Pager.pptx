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band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rule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lockup" descr="lock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960120" cy="396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109728"/>
            <a:ext cx="102412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ISO/IEC 27001:2022 — Annex A controls Cato supports and evidences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502920"/>
            <a:ext cx="102412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Certification attests an ISMS. </a:t>
            </a:r>
            <a:r>
              <a:rPr sz="1100" b="0" i="0">
                <a:solidFill>
                  <a:srgbClr val="C9D6D1"/>
                </a:solidFill>
                <a:latin typeface="Calibri"/>
              </a:rPr>
              <a:t>Cato enforces the Annex A controls the customer selects — continuously — and generates the evidence a Stage 2 auditor asks for. Applicability is the customer's SoA decision; every tick is a “supports and evidences”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7276" y="1024128"/>
            <a:ext cx="603504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Device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8662" y="1024128"/>
            <a:ext cx="603504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Access &amp;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5183" y="1024128"/>
            <a:ext cx="713232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Threat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8865" y="1024128"/>
            <a:ext cx="548640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Data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6242" y="1024128"/>
            <a:ext cx="676656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Logging &amp;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024128"/>
            <a:ext cx="2487168" cy="329184"/>
          </a:xfrm>
          <a:prstGeom prst="rect">
            <a:avLst/>
          </a:prstGeom>
          <a:noFill/>
        </p:spPr>
        <p:txBody>
          <a:bodyPr wrap="square" lIns="36576" rIns="36576" tIns="9144" bIns="9144" anchor="b">
            <a:spAutoFit/>
          </a:bodyPr>
          <a:lstStyle/>
          <a:p>
            <a:pPr algn="l"/>
            <a:r>
              <a:rPr sz="1000" b="1" i="0">
                <a:solidFill>
                  <a:srgbClr val="45524D"/>
                </a:solidFill>
                <a:latin typeface="Calibri"/>
              </a:rPr>
              <a:t>Annex A control (2022)</a:t>
            </a:r>
          </a:p>
        </p:txBody>
      </p:sp>
      <p:sp>
        <p:nvSpPr>
          <p:cNvPr id="14" name="hdrrule"/>
          <p:cNvSpPr/>
          <p:nvPr/>
        </p:nvSpPr>
        <p:spPr>
          <a:xfrm>
            <a:off x="201168" y="1353312"/>
            <a:ext cx="5794095" cy="18288"/>
          </a:xfrm>
          <a:prstGeom prst="rect">
            <a:avLst/>
          </a:prstGeom>
          <a:solidFill>
            <a:srgbClr val="0E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ouphdr"/>
          <p:cNvSpPr/>
          <p:nvPr/>
        </p:nvSpPr>
        <p:spPr>
          <a:xfrm>
            <a:off x="201168" y="1389888"/>
            <a:ext cx="5794095" cy="192024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" y="1389888"/>
            <a:ext cx="5794095" cy="192024"/>
          </a:xfrm>
          <a:prstGeom prst="rect">
            <a:avLst/>
          </a:prstGeom>
          <a:noFill/>
        </p:spPr>
        <p:txBody>
          <a:bodyPr wrap="square" lIns="73152" rIns="7315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ORGANIZATIONAL — A.5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6002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A.5.14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Information transfer</a:t>
            </a:r>
          </a:p>
        </p:txBody>
      </p:sp>
      <p:sp>
        <p:nvSpPr>
          <p:cNvPr id="18" name="tick"/>
          <p:cNvSpPr/>
          <p:nvPr/>
        </p:nvSpPr>
        <p:spPr>
          <a:xfrm>
            <a:off x="2932160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ick"/>
          <p:cNvSpPr/>
          <p:nvPr/>
        </p:nvSpPr>
        <p:spPr>
          <a:xfrm>
            <a:off x="4254931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ick"/>
          <p:cNvSpPr/>
          <p:nvPr/>
        </p:nvSpPr>
        <p:spPr>
          <a:xfrm>
            <a:off x="4916317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ick"/>
          <p:cNvSpPr/>
          <p:nvPr/>
        </p:nvSpPr>
        <p:spPr>
          <a:xfrm>
            <a:off x="5577702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hair"/>
          <p:cNvSpPr/>
          <p:nvPr/>
        </p:nvSpPr>
        <p:spPr>
          <a:xfrm>
            <a:off x="201168" y="1824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18288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A.5.15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Access control</a:t>
            </a:r>
          </a:p>
        </p:txBody>
      </p:sp>
      <p:sp>
        <p:nvSpPr>
          <p:cNvPr id="24" name="tick"/>
          <p:cNvSpPr/>
          <p:nvPr/>
        </p:nvSpPr>
        <p:spPr>
          <a:xfrm>
            <a:off x="3593546" y="18562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ick"/>
          <p:cNvSpPr/>
          <p:nvPr/>
        </p:nvSpPr>
        <p:spPr>
          <a:xfrm>
            <a:off x="5577702" y="18562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hair"/>
          <p:cNvSpPr/>
          <p:nvPr/>
        </p:nvSpPr>
        <p:spPr>
          <a:xfrm>
            <a:off x="201168" y="20528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" y="20574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A.5.16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Identity management</a:t>
            </a:r>
          </a:p>
        </p:txBody>
      </p:sp>
      <p:sp>
        <p:nvSpPr>
          <p:cNvPr id="28" name="tick"/>
          <p:cNvSpPr/>
          <p:nvPr/>
        </p:nvSpPr>
        <p:spPr>
          <a:xfrm>
            <a:off x="3593546" y="20848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hair"/>
          <p:cNvSpPr/>
          <p:nvPr/>
        </p:nvSpPr>
        <p:spPr>
          <a:xfrm>
            <a:off x="201168" y="22814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22860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A.5.17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Authentication information</a:t>
            </a:r>
          </a:p>
        </p:txBody>
      </p:sp>
      <p:sp>
        <p:nvSpPr>
          <p:cNvPr id="31" name="tick"/>
          <p:cNvSpPr/>
          <p:nvPr/>
        </p:nvSpPr>
        <p:spPr>
          <a:xfrm>
            <a:off x="3593546" y="2313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hair"/>
          <p:cNvSpPr/>
          <p:nvPr/>
        </p:nvSpPr>
        <p:spPr>
          <a:xfrm>
            <a:off x="201168" y="25100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5146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A.5.18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Access rights</a:t>
            </a:r>
          </a:p>
        </p:txBody>
      </p:sp>
      <p:sp>
        <p:nvSpPr>
          <p:cNvPr id="34" name="tick"/>
          <p:cNvSpPr/>
          <p:nvPr/>
        </p:nvSpPr>
        <p:spPr>
          <a:xfrm>
            <a:off x="3593546" y="2542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ick"/>
          <p:cNvSpPr/>
          <p:nvPr/>
        </p:nvSpPr>
        <p:spPr>
          <a:xfrm>
            <a:off x="5577702" y="2542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hair"/>
          <p:cNvSpPr/>
          <p:nvPr/>
        </p:nvSpPr>
        <p:spPr>
          <a:xfrm>
            <a:off x="201168" y="27386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" y="27432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A.5.19–22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Supplier due diligence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2743200"/>
            <a:ext cx="3306927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0" i="1">
                <a:solidFill>
                  <a:srgbClr val="45524D"/>
                </a:solidFill>
                <a:latin typeface="Calibri"/>
              </a:rPr>
              <a:t>Trust Center certifications — supplier file</a:t>
            </a:r>
          </a:p>
        </p:txBody>
      </p:sp>
      <p:sp>
        <p:nvSpPr>
          <p:cNvPr id="39" name="hair"/>
          <p:cNvSpPr/>
          <p:nvPr/>
        </p:nvSpPr>
        <p:spPr>
          <a:xfrm>
            <a:off x="201168" y="2967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" y="2971800"/>
            <a:ext cx="20299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A.5.23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Use of cloud services</a:t>
            </a:r>
          </a:p>
        </p:txBody>
      </p:sp>
      <p:sp>
        <p:nvSpPr>
          <p:cNvPr id="41" name="chip"/>
          <p:cNvSpPr/>
          <p:nvPr/>
        </p:nvSpPr>
        <p:spPr>
          <a:xfrm>
            <a:off x="2258568" y="2999232"/>
            <a:ext cx="420624" cy="173736"/>
          </a:xfrm>
          <a:prstGeom prst="roundRect">
            <a:avLst>
              <a:gd name="adj" fmla="val 50000"/>
            </a:avLst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42" name="tick"/>
          <p:cNvSpPr/>
          <p:nvPr/>
        </p:nvSpPr>
        <p:spPr>
          <a:xfrm>
            <a:off x="4916317" y="29992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ick"/>
          <p:cNvSpPr/>
          <p:nvPr/>
        </p:nvSpPr>
        <p:spPr>
          <a:xfrm>
            <a:off x="5577702" y="29992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hair"/>
          <p:cNvSpPr/>
          <p:nvPr/>
        </p:nvSpPr>
        <p:spPr>
          <a:xfrm>
            <a:off x="201168" y="31958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ouphdr"/>
          <p:cNvSpPr/>
          <p:nvPr/>
        </p:nvSpPr>
        <p:spPr>
          <a:xfrm>
            <a:off x="201168" y="3218688"/>
            <a:ext cx="5794095" cy="192024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3218688"/>
            <a:ext cx="5794095" cy="192024"/>
          </a:xfrm>
          <a:prstGeom prst="rect">
            <a:avLst/>
          </a:prstGeom>
          <a:noFill/>
        </p:spPr>
        <p:txBody>
          <a:bodyPr wrap="square" lIns="73152" rIns="7315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PEOPLE &amp; ENDPOINT DEVICES — A.6 / A.8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" y="34290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A.6.7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Remote working</a:t>
            </a:r>
          </a:p>
        </p:txBody>
      </p:sp>
      <p:sp>
        <p:nvSpPr>
          <p:cNvPr id="48" name="tick"/>
          <p:cNvSpPr/>
          <p:nvPr/>
        </p:nvSpPr>
        <p:spPr>
          <a:xfrm>
            <a:off x="2932160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ick"/>
          <p:cNvSpPr/>
          <p:nvPr/>
        </p:nvSpPr>
        <p:spPr>
          <a:xfrm>
            <a:off x="3593546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0" name="tick"/>
          <p:cNvSpPr/>
          <p:nvPr/>
        </p:nvSpPr>
        <p:spPr>
          <a:xfrm>
            <a:off x="5577702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1" name="hair"/>
          <p:cNvSpPr/>
          <p:nvPr/>
        </p:nvSpPr>
        <p:spPr>
          <a:xfrm>
            <a:off x="201168" y="36530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1168" y="36576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A.8.1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User endpoint devices</a:t>
            </a:r>
          </a:p>
        </p:txBody>
      </p:sp>
      <p:sp>
        <p:nvSpPr>
          <p:cNvPr id="53" name="tick"/>
          <p:cNvSpPr/>
          <p:nvPr/>
        </p:nvSpPr>
        <p:spPr>
          <a:xfrm>
            <a:off x="2932160" y="3685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" name="tick"/>
          <p:cNvSpPr/>
          <p:nvPr/>
        </p:nvSpPr>
        <p:spPr>
          <a:xfrm>
            <a:off x="3593546" y="3685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5" name="tick"/>
          <p:cNvSpPr/>
          <p:nvPr/>
        </p:nvSpPr>
        <p:spPr>
          <a:xfrm>
            <a:off x="5577702" y="3685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6" name="hair"/>
          <p:cNvSpPr/>
          <p:nvPr/>
        </p:nvSpPr>
        <p:spPr>
          <a:xfrm>
            <a:off x="201168" y="38816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168" y="3886200"/>
            <a:ext cx="1920240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Privileged access rights</a:t>
            </a:r>
          </a:p>
        </p:txBody>
      </p:sp>
      <p:sp>
        <p:nvSpPr>
          <p:cNvPr id="58" name="chip"/>
          <p:cNvSpPr/>
          <p:nvPr/>
        </p:nvSpPr>
        <p:spPr>
          <a:xfrm>
            <a:off x="2148840" y="3913632"/>
            <a:ext cx="530352" cy="173736"/>
          </a:xfrm>
          <a:prstGeom prst="roundRect">
            <a:avLst>
              <a:gd name="adj" fmla="val 50000"/>
            </a:avLst>
          </a:prstGeom>
          <a:solidFill>
            <a:srgbClr val="FBFDFC"/>
          </a:solidFill>
          <a:ln w="9525">
            <a:solidFill>
              <a:srgbClr val="455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45524D"/>
                </a:solidFill>
                <a:latin typeface="Calibri"/>
              </a:rPr>
              <a:t>partial</a:t>
            </a:r>
          </a:p>
        </p:txBody>
      </p:sp>
      <p:sp>
        <p:nvSpPr>
          <p:cNvPr id="59" name="tick"/>
          <p:cNvSpPr/>
          <p:nvPr/>
        </p:nvSpPr>
        <p:spPr>
          <a:xfrm>
            <a:off x="2932160" y="3913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ick"/>
          <p:cNvSpPr/>
          <p:nvPr/>
        </p:nvSpPr>
        <p:spPr>
          <a:xfrm>
            <a:off x="3593546" y="3913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1" name="hair"/>
          <p:cNvSpPr/>
          <p:nvPr/>
        </p:nvSpPr>
        <p:spPr>
          <a:xfrm>
            <a:off x="201168" y="4110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" y="41148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A.8.5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Secure authentication</a:t>
            </a:r>
          </a:p>
        </p:txBody>
      </p:sp>
      <p:sp>
        <p:nvSpPr>
          <p:cNvPr id="63" name="tick"/>
          <p:cNvSpPr/>
          <p:nvPr/>
        </p:nvSpPr>
        <p:spPr>
          <a:xfrm>
            <a:off x="2932160" y="41422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4" name="tick"/>
          <p:cNvSpPr/>
          <p:nvPr/>
        </p:nvSpPr>
        <p:spPr>
          <a:xfrm>
            <a:off x="3593546" y="41422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5" name="hair"/>
          <p:cNvSpPr/>
          <p:nvPr/>
        </p:nvSpPr>
        <p:spPr>
          <a:xfrm>
            <a:off x="201168" y="43388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1168" y="43434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A.8.7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Protection against malware</a:t>
            </a:r>
          </a:p>
        </p:txBody>
      </p:sp>
      <p:sp>
        <p:nvSpPr>
          <p:cNvPr id="67" name="tick"/>
          <p:cNvSpPr/>
          <p:nvPr/>
        </p:nvSpPr>
        <p:spPr>
          <a:xfrm>
            <a:off x="2932160" y="43708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ick"/>
          <p:cNvSpPr/>
          <p:nvPr/>
        </p:nvSpPr>
        <p:spPr>
          <a:xfrm>
            <a:off x="4254931" y="43708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9" name="tick"/>
          <p:cNvSpPr/>
          <p:nvPr/>
        </p:nvSpPr>
        <p:spPr>
          <a:xfrm>
            <a:off x="5577702" y="43708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0" name="hair"/>
          <p:cNvSpPr/>
          <p:nvPr/>
        </p:nvSpPr>
        <p:spPr>
          <a:xfrm>
            <a:off x="201168" y="45674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12540" y="1024128"/>
            <a:ext cx="603504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Device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posture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73925" y="1024128"/>
            <a:ext cx="603504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Access &amp;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identity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80447" y="1024128"/>
            <a:ext cx="713232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Threat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prevention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24128" y="1024128"/>
            <a:ext cx="548640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Data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control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321506" y="1024128"/>
            <a:ext cx="676656" cy="329184"/>
          </a:xfrm>
          <a:prstGeom prst="rect">
            <a:avLst/>
          </a:prstGeom>
          <a:noFill/>
        </p:spPr>
        <p:txBody>
          <a:bodyPr wrap="square" lIns="0" rIns="0" tIns="9144" bIns="9144" anchor="b">
            <a:spAutoFit/>
          </a:bodyPr>
          <a:lstStyle/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Logging &amp;</a:t>
            </a:r>
          </a:p>
          <a:p>
            <a:pPr algn="ctr"/>
            <a:r>
              <a:rPr sz="1000" b="1" i="0">
                <a:solidFill>
                  <a:srgbClr val="051820"/>
                </a:solidFill>
                <a:latin typeface="Calibri"/>
              </a:rPr>
              <a:t>evidence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6431" y="1024128"/>
            <a:ext cx="2487168" cy="329184"/>
          </a:xfrm>
          <a:prstGeom prst="rect">
            <a:avLst/>
          </a:prstGeom>
          <a:noFill/>
        </p:spPr>
        <p:txBody>
          <a:bodyPr wrap="square" lIns="36576" rIns="36576" tIns="9144" bIns="9144" anchor="b">
            <a:spAutoFit/>
          </a:bodyPr>
          <a:lstStyle/>
          <a:p>
            <a:pPr algn="l"/>
            <a:r>
              <a:rPr sz="1000" b="1" i="0">
                <a:solidFill>
                  <a:srgbClr val="45524D"/>
                </a:solidFill>
                <a:latin typeface="Calibri"/>
              </a:rPr>
              <a:t>Annex A control (2022)</a:t>
            </a:r>
          </a:p>
        </p:txBody>
      </p:sp>
      <p:sp>
        <p:nvSpPr>
          <p:cNvPr id="77" name="hdrrule"/>
          <p:cNvSpPr/>
          <p:nvPr/>
        </p:nvSpPr>
        <p:spPr>
          <a:xfrm>
            <a:off x="6196431" y="1353312"/>
            <a:ext cx="5794095" cy="18288"/>
          </a:xfrm>
          <a:prstGeom prst="rect">
            <a:avLst/>
          </a:prstGeom>
          <a:solidFill>
            <a:srgbClr val="0E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ouphdr"/>
          <p:cNvSpPr/>
          <p:nvPr/>
        </p:nvSpPr>
        <p:spPr>
          <a:xfrm>
            <a:off x="6196431" y="1389888"/>
            <a:ext cx="5794095" cy="192024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96431" y="1389888"/>
            <a:ext cx="5794095" cy="192024"/>
          </a:xfrm>
          <a:prstGeom prst="rect">
            <a:avLst/>
          </a:prstGeom>
          <a:noFill/>
        </p:spPr>
        <p:txBody>
          <a:bodyPr wrap="square" lIns="73152" rIns="7315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NETWORK &amp; ACCESS — A.8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6431" y="16002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A.8.3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Information access restriction</a:t>
            </a:r>
          </a:p>
        </p:txBody>
      </p:sp>
      <p:sp>
        <p:nvSpPr>
          <p:cNvPr id="81" name="tick"/>
          <p:cNvSpPr/>
          <p:nvPr/>
        </p:nvSpPr>
        <p:spPr>
          <a:xfrm>
            <a:off x="8927424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2" name="tick"/>
          <p:cNvSpPr/>
          <p:nvPr/>
        </p:nvSpPr>
        <p:spPr>
          <a:xfrm>
            <a:off x="9588809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3" name="tick"/>
          <p:cNvSpPr/>
          <p:nvPr/>
        </p:nvSpPr>
        <p:spPr>
          <a:xfrm>
            <a:off x="11572966" y="1627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4" name="hair"/>
          <p:cNvSpPr/>
          <p:nvPr/>
        </p:nvSpPr>
        <p:spPr>
          <a:xfrm>
            <a:off x="6196431" y="1824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6431" y="18288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A.8.20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Networks security</a:t>
            </a:r>
          </a:p>
        </p:txBody>
      </p:sp>
      <p:sp>
        <p:nvSpPr>
          <p:cNvPr id="86" name="tick"/>
          <p:cNvSpPr/>
          <p:nvPr/>
        </p:nvSpPr>
        <p:spPr>
          <a:xfrm>
            <a:off x="8927424" y="18562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7" name="tick"/>
          <p:cNvSpPr/>
          <p:nvPr/>
        </p:nvSpPr>
        <p:spPr>
          <a:xfrm>
            <a:off x="9588809" y="18562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8" name="tick"/>
          <p:cNvSpPr/>
          <p:nvPr/>
        </p:nvSpPr>
        <p:spPr>
          <a:xfrm>
            <a:off x="10250195" y="18562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9" name="hair"/>
          <p:cNvSpPr/>
          <p:nvPr/>
        </p:nvSpPr>
        <p:spPr>
          <a:xfrm>
            <a:off x="6196431" y="20528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96431" y="20574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A.8.21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Security of network services</a:t>
            </a:r>
          </a:p>
        </p:txBody>
      </p:sp>
      <p:sp>
        <p:nvSpPr>
          <p:cNvPr id="91" name="tick"/>
          <p:cNvSpPr/>
          <p:nvPr/>
        </p:nvSpPr>
        <p:spPr>
          <a:xfrm>
            <a:off x="11572966" y="2084831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2" name="hair"/>
          <p:cNvSpPr/>
          <p:nvPr/>
        </p:nvSpPr>
        <p:spPr>
          <a:xfrm>
            <a:off x="6196431" y="22814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96431" y="22860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A.8.22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Segregation of networks</a:t>
            </a:r>
          </a:p>
        </p:txBody>
      </p:sp>
      <p:sp>
        <p:nvSpPr>
          <p:cNvPr id="94" name="tick"/>
          <p:cNvSpPr/>
          <p:nvPr/>
        </p:nvSpPr>
        <p:spPr>
          <a:xfrm>
            <a:off x="8927424" y="2313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5" name="tick"/>
          <p:cNvSpPr/>
          <p:nvPr/>
        </p:nvSpPr>
        <p:spPr>
          <a:xfrm>
            <a:off x="9588809" y="2313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6" name="tick"/>
          <p:cNvSpPr/>
          <p:nvPr/>
        </p:nvSpPr>
        <p:spPr>
          <a:xfrm>
            <a:off x="11572966" y="2313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7" name="hair"/>
          <p:cNvSpPr/>
          <p:nvPr/>
        </p:nvSpPr>
        <p:spPr>
          <a:xfrm>
            <a:off x="6196431" y="25100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6431" y="2514600"/>
            <a:ext cx="20299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A.8.23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Web filtering</a:t>
            </a:r>
          </a:p>
        </p:txBody>
      </p:sp>
      <p:sp>
        <p:nvSpPr>
          <p:cNvPr id="99" name="chip"/>
          <p:cNvSpPr/>
          <p:nvPr/>
        </p:nvSpPr>
        <p:spPr>
          <a:xfrm>
            <a:off x="8253831" y="2542032"/>
            <a:ext cx="420624" cy="173736"/>
          </a:xfrm>
          <a:prstGeom prst="roundRect">
            <a:avLst>
              <a:gd name="adj" fmla="val 50000"/>
            </a:avLst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00" name="tick"/>
          <p:cNvSpPr/>
          <p:nvPr/>
        </p:nvSpPr>
        <p:spPr>
          <a:xfrm>
            <a:off x="9588809" y="2542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1" name="tick"/>
          <p:cNvSpPr/>
          <p:nvPr/>
        </p:nvSpPr>
        <p:spPr>
          <a:xfrm>
            <a:off x="11572966" y="2542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2" name="hair"/>
          <p:cNvSpPr/>
          <p:nvPr/>
        </p:nvSpPr>
        <p:spPr>
          <a:xfrm>
            <a:off x="6196431" y="27386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96431" y="27432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A.8.24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Use of cryptography</a:t>
            </a:r>
          </a:p>
        </p:txBody>
      </p:sp>
      <p:sp>
        <p:nvSpPr>
          <p:cNvPr id="104" name="tick"/>
          <p:cNvSpPr/>
          <p:nvPr/>
        </p:nvSpPr>
        <p:spPr>
          <a:xfrm>
            <a:off x="8927424" y="2770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5" name="tick"/>
          <p:cNvSpPr/>
          <p:nvPr/>
        </p:nvSpPr>
        <p:spPr>
          <a:xfrm>
            <a:off x="10250195" y="2770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6" name="hair"/>
          <p:cNvSpPr/>
          <p:nvPr/>
        </p:nvSpPr>
        <p:spPr>
          <a:xfrm>
            <a:off x="6196431" y="2967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ouphdr"/>
          <p:cNvSpPr/>
          <p:nvPr/>
        </p:nvSpPr>
        <p:spPr>
          <a:xfrm>
            <a:off x="6196431" y="2990088"/>
            <a:ext cx="5794095" cy="192024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96431" y="2990088"/>
            <a:ext cx="5794095" cy="192024"/>
          </a:xfrm>
          <a:prstGeom prst="rect">
            <a:avLst/>
          </a:prstGeom>
          <a:noFill/>
        </p:spPr>
        <p:txBody>
          <a:bodyPr wrap="square" lIns="73152" rIns="7315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CONFIGURATION, DATA &amp; MONITORING — A.8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96431" y="3200400"/>
            <a:ext cx="20299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A.8.9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Configuration management</a:t>
            </a:r>
          </a:p>
        </p:txBody>
      </p:sp>
      <p:sp>
        <p:nvSpPr>
          <p:cNvPr id="110" name="chip"/>
          <p:cNvSpPr/>
          <p:nvPr/>
        </p:nvSpPr>
        <p:spPr>
          <a:xfrm>
            <a:off x="8253831" y="3227832"/>
            <a:ext cx="420624" cy="173736"/>
          </a:xfrm>
          <a:prstGeom prst="roundRect">
            <a:avLst>
              <a:gd name="adj" fmla="val 50000"/>
            </a:avLst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11" name="tick"/>
          <p:cNvSpPr/>
          <p:nvPr/>
        </p:nvSpPr>
        <p:spPr>
          <a:xfrm>
            <a:off x="8927424" y="32278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2" name="tick"/>
          <p:cNvSpPr/>
          <p:nvPr/>
        </p:nvSpPr>
        <p:spPr>
          <a:xfrm>
            <a:off x="11572966" y="32278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3" name="hair"/>
          <p:cNvSpPr/>
          <p:nvPr/>
        </p:nvSpPr>
        <p:spPr>
          <a:xfrm>
            <a:off x="6196431" y="34244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96431" y="3429000"/>
            <a:ext cx="20299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A.8.12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Data leakage prevention</a:t>
            </a:r>
          </a:p>
        </p:txBody>
      </p:sp>
      <p:sp>
        <p:nvSpPr>
          <p:cNvPr id="115" name="chip"/>
          <p:cNvSpPr/>
          <p:nvPr/>
        </p:nvSpPr>
        <p:spPr>
          <a:xfrm>
            <a:off x="8253831" y="3456432"/>
            <a:ext cx="420624" cy="173736"/>
          </a:xfrm>
          <a:prstGeom prst="roundRect">
            <a:avLst>
              <a:gd name="adj" fmla="val 50000"/>
            </a:avLst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16" name="tick"/>
          <p:cNvSpPr/>
          <p:nvPr/>
        </p:nvSpPr>
        <p:spPr>
          <a:xfrm>
            <a:off x="8927424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7" name="tick"/>
          <p:cNvSpPr/>
          <p:nvPr/>
        </p:nvSpPr>
        <p:spPr>
          <a:xfrm>
            <a:off x="10911580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8" name="tick"/>
          <p:cNvSpPr/>
          <p:nvPr/>
        </p:nvSpPr>
        <p:spPr>
          <a:xfrm>
            <a:off x="11572966" y="34564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9" name="hair"/>
          <p:cNvSpPr/>
          <p:nvPr/>
        </p:nvSpPr>
        <p:spPr>
          <a:xfrm>
            <a:off x="6196431" y="36530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96431" y="3657600"/>
            <a:ext cx="24871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A.8.15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Logging</a:t>
            </a:r>
          </a:p>
        </p:txBody>
      </p:sp>
      <p:sp>
        <p:nvSpPr>
          <p:cNvPr id="121" name="tick"/>
          <p:cNvSpPr/>
          <p:nvPr/>
        </p:nvSpPr>
        <p:spPr>
          <a:xfrm>
            <a:off x="11572966" y="36850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2" name="hair"/>
          <p:cNvSpPr/>
          <p:nvPr/>
        </p:nvSpPr>
        <p:spPr>
          <a:xfrm>
            <a:off x="6196431" y="38816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196431" y="3886200"/>
            <a:ext cx="2029968" cy="228600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A.8.16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Monitoring activities</a:t>
            </a:r>
          </a:p>
        </p:txBody>
      </p:sp>
      <p:sp>
        <p:nvSpPr>
          <p:cNvPr id="124" name="chip"/>
          <p:cNvSpPr/>
          <p:nvPr/>
        </p:nvSpPr>
        <p:spPr>
          <a:xfrm>
            <a:off x="8253831" y="3913632"/>
            <a:ext cx="420624" cy="173736"/>
          </a:xfrm>
          <a:prstGeom prst="roundRect">
            <a:avLst>
              <a:gd name="adj" fmla="val 50000"/>
            </a:avLst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25" name="tick"/>
          <p:cNvSpPr/>
          <p:nvPr/>
        </p:nvSpPr>
        <p:spPr>
          <a:xfrm>
            <a:off x="10250195" y="3913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6" name="tick"/>
          <p:cNvSpPr/>
          <p:nvPr/>
        </p:nvSpPr>
        <p:spPr>
          <a:xfrm>
            <a:off x="11572966" y="3913632"/>
            <a:ext cx="173736" cy="173736"/>
          </a:xfrm>
          <a:prstGeom prst="ellipse">
            <a:avLst/>
          </a:prstGeom>
          <a:solidFill>
            <a:srgbClr val="12A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9144" b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7" name="hair"/>
          <p:cNvSpPr/>
          <p:nvPr/>
        </p:nvSpPr>
        <p:spPr>
          <a:xfrm>
            <a:off x="6196431" y="4110228"/>
            <a:ext cx="5794095" cy="914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96431" y="4151376"/>
            <a:ext cx="5794095" cy="40233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12A380"/>
                </a:solidFill>
                <a:latin typeface="Calibri"/>
              </a:rPr>
              <a:t>✓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 supports and evidences the control — applicability stays the customer's SoA decision</a:t>
            </a:r>
          </a:p>
          <a:p>
            <a:pPr algn="l"/>
            <a:r>
              <a:rPr sz="1000" b="1" i="0">
                <a:solidFill>
                  <a:srgbClr val="12A380"/>
                </a:solidFill>
                <a:latin typeface="Calibri"/>
              </a:rPr>
              <a:t>NEW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 new in the 2022 edition, core SASE capability   ·   </a:t>
            </a:r>
            <a:r>
              <a:rPr sz="1000" b="1" i="0">
                <a:solidFill>
                  <a:srgbClr val="45524D"/>
                </a:solidFill>
                <a:latin typeface="Calibri"/>
              </a:rPr>
              <a:t>partial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 PAM proper is out of scope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1168" y="4626864"/>
            <a:ext cx="11789359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Column key  </a:t>
            </a:r>
            <a:r>
              <a:rPr sz="1000" b="1" i="0">
                <a:solidFill>
                  <a:srgbClr val="0D1A16"/>
                </a:solidFill>
                <a:latin typeface="Calibri"/>
              </a:rPr>
              <a:t>Device posture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Device Checks, Posture Profiles, Check Policy  ·  </a:t>
            </a:r>
            <a:r>
              <a:rPr sz="1000" b="1" i="0">
                <a:solidFill>
                  <a:srgbClr val="0D1A16"/>
                </a:solidFill>
                <a:latin typeface="Calibri"/>
              </a:rPr>
              <a:t>Access &amp; identity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Client Connectivity Policy, WAN and Internet Firewall, Always-On, SSO/MFA, SCIM, RBAC  ·  </a:t>
            </a:r>
            <a:r>
              <a:rPr sz="1000" b="1" i="0">
                <a:solidFill>
                  <a:srgbClr val="0D1A16"/>
                </a:solidFill>
                <a:latin typeface="Calibri"/>
              </a:rPr>
              <a:t>Threat prevention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Anti-Malware, IPS, TLS Inspection  ·  </a:t>
            </a:r>
            <a:r>
              <a:rPr sz="1000" b="1" i="0">
                <a:solidFill>
                  <a:srgbClr val="0D1A16"/>
                </a:solidFill>
                <a:latin typeface="Calibri"/>
              </a:rPr>
              <a:t>Data control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Data Control (DLP), CASB Application Control  ·  </a:t>
            </a:r>
            <a:r>
              <a:rPr sz="1000" b="1" i="0">
                <a:solidFill>
                  <a:srgbClr val="0D1A16"/>
                </a:solidFill>
                <a:latin typeface="Calibri"/>
              </a:rPr>
              <a:t>Logging &amp; evidence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 events and Data Lake, Audit Trail, reports, Trust Center</a:t>
            </a:r>
          </a:p>
        </p:txBody>
      </p:sp>
      <p:sp>
        <p:nvSpPr>
          <p:cNvPr id="130" name="posture"/>
          <p:cNvSpPr/>
          <p:nvPr/>
        </p:nvSpPr>
        <p:spPr>
          <a:xfrm>
            <a:off x="201168" y="4992624"/>
            <a:ext cx="11789359" cy="640080"/>
          </a:xfrm>
          <a:prstGeom prst="roundRect">
            <a:avLst>
              <a:gd name="adj" fmla="val 12000"/>
            </a:avLst>
          </a:prstGeom>
          <a:solidFill>
            <a:srgbClr val="0E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10896" y="4992624"/>
            <a:ext cx="1417320" cy="6400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DEVICE POSTURE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— the anchor</a:t>
            </a:r>
          </a:p>
        </p:txBody>
      </p:sp>
      <p:sp>
        <p:nvSpPr>
          <p:cNvPr id="132" name="sep"/>
          <p:cNvSpPr/>
          <p:nvPr/>
        </p:nvSpPr>
        <p:spPr>
          <a:xfrm>
            <a:off x="1773936" y="5102352"/>
            <a:ext cx="10972" cy="420623"/>
          </a:xfrm>
          <a:prstGeom prst="rect">
            <a:avLst/>
          </a:prstGeom>
          <a:solidFill>
            <a:srgbClr val="7FC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828800" y="4992624"/>
            <a:ext cx="2421559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11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Device Check types — anti-malware, firewall, disk encryption, patch, certificate, DLP agent and more</a:t>
            </a:r>
          </a:p>
        </p:txBody>
      </p:sp>
      <p:sp>
        <p:nvSpPr>
          <p:cNvPr id="134" name="sep"/>
          <p:cNvSpPr/>
          <p:nvPr/>
        </p:nvSpPr>
        <p:spPr>
          <a:xfrm>
            <a:off x="4305223" y="5102352"/>
            <a:ext cx="10972" cy="420623"/>
          </a:xfrm>
          <a:prstGeom prst="rect">
            <a:avLst/>
          </a:prstGeom>
          <a:solidFill>
            <a:srgbClr val="7FC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60087" y="4992624"/>
            <a:ext cx="2421559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min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continuous checks by default since 7 Aug 2026 — enforced all the time, not proven once at login</a:t>
            </a:r>
          </a:p>
        </p:txBody>
      </p:sp>
      <p:sp>
        <p:nvSpPr>
          <p:cNvPr id="136" name="sep"/>
          <p:cNvSpPr/>
          <p:nvPr/>
        </p:nvSpPr>
        <p:spPr>
          <a:xfrm>
            <a:off x="6836511" y="5102352"/>
            <a:ext cx="10972" cy="420623"/>
          </a:xfrm>
          <a:prstGeom prst="rect">
            <a:avLst/>
          </a:prstGeom>
          <a:solidFill>
            <a:srgbClr val="7FC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91375" y="4992624"/>
            <a:ext cx="2421559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Fail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refused or disconnected; a Client Connectivity Policy event records the unmet requirement</a:t>
            </a:r>
          </a:p>
        </p:txBody>
      </p:sp>
      <p:sp>
        <p:nvSpPr>
          <p:cNvPr id="138" name="sep"/>
          <p:cNvSpPr/>
          <p:nvPr/>
        </p:nvSpPr>
        <p:spPr>
          <a:xfrm>
            <a:off x="9367799" y="5102352"/>
            <a:ext cx="10972" cy="420623"/>
          </a:xfrm>
          <a:prstGeom prst="rect">
            <a:avLst/>
          </a:prstGeom>
          <a:solidFill>
            <a:srgbClr val="7FC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422663" y="4992624"/>
            <a:ext cx="2421559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Gate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Posture Profiles are conditions in Client Connectivity Policy, Firewall rules and Always-On — no opt-out</a:t>
            </a:r>
          </a:p>
        </p:txBody>
      </p:sp>
      <p:sp>
        <p:nvSpPr>
          <p:cNvPr id="140" name="evidence"/>
          <p:cNvSpPr/>
          <p:nvPr/>
        </p:nvSpPr>
        <p:spPr>
          <a:xfrm>
            <a:off x="201168" y="5705856"/>
            <a:ext cx="1178935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10896" y="5705856"/>
            <a:ext cx="1417320" cy="51206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051820"/>
                </a:solidFill>
                <a:latin typeface="Calibri"/>
              </a:rPr>
              <a:t>EVIDENCE</a:t>
            </a:r>
          </a:p>
          <a:p>
            <a:pPr algn="l"/>
            <a:r>
              <a:rPr sz="1100" b="1" i="0">
                <a:solidFill>
                  <a:srgbClr val="051820"/>
                </a:solidFill>
                <a:latin typeface="Calibri"/>
              </a:rPr>
              <a:t>surfaces</a:t>
            </a:r>
          </a:p>
        </p:txBody>
      </p:sp>
      <p:sp>
        <p:nvSpPr>
          <p:cNvPr id="142" name="sep"/>
          <p:cNvSpPr/>
          <p:nvPr/>
        </p:nvSpPr>
        <p:spPr>
          <a:xfrm>
            <a:off x="1773936" y="5797296"/>
            <a:ext cx="10972" cy="32918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28800" y="5705856"/>
            <a:ext cx="3265322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Audit Trail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12 months of attributed configuration change, before/after values for certain policies (Account → Audit Trail)</a:t>
            </a:r>
          </a:p>
        </p:txBody>
      </p:sp>
      <p:sp>
        <p:nvSpPr>
          <p:cNvPr id="144" name="sep"/>
          <p:cNvSpPr/>
          <p:nvPr/>
        </p:nvSpPr>
        <p:spPr>
          <a:xfrm>
            <a:off x="5148986" y="5797296"/>
            <a:ext cx="10972" cy="32918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203850" y="5705856"/>
            <a:ext cx="3265322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Events &amp; Data Lake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every enforcement decision, identity-attributed; 3 months base retention, extendable to 12 (Home → Events)</a:t>
            </a:r>
          </a:p>
        </p:txBody>
      </p:sp>
      <p:sp>
        <p:nvSpPr>
          <p:cNvPr id="146" name="sep"/>
          <p:cNvSpPr/>
          <p:nvPr/>
        </p:nvSpPr>
        <p:spPr>
          <a:xfrm>
            <a:off x="8524036" y="5797296"/>
            <a:ext cx="10972" cy="329184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578900" y="5705856"/>
            <a:ext cx="3265322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E8A6D"/>
                </a:solidFill>
                <a:latin typeface="Calibri"/>
              </a:rPr>
              <a:t>Scheduled reports  </a:t>
            </a:r>
            <a:r>
              <a:rPr sz="1000" b="0" i="0">
                <a:solidFill>
                  <a:srgbClr val="0D1A16"/>
                </a:solidFill>
                <a:latin typeface="Calibri"/>
              </a:rPr>
              <a:t>Posture Compliance Report (account-posture checks) — daily, weekly or monthly, emailed or downloaded</a:t>
            </a:r>
          </a:p>
        </p:txBody>
      </p:sp>
      <p:sp>
        <p:nvSpPr>
          <p:cNvPr id="148" name="footrule"/>
          <p:cNvSpPr/>
          <p:nvPr/>
        </p:nvSpPr>
        <p:spPr>
          <a:xfrm>
            <a:off x="201168" y="6291072"/>
            <a:ext cx="11789359" cy="10972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1168" y="6318504"/>
            <a:ext cx="8778240" cy="3840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051820"/>
                </a:solidFill>
                <a:latin typeface="Calibri"/>
              </a:rPr>
              <a:t>Supplier file (A.5.19–5.22, A.8.21)  </a:t>
            </a:r>
            <a:r>
              <a:rPr sz="1000" b="0" i="0">
                <a:solidFill>
                  <a:srgbClr val="45524D"/>
                </a:solidFill>
                <a:latin typeface="Calibri"/>
              </a:rPr>
              <a:t>Cato's own ISO/IEC 27001:2022 and SOC 2 Type II are listed on the Cato Trust Center (vendor-reported; pull the certificates under NDA). They evidence the supplier, never the customer.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64447" y="6318504"/>
            <a:ext cx="2926080" cy="3840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/>
            <a:r>
              <a:rPr sz="1000" b="0" i="0">
                <a:solidFill>
                  <a:srgbClr val="45524D"/>
                </a:solidFill>
                <a:latin typeface="Calibri"/>
              </a:rPr>
              <a:t>Cato Networks — SE enablement</a:t>
            </a:r>
          </a:p>
          <a:p>
            <a:pPr algn="r"/>
            <a:r>
              <a:rPr sz="1000" b="0" i="0">
                <a:solidFill>
                  <a:srgbClr val="45524D"/>
                </a:solidFill>
                <a:latin typeface="Calibri"/>
              </a:rPr>
              <a:t>Use Case Library · security-iso27001 ·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
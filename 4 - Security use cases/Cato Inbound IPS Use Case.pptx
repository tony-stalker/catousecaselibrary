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4"/>
  </p:sldMasterIdLst>
  <p:notesMasterIdLst>
    <p:notesMasterId r:id="rId16"/>
  </p:notesMasterIdLst>
  <p:handoutMasterIdLst>
    <p:handoutMasterId r:id="rId17"/>
  </p:handoutMasterIdLst>
  <p:sldIdLst>
    <p:sldId id="2147472112" r:id="rId5"/>
    <p:sldId id="2147472136" r:id="rId6"/>
    <p:sldId id="2076137701" r:id="rId7"/>
    <p:sldId id="2147472137" r:id="rId8"/>
    <p:sldId id="2147472147" r:id="rId9"/>
    <p:sldId id="2147472143" r:id="rId10"/>
    <p:sldId id="2147472146" r:id="rId11"/>
    <p:sldId id="2147472145" r:id="rId12"/>
    <p:sldId id="2147472148" r:id="rId13"/>
    <p:sldId id="2147472150" r:id="rId14"/>
    <p:sldId id="365" r:id="rId15"/>
  </p:sldIdLst>
  <p:sldSz cx="12192000" cy="6858000"/>
  <p:notesSz cx="6858000" cy="9144000"/>
  <p:defaultTextStyle>
    <a:defPPr>
      <a:defRPr lang="en-I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54" userDrawn="1">
          <p15:clr>
            <a:srgbClr val="A4A3A4"/>
          </p15:clr>
        </p15:guide>
        <p15:guide id="2" pos="34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AFF"/>
    <a:srgbClr val="FFFFFF"/>
    <a:srgbClr val="078F68"/>
    <a:srgbClr val="152A26"/>
    <a:srgbClr val="F9F9F9"/>
    <a:srgbClr val="6FB2A6"/>
    <a:srgbClr val="E9F8F4"/>
    <a:srgbClr val="62E3B1"/>
    <a:srgbClr val="C3E9E3"/>
    <a:srgbClr val="C4EA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FDE899-FC7E-8640-90B6-EA10E828913A}" v="2" dt="2026-03-27T08:29:15.5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33"/>
    <p:restoredTop sz="94658"/>
  </p:normalViewPr>
  <p:slideViewPr>
    <p:cSldViewPr snapToGrid="0">
      <p:cViewPr varScale="1">
        <p:scale>
          <a:sx n="120" d="100"/>
          <a:sy n="120" d="100"/>
        </p:scale>
        <p:origin x="1120" y="184"/>
      </p:cViewPr>
      <p:guideLst>
        <p:guide orient="horz" pos="2954"/>
        <p:guide pos="347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3120" y="17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 Morris" userId="fda2c2d2-162f-4581-95e3-9bbeb004dc2e" providerId="ADAL" clId="{FA0B194C-9F3F-5D4E-A3C5-F7757D4B0009}"/>
    <pc:docChg chg="undo custSel addSld delSld modSld sldOrd">
      <pc:chgData name="Ben Morris" userId="fda2c2d2-162f-4581-95e3-9bbeb004dc2e" providerId="ADAL" clId="{FA0B194C-9F3F-5D4E-A3C5-F7757D4B0009}" dt="2026-03-27T09:36:11.401" v="564" actId="20577"/>
      <pc:docMkLst>
        <pc:docMk/>
      </pc:docMkLst>
      <pc:sldChg chg="modSp mod">
        <pc:chgData name="Ben Morris" userId="fda2c2d2-162f-4581-95e3-9bbeb004dc2e" providerId="ADAL" clId="{FA0B194C-9F3F-5D4E-A3C5-F7757D4B0009}" dt="2026-03-27T08:48:33.939" v="502" actId="27636"/>
        <pc:sldMkLst>
          <pc:docMk/>
          <pc:sldMk cId="3446453528" sldId="2076137701"/>
        </pc:sldMkLst>
        <pc:spChg chg="mod">
          <ac:chgData name="Ben Morris" userId="fda2c2d2-162f-4581-95e3-9bbeb004dc2e" providerId="ADAL" clId="{FA0B194C-9F3F-5D4E-A3C5-F7757D4B0009}" dt="2026-03-27T08:48:33.939" v="502" actId="27636"/>
          <ac:spMkLst>
            <pc:docMk/>
            <pc:sldMk cId="3446453528" sldId="2076137701"/>
            <ac:spMk id="2" creationId="{56CF5FC4-A5E5-4E95-9516-B40FAD068E5F}"/>
          </ac:spMkLst>
        </pc:spChg>
      </pc:sldChg>
      <pc:sldChg chg="modSp mod">
        <pc:chgData name="Ben Morris" userId="fda2c2d2-162f-4581-95e3-9bbeb004dc2e" providerId="ADAL" clId="{FA0B194C-9F3F-5D4E-A3C5-F7757D4B0009}" dt="2026-03-27T08:33:07.428" v="500" actId="20577"/>
        <pc:sldMkLst>
          <pc:docMk/>
          <pc:sldMk cId="2766267860" sldId="2147472112"/>
        </pc:sldMkLst>
        <pc:spChg chg="mod">
          <ac:chgData name="Ben Morris" userId="fda2c2d2-162f-4581-95e3-9bbeb004dc2e" providerId="ADAL" clId="{FA0B194C-9F3F-5D4E-A3C5-F7757D4B0009}" dt="2026-03-27T08:33:07.428" v="500" actId="20577"/>
          <ac:spMkLst>
            <pc:docMk/>
            <pc:sldMk cId="2766267860" sldId="2147472112"/>
            <ac:spMk id="15" creationId="{61BEF63D-A416-E177-845A-3518B0AC20C0}"/>
          </ac:spMkLst>
        </pc:spChg>
        <pc:picChg chg="mod">
          <ac:chgData name="Ben Morris" userId="fda2c2d2-162f-4581-95e3-9bbeb004dc2e" providerId="ADAL" clId="{FA0B194C-9F3F-5D4E-A3C5-F7757D4B0009}" dt="2026-03-27T08:33:00.078" v="496" actId="1076"/>
          <ac:picMkLst>
            <pc:docMk/>
            <pc:sldMk cId="2766267860" sldId="2147472112"/>
            <ac:picMk id="13" creationId="{EA3BB41E-51E7-B937-8D15-CAD9D72566D6}"/>
          </ac:picMkLst>
        </pc:picChg>
      </pc:sldChg>
      <pc:sldChg chg="modSp mod">
        <pc:chgData name="Ben Morris" userId="fda2c2d2-162f-4581-95e3-9bbeb004dc2e" providerId="ADAL" clId="{FA0B194C-9F3F-5D4E-A3C5-F7757D4B0009}" dt="2026-03-27T08:49:27.982" v="559" actId="20577"/>
        <pc:sldMkLst>
          <pc:docMk/>
          <pc:sldMk cId="1466469682" sldId="2147472136"/>
        </pc:sldMkLst>
        <pc:spChg chg="mod">
          <ac:chgData name="Ben Morris" userId="fda2c2d2-162f-4581-95e3-9bbeb004dc2e" providerId="ADAL" clId="{FA0B194C-9F3F-5D4E-A3C5-F7757D4B0009}" dt="2026-03-27T08:49:27.982" v="559" actId="20577"/>
          <ac:spMkLst>
            <pc:docMk/>
            <pc:sldMk cId="1466469682" sldId="2147472136"/>
            <ac:spMk id="2" creationId="{6B8BAAAE-F6B5-1589-BB22-A685A457635C}"/>
          </ac:spMkLst>
        </pc:spChg>
      </pc:sldChg>
      <pc:sldChg chg="modSp mod">
        <pc:chgData name="Ben Morris" userId="fda2c2d2-162f-4581-95e3-9bbeb004dc2e" providerId="ADAL" clId="{FA0B194C-9F3F-5D4E-A3C5-F7757D4B0009}" dt="2026-03-27T09:36:11.401" v="564" actId="20577"/>
        <pc:sldMkLst>
          <pc:docMk/>
          <pc:sldMk cId="2315906788" sldId="2147472146"/>
        </pc:sldMkLst>
        <pc:spChg chg="mod">
          <ac:chgData name="Ben Morris" userId="fda2c2d2-162f-4581-95e3-9bbeb004dc2e" providerId="ADAL" clId="{FA0B194C-9F3F-5D4E-A3C5-F7757D4B0009}" dt="2026-03-27T09:36:11.401" v="564" actId="20577"/>
          <ac:spMkLst>
            <pc:docMk/>
            <pc:sldMk cId="2315906788" sldId="2147472146"/>
            <ac:spMk id="2" creationId="{D57D6D73-7EF9-E1AD-3F66-B6B20ED5D8BD}"/>
          </ac:spMkLst>
        </pc:spChg>
      </pc:sldChg>
      <pc:sldChg chg="new del">
        <pc:chgData name="Ben Morris" userId="fda2c2d2-162f-4581-95e3-9bbeb004dc2e" providerId="ADAL" clId="{FA0B194C-9F3F-5D4E-A3C5-F7757D4B0009}" dt="2026-03-27T09:35:53.106" v="562" actId="2696"/>
        <pc:sldMkLst>
          <pc:docMk/>
          <pc:sldMk cId="1523401173" sldId="2147472149"/>
        </pc:sldMkLst>
      </pc:sldChg>
      <pc:sldChg chg="modSp add mod ord modShow">
        <pc:chgData name="Ben Morris" userId="fda2c2d2-162f-4581-95e3-9bbeb004dc2e" providerId="ADAL" clId="{FA0B194C-9F3F-5D4E-A3C5-F7757D4B0009}" dt="2026-03-27T08:31:20.935" v="422" actId="20577"/>
        <pc:sldMkLst>
          <pc:docMk/>
          <pc:sldMk cId="3247628647" sldId="2147472150"/>
        </pc:sldMkLst>
        <pc:spChg chg="mod">
          <ac:chgData name="Ben Morris" userId="fda2c2d2-162f-4581-95e3-9bbeb004dc2e" providerId="ADAL" clId="{FA0B194C-9F3F-5D4E-A3C5-F7757D4B0009}" dt="2026-03-27T08:29:23.593" v="9" actId="20577"/>
          <ac:spMkLst>
            <pc:docMk/>
            <pc:sldMk cId="3247628647" sldId="2147472150"/>
            <ac:spMk id="2" creationId="{A277F73A-5EB9-2A7C-903E-4D0A0E3C0C7A}"/>
          </ac:spMkLst>
        </pc:spChg>
        <pc:spChg chg="mod">
          <ac:chgData name="Ben Morris" userId="fda2c2d2-162f-4581-95e3-9bbeb004dc2e" providerId="ADAL" clId="{FA0B194C-9F3F-5D4E-A3C5-F7757D4B0009}" dt="2026-03-27T08:31:20.935" v="422" actId="20577"/>
          <ac:spMkLst>
            <pc:docMk/>
            <pc:sldMk cId="3247628647" sldId="2147472150"/>
            <ac:spMk id="4" creationId="{757A79CB-1C38-2129-FC47-5EA660B400B9}"/>
          </ac:spMkLst>
        </pc:spChg>
      </pc:sldChg>
      <pc:sldChg chg="new del">
        <pc:chgData name="Ben Morris" userId="fda2c2d2-162f-4581-95e3-9bbeb004dc2e" providerId="ADAL" clId="{FA0B194C-9F3F-5D4E-A3C5-F7757D4B0009}" dt="2026-03-27T09:05:41.946" v="561" actId="2696"/>
        <pc:sldMkLst>
          <pc:docMk/>
          <pc:sldMk cId="3424638569" sldId="214747215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27B40BC-B61E-F7A3-D329-F0287B52409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 dirty="0">
              <a:latin typeface="Kalinga" panose="020B0502040204020203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E41DAD-70B2-0077-243A-B51C6473BA0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18A1B2-6405-8C43-9B4A-C03127C8EE2B}" type="datetimeFigureOut">
              <a:rPr lang="en-IL" smtClean="0">
                <a:latin typeface="Kalinga" panose="020B0502040204020203" pitchFamily="34" charset="0"/>
              </a:rPr>
              <a:t>3/27/26</a:t>
            </a:fld>
            <a:endParaRPr lang="en-IL" dirty="0">
              <a:latin typeface="Kalinga" panose="020B0502040204020203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9243F5-8F81-C964-3611-6E08C148D6A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 dirty="0">
              <a:latin typeface="Kalinga" panose="020B0502040204020203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E026F5-ABAB-32B0-9536-7DFA7B59DD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5ED70-26D5-D74F-A2B4-7D2E36CFA685}" type="slidenum">
              <a:rPr lang="en-IL" smtClean="0">
                <a:latin typeface="Kalinga" panose="020B0502040204020203" pitchFamily="34" charset="0"/>
              </a:rPr>
              <a:t>‹#›</a:t>
            </a:fld>
            <a:endParaRPr lang="en-IL" dirty="0">
              <a:latin typeface="Kalinga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66537065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Kalinga" panose="020B0502040204020203" pitchFamily="34" charset="0"/>
              </a:defRPr>
            </a:lvl1pPr>
          </a:lstStyle>
          <a:p>
            <a:endParaRPr lang="en-IL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Kalinga" panose="020B0502040204020203" pitchFamily="34" charset="0"/>
              </a:defRPr>
            </a:lvl1pPr>
          </a:lstStyle>
          <a:p>
            <a:fld id="{169B1C72-6D06-1446-9E24-DD8790CF48D6}" type="datetimeFigureOut">
              <a:rPr lang="en-IL" smtClean="0"/>
              <a:pPr/>
              <a:t>3/27/26</a:t>
            </a:fld>
            <a:endParaRPr lang="en-IL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Kalinga" panose="020B0502040204020203" pitchFamily="34" charset="0"/>
              </a:defRPr>
            </a:lvl1pPr>
          </a:lstStyle>
          <a:p>
            <a:endParaRPr lang="en-IL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Kalinga" panose="020B0502040204020203" pitchFamily="34" charset="0"/>
              </a:defRPr>
            </a:lvl1pPr>
          </a:lstStyle>
          <a:p>
            <a:fld id="{BC73CCCE-F0E5-FB45-A2C2-83BB2548603C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73318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Kalinga" panose="020B0502040204020203" pitchFamily="34" charset="0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Kalinga" panose="020B0502040204020203" pitchFamily="34" charset="0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Kalinga" panose="020B0502040204020203" pitchFamily="34" charset="0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Kalinga" panose="020B0502040204020203" pitchFamily="34" charset="0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Kalinga" panose="020B0502040204020203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L"/>
              <a:t>Thank you very much for having us.</a:t>
            </a:r>
          </a:p>
          <a:p>
            <a:r>
              <a:rPr lang="en-IL"/>
              <a:t>In the next 15-20 minutes, I will walk you through Cato’s True SASE Platform</a:t>
            </a:r>
          </a:p>
          <a:p>
            <a:r>
              <a:rPr lang="en-IL"/>
              <a:t>Let’s make this an interactive conversation. Please feel free to ask questions as I present.</a:t>
            </a:r>
          </a:p>
          <a:p>
            <a:r>
              <a:rPr lang="en-IL"/>
              <a:t>If you would like more technical details or a demo on any of the areas I will cover – we will be happy to provide them.</a:t>
            </a:r>
          </a:p>
          <a:p>
            <a:r>
              <a:rPr lang="en-IL"/>
              <a:t>Let’s start</a:t>
            </a:r>
          </a:p>
          <a:p>
            <a:pPr marL="457200" marR="0" indent="-228600" algn="r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 panose="020B0704020202020204"/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Arial" panose="020B0704020202020204"/>
                <a:ea typeface="Arial" panose="020B0704020202020204"/>
                <a:cs typeface="Arial" panose="020B0704020202020204"/>
                <a:sym typeface="Arial" panose="020B0704020202020204"/>
              </a:rPr>
              <a:t>1</a:t>
            </a:fld>
            <a:endParaRPr lang="en-US" sz="1200" b="0" i="0" u="none" strike="noStrike" cap="none">
              <a:solidFill>
                <a:schemeClr val="dk1"/>
              </a:solidFill>
              <a:latin typeface="Arial" panose="020B0704020202020204"/>
              <a:ea typeface="Arial" panose="020B0704020202020204"/>
              <a:cs typeface="Arial" panose="020B0704020202020204"/>
              <a:sym typeface="Arial" panose="020B07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804258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Before we get started, I want to share the kind of challenges we see across the IT leaders we speak with. </a:t>
            </a:r>
          </a:p>
          <a:p>
            <a:endParaRPr lang="en-US"/>
          </a:p>
          <a:p>
            <a:r>
              <a:rPr lang="en-US"/>
              <a:t>They cover cost, performance, quality, user experience, and management complexity. </a:t>
            </a:r>
          </a:p>
          <a:p>
            <a:endParaRPr lang="en-US"/>
          </a:p>
          <a:p>
            <a:r>
              <a:rPr lang="en-US" b="0" i="0">
                <a:solidFill>
                  <a:srgbClr val="806000"/>
                </a:solidFill>
                <a:effectLst/>
                <a:latin typeface="Segoe UI Light" panose="020B0502040204020203" pitchFamily="34" charset="0"/>
              </a:rPr>
              <a:t>Can you help me understand the primary challenges you face today?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ADEB05-5168-4175-A66F-2235235D7F1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2537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20273-8000-AB4B-AAC8-F8E11036500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499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Leveraging a mix of Cato’s Remote Port Forwarding and leading IPS capabilities, Cato can secure outward facing services to ensure malicious attempts don’t even reach the on-premise equipment. One key benefit is that this solution can be implemented without any infrastructure or network topology changes. No need to deploy firewall appliances onsite.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1220273-8000-AB4B-AAC8-F8E11036500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242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3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5">
            <a:extLst>
              <a:ext uri="{FF2B5EF4-FFF2-40B4-BE49-F238E27FC236}">
                <a16:creationId xmlns:a16="http://schemas.microsoft.com/office/drawing/2014/main" id="{310DF80F-D57A-60DF-F721-AFC6A9016B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205" y="1737228"/>
            <a:ext cx="6189327" cy="1325563"/>
          </a:xfrm>
          <a:prstGeom prst="rect">
            <a:avLst/>
          </a:prstGeom>
        </p:spPr>
        <p:txBody>
          <a:bodyPr/>
          <a:lstStyle>
            <a:lvl1pPr>
              <a:defRPr sz="4400" b="1" i="0">
                <a:solidFill>
                  <a:schemeClr val="bg2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  <p:pic>
        <p:nvPicPr>
          <p:cNvPr id="2" name="Picture 1" descr="A green ring with black background&#10;&#10;Description automatically generated">
            <a:extLst>
              <a:ext uri="{FF2B5EF4-FFF2-40B4-BE49-F238E27FC236}">
                <a16:creationId xmlns:a16="http://schemas.microsoft.com/office/drawing/2014/main" id="{77BB96A6-6BB9-008F-2058-49C78F07DBD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0220" y="0"/>
            <a:ext cx="4251780" cy="39497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27BCC3B1-20AE-3A6A-754B-78315A9367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938" y="404813"/>
            <a:ext cx="1584364" cy="65087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F62AA5-40F5-C40B-92BF-A9B7A3ABF66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8205" y="3288280"/>
            <a:ext cx="6189326" cy="10138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 i="0">
                <a:latin typeface="Poppins" pitchFamily="2" charset="77"/>
                <a:cs typeface="Poppins" pitchFamily="2" charset="77"/>
              </a:defRPr>
            </a:lvl1pPr>
          </a:lstStyle>
          <a:p>
            <a:pPr lvl="0"/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4928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Cover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lide Number Placeholder 6">
            <a:extLst>
              <a:ext uri="{FF2B5EF4-FFF2-40B4-BE49-F238E27FC236}">
                <a16:creationId xmlns:a16="http://schemas.microsoft.com/office/drawing/2014/main" id="{F26FC279-832F-D343-D2CA-91CEB339EB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75990BC-D50F-1C44-E6DF-B4C2C8E5ADBA}"/>
              </a:ext>
            </a:extLst>
          </p:cNvPr>
          <p:cNvGrpSpPr/>
          <p:nvPr userDrawn="1"/>
        </p:nvGrpSpPr>
        <p:grpSpPr>
          <a:xfrm>
            <a:off x="0" y="-372641"/>
            <a:ext cx="12192000" cy="3542429"/>
            <a:chOff x="1505356" y="-554636"/>
            <a:chExt cx="8632556" cy="4870914"/>
          </a:xfrm>
        </p:grpSpPr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4CF48348-F95C-6ED0-6C3D-3FD2D091EB69}"/>
                </a:ext>
              </a:extLst>
            </p:cNvPr>
            <p:cNvSpPr/>
            <p:nvPr userDrawn="1"/>
          </p:nvSpPr>
          <p:spPr>
            <a:xfrm>
              <a:off x="1505356" y="-554636"/>
              <a:ext cx="8632556" cy="4870914"/>
            </a:xfrm>
            <a:custGeom>
              <a:avLst/>
              <a:gdLst>
                <a:gd name="connsiteX0" fmla="*/ 0 w 8632556"/>
                <a:gd name="connsiteY0" fmla="*/ 0 h 4316278"/>
                <a:gd name="connsiteX1" fmla="*/ 8632556 w 8632556"/>
                <a:gd name="connsiteY1" fmla="*/ 0 h 4316278"/>
                <a:gd name="connsiteX2" fmla="*/ 4316278 w 8632556"/>
                <a:gd name="connsiteY2" fmla="*/ 4316278 h 4316278"/>
                <a:gd name="connsiteX3" fmla="*/ 0 w 8632556"/>
                <a:gd name="connsiteY3" fmla="*/ 0 h 43162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32556" h="4316278">
                  <a:moveTo>
                    <a:pt x="0" y="0"/>
                  </a:moveTo>
                  <a:lnTo>
                    <a:pt x="8632556" y="0"/>
                  </a:lnTo>
                  <a:cubicBezTo>
                    <a:pt x="8632556" y="2383815"/>
                    <a:pt x="6700093" y="4316278"/>
                    <a:pt x="4316278" y="4316278"/>
                  </a:cubicBezTo>
                  <a:cubicBezTo>
                    <a:pt x="1932463" y="4316278"/>
                    <a:pt x="0" y="2383815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15000"/>
              </a:schemeClr>
            </a:solidFill>
            <a:ln>
              <a:noFill/>
            </a:ln>
            <a:effectLst>
              <a:softEdge rad="824416"/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L" b="0" i="0" dirty="0">
                <a:latin typeface="Kalinga" panose="020B0502040204020203" pitchFamily="34" charset="0"/>
              </a:endParaRPr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CA171A5E-2F59-988B-7AC4-FB9432304524}"/>
                </a:ext>
              </a:extLst>
            </p:cNvPr>
            <p:cNvSpPr/>
            <p:nvPr userDrawn="1"/>
          </p:nvSpPr>
          <p:spPr>
            <a:xfrm>
              <a:off x="2374746" y="-42247"/>
              <a:ext cx="6772125" cy="3234205"/>
            </a:xfrm>
            <a:custGeom>
              <a:avLst/>
              <a:gdLst>
                <a:gd name="connsiteX0" fmla="*/ 0 w 6412382"/>
                <a:gd name="connsiteY0" fmla="*/ 0 h 3191958"/>
                <a:gd name="connsiteX1" fmla="*/ 6412382 w 6412382"/>
                <a:gd name="connsiteY1" fmla="*/ 0 h 3191958"/>
                <a:gd name="connsiteX2" fmla="*/ 6396582 w 6412382"/>
                <a:gd name="connsiteY2" fmla="*/ 312902 h 3191958"/>
                <a:gd name="connsiteX3" fmla="*/ 3206191 w 6412382"/>
                <a:gd name="connsiteY3" fmla="*/ 3191958 h 3191958"/>
                <a:gd name="connsiteX4" fmla="*/ 15800 w 6412382"/>
                <a:gd name="connsiteY4" fmla="*/ 312902 h 31919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412382" h="3191958">
                  <a:moveTo>
                    <a:pt x="0" y="0"/>
                  </a:moveTo>
                  <a:lnTo>
                    <a:pt x="6412382" y="0"/>
                  </a:lnTo>
                  <a:lnTo>
                    <a:pt x="6396582" y="312902"/>
                  </a:lnTo>
                  <a:cubicBezTo>
                    <a:pt x="6232354" y="1930024"/>
                    <a:pt x="4866642" y="3191958"/>
                    <a:pt x="3206191" y="3191958"/>
                  </a:cubicBezTo>
                  <a:cubicBezTo>
                    <a:pt x="1545740" y="3191958"/>
                    <a:pt x="180028" y="1930024"/>
                    <a:pt x="15800" y="31290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IL" b="0" i="0" dirty="0">
                <a:latin typeface="Kalinga" panose="020B0502040204020203" pitchFamily="34" charset="0"/>
              </a:endParaRPr>
            </a:p>
          </p:txBody>
        </p:sp>
      </p:grp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9070D420-6AF7-D164-3DD8-9806375C7BD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19019" y="1883923"/>
            <a:ext cx="4073672" cy="17510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7200" b="0" i="0">
                <a:solidFill>
                  <a:schemeClr val="bg2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  <a:lvl2pPr marL="4572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2pPr>
            <a:lvl3pPr marL="9144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3pPr>
            <a:lvl4pPr marL="13716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4pPr>
            <a:lvl5pPr marL="18288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5pPr>
          </a:lstStyle>
          <a:p>
            <a:pPr lvl="0"/>
            <a:r>
              <a:rPr lang="en-IL" dirty="0"/>
              <a:t>01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A34F3E1A-1440-274C-FFCD-A823625F2B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04937" y="6001745"/>
            <a:ext cx="1306739" cy="536823"/>
          </a:xfrm>
          <a:prstGeom prst="rect">
            <a:avLst/>
          </a:pr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F746BDE-A321-5DF0-9FC4-63A6D59B6ED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19019" y="3393284"/>
            <a:ext cx="5457346" cy="2033068"/>
          </a:xfrm>
        </p:spPr>
        <p:txBody>
          <a:bodyPr>
            <a:norm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Chapter Name</a:t>
            </a:r>
            <a:br>
              <a:rPr lang="en-US" dirty="0"/>
            </a:br>
            <a:r>
              <a:rPr lang="en-US" dirty="0"/>
              <a:t>Lorem ipsum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28371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63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circle with black background&#10;&#10;Description automatically generated">
            <a:extLst>
              <a:ext uri="{FF2B5EF4-FFF2-40B4-BE49-F238E27FC236}">
                <a16:creationId xmlns:a16="http://schemas.microsoft.com/office/drawing/2014/main" id="{23428606-2601-EEEA-A0CC-D0BBC6B6DA1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40427" y="1889027"/>
            <a:ext cx="5461000" cy="49784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8D5FE37-BFE6-AE48-9E9D-A800A0FBCD5F}"/>
              </a:ext>
            </a:extLst>
          </p:cNvPr>
          <p:cNvSpPr/>
          <p:nvPr userDrawn="1"/>
        </p:nvSpPr>
        <p:spPr>
          <a:xfrm>
            <a:off x="1615508" y="543697"/>
            <a:ext cx="8964000" cy="5770605"/>
          </a:xfrm>
          <a:prstGeom prst="roundRect">
            <a:avLst>
              <a:gd name="adj" fmla="val 8120"/>
            </a:avLst>
          </a:prstGeom>
          <a:gradFill flip="none" rotWithShape="1">
            <a:gsLst>
              <a:gs pos="74000">
                <a:schemeClr val="bg2">
                  <a:lumMod val="20000"/>
                  <a:lumOff val="80000"/>
                </a:schemeClr>
              </a:gs>
              <a:gs pos="90000">
                <a:schemeClr val="accent6">
                  <a:lumMod val="20000"/>
                  <a:lumOff val="80000"/>
                </a:schemeClr>
              </a:gs>
              <a:gs pos="57000">
                <a:schemeClr val="accent6">
                  <a:lumMod val="20000"/>
                  <a:lumOff val="80000"/>
                </a:schemeClr>
              </a:gs>
            </a:gsLst>
            <a:lin ang="2400000" scaled="0"/>
            <a:tileRect/>
          </a:gradFill>
          <a:ln w="6350" cap="flat" cmpd="sng" algn="ctr">
            <a:gradFill>
              <a:gsLst>
                <a:gs pos="0">
                  <a:srgbClr val="182D29">
                    <a:lumMod val="50000"/>
                    <a:lumOff val="50000"/>
                  </a:srgbClr>
                </a:gs>
                <a:gs pos="100000">
                  <a:srgbClr val="182D29">
                    <a:lumMod val="75000"/>
                    <a:lumOff val="25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0" cap="none" spc="0" normalizeH="0" baseline="0" noProof="0" dirty="0">
              <a:ln>
                <a:noFill/>
              </a:ln>
              <a:solidFill>
                <a:srgbClr val="F6F6F7"/>
              </a:solidFill>
              <a:effectLst/>
              <a:uLnTx/>
              <a:uFillTx/>
              <a:latin typeface="Kalinga" panose="020B0502040204020203" pitchFamily="34" charset="0"/>
              <a:ea typeface="+mn-ea"/>
              <a:cs typeface="+mn-cs"/>
            </a:endParaRPr>
          </a:p>
        </p:txBody>
      </p:sp>
      <p:sp>
        <p:nvSpPr>
          <p:cNvPr id="9" name="Title 15">
            <a:extLst>
              <a:ext uri="{FF2B5EF4-FFF2-40B4-BE49-F238E27FC236}">
                <a16:creationId xmlns:a16="http://schemas.microsoft.com/office/drawing/2014/main" id="{50AB9605-466E-99C2-4FB3-F66B9F94BE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1545" y="3015926"/>
            <a:ext cx="6148910" cy="132556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 sz="5400" b="1" i="0">
                <a:solidFill>
                  <a:schemeClr val="bg2"/>
                </a:solidFill>
                <a:effectLst/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 dirty="0"/>
              <a:t>Thank You!</a:t>
            </a:r>
            <a:endParaRPr lang="en-IL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F4CBDCDE-D7D8-6654-C656-D13209D5EA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56863" y="1229680"/>
            <a:ext cx="2678274" cy="1100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2220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45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E2A3-2CDB-5FCD-9271-BF2CB86E1E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E1F85-BF18-FF73-7BE4-3B2624017E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9425" y="16457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>
              <a:buFontTx/>
              <a:buBlip>
                <a:blip r:embed="rId2"/>
              </a:buBlip>
              <a:defRPr/>
            </a:lvl1pPr>
            <a:lvl2pPr marL="685800" indent="-228600">
              <a:buFont typeface="Arial" panose="020B0604020202020204" pitchFamily="34" charset="0"/>
              <a:buChar char="•"/>
              <a:defRPr/>
            </a:lvl2pPr>
            <a:lvl3pPr marL="1143000" indent="-228600">
              <a:buFont typeface="Arial" panose="020B0604020202020204" pitchFamily="34" charset="0"/>
              <a:buChar char="•"/>
              <a:defRPr/>
            </a:lvl3pPr>
            <a:lvl4pPr marL="1600200" indent="-228600">
              <a:buFont typeface="Arial" panose="020B0604020202020204" pitchFamily="34" charset="0"/>
              <a:buChar char="•"/>
              <a:defRPr/>
            </a:lvl4pPr>
            <a:lvl5pPr marL="2057400" indent="-228600">
              <a:buFont typeface="Arial" panose="020B0604020202020204" pitchFamily="34" charset="0"/>
              <a:buChar char="•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912CAC-1A1D-120B-8848-F385F23B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6661675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 Slide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A2F6E7F6-DAEF-57A2-84AF-77D8F72DDD3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87799" y="1504843"/>
            <a:ext cx="10787716" cy="4159115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2000" b="0" i="0">
                <a:solidFill>
                  <a:schemeClr val="tx1">
                    <a:lumMod val="90000"/>
                    <a:lumOff val="1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</a:t>
            </a:r>
            <a:r>
              <a:rPr lang="en-US" dirty="0" err="1"/>
              <a:t>doullamco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IL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IL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err="1"/>
              <a:t>aliquip</a:t>
            </a:r>
            <a:r>
              <a:rPr lang="en-US" dirty="0"/>
              <a:t> ex </a:t>
            </a:r>
            <a:r>
              <a:rPr lang="en-US" dirty="0" err="1"/>
              <a:t>ea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consequat</a:t>
            </a:r>
            <a:r>
              <a:rPr lang="en-US" dirty="0"/>
              <a:t>. Duis </a:t>
            </a:r>
            <a:r>
              <a:rPr lang="en-US" dirty="0" err="1"/>
              <a:t>aute</a:t>
            </a:r>
            <a:r>
              <a:rPr lang="en-US" dirty="0"/>
              <a:t> </a:t>
            </a:r>
            <a:r>
              <a:rPr lang="en-US" dirty="0" err="1"/>
              <a:t>irure</a:t>
            </a:r>
            <a:r>
              <a:rPr lang="en-US" dirty="0"/>
              <a:t> dolor in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IL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64C094E9-1341-4CB2-E34D-9E2C9A526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6216DB-102A-1B37-B36A-5535A3C5FE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2343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904281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302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1F97D13-643D-BA56-3CED-607E6D3380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9425" y="1645718"/>
            <a:ext cx="5192022" cy="3538329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IL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L" dirty="0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429B365B-ED2C-F37D-1E73-56F3F71F58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71885" y="1645717"/>
            <a:ext cx="5192022" cy="3538329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IL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L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76BB917C-645D-0B12-B604-9908CE445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66D9A9-BEE9-3754-43C1-93D7CCC11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7745044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p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A6A59CB5-328F-058D-D6ED-F4C6B6D927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5393" y="1942138"/>
            <a:ext cx="8442519" cy="4156959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A42229-C26C-369C-EB47-CE5D4ABB89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0D9DD329-BF0E-D10F-3312-597D737A110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52EDA7-45D4-A4D6-6B3F-6A35A49A8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06581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86" userDrawn="1">
          <p15:clr>
            <a:srgbClr val="FBAE40"/>
          </p15:clr>
        </p15:guide>
        <p15:guide id="2" pos="302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ring white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een circle with black background&#10;&#10;Description automatically generated">
            <a:extLst>
              <a:ext uri="{FF2B5EF4-FFF2-40B4-BE49-F238E27FC236}">
                <a16:creationId xmlns:a16="http://schemas.microsoft.com/office/drawing/2014/main" id="{648FF412-8274-9CA7-03F7-FE64161458D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28700"/>
            <a:ext cx="4381500" cy="5829300"/>
          </a:xfrm>
          <a:prstGeom prst="rect">
            <a:avLst/>
          </a:prstGeom>
        </p:spPr>
      </p:pic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74C1C160-AD47-2402-D2E6-0594E27DB6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9843" y="848280"/>
            <a:ext cx="3975049" cy="276413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000" b="1" i="0">
                <a:solidFill>
                  <a:schemeClr val="bg2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</a:t>
            </a:r>
            <a:endParaRPr lang="en-IL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F64EF2-CFC0-0001-96D4-5F573A4C9F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9913" y="2787650"/>
            <a:ext cx="7515996" cy="2855913"/>
          </a:xfrm>
          <a:prstGeom prst="rect">
            <a:avLst/>
          </a:prstGeom>
        </p:spPr>
        <p:txBody>
          <a:bodyPr/>
          <a:lstStyle>
            <a:lvl1pPr marL="285750" indent="-285750">
              <a:lnSpc>
                <a:spcPct val="100000"/>
              </a:lnSpc>
              <a:buFontTx/>
              <a:buBlip>
                <a:blip r:embed="rId3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1pPr>
            <a:lvl2pPr marL="742950" indent="-285750">
              <a:lnSpc>
                <a:spcPct val="100000"/>
              </a:lnSpc>
              <a:buFontTx/>
              <a:buBlip>
                <a:blip r:embed="rId3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200150" indent="-285750">
              <a:lnSpc>
                <a:spcPct val="100000"/>
              </a:lnSpc>
              <a:buFontTx/>
              <a:buBlip>
                <a:blip r:embed="rId3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3pPr>
            <a:lvl4pPr marL="1657350" indent="-285750">
              <a:lnSpc>
                <a:spcPct val="100000"/>
              </a:lnSpc>
              <a:buFontTx/>
              <a:buBlip>
                <a:blip r:embed="rId3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4pPr>
            <a:lvl5pPr marL="2114550" indent="-285750">
              <a:lnSpc>
                <a:spcPct val="100000"/>
              </a:lnSpc>
              <a:buFontTx/>
              <a:buBlip>
                <a:blip r:embed="rId3"/>
              </a:buBlip>
              <a:defRPr sz="1600" b="0" i="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BF54129A-82F6-4640-D0F6-43D4620E4D5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9233" y="1269732"/>
            <a:ext cx="3413857" cy="4422059"/>
          </a:xfrm>
          <a:prstGeom prst="roundRect">
            <a:avLst>
              <a:gd name="adj" fmla="val 4597"/>
            </a:avLst>
          </a:prstGeom>
          <a:noFill/>
          <a:effectLst>
            <a:outerShdw blurRad="547570" dist="295730" dir="5400000" sx="96000" sy="96000" algn="ctr" rotWithShape="0">
              <a:schemeClr val="bg2">
                <a:alpha val="41059"/>
              </a:schemeClr>
            </a:outerShdw>
          </a:effectLst>
        </p:spPr>
        <p:txBody>
          <a:bodyPr/>
          <a:lstStyle>
            <a:lvl1pPr>
              <a:defRPr b="0" i="0">
                <a:latin typeface="Kalinga" panose="020B0502040204020203" pitchFamily="34" charset="0"/>
              </a:defRPr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dirty="0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DFA7153A-FF8D-B4C4-648F-700292043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DF239B9B-0841-F85D-AD73-D17D3F537B8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251DDA75-6A77-7F78-98F5-B3C76550ED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8910" y="986486"/>
            <a:ext cx="10515600" cy="1325563"/>
          </a:xfrm>
        </p:spPr>
        <p:txBody>
          <a:bodyPr/>
          <a:lstStyle/>
          <a:p>
            <a:pPr lvl="0"/>
            <a:r>
              <a:rPr lang="en-US" dirty="0"/>
              <a:t>Lorem Ipsum Dolor Sit 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1979826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11F825-A76F-9BBC-C054-DD4A3B9029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69F7510-BE4E-BA00-9EB3-A06A12B00E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A43289C-6C17-0F8D-D10C-55149DCC8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664483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Black">
    <p:bg>
      <p:bgPr>
        <a:gradFill flip="none" rotWithShape="1">
          <a:gsLst>
            <a:gs pos="77000">
              <a:srgbClr val="152A26"/>
            </a:gs>
            <a:gs pos="100000">
              <a:srgbClr val="078F68"/>
            </a:gs>
          </a:gsLst>
          <a:lin ang="189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1F97D13-643D-BA56-3CED-607E6D3380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47698" y="3292683"/>
            <a:ext cx="6011103" cy="1314034"/>
          </a:xfrm>
          <a:prstGeom prst="rect">
            <a:avLst/>
          </a:prstGeom>
        </p:spPr>
        <p:txBody>
          <a:bodyPr anchor="t"/>
          <a:lstStyle>
            <a:lvl1pPr marL="0" indent="0" algn="l">
              <a:lnSpc>
                <a:spcPct val="100000"/>
              </a:lnSpc>
              <a:buNone/>
              <a:defRPr sz="2400" b="0" i="0">
                <a:solidFill>
                  <a:schemeClr val="accent6">
                    <a:lumMod val="60000"/>
                    <a:lumOff val="40000"/>
                  </a:schemeClr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aliqui</a:t>
            </a:r>
            <a:endParaRPr lang="en-IL" dirty="0"/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439757E8-AAA0-C702-C8AC-3C1269ABB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698" y="1711964"/>
            <a:ext cx="6148910" cy="1325563"/>
          </a:xfrm>
          <a:prstGeom prst="rect">
            <a:avLst/>
          </a:prstGeom>
        </p:spPr>
        <p:txBody>
          <a:bodyPr/>
          <a:lstStyle>
            <a:lvl1pPr>
              <a:defRPr sz="4400" b="1" i="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  <p:pic>
        <p:nvPicPr>
          <p:cNvPr id="4" name="Picture 3" descr="A green ring with black background&#10;&#10;Description automatically generated">
            <a:extLst>
              <a:ext uri="{FF2B5EF4-FFF2-40B4-BE49-F238E27FC236}">
                <a16:creationId xmlns:a16="http://schemas.microsoft.com/office/drawing/2014/main" id="{A340495A-B3EE-3A9D-F15B-63FEC1302E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940220" y="0"/>
            <a:ext cx="4251780" cy="3949700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326EA90C-3743-8E79-7D54-3B3816F2ABC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938" y="395340"/>
            <a:ext cx="1596837" cy="655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8615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55" userDrawn="1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cover black">
    <p:bg>
      <p:bgPr>
        <a:gradFill>
          <a:gsLst>
            <a:gs pos="77000">
              <a:srgbClr val="152A26"/>
            </a:gs>
            <a:gs pos="100000">
              <a:srgbClr val="078F68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green circle with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3D046C9B-AD2B-C8A7-F22F-A6D72DDA7A1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0"/>
            <a:ext cx="12192000" cy="2909456"/>
          </a:xfrm>
          <a:prstGeom prst="rect">
            <a:avLst/>
          </a:prstGeom>
        </p:spPr>
      </p:pic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9520D64-6E25-54B9-BA46-4177DC1126A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8287" y="1883923"/>
            <a:ext cx="4073672" cy="1751088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None/>
              <a:defRPr sz="7200" b="0" i="0">
                <a:solidFill>
                  <a:schemeClr val="accent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  <a:lvl2pPr marL="4572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2pPr>
            <a:lvl3pPr marL="9144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3pPr>
            <a:lvl4pPr marL="13716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4pPr>
            <a:lvl5pPr marL="1828800" indent="0">
              <a:buNone/>
              <a:defRPr sz="6000">
                <a:solidFill>
                  <a:schemeClr val="bg1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5pPr>
          </a:lstStyle>
          <a:p>
            <a:pPr lvl="0"/>
            <a:r>
              <a:rPr lang="en-IL" dirty="0"/>
              <a:t>01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3034E097-246D-A32F-C47F-7D29BDD74D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37954" y="6356349"/>
            <a:ext cx="177247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064677C1-FEF7-F973-0903-12BB386B08C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15938" y="6031700"/>
            <a:ext cx="1234658" cy="507211"/>
          </a:xfrm>
          <a:prstGeom prst="rect">
            <a:avLst/>
          </a:prstGeom>
        </p:spPr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548FF5F7-C4E4-97C5-C4FA-55B5DB301B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286" y="3776049"/>
            <a:ext cx="5031219" cy="1325563"/>
          </a:xfrm>
        </p:spPr>
        <p:txBody>
          <a:bodyPr>
            <a:norm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Chapter Name</a:t>
            </a:r>
            <a:br>
              <a:rPr lang="en-US" dirty="0"/>
            </a:br>
            <a:r>
              <a:rPr lang="en-US" dirty="0"/>
              <a:t>Lorem ipsum</a:t>
            </a:r>
          </a:p>
        </p:txBody>
      </p:sp>
    </p:spTree>
    <p:extLst>
      <p:ext uri="{BB962C8B-B14F-4D97-AF65-F5344CB8AC3E}">
        <p14:creationId xmlns:p14="http://schemas.microsoft.com/office/powerpoint/2010/main" val="7363469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87" userDrawn="1">
          <p15:clr>
            <a:srgbClr val="FBAE40"/>
          </p15:clr>
        </p15:guide>
        <p15:guide id="2" pos="325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 Black">
    <p:bg>
      <p:bgPr>
        <a:gradFill>
          <a:gsLst>
            <a:gs pos="77000">
              <a:srgbClr val="152A26"/>
            </a:gs>
            <a:gs pos="100000">
              <a:schemeClr val="bg2">
                <a:lumMod val="50000"/>
              </a:schemeClr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een circle with black background&#10;&#10;Description automatically generated">
            <a:extLst>
              <a:ext uri="{FF2B5EF4-FFF2-40B4-BE49-F238E27FC236}">
                <a16:creationId xmlns:a16="http://schemas.microsoft.com/office/drawing/2014/main" id="{B75DFE84-1130-F506-F9B7-7A4D9757BFC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740427" y="1889027"/>
            <a:ext cx="5461000" cy="4978400"/>
          </a:xfrm>
          <a:prstGeom prst="rect">
            <a:avLst/>
          </a:prstGeom>
        </p:spPr>
      </p:pic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D0555A3-3354-7E2E-415F-B2E04D541F41}"/>
              </a:ext>
            </a:extLst>
          </p:cNvPr>
          <p:cNvSpPr/>
          <p:nvPr userDrawn="1"/>
        </p:nvSpPr>
        <p:spPr>
          <a:xfrm>
            <a:off x="1615508" y="557290"/>
            <a:ext cx="8964000" cy="5743419"/>
          </a:xfrm>
          <a:prstGeom prst="roundRect">
            <a:avLst>
              <a:gd name="adj" fmla="val 8120"/>
            </a:avLst>
          </a:prstGeom>
          <a:gradFill flip="none" rotWithShape="1">
            <a:gsLst>
              <a:gs pos="72000">
                <a:schemeClr val="bg2">
                  <a:lumMod val="75000"/>
                  <a:alpha val="92602"/>
                </a:schemeClr>
              </a:gs>
              <a:gs pos="86000">
                <a:srgbClr val="17473A"/>
              </a:gs>
              <a:gs pos="48000">
                <a:schemeClr val="tx1"/>
              </a:gs>
            </a:gsLst>
            <a:lin ang="3000000" scaled="0"/>
            <a:tileRect/>
          </a:gradFill>
          <a:ln w="6350" cap="flat" cmpd="sng" algn="ctr">
            <a:gradFill>
              <a:gsLst>
                <a:gs pos="0">
                  <a:srgbClr val="182D29">
                    <a:lumMod val="50000"/>
                    <a:lumOff val="50000"/>
                  </a:srgbClr>
                </a:gs>
                <a:gs pos="100000">
                  <a:srgbClr val="182D29">
                    <a:lumMod val="75000"/>
                    <a:lumOff val="25000"/>
                  </a:srgbClr>
                </a:gs>
              </a:gsLst>
              <a:lin ang="5400000" scaled="1"/>
            </a:gra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L" sz="1800" b="0" i="0" u="none" strike="noStrike" kern="0" cap="none" spc="0" normalizeH="0" baseline="0" noProof="0" dirty="0">
              <a:ln>
                <a:noFill/>
              </a:ln>
              <a:solidFill>
                <a:srgbClr val="F6F6F7"/>
              </a:solidFill>
              <a:effectLst/>
              <a:uLnTx/>
              <a:uFillTx/>
              <a:latin typeface="Kalinga" panose="020B0502040204020203" pitchFamily="34" charset="0"/>
              <a:ea typeface="+mn-ea"/>
              <a:cs typeface="+mn-cs"/>
            </a:endParaRP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439757E8-AAA0-C702-C8AC-3C1269ABB26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021545" y="3016803"/>
            <a:ext cx="6148910" cy="1325563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 sz="5400" b="1" i="0">
                <a:solidFill>
                  <a:schemeClr val="bg1"/>
                </a:solidFill>
                <a:effectLst/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r>
              <a:rPr lang="en-US" dirty="0"/>
              <a:t>Thank You!</a:t>
            </a:r>
            <a:endParaRPr lang="en-IL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78BE455-9BBC-08FB-CEFC-6B740B43A4A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18620" y="1262285"/>
            <a:ext cx="2554760" cy="1049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0386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455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Slide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BAB089E4-1B7F-D661-EE16-F99046398B8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79425" y="1395533"/>
            <a:ext cx="1104201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FontTx/>
              <a:buNone/>
              <a:defRPr sz="24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>
              <a:defRPr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2pPr>
            <a:lvl3pPr>
              <a:defRPr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3pPr>
            <a:lvl4pPr>
              <a:defRPr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4pPr>
            <a:lvl5pPr>
              <a:defRPr b="0" i="0">
                <a:solidFill>
                  <a:schemeClr val="bg1"/>
                </a:solidFill>
                <a:latin typeface="Poppins Light" pitchFamily="2" charset="77"/>
                <a:cs typeface="Poppins Light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7DDD2193-E5E0-65D8-D234-01F75BB9C20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>
                    <a:lumMod val="90000"/>
                  </a:schemeClr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59987B9-47D3-2D34-ABEE-3C136E02594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B9074859-F06C-1F29-474D-C931B570AA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24940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text dar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B1F97D13-643D-BA56-3CED-607E6D3380C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71676" y="1659835"/>
            <a:ext cx="5192022" cy="3538329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IL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L" dirty="0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429B365B-ED2C-F37D-1E73-56F3F71F58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041756" y="1659834"/>
            <a:ext cx="5192022" cy="3538329"/>
          </a:xfrm>
          <a:prstGeom prst="rect">
            <a:avLst/>
          </a:prstGeom>
        </p:spPr>
        <p:txBody>
          <a:bodyPr anchor="t"/>
          <a:lstStyle>
            <a:lvl1pPr marL="285750" indent="-285750">
              <a:lnSpc>
                <a:spcPct val="100000"/>
              </a:lnSpc>
              <a:buFontTx/>
              <a:buBlip>
                <a:blip r:embed="rId2"/>
              </a:buBlip>
              <a:defRPr sz="1600" b="0" i="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tempor</a:t>
            </a:r>
            <a:r>
              <a:rPr lang="en-US" dirty="0"/>
              <a:t> </a:t>
            </a:r>
            <a:r>
              <a:rPr lang="en-US" dirty="0" err="1"/>
              <a:t>incididunt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 labore et dolore magna </a:t>
            </a:r>
            <a:r>
              <a:rPr lang="en-US" dirty="0" err="1"/>
              <a:t>aliqua</a:t>
            </a:r>
            <a:r>
              <a:rPr lang="en-US" dirty="0"/>
              <a:t>. Ut </a:t>
            </a:r>
            <a:r>
              <a:rPr lang="en-US" dirty="0" err="1"/>
              <a:t>enim</a:t>
            </a:r>
            <a:r>
              <a:rPr lang="en-US" dirty="0"/>
              <a:t> ad minim </a:t>
            </a:r>
            <a:r>
              <a:rPr lang="en-US" dirty="0" err="1"/>
              <a:t>veniam</a:t>
            </a:r>
            <a:r>
              <a:rPr lang="en-US" dirty="0"/>
              <a:t>,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nostrud</a:t>
            </a:r>
            <a:r>
              <a:rPr lang="en-US" dirty="0"/>
              <a:t> exercitation </a:t>
            </a:r>
            <a:r>
              <a:rPr lang="en-US" dirty="0" err="1"/>
              <a:t>ullamco</a:t>
            </a:r>
            <a:r>
              <a:rPr lang="en-US" dirty="0"/>
              <a:t> </a:t>
            </a:r>
            <a:r>
              <a:rPr lang="en-US" dirty="0" err="1"/>
              <a:t>laboris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oris</a:t>
            </a:r>
            <a:r>
              <a:rPr lang="en-US" dirty="0"/>
              <a:t> nisi </a:t>
            </a:r>
            <a:r>
              <a:rPr lang="en-US" dirty="0" err="1"/>
              <a:t>ut</a:t>
            </a:r>
            <a:r>
              <a:rPr lang="en-US" dirty="0"/>
              <a:t> 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, sed do </a:t>
            </a:r>
            <a:r>
              <a:rPr lang="en-US" dirty="0" err="1"/>
              <a:t>eiusmod</a:t>
            </a:r>
            <a:r>
              <a:rPr lang="en-US" dirty="0"/>
              <a:t> </a:t>
            </a:r>
            <a:r>
              <a:rPr lang="en-US" dirty="0" err="1"/>
              <a:t>reprehe</a:t>
            </a: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err="1"/>
              <a:t>nderit</a:t>
            </a:r>
            <a:r>
              <a:rPr lang="en-US" dirty="0"/>
              <a:t> in </a:t>
            </a:r>
            <a:r>
              <a:rPr lang="en-US" dirty="0" err="1"/>
              <a:t>voluptate</a:t>
            </a:r>
            <a:r>
              <a:rPr lang="en-US" dirty="0"/>
              <a:t> </a:t>
            </a:r>
            <a:r>
              <a:rPr lang="en-US" dirty="0" err="1"/>
              <a:t>velit</a:t>
            </a:r>
            <a:endParaRPr lang="en-IL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dirty="0"/>
          </a:p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endParaRPr lang="en-IL" dirty="0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22EBD2C0-2542-1633-FE6E-CE04540B92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bg1">
                    <a:lumMod val="90000"/>
                  </a:schemeClr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694F2F3-0757-56B0-1132-2E48CA3D70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B30D030F-E76A-7ECB-C351-D5017AE84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697442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image ring dark">
    <p:bg>
      <p:bgPr>
        <a:gradFill>
          <a:gsLst>
            <a:gs pos="0">
              <a:srgbClr val="1D3A34"/>
            </a:gs>
            <a:gs pos="77000">
              <a:srgbClr val="101F1D"/>
            </a:gs>
          </a:gsLst>
          <a:lin ang="189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green circle with black background&#10;&#10;Description automatically generated">
            <a:extLst>
              <a:ext uri="{FF2B5EF4-FFF2-40B4-BE49-F238E27FC236}">
                <a16:creationId xmlns:a16="http://schemas.microsoft.com/office/drawing/2014/main" id="{BF1A4B95-E51F-4883-620A-5A8E723D0B9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28700"/>
            <a:ext cx="4381500" cy="5829300"/>
          </a:xfrm>
          <a:prstGeom prst="rect">
            <a:avLst/>
          </a:prstGeom>
        </p:spPr>
      </p:pic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74C1C160-AD47-2402-D2E6-0594E27DB6F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69843" y="848280"/>
            <a:ext cx="3975049" cy="276413"/>
          </a:xfrm>
          <a:prstGeom prst="rect">
            <a:avLst/>
          </a:prstGeom>
        </p:spPr>
        <p:txBody>
          <a:bodyPr anchor="ctr"/>
          <a:lstStyle>
            <a:lvl1pPr marL="0" indent="0" algn="l">
              <a:lnSpc>
                <a:spcPct val="100000"/>
              </a:lnSpc>
              <a:buFont typeface="Arial" panose="020B0604020202020204" pitchFamily="34" charset="0"/>
              <a:buNone/>
              <a:defRPr sz="1000" b="1" i="0">
                <a:solidFill>
                  <a:schemeClr val="accent2"/>
                </a:solidFill>
                <a:latin typeface="Kalinga" panose="020B0502040204020203" pitchFamily="34" charset="0"/>
                <a:cs typeface="Kalinga" panose="020B0502040204020203" pitchFamily="34" charset="0"/>
              </a:defRPr>
            </a:lvl1pPr>
          </a:lstStyle>
          <a:p>
            <a:pPr marL="285750" marR="0" lvl="0" indent="-2857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/>
              <a:t>Lorem ipsum dolor</a:t>
            </a:r>
            <a:endParaRPr lang="en-IL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3F64EF2-CFC0-0001-96D4-5F573A4C9F7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69913" y="2091405"/>
            <a:ext cx="7489870" cy="3872069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Tx/>
              <a:buBlip>
                <a:blip r:embed="rId3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1pPr>
            <a:lvl2pPr marL="685800" indent="-228600">
              <a:lnSpc>
                <a:spcPct val="100000"/>
              </a:lnSpc>
              <a:buFontTx/>
              <a:buBlip>
                <a:blip r:embed="rId3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2pPr>
            <a:lvl3pPr marL="1143000" indent="-228600">
              <a:lnSpc>
                <a:spcPct val="100000"/>
              </a:lnSpc>
              <a:buFontTx/>
              <a:buBlip>
                <a:blip r:embed="rId3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3pPr>
            <a:lvl4pPr marL="1600200" indent="-228600">
              <a:lnSpc>
                <a:spcPct val="100000"/>
              </a:lnSpc>
              <a:buFontTx/>
              <a:buBlip>
                <a:blip r:embed="rId3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4pPr>
            <a:lvl5pPr marL="2057400" indent="-228600">
              <a:lnSpc>
                <a:spcPct val="100000"/>
              </a:lnSpc>
              <a:buFontTx/>
              <a:buBlip>
                <a:blip r:embed="rId3"/>
              </a:buBlip>
              <a:defRPr sz="1600">
                <a:solidFill>
                  <a:schemeClr val="bg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15" name="Picture Placeholder 11">
            <a:extLst>
              <a:ext uri="{FF2B5EF4-FFF2-40B4-BE49-F238E27FC236}">
                <a16:creationId xmlns:a16="http://schemas.microsoft.com/office/drawing/2014/main" id="{BF54129A-82F6-4640-D0F6-43D4620E4D5B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89233" y="1243607"/>
            <a:ext cx="3413856" cy="4719868"/>
          </a:xfrm>
          <a:prstGeom prst="roundRect">
            <a:avLst>
              <a:gd name="adj" fmla="val 4597"/>
            </a:avLst>
          </a:prstGeom>
          <a:solidFill>
            <a:schemeClr val="bg1"/>
          </a:solidFill>
        </p:spPr>
        <p:txBody>
          <a:bodyPr/>
          <a:lstStyle>
            <a:lvl1pPr>
              <a:defRPr b="0" i="0">
                <a:latin typeface="Kalinga" panose="020B0502040204020203" pitchFamily="34" charset="0"/>
              </a:defRPr>
            </a:lvl1pPr>
          </a:lstStyle>
          <a:p>
            <a: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IL" dirty="0"/>
          </a:p>
        </p:txBody>
      </p:sp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E36C69A3-FC36-3437-EA55-20BE5CB415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>
                    <a:lumMod val="90000"/>
                  </a:schemeClr>
                </a:solidFill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B5AC076-3829-4F8A-98A2-5C6DCC2C18A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16B32986-ADE6-898E-AAE9-DFDA94682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11" y="1052513"/>
            <a:ext cx="10515600" cy="132556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66235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map 01">
    <p:bg>
      <p:bgPr>
        <a:gradFill flip="none" rotWithShape="1">
          <a:gsLst>
            <a:gs pos="0">
              <a:srgbClr val="1D3A34"/>
            </a:gs>
            <a:gs pos="57000">
              <a:srgbClr val="101F1D"/>
            </a:gs>
          </a:gsLst>
          <a:lin ang="162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Picture 101">
            <a:extLst>
              <a:ext uri="{FF2B5EF4-FFF2-40B4-BE49-F238E27FC236}">
                <a16:creationId xmlns:a16="http://schemas.microsoft.com/office/drawing/2014/main" id="{A6A59CB5-328F-058D-D6ED-F4C6B6D927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5393" y="1942138"/>
            <a:ext cx="8442519" cy="4156959"/>
          </a:xfrm>
          <a:prstGeom prst="rect">
            <a:avLst/>
          </a:prstGeom>
        </p:spPr>
      </p:pic>
      <p:sp>
        <p:nvSpPr>
          <p:cNvPr id="3" name="Slide Number Placeholder 6">
            <a:extLst>
              <a:ext uri="{FF2B5EF4-FFF2-40B4-BE49-F238E27FC236}">
                <a16:creationId xmlns:a16="http://schemas.microsoft.com/office/drawing/2014/main" id="{6F5A58BB-AC37-9A01-5341-83DBAF2979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25998" y="6356006"/>
            <a:ext cx="1593101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C27C1A49-08B4-FC23-0DC2-C8F8A3D7A1A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1230FC8-2827-83A9-9814-E3FAE29E3E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271788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86" userDrawn="1">
          <p15:clr>
            <a:srgbClr val="FBAE40"/>
          </p15:clr>
        </p15:guide>
        <p15:guide id="2" pos="302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dar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C5B25D2-8B02-3905-53CC-89C5630911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96AC66F-A77D-7297-4DE5-E9A5D384E3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7DF57D86-6505-94AB-423D-4124A16B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28438956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6D19C-C5DC-71B9-C5EC-C36E5C49C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149AB-2FDE-401B-C713-65EB12BA6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FE0E8-764E-DECE-156A-4AF383642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FFA94-F558-0740-9CB2-6C2DC3831E0B}" type="datetimeFigureOut">
              <a:rPr lang="en-US" smtClean="0"/>
              <a:t>3/27/26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68334E-0C84-2833-2506-88EEAC1B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54613C-6ABB-FC82-8F02-D9737A5D81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F301A-DF39-C741-A77E-CBA371D2BC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942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29E45DD1-FD64-0540-9527-100B5BAAD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38" y="186990"/>
            <a:ext cx="11245946" cy="428588"/>
          </a:xfrm>
          <a:prstGeom prst="rect">
            <a:avLst/>
          </a:prstGeom>
        </p:spPr>
        <p:txBody>
          <a:bodyPr lIns="0"/>
          <a:lstStyle>
            <a:lvl1pPr algn="l">
              <a:defRPr sz="2400" b="1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FF29200-DFCC-A144-AAAE-5D0C7E5464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4138" y="615577"/>
            <a:ext cx="9063038" cy="385213"/>
          </a:xfrm>
          <a:prstGeom prst="rect">
            <a:avLst/>
          </a:prstGeom>
        </p:spPr>
        <p:txBody>
          <a:bodyPr lIns="0" rIns="0" anchor="t" anchorCtr="0">
            <a:noAutofit/>
          </a:bodyPr>
          <a:lstStyle>
            <a:lvl1pPr marL="285750" indent="-285750">
              <a:buFontTx/>
              <a:buNone/>
              <a:defRPr lang="en-US" sz="2000" smtClean="0">
                <a:solidFill>
                  <a:schemeClr val="tx1"/>
                </a:solidFill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 marL="0" lvl="0" indent="0" defTabSz="914377" latinLnBrk="0"/>
            <a:r>
              <a:rPr lang="en-US"/>
              <a:t>Click to edit Master text styles</a:t>
            </a:r>
          </a:p>
        </p:txBody>
      </p:sp>
      <p:sp>
        <p:nvSpPr>
          <p:cNvPr id="8" name="Slide Number Placeholder 22">
            <a:extLst>
              <a:ext uri="{FF2B5EF4-FFF2-40B4-BE49-F238E27FC236}">
                <a16:creationId xmlns:a16="http://schemas.microsoft.com/office/drawing/2014/main" id="{5C6AF8A3-0F37-4849-AD55-40871E12F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0236" y="6524128"/>
            <a:ext cx="498378" cy="244661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| </a:t>
            </a:r>
            <a:fld id="{FEC5E14B-9965-442C-8683-0E66DD8427D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26974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Opening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5C253E3F-E0AE-901A-6A63-61D8ED403D1E}"/>
              </a:ext>
            </a:extLst>
          </p:cNvPr>
          <p:cNvSpPr/>
          <p:nvPr userDrawn="1"/>
        </p:nvSpPr>
        <p:spPr>
          <a:xfrm>
            <a:off x="129540" y="156210"/>
            <a:ext cx="11932920" cy="6545580"/>
          </a:xfrm>
          <a:prstGeom prst="roundRect">
            <a:avLst>
              <a:gd name="adj" fmla="val 1981"/>
            </a:avLst>
          </a:prstGeom>
          <a:solidFill>
            <a:srgbClr val="152A26"/>
          </a:solidFill>
          <a:ln w="6350">
            <a:noFill/>
          </a:ln>
          <a:effectLst>
            <a:outerShdw blurRad="127000" sx="102000" sy="102000" algn="ctr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A green circle in black background&#10;&#10;AI-generated content may be incorrect.">
            <a:extLst>
              <a:ext uri="{FF2B5EF4-FFF2-40B4-BE49-F238E27FC236}">
                <a16:creationId xmlns:a16="http://schemas.microsoft.com/office/drawing/2014/main" id="{EECBAEEF-E042-E44D-0252-E47FBFF52F7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4589" t="32782" r="2861" b="32782"/>
          <a:stretch/>
        </p:blipFill>
        <p:spPr>
          <a:xfrm>
            <a:off x="129540" y="156210"/>
            <a:ext cx="9989820" cy="6545580"/>
          </a:xfrm>
          <a:custGeom>
            <a:avLst/>
            <a:gdLst>
              <a:gd name="connsiteX0" fmla="*/ 129668 w 9989820"/>
              <a:gd name="connsiteY0" fmla="*/ 0 h 6545580"/>
              <a:gd name="connsiteX1" fmla="*/ 9989820 w 9989820"/>
              <a:gd name="connsiteY1" fmla="*/ 0 h 6545580"/>
              <a:gd name="connsiteX2" fmla="*/ 9989820 w 9989820"/>
              <a:gd name="connsiteY2" fmla="*/ 6545580 h 6545580"/>
              <a:gd name="connsiteX3" fmla="*/ 129668 w 9989820"/>
              <a:gd name="connsiteY3" fmla="*/ 6545580 h 6545580"/>
              <a:gd name="connsiteX4" fmla="*/ 0 w 9989820"/>
              <a:gd name="connsiteY4" fmla="*/ 6415912 h 6545580"/>
              <a:gd name="connsiteX5" fmla="*/ 0 w 9989820"/>
              <a:gd name="connsiteY5" fmla="*/ 129668 h 6545580"/>
              <a:gd name="connsiteX6" fmla="*/ 129668 w 9989820"/>
              <a:gd name="connsiteY6" fmla="*/ 0 h 6545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89820" h="6545580">
                <a:moveTo>
                  <a:pt x="129668" y="0"/>
                </a:moveTo>
                <a:lnTo>
                  <a:pt x="9989820" y="0"/>
                </a:lnTo>
                <a:lnTo>
                  <a:pt x="9989820" y="6545580"/>
                </a:lnTo>
                <a:lnTo>
                  <a:pt x="129668" y="6545580"/>
                </a:lnTo>
                <a:cubicBezTo>
                  <a:pt x="58054" y="6545580"/>
                  <a:pt x="0" y="6487526"/>
                  <a:pt x="0" y="6415912"/>
                </a:cubicBezTo>
                <a:lnTo>
                  <a:pt x="0" y="129668"/>
                </a:lnTo>
                <a:cubicBezTo>
                  <a:pt x="0" y="58054"/>
                  <a:pt x="58054" y="0"/>
                  <a:pt x="12966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0213793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55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3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2.sv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alpha val="69804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AA08D9-2562-BC14-A42A-8AF86DD232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" y="32015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3F5763-4731-76CA-E72F-C1B4F1BE61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9425" y="1645718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L" dirty="0"/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B4851086-6E09-2AF6-4942-87E1883B7B1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246620" y="6356006"/>
            <a:ext cx="1772479" cy="365125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latin typeface="Kalinga" panose="020B0502040204020203" pitchFamily="34" charset="0"/>
              </a:defRPr>
            </a:lvl1pPr>
          </a:lstStyle>
          <a:p>
            <a:fld id="{1D642B32-C527-CF47-880F-37902B4E1AA3}" type="slidenum">
              <a:rPr lang="en-IL" smtClean="0"/>
              <a:pPr/>
              <a:t>‹#›</a:t>
            </a:fld>
            <a:endParaRPr lang="en-IL" dirty="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2CA29CB-25A4-7E1D-809C-F9705F2F8537}"/>
              </a:ext>
            </a:extLst>
          </p:cNvPr>
          <p:cNvPicPr>
            <a:picLocks noChangeAspect="1"/>
          </p:cNvPicPr>
          <p:nvPr userDrawn="1"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72307" y="6255376"/>
            <a:ext cx="955557" cy="392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326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10" r:id="rId2"/>
    <p:sldLayoutId id="2147483740" r:id="rId3"/>
    <p:sldLayoutId id="2147483723" r:id="rId4"/>
    <p:sldLayoutId id="2147483672" r:id="rId5"/>
    <p:sldLayoutId id="2147483717" r:id="rId6"/>
    <p:sldLayoutId id="2147483712" r:id="rId7"/>
    <p:sldLayoutId id="2147483713" r:id="rId8"/>
    <p:sldLayoutId id="2147483714" r:id="rId9"/>
    <p:sldLayoutId id="2147483728" r:id="rId10"/>
    <p:sldLayoutId id="2147483708" r:id="rId11"/>
    <p:sldLayoutId id="2147483739" r:id="rId12"/>
    <p:sldLayoutId id="2147483731" r:id="rId13"/>
    <p:sldLayoutId id="2147483704" r:id="rId14"/>
    <p:sldLayoutId id="2147483705" r:id="rId15"/>
    <p:sldLayoutId id="2147483695" r:id="rId16"/>
    <p:sldLayoutId id="2147483715" r:id="rId17"/>
    <p:sldLayoutId id="2147483741" r:id="rId18"/>
    <p:sldLayoutId id="2147483742" r:id="rId19"/>
    <p:sldLayoutId id="2147483743" r:id="rId2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rgbClr val="078F68"/>
          </a:solidFill>
          <a:latin typeface="Kalinga" panose="020B0502040204020203" pitchFamily="34" charset="0"/>
          <a:ea typeface="+mj-ea"/>
          <a:cs typeface="Kalinga" panose="020B0502040204020203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Tx/>
        <a:buBlip>
          <a:blip r:embed="rId24"/>
        </a:buBlip>
        <a:defRPr sz="24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Poppins" pitchFamily="2" charset="77"/>
          <a:ea typeface="+mn-ea"/>
          <a:cs typeface="Poppins" pitchFamily="2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663" userDrawn="1">
          <p15:clr>
            <a:srgbClr val="F26B43"/>
          </p15:clr>
        </p15:guide>
        <p15:guide id="2" pos="37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0.xml"/><Relationship Id="rId5" Type="http://schemas.openxmlformats.org/officeDocument/2006/relationships/image" Target="../media/image17.sv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160B98AC-844F-20C5-375C-54D8F70CCF0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0000"/>
          </a:blip>
          <a:srcRect/>
          <a:stretch/>
        </p:blipFill>
        <p:spPr>
          <a:xfrm>
            <a:off x="1226692" y="1272451"/>
            <a:ext cx="4953099" cy="4220422"/>
          </a:xfrm>
          <a:prstGeom prst="rect">
            <a:avLst/>
          </a:prstGeom>
          <a:effectLst>
            <a:reflection blurRad="6350" stA="22000" endPos="35000" dir="5400000" sy="-100000" algn="bl" rotWithShape="0"/>
          </a:effectLst>
        </p:spPr>
      </p:pic>
      <p:pic>
        <p:nvPicPr>
          <p:cNvPr id="13" name="Graphic 4">
            <a:extLst>
              <a:ext uri="{FF2B5EF4-FFF2-40B4-BE49-F238E27FC236}">
                <a16:creationId xmlns:a16="http://schemas.microsoft.com/office/drawing/2014/main" id="{EA3BB41E-51E7-B937-8D15-CAD9D72566D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399753" y="1806508"/>
            <a:ext cx="1329075" cy="545999"/>
          </a:xfrm>
          <a:prstGeom prst="rect">
            <a:avLst/>
          </a:prstGeom>
        </p:spPr>
      </p:pic>
      <p:sp>
        <p:nvSpPr>
          <p:cNvPr id="14" name="Google Shape;1303;p1">
            <a:extLst>
              <a:ext uri="{FF2B5EF4-FFF2-40B4-BE49-F238E27FC236}">
                <a16:creationId xmlns:a16="http://schemas.microsoft.com/office/drawing/2014/main" id="{E06E10C8-D1FE-48B5-2CE5-61FF457284A3}"/>
              </a:ext>
            </a:extLst>
          </p:cNvPr>
          <p:cNvSpPr txBox="1">
            <a:spLocks/>
          </p:cNvSpPr>
          <p:nvPr/>
        </p:nvSpPr>
        <p:spPr>
          <a:xfrm>
            <a:off x="6337300" y="3961109"/>
            <a:ext cx="4158625" cy="933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100" b="0" i="0" kern="120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200" b="0" i="0" kern="120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000" b="0" i="0" kern="1200">
                <a:solidFill>
                  <a:schemeClr val="tx1"/>
                </a:solidFill>
                <a:latin typeface="Poppins Light" panose="00000400000000000000" pitchFamily="2" charset="0"/>
                <a:ea typeface="+mn-ea"/>
                <a:cs typeface="Poppins Light" panose="000004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2DFDF"/>
              </a:buClr>
              <a:buSzPts val="2400"/>
              <a:buFont typeface="Poppins" panose="00000500000000000000"/>
              <a:buNone/>
              <a:tabLst/>
              <a:defRPr/>
            </a:pPr>
            <a:r>
              <a:rPr lang="en-GB" sz="1800" noProof="0" dirty="0">
                <a:solidFill>
                  <a:srgbClr val="F4F5F5"/>
                </a:solidFill>
                <a:sym typeface="Arial" panose="020B0704020202020204"/>
              </a:rPr>
              <a:t>Reducing the attack surface and minimizing risk</a:t>
            </a: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F4F5F5"/>
              </a:solidFill>
              <a:effectLst/>
              <a:uLnTx/>
              <a:uFillTx/>
              <a:latin typeface="Poppins" pitchFamily="2" charset="77"/>
              <a:ea typeface="+mn-ea"/>
              <a:cs typeface="Poppins" pitchFamily="2" charset="77"/>
              <a:sym typeface="Arial" panose="020B070402020202020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BEF63D-A416-E177-845A-3518B0AC20C0}"/>
              </a:ext>
            </a:extLst>
          </p:cNvPr>
          <p:cNvSpPr txBox="1"/>
          <p:nvPr/>
        </p:nvSpPr>
        <p:spPr>
          <a:xfrm>
            <a:off x="6337300" y="2678610"/>
            <a:ext cx="64262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704020202020204"/>
              <a:buNone/>
              <a:tabLst/>
              <a:defRPr/>
            </a:pPr>
            <a:r>
              <a:rPr lang="en-GB" sz="3600" kern="0" noProof="0" dirty="0">
                <a:solidFill>
                  <a:srgbClr val="38DAA8"/>
                </a:solidFill>
                <a:latin typeface="Poppins Medium"/>
                <a:cs typeface="Arial" panose="020B0704020202020204"/>
                <a:sym typeface="Arial" panose="020B0704020202020204"/>
              </a:rPr>
              <a:t>Cloud-Delivered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704020202020204"/>
              <a:buNone/>
              <a:tabLst/>
              <a:defRPr/>
            </a:pPr>
            <a:r>
              <a:rPr lang="en-GB" sz="3600" kern="0" dirty="0">
                <a:solidFill>
                  <a:srgbClr val="38DAA8"/>
                </a:solidFill>
                <a:latin typeface="Poppins Medium"/>
                <a:cs typeface="Arial" panose="020B0704020202020204"/>
                <a:sym typeface="Arial" panose="020B0704020202020204"/>
              </a:rPr>
              <a:t>I</a:t>
            </a:r>
            <a:r>
              <a:rPr lang="en-GB" sz="3600" kern="0" noProof="0" dirty="0" err="1">
                <a:solidFill>
                  <a:srgbClr val="38DAA8"/>
                </a:solidFill>
                <a:latin typeface="Poppins Medium"/>
                <a:cs typeface="Arial" panose="020B0704020202020204"/>
                <a:sym typeface="Arial" panose="020B0704020202020204"/>
              </a:rPr>
              <a:t>nbound</a:t>
            </a:r>
            <a:r>
              <a:rPr lang="en-GB" sz="3600" kern="0" noProof="0" dirty="0">
                <a:solidFill>
                  <a:srgbClr val="38DAA8"/>
                </a:solidFill>
                <a:latin typeface="Poppins Medium"/>
                <a:cs typeface="Arial" panose="020B0704020202020204"/>
                <a:sym typeface="Arial" panose="020B0704020202020204"/>
              </a:rPr>
              <a:t> Protection</a:t>
            </a:r>
            <a:endParaRPr kumimoji="0" lang="en-GB" sz="3600" b="0" i="0" u="none" strike="noStrike" kern="0" cap="none" spc="0" normalizeH="0" baseline="0" noProof="0" dirty="0">
              <a:ln>
                <a:noFill/>
              </a:ln>
              <a:solidFill>
                <a:srgbClr val="38DAA8"/>
              </a:solidFill>
              <a:effectLst/>
              <a:uLnTx/>
              <a:uFillTx/>
              <a:latin typeface="Poppins Medium"/>
              <a:cs typeface="Arial" panose="020B0704020202020204"/>
              <a:sym typeface="Arial" panose="020B070402020202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2ABE5F-EC90-46B7-29A7-EE0368D49AD3}"/>
              </a:ext>
            </a:extLst>
          </p:cNvPr>
          <p:cNvSpPr txBox="1">
            <a:spLocks/>
          </p:cNvSpPr>
          <p:nvPr/>
        </p:nvSpPr>
        <p:spPr>
          <a:xfrm>
            <a:off x="6337300" y="4831479"/>
            <a:ext cx="3808186" cy="5478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defTabSz="91440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078F68"/>
                </a:solidFill>
                <a:latin typeface="Poppins" panose="00000500000000000000" pitchFamily="2" charset="77"/>
                <a:ea typeface="+mj-ea"/>
                <a:cs typeface="Poppins" panose="00000500000000000000" pitchFamily="2" charset="77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 panose="020B0704020202020204"/>
              <a:buNone/>
              <a:tabLst/>
              <a:defRPr/>
            </a:pPr>
            <a:r>
              <a:rPr lang="en-GB" sz="1500" noProof="0" dirty="0">
                <a:solidFill>
                  <a:srgbClr val="38DAA8"/>
                </a:solidFill>
                <a:latin typeface="Poppins Light"/>
                <a:cs typeface="Poppins"/>
              </a:rPr>
              <a:t>NAME 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srgbClr val="F6F6F7"/>
                </a:solidFill>
                <a:effectLst/>
                <a:uLnTx/>
                <a:uFillTx/>
                <a:latin typeface="Poppins Light"/>
                <a:ea typeface="+mj-ea"/>
                <a:cs typeface="Poppins"/>
                <a:sym typeface="Arial" panose="020B0704020202020204"/>
              </a:rPr>
              <a:t>|</a:t>
            </a:r>
            <a:r>
              <a:rPr kumimoji="0" lang="en-GB" sz="1500" b="0" i="0" u="none" strike="noStrike" kern="1200" cap="none" spc="0" normalizeH="0" baseline="0" noProof="0" dirty="0">
                <a:ln>
                  <a:noFill/>
                </a:ln>
                <a:solidFill>
                  <a:srgbClr val="38DAA8"/>
                </a:solidFill>
                <a:effectLst/>
                <a:uLnTx/>
                <a:uFillTx/>
                <a:latin typeface="Poppins Light"/>
                <a:ea typeface="+mj-ea"/>
                <a:cs typeface="Poppins"/>
                <a:sym typeface="Arial" panose="020B0704020202020204"/>
              </a:rPr>
              <a:t> Sales Engineer</a:t>
            </a:r>
            <a:endParaRPr kumimoji="0" lang="en-GB" sz="1500" b="0" i="0" u="none" strike="noStrike" kern="1200" cap="none" spc="0" normalizeH="0" baseline="0" noProof="0" dirty="0">
              <a:ln>
                <a:noFill/>
              </a:ln>
              <a:solidFill>
                <a:srgbClr val="F6F6F7"/>
              </a:solidFill>
              <a:effectLst/>
              <a:uLnTx/>
              <a:uFillTx/>
              <a:latin typeface="Poppins Light"/>
              <a:ea typeface="+mj-ea"/>
              <a:cs typeface="Poppins"/>
              <a:sym typeface="Arial" panose="020B0704020202020204"/>
            </a:endParaRPr>
          </a:p>
        </p:txBody>
      </p:sp>
    </p:spTree>
    <p:extLst>
      <p:ext uri="{BB962C8B-B14F-4D97-AF65-F5344CB8AC3E}">
        <p14:creationId xmlns:p14="http://schemas.microsoft.com/office/powerpoint/2010/main" val="27662678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BAAAE-F6B5-1589-BB22-A685A4576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noProof="0" dirty="0">
                <a:solidFill>
                  <a:srgbClr val="158864"/>
                </a:solidFill>
                <a:latin typeface="+mn-lt"/>
              </a:rPr>
              <a:t>Why </a:t>
            </a:r>
            <a:r>
              <a:rPr lang="en-GB" sz="2400" dirty="0">
                <a:solidFill>
                  <a:srgbClr val="158864"/>
                </a:solidFill>
                <a:latin typeface="+mn-lt"/>
              </a:rPr>
              <a:t>do we need Inbound Protection?</a:t>
            </a:r>
            <a:br>
              <a:rPr lang="en-GB" sz="2400" dirty="0">
                <a:solidFill>
                  <a:srgbClr val="158864"/>
                </a:solidFill>
                <a:latin typeface="+mn-lt"/>
              </a:rPr>
            </a:br>
            <a:br>
              <a:rPr lang="en-GB" sz="2400" dirty="0">
                <a:solidFill>
                  <a:srgbClr val="158864"/>
                </a:solidFill>
                <a:latin typeface="+mn-lt"/>
              </a:rPr>
            </a:br>
            <a:r>
              <a:rPr lang="en-GB" sz="2400" b="1" i="1" noProof="0" dirty="0">
                <a:solidFill>
                  <a:srgbClr val="158864"/>
                </a:solidFill>
                <a:latin typeface="+mn-lt"/>
              </a:rPr>
              <a:t>Compliance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20DF2D-6573-A93B-5062-24ADAA503C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ISO 27001</a:t>
            </a:r>
          </a:p>
          <a:p>
            <a:pPr lvl="1"/>
            <a:r>
              <a:rPr lang="en-GB" noProof="0" dirty="0"/>
              <a:t>A standard to </a:t>
            </a:r>
            <a:r>
              <a:rPr lang="en-GB" b="1" noProof="0" dirty="0"/>
              <a:t>establish</a:t>
            </a:r>
            <a:r>
              <a:rPr lang="en-GB" noProof="0" dirty="0"/>
              <a:t>, </a:t>
            </a:r>
            <a:r>
              <a:rPr lang="en-GB" b="1" noProof="0" dirty="0"/>
              <a:t>implement</a:t>
            </a:r>
            <a:r>
              <a:rPr lang="en-GB" noProof="0" dirty="0"/>
              <a:t> and </a:t>
            </a:r>
            <a:r>
              <a:rPr lang="en-GB" b="1" noProof="0" dirty="0"/>
              <a:t>maintain</a:t>
            </a:r>
            <a:r>
              <a:rPr lang="en-GB" noProof="0" dirty="0"/>
              <a:t> information security</a:t>
            </a:r>
          </a:p>
          <a:p>
            <a:r>
              <a:rPr lang="en-GB" noProof="0" dirty="0"/>
              <a:t>NIS2  </a:t>
            </a:r>
          </a:p>
          <a:p>
            <a:pPr lvl="1"/>
            <a:r>
              <a:rPr lang="en-GB" noProof="0" dirty="0"/>
              <a:t>A framework for the protection of critical infrastructure in the European Union (EU)</a:t>
            </a:r>
          </a:p>
          <a:p>
            <a:pPr lvl="1"/>
            <a:r>
              <a:rPr lang="en-GB" noProof="0" dirty="0"/>
              <a:t>Ensure the </a:t>
            </a:r>
            <a:r>
              <a:rPr lang="en-GB" b="1" noProof="0" dirty="0"/>
              <a:t>security</a:t>
            </a:r>
            <a:r>
              <a:rPr lang="en-GB" noProof="0" dirty="0"/>
              <a:t> and </a:t>
            </a:r>
            <a:r>
              <a:rPr lang="en-GB" b="1" noProof="0" dirty="0"/>
              <a:t>resilience</a:t>
            </a:r>
            <a:r>
              <a:rPr lang="en-GB" noProof="0" dirty="0"/>
              <a:t> of critical infrastructure and to prevent, deter, and mitigate major accidents</a:t>
            </a:r>
          </a:p>
          <a:p>
            <a:r>
              <a:rPr lang="en-GB" noProof="0" dirty="0"/>
              <a:t>SOC 2</a:t>
            </a:r>
          </a:p>
          <a:p>
            <a:pPr lvl="1"/>
            <a:r>
              <a:rPr lang="en-GB" noProof="0" dirty="0"/>
              <a:t>Auditing on controls on </a:t>
            </a:r>
            <a:r>
              <a:rPr lang="en-GB" b="1" noProof="0" dirty="0"/>
              <a:t>security, availability, confidentiality </a:t>
            </a:r>
            <a:r>
              <a:rPr lang="en-GB" noProof="0" dirty="0"/>
              <a:t>and </a:t>
            </a:r>
            <a:r>
              <a:rPr lang="en-GB" b="1" noProof="0" dirty="0"/>
              <a:t>privacy</a:t>
            </a:r>
          </a:p>
        </p:txBody>
      </p:sp>
      <p:pic>
        <p:nvPicPr>
          <p:cNvPr id="2050" name="Picture 2" descr="ISO 27001:2022 Certification: Your assurance of security and quality at  Sweet Systems - Sweet Systems">
            <a:extLst>
              <a:ext uri="{FF2B5EF4-FFF2-40B4-BE49-F238E27FC236}">
                <a16:creationId xmlns:a16="http://schemas.microsoft.com/office/drawing/2014/main" id="{784A43B3-3187-DFFF-22DA-A467A5ED9E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99970" y="176633"/>
            <a:ext cx="1612605" cy="1612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ndover Mind complete Cyber Essentials Certification – Andover Mind">
            <a:extLst>
              <a:ext uri="{FF2B5EF4-FFF2-40B4-BE49-F238E27FC236}">
                <a16:creationId xmlns:a16="http://schemas.microsoft.com/office/drawing/2014/main" id="{B2DC5430-ACE6-820F-9EB3-FB9E918FF1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03933" y="5511634"/>
            <a:ext cx="1747519" cy="9708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6469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CF5FC4-A5E5-4E95-9516-B40FAD068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>
                <a:solidFill>
                  <a:srgbClr val="158864"/>
                </a:solidFill>
                <a:latin typeface="+mn-lt"/>
              </a:rPr>
              <a:t>Challenges in Achieving Compliance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6D76DD-C3ED-4653-9941-AD644BBDB8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03150" y="6172189"/>
            <a:ext cx="408632" cy="244661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900" b="0" i="0" u="none" strike="noStrike" kern="1200" cap="none" spc="0" normalizeH="0" baseline="0" noProof="0" dirty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| </a:t>
            </a:r>
            <a:fld id="{FEC5E14B-9965-442C-8683-0E66DD8427DC}" type="slidenum">
              <a:rPr kumimoji="0" lang="en-GB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lumMod val="75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GB" sz="900" b="0" i="0" u="none" strike="noStrike" kern="1200" cap="none" spc="0" normalizeH="0" baseline="0" noProof="0" dirty="0">
              <a:ln>
                <a:noFill/>
              </a:ln>
              <a:solidFill>
                <a:srgbClr val="FFFFFF">
                  <a:lumMod val="75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EB00A0-AC81-4C4B-8659-B43BCD6E47D2}"/>
              </a:ext>
            </a:extLst>
          </p:cNvPr>
          <p:cNvSpPr txBox="1"/>
          <p:nvPr/>
        </p:nvSpPr>
        <p:spPr>
          <a:xfrm>
            <a:off x="834156" y="2404113"/>
            <a:ext cx="2880000" cy="43279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t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Public Facing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5806FF-212C-4E5A-B183-9D8779147D74}"/>
              </a:ext>
            </a:extLst>
          </p:cNvPr>
          <p:cNvSpPr txBox="1"/>
          <p:nvPr/>
        </p:nvSpPr>
        <p:spPr>
          <a:xfrm>
            <a:off x="4737654" y="1089438"/>
            <a:ext cx="2880000" cy="43279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square" t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Audit Evidence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370CAFF-C73D-4DA1-BB0F-C7E2A5FCA67A}"/>
              </a:ext>
            </a:extLst>
          </p:cNvPr>
          <p:cNvSpPr txBox="1"/>
          <p:nvPr/>
        </p:nvSpPr>
        <p:spPr>
          <a:xfrm>
            <a:off x="4997535" y="3804700"/>
            <a:ext cx="1955109" cy="43279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tIns="0" bIns="0" anchor="ctr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Virtual Patching</a:t>
            </a: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243C740-D4AC-4426-A2DF-8F9E67324B3E}"/>
              </a:ext>
            </a:extLst>
          </p:cNvPr>
          <p:cNvGraphicFramePr>
            <a:graphicFrameLocks noGrp="1"/>
          </p:cNvGraphicFramePr>
          <p:nvPr/>
        </p:nvGraphicFramePr>
        <p:xfrm>
          <a:off x="984546" y="2980265"/>
          <a:ext cx="2579221" cy="14203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79221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1115568"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“How can I protect against attackers whilst ensuring services are running”</a:t>
                      </a:r>
                    </a:p>
                  </a:txBody>
                  <a:tcPr marL="0" marR="0" marT="91440" marB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graphicFrame>
        <p:nvGraphicFramePr>
          <p:cNvPr id="22" name="Table 19">
            <a:extLst>
              <a:ext uri="{FF2B5EF4-FFF2-40B4-BE49-F238E27FC236}">
                <a16:creationId xmlns:a16="http://schemas.microsoft.com/office/drawing/2014/main" id="{7FABD2D2-FA1A-46A7-BE89-C81DC3E47553}"/>
              </a:ext>
            </a:extLst>
          </p:cNvPr>
          <p:cNvGraphicFramePr>
            <a:graphicFrameLocks noGrp="1"/>
          </p:cNvGraphicFramePr>
          <p:nvPr/>
        </p:nvGraphicFramePr>
        <p:xfrm>
          <a:off x="4835865" y="1721337"/>
          <a:ext cx="2683579" cy="8107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683579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114300" marR="0" lvl="0" indent="-11430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“How check I have controls in place?”</a:t>
                      </a:r>
                    </a:p>
                  </a:txBody>
                  <a:tcPr marL="0" marR="0" marT="91440" marB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F362AF4-0D61-4107-90CB-27DBFDFB7877}"/>
              </a:ext>
            </a:extLst>
          </p:cNvPr>
          <p:cNvGraphicFramePr>
            <a:graphicFrameLocks noGrp="1"/>
          </p:cNvGraphicFramePr>
          <p:nvPr/>
        </p:nvGraphicFramePr>
        <p:xfrm>
          <a:off x="4737654" y="4380852"/>
          <a:ext cx="2474865" cy="11155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74865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114300" indent="-114300" algn="ctr"/>
                      <a:r>
                        <a:rPr lang="en-GB" sz="2000" noProof="0" dirty="0"/>
                        <a:t>“Services need to stay active; I can’t afford downtime to patch’</a:t>
                      </a:r>
                    </a:p>
                  </a:txBody>
                  <a:tcPr marL="0" marR="0" marT="91440" marB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B90C20E-51C9-534F-9D53-613E52A69250}"/>
              </a:ext>
            </a:extLst>
          </p:cNvPr>
          <p:cNvSpPr txBox="1"/>
          <p:nvPr/>
        </p:nvSpPr>
        <p:spPr>
          <a:xfrm>
            <a:off x="9377328" y="2545772"/>
            <a:ext cx="1566395" cy="432792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wrap="none" tIns="0" bIns="0" anchor="ctr" anchorCtr="0">
            <a:spAutoFit/>
          </a:bodyPr>
          <a:lstStyle>
            <a:defPPr>
              <a:defRPr lang="en-US"/>
            </a:defPPr>
            <a:lvl1pPr marR="0" lvl="0" indent="0" algn="ct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00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Governance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6BD61034-CBA4-8F4F-BE5A-AED760E11427}"/>
              </a:ext>
            </a:extLst>
          </p:cNvPr>
          <p:cNvGraphicFramePr>
            <a:graphicFrameLocks noGrp="1"/>
          </p:cNvGraphicFramePr>
          <p:nvPr/>
        </p:nvGraphicFramePr>
        <p:xfrm>
          <a:off x="8477845" y="3121924"/>
          <a:ext cx="3365361" cy="111556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5361">
                  <a:extLst>
                    <a:ext uri="{9D8B030D-6E8A-4147-A177-3AD203B41FA5}">
                      <a16:colId xmlns:a16="http://schemas.microsoft.com/office/drawing/2014/main" val="2031547197"/>
                    </a:ext>
                  </a:extLst>
                </a:gridCol>
              </a:tblGrid>
              <a:tr h="1115568">
                <a:tc>
                  <a:txBody>
                    <a:bodyPr/>
                    <a:lstStyle/>
                    <a:p>
                      <a:pPr marL="114300" lvl="0" indent="-114300" algn="ctr">
                        <a:defRPr/>
                      </a:pPr>
                      <a:r>
                        <a:rPr kumimoji="0" lang="en-GB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C33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“How do ensure I keep to compliance requirements”</a:t>
                      </a:r>
                    </a:p>
                  </a:txBody>
                  <a:tcPr marL="0" marR="0" marT="91440" marB="109728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0057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6453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C776D6-2FBF-9F1A-87F8-419DA74A2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26142-A1C5-6C8F-09B4-0F1E0990D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noProof="0" dirty="0">
                <a:solidFill>
                  <a:srgbClr val="158864"/>
                </a:solidFill>
                <a:latin typeface="+mn-lt"/>
              </a:rPr>
              <a:t>Business Impact of not staying Compliant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80745B3-BEBC-FF04-B279-DA776FB863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sz="2400" noProof="0" dirty="0"/>
              <a:t>Reputational impact</a:t>
            </a:r>
          </a:p>
          <a:p>
            <a:pPr lvl="1"/>
            <a:r>
              <a:rPr lang="en-GB" sz="1600" i="1" noProof="0" dirty="0"/>
              <a:t>Lowering share value</a:t>
            </a:r>
          </a:p>
          <a:p>
            <a:r>
              <a:rPr lang="en-GB" sz="2400" noProof="0" dirty="0"/>
              <a:t>Industry Regulatory requirements</a:t>
            </a:r>
          </a:p>
          <a:p>
            <a:pPr lvl="1"/>
            <a:r>
              <a:rPr lang="en-GB" sz="1400" i="1" noProof="0" dirty="0"/>
              <a:t>Financial fines</a:t>
            </a:r>
          </a:p>
          <a:p>
            <a:r>
              <a:rPr lang="en-GB" sz="2400" noProof="0" dirty="0"/>
              <a:t>Not able to sign new customers, business unable to grow at the desired pace</a:t>
            </a:r>
          </a:p>
          <a:p>
            <a:r>
              <a:rPr lang="en-GB" sz="2400" noProof="0" dirty="0"/>
              <a:t>Not able to insure the business against cyber attacks</a:t>
            </a:r>
          </a:p>
          <a:p>
            <a:endParaRPr lang="en-GB" b="1" noProof="0" dirty="0"/>
          </a:p>
        </p:txBody>
      </p:sp>
    </p:spTree>
    <p:extLst>
      <p:ext uri="{BB962C8B-B14F-4D97-AF65-F5344CB8AC3E}">
        <p14:creationId xmlns:p14="http://schemas.microsoft.com/office/powerpoint/2010/main" val="4184062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1DB5BC-939E-401C-EF0E-1E2E91A425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50D11-1D6E-FB5E-D9FF-1F24BC5CF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dirty="0">
                <a:solidFill>
                  <a:srgbClr val="158864"/>
                </a:solidFill>
              </a:rPr>
              <a:t>Cato Networks Remote Port Forwarding</a:t>
            </a:r>
            <a:endParaRPr lang="en-GB" sz="2400" b="1" noProof="0" dirty="0">
              <a:solidFill>
                <a:srgbClr val="158864"/>
              </a:solidFill>
              <a:latin typeface="+mn-lt"/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4B7C086-02AD-7506-2BEA-4B35B1EE3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9851" y="1995081"/>
            <a:ext cx="10515600" cy="4351338"/>
          </a:xfrm>
        </p:spPr>
        <p:txBody>
          <a:bodyPr/>
          <a:lstStyle/>
          <a:p>
            <a:r>
              <a:rPr lang="en-GB" dirty="0"/>
              <a:t>Cato SPACE engine inspects and secures traffic</a:t>
            </a:r>
          </a:p>
          <a:p>
            <a:r>
              <a:rPr lang="en-GB" dirty="0"/>
              <a:t>Flexible Access Controls enable inbound source filtering</a:t>
            </a:r>
            <a:endParaRPr lang="en-GB" sz="2400" noProof="0" dirty="0"/>
          </a:p>
          <a:p>
            <a:r>
              <a:rPr lang="en-GB" dirty="0"/>
              <a:t>Enables businesses to safely allow for connections into the organisation</a:t>
            </a:r>
          </a:p>
          <a:p>
            <a:pPr marL="0" indent="0">
              <a:buNone/>
            </a:pPr>
            <a:endParaRPr lang="en-GB" b="1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38293F-CBF5-8391-50DF-A7D692D5BC04}"/>
              </a:ext>
            </a:extLst>
          </p:cNvPr>
          <p:cNvSpPr txBox="1"/>
          <p:nvPr/>
        </p:nvSpPr>
        <p:spPr>
          <a:xfrm>
            <a:off x="479425" y="1284690"/>
            <a:ext cx="81046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GB" i="1" dirty="0"/>
              <a:t>A Secure Way to Publish Services</a:t>
            </a:r>
          </a:p>
        </p:txBody>
      </p:sp>
      <p:pic>
        <p:nvPicPr>
          <p:cNvPr id="1026" name="Picture 2" descr="Cato Networks: World's Leading Single-Vendor SASE Platform">
            <a:extLst>
              <a:ext uri="{FF2B5EF4-FFF2-40B4-BE49-F238E27FC236}">
                <a16:creationId xmlns:a16="http://schemas.microsoft.com/office/drawing/2014/main" id="{9E4107D4-1F0C-08EA-C64B-7FA6900175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5883" y="3429000"/>
            <a:ext cx="4076700" cy="3543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701061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250B3A-8261-CDE1-AAD9-477F335F1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EA8D7-63F0-5047-B7C4-682995BA9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589"/>
            <a:ext cx="10515600" cy="1325563"/>
          </a:xfrm>
        </p:spPr>
        <p:txBody>
          <a:bodyPr/>
          <a:lstStyle/>
          <a:p>
            <a:r>
              <a:rPr lang="en-GB" sz="2400" b="1" noProof="0" dirty="0">
                <a:solidFill>
                  <a:srgbClr val="158864"/>
                </a:solidFill>
                <a:latin typeface="+mn-lt"/>
              </a:rPr>
              <a:t>Cato Networks Inbound 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05A569-BC57-79A7-23D5-F4DDFA1E0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endParaRPr lang="en-GB" b="1" noProof="0" dirty="0"/>
          </a:p>
          <a:p>
            <a:r>
              <a:rPr lang="en-GB" i="1" noProof="0" dirty="0"/>
              <a:t>93.2% of unique CVEs</a:t>
            </a:r>
            <a:r>
              <a:rPr lang="en-GB" noProof="0" dirty="0"/>
              <a:t> we cover (1,089 out of 1,168) include inbound protection - nearly every CVE we write a signature for protects inbound-facing services</a:t>
            </a:r>
          </a:p>
          <a:p>
            <a:r>
              <a:rPr lang="en-GB" noProof="0" dirty="0"/>
              <a:t>WAF-style signatures are almost entirely inbound - 394/395 rules (SQLi, XSS, XXE, RCE, path traversal, command injection, etc.)</a:t>
            </a:r>
          </a:p>
          <a:p>
            <a:r>
              <a:rPr lang="en-GB" noProof="0" dirty="0"/>
              <a:t>CVE coverage spans 1999-2026 with strong recent growth: 313 inbound rules for 2024 CVEs, 263 for 2025, and 23 for 2026 so far</a:t>
            </a:r>
          </a:p>
          <a:p>
            <a:r>
              <a:rPr lang="en-GB" noProof="0" dirty="0"/>
              <a:t>64 scanner/recon detection rules catch inbound vulnerability scanning</a:t>
            </a:r>
          </a:p>
          <a:p>
            <a:pPr lvl="1"/>
            <a:endParaRPr lang="en-GB" sz="2800" noProof="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E16C79-C487-3DC0-EED6-7C749EC6241A}"/>
              </a:ext>
            </a:extLst>
          </p:cNvPr>
          <p:cNvSpPr txBox="1"/>
          <p:nvPr/>
        </p:nvSpPr>
        <p:spPr>
          <a:xfrm>
            <a:off x="351148" y="1179294"/>
            <a:ext cx="10781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i="1" noProof="0" dirty="0"/>
              <a:t>Ensuring services are up and protected</a:t>
            </a:r>
            <a:endParaRPr lang="en-GB" sz="1800" i="1" noProof="0" dirty="0"/>
          </a:p>
        </p:txBody>
      </p:sp>
    </p:spTree>
    <p:extLst>
      <p:ext uri="{BB962C8B-B14F-4D97-AF65-F5344CB8AC3E}">
        <p14:creationId xmlns:p14="http://schemas.microsoft.com/office/powerpoint/2010/main" val="185313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7D6D73-7EF9-E1AD-3F66-B6B20ED5D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noProof="0" dirty="0">
                <a:solidFill>
                  <a:srgbClr val="158864"/>
                </a:solidFill>
                <a:latin typeface="+mn-lt"/>
              </a:rPr>
              <a:t>Cato’s Unique Architecture allows for Rapid Mitigation for </a:t>
            </a:r>
            <a:r>
              <a:rPr lang="en-GB" sz="2400" b="1" noProof="0">
                <a:solidFill>
                  <a:srgbClr val="158864"/>
                </a:solidFill>
                <a:latin typeface="+mn-lt"/>
              </a:rPr>
              <a:t>our Customers</a:t>
            </a:r>
            <a:endParaRPr lang="en-GB" sz="2400" b="1" noProof="0" dirty="0">
              <a:solidFill>
                <a:srgbClr val="158864"/>
              </a:solidFill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EB8006-0DAA-93FD-3713-A0A89782E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02909" y="1961384"/>
            <a:ext cx="5986182" cy="40877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5A8500-77F3-2147-6B64-D02EDB0477ED}"/>
              </a:ext>
            </a:extLst>
          </p:cNvPr>
          <p:cNvSpPr txBox="1"/>
          <p:nvPr/>
        </p:nvSpPr>
        <p:spPr>
          <a:xfrm>
            <a:off x="3343276" y="6049124"/>
            <a:ext cx="6094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noProof="0" dirty="0"/>
              <a:t>https://</a:t>
            </a:r>
            <a:r>
              <a:rPr lang="en-GB" noProof="0" dirty="0" err="1"/>
              <a:t>www.catonetworks.com</a:t>
            </a:r>
            <a:r>
              <a:rPr lang="en-GB" noProof="0" dirty="0"/>
              <a:t>/rapid-</a:t>
            </a:r>
            <a:r>
              <a:rPr lang="en-GB" noProof="0" dirty="0" err="1"/>
              <a:t>cve</a:t>
            </a:r>
            <a:r>
              <a:rPr lang="en-GB" noProof="0" dirty="0"/>
              <a:t>-mitigation/</a:t>
            </a:r>
          </a:p>
        </p:txBody>
      </p:sp>
    </p:spTree>
    <p:extLst>
      <p:ext uri="{BB962C8B-B14F-4D97-AF65-F5344CB8AC3E}">
        <p14:creationId xmlns:p14="http://schemas.microsoft.com/office/powerpoint/2010/main" val="23159067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648199-96EB-0A64-7F5C-C99D434919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5BD55-4EB3-F230-F78E-24D14C64E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6589"/>
            <a:ext cx="10515600" cy="1325563"/>
          </a:xfrm>
        </p:spPr>
        <p:txBody>
          <a:bodyPr/>
          <a:lstStyle/>
          <a:p>
            <a:r>
              <a:rPr lang="en-GB" sz="2400" b="1" noProof="0" dirty="0">
                <a:solidFill>
                  <a:srgbClr val="158864"/>
                </a:solidFill>
                <a:latin typeface="+mn-lt"/>
              </a:rPr>
              <a:t>Cato Networks Secure Solution for Exposed Services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C03468-53A1-AED7-941B-87BD9564402B}"/>
              </a:ext>
            </a:extLst>
          </p:cNvPr>
          <p:cNvSpPr txBox="1"/>
          <p:nvPr/>
        </p:nvSpPr>
        <p:spPr>
          <a:xfrm>
            <a:off x="351148" y="1179294"/>
            <a:ext cx="107819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i="1" noProof="0" dirty="0"/>
              <a:t>Ensuring services are up and protected</a:t>
            </a:r>
            <a:endParaRPr lang="en-GB" sz="1800" i="1" noProof="0" dirty="0"/>
          </a:p>
        </p:txBody>
      </p:sp>
      <p:pic>
        <p:nvPicPr>
          <p:cNvPr id="8" name="Picture 7" descr="A diagram of a remote pass&#10;&#10;AI-generated content may be incorrect.">
            <a:extLst>
              <a:ext uri="{FF2B5EF4-FFF2-40B4-BE49-F238E27FC236}">
                <a16:creationId xmlns:a16="http://schemas.microsoft.com/office/drawing/2014/main" id="{C9EC3656-8DD1-14E8-1046-2E1D84A475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2002707"/>
            <a:ext cx="7772400" cy="3595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462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90811-5FFD-DB3E-8FDC-CEB57A80FF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72B5CC9-7806-79E9-031F-C0F12F6057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545" y="3002831"/>
            <a:ext cx="6148910" cy="1325563"/>
          </a:xfrm>
        </p:spPr>
        <p:txBody>
          <a:bodyPr/>
          <a:lstStyle/>
          <a:p>
            <a:r>
              <a:rPr lang="en-GB"/>
              <a:t>DEMO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7440446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C91C10A5-C7C2-D1BF-C065-B25C899195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7F73A-5EB9-2A7C-903E-4D0A0E3C0C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400" b="1" noProof="0" dirty="0">
                <a:solidFill>
                  <a:srgbClr val="158864"/>
                </a:solidFill>
                <a:latin typeface="+mn-lt"/>
              </a:rPr>
              <a:t>How to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57A79CB-1C38-2129-FC47-5EA660B40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GB" b="1" noProof="0" dirty="0"/>
              <a:t>Configure an Allocated IP at a </a:t>
            </a:r>
            <a:r>
              <a:rPr lang="en-GB" b="1" noProof="0" dirty="0" err="1"/>
              <a:t>PoP</a:t>
            </a:r>
            <a:r>
              <a:rPr lang="en-GB" b="1" noProof="0" dirty="0"/>
              <a:t> of your choosing</a:t>
            </a:r>
          </a:p>
          <a:p>
            <a:r>
              <a:rPr lang="en-GB" b="1" dirty="0"/>
              <a:t>Create a remote port forwarding rule to a HTTP resource (Would recommend using azure / </a:t>
            </a:r>
            <a:r>
              <a:rPr lang="en-GB" b="1" dirty="0" err="1"/>
              <a:t>aws</a:t>
            </a:r>
            <a:r>
              <a:rPr lang="en-GB" b="1" dirty="0"/>
              <a:t> tenancy attached to your lab)</a:t>
            </a:r>
          </a:p>
          <a:p>
            <a:r>
              <a:rPr lang="en-GB" b="1" noProof="0" dirty="0"/>
              <a:t>Configure/check that IPS inbound is turned on</a:t>
            </a:r>
          </a:p>
          <a:p>
            <a:r>
              <a:rPr lang="en-GB" b="1" dirty="0"/>
              <a:t>Review logs/events OR trigger the IPS using a known CVE that we have a signature for to showcase live protection</a:t>
            </a:r>
            <a:endParaRPr lang="en-GB" b="1" noProof="0" dirty="0"/>
          </a:p>
        </p:txBody>
      </p:sp>
    </p:spTree>
    <p:extLst>
      <p:ext uri="{BB962C8B-B14F-4D97-AF65-F5344CB8AC3E}">
        <p14:creationId xmlns:p14="http://schemas.microsoft.com/office/powerpoint/2010/main" val="32476286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B864136B-F64A-5CDF-C252-71F6DF556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21545" y="3002831"/>
            <a:ext cx="6148910" cy="1325563"/>
          </a:xfrm>
        </p:spPr>
        <p:txBody>
          <a:bodyPr/>
          <a:lstStyle/>
          <a:p>
            <a:r>
              <a:rPr lang="en-IL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553508435"/>
      </p:ext>
    </p:extLst>
  </p:cSld>
  <p:clrMapOvr>
    <a:masterClrMapping/>
  </p:clrMapOvr>
</p:sld>
</file>

<file path=ppt/theme/theme1.xml><?xml version="1.0" encoding="utf-8"?>
<a:theme xmlns:a="http://schemas.openxmlformats.org/drawingml/2006/main" name="Slides">
  <a:themeElements>
    <a:clrScheme name="Cato Colors">
      <a:dk1>
        <a:srgbClr val="182D29"/>
      </a:dk1>
      <a:lt1>
        <a:srgbClr val="F6F6F7"/>
      </a:lt1>
      <a:dk2>
        <a:srgbClr val="2B3033"/>
      </a:dk2>
      <a:lt2>
        <a:srgbClr val="168763"/>
      </a:lt2>
      <a:accent1>
        <a:srgbClr val="38D9A7"/>
      </a:accent1>
      <a:accent2>
        <a:srgbClr val="FEC756"/>
      </a:accent2>
      <a:accent3>
        <a:srgbClr val="9955BA"/>
      </a:accent3>
      <a:accent4>
        <a:srgbClr val="FF6F5B"/>
      </a:accent4>
      <a:accent5>
        <a:srgbClr val="55CBF2"/>
      </a:accent5>
      <a:accent6>
        <a:srgbClr val="B5CBCB"/>
      </a:accent6>
      <a:hlink>
        <a:srgbClr val="FFFFFF"/>
      </a:hlink>
      <a:folHlink>
        <a:srgbClr val="FFFFFF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372A94E03C407419BC564D94F1A306B" ma:contentTypeVersion="22" ma:contentTypeDescription="Create a new document." ma:contentTypeScope="" ma:versionID="2a5be53b095fe5f2c3f270eac2e82b16">
  <xsd:schema xmlns:xsd="http://www.w3.org/2001/XMLSchema" xmlns:xs="http://www.w3.org/2001/XMLSchema" xmlns:p="http://schemas.microsoft.com/office/2006/metadata/properties" xmlns:ns2="59af04aa-14d6-4764-88c2-31407ba52b8d" xmlns:ns3="d5da3514-3b6b-4ccd-bd93-9b0746cba409" targetNamespace="http://schemas.microsoft.com/office/2006/metadata/properties" ma:root="true" ma:fieldsID="1573f9c29841bbcb0b7ecf2d122902d7" ns2:_="" ns3:_="">
    <xsd:import namespace="59af04aa-14d6-4764-88c2-31407ba52b8d"/>
    <xsd:import namespace="d5da3514-3b6b-4ccd-bd93-9b0746cba40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  <xsd:element ref="ns2:MediaServiceObjectDetectorVersions" minOccurs="0"/>
                <xsd:element ref="ns2:_Flow_SignoffStatus" minOccurs="0"/>
                <xsd:element ref="ns2:MediaServiceBillingMetadata" minOccurs="0"/>
                <xsd:element ref="ns2:MediaServiceLocation" minOccurs="0"/>
                <xsd:element ref="ns2:Full_x0020_Name" minOccurs="0"/>
                <xsd:element ref="ns2:Manager_x0020_Nam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af04aa-14d6-4764-88c2-31407ba52b8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bb4fd814-cd30-4341-b83e-5a3d1412f97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Flow_SignoffStatus" ma:index="24" nillable="true" ma:displayName="Sign-off status" ma:internalName="Sign_x002d_off_x0020_status">
      <xsd:simpleType>
        <xsd:restriction base="dms:Text">
          <xsd:maxLength value="255"/>
        </xsd:restriction>
      </xsd:simpleType>
    </xsd:element>
    <xsd:element name="MediaServiceBillingMetadata" ma:index="25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Location" ma:index="26" nillable="true" ma:displayName="Location" ma:indexed="true" ma:internalName="MediaServiceLocation" ma:readOnly="true">
      <xsd:simpleType>
        <xsd:restriction base="dms:Text"/>
      </xsd:simpleType>
    </xsd:element>
    <xsd:element name="Full_x0020_Name" ma:index="27" nillable="true" ma:displayName="Full Name" ma:internalName="Full_x0020_Name">
      <xsd:simpleType>
        <xsd:restriction base="dms:Text">
          <xsd:maxLength value="255"/>
        </xsd:restriction>
      </xsd:simpleType>
    </xsd:element>
    <xsd:element name="Manager_x0020_Name" ma:index="28" nillable="true" ma:displayName="Manager Name" ma:internalName="Manager_x0020_Nam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da3514-3b6b-4ccd-bd93-9b0746cba40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df6969e-8904-444d-9e9f-a1179b64f1ca}" ma:internalName="TaxCatchAll" ma:showField="CatchAllData" ma:web="d5da3514-3b6b-4ccd-bd93-9b0746cba40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9af04aa-14d6-4764-88c2-31407ba52b8d">
      <Terms xmlns="http://schemas.microsoft.com/office/infopath/2007/PartnerControls"/>
    </lcf76f155ced4ddcb4097134ff3c332f>
    <TaxCatchAll xmlns="d5da3514-3b6b-4ccd-bd93-9b0746cba409" xsi:nil="true"/>
    <_Flow_SignoffStatus xmlns="59af04aa-14d6-4764-88c2-31407ba52b8d" xsi:nil="true"/>
    <Manager_x0020_Name xmlns="59af04aa-14d6-4764-88c2-31407ba52b8d" xsi:nil="true"/>
    <Full_x0020_Name xmlns="59af04aa-14d6-4764-88c2-31407ba52b8d" xsi:nil="true"/>
  </documentManagement>
</p:properties>
</file>

<file path=customXml/itemProps1.xml><?xml version="1.0" encoding="utf-8"?>
<ds:datastoreItem xmlns:ds="http://schemas.openxmlformats.org/officeDocument/2006/customXml" ds:itemID="{B53E6C32-3B95-4083-9FCA-62B8DB86015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0D34592-781F-4B17-83E6-890E65FD1F7F}"/>
</file>

<file path=customXml/itemProps3.xml><?xml version="1.0" encoding="utf-8"?>
<ds:datastoreItem xmlns:ds="http://schemas.openxmlformats.org/officeDocument/2006/customXml" ds:itemID="{5CC333A7-B725-498F-A594-A2BFEAEA4808}">
  <ds:schemaRefs>
    <ds:schemaRef ds:uri="59af04aa-14d6-4764-88c2-31407ba52b8d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d5da3514-3b6b-4ccd-bd93-9b0746cba409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24047</TotalTime>
  <Words>599</Words>
  <Application>Microsoft Macintosh PowerPoint</Application>
  <PresentationFormat>Widescreen</PresentationFormat>
  <Paragraphs>67</Paragraphs>
  <Slides>11</Slides>
  <Notes>4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Arial</vt:lpstr>
      <vt:lpstr>Calibri</vt:lpstr>
      <vt:lpstr>Kalinga</vt:lpstr>
      <vt:lpstr>Poppins</vt:lpstr>
      <vt:lpstr>Poppins Light</vt:lpstr>
      <vt:lpstr>Poppins Medium</vt:lpstr>
      <vt:lpstr>Segoe UI Light</vt:lpstr>
      <vt:lpstr>Slides</vt:lpstr>
      <vt:lpstr>PowerPoint Presentation</vt:lpstr>
      <vt:lpstr>Why do we need Inbound Protection?  Compliance</vt:lpstr>
      <vt:lpstr>Challenges in Achieving Compliance</vt:lpstr>
      <vt:lpstr>Business Impact of not staying Compliant</vt:lpstr>
      <vt:lpstr>Cato Networks Remote Port Forwarding</vt:lpstr>
      <vt:lpstr>Cato Networks Inbound IPS</vt:lpstr>
      <vt:lpstr>Cato’s Unique Architecture allows for Rapid Mitigation for our Customers</vt:lpstr>
      <vt:lpstr>Cato Networks Secure Solution for Exposed Services</vt:lpstr>
      <vt:lpstr>DEMO</vt:lpstr>
      <vt:lpstr>How to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Golan, Stav</dc:creator>
  <cp:lastModifiedBy>Ben Morris</cp:lastModifiedBy>
  <cp:revision>33</cp:revision>
  <cp:lastPrinted>2024-09-03T06:06:06Z</cp:lastPrinted>
  <dcterms:created xsi:type="dcterms:W3CDTF">2024-07-15T08:03:49Z</dcterms:created>
  <dcterms:modified xsi:type="dcterms:W3CDTF">2026-03-27T09:36:14Z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a60d57e-af5b-4752-ac57-3e4f28ca11dc_Enabled">
    <vt:lpwstr>true</vt:lpwstr>
  </property>
  <property fmtid="{D5CDD505-2E9C-101B-9397-08002B2CF9AE}" pid="3" name="MSIP_Label_ea60d57e-af5b-4752-ac57-3e4f28ca11dc_SetDate">
    <vt:lpwstr>2024-07-15T08:04:29Z</vt:lpwstr>
  </property>
  <property fmtid="{D5CDD505-2E9C-101B-9397-08002B2CF9AE}" pid="4" name="MSIP_Label_ea60d57e-af5b-4752-ac57-3e4f28ca11dc_Method">
    <vt:lpwstr>Standard</vt:lpwstr>
  </property>
  <property fmtid="{D5CDD505-2E9C-101B-9397-08002B2CF9AE}" pid="5" name="MSIP_Label_ea60d57e-af5b-4752-ac57-3e4f28ca11dc_Name">
    <vt:lpwstr>ea60d57e-af5b-4752-ac57-3e4f28ca11dc</vt:lpwstr>
  </property>
  <property fmtid="{D5CDD505-2E9C-101B-9397-08002B2CF9AE}" pid="6" name="MSIP_Label_ea60d57e-af5b-4752-ac57-3e4f28ca11dc_SiteId">
    <vt:lpwstr>36da45f1-dd2c-4d1f-af13-5abe46b99921</vt:lpwstr>
  </property>
  <property fmtid="{D5CDD505-2E9C-101B-9397-08002B2CF9AE}" pid="7" name="MSIP_Label_ea60d57e-af5b-4752-ac57-3e4f28ca11dc_ActionId">
    <vt:lpwstr>baa8c313-fff9-453d-a32e-7c56b0803987</vt:lpwstr>
  </property>
  <property fmtid="{D5CDD505-2E9C-101B-9397-08002B2CF9AE}" pid="8" name="MSIP_Label_ea60d57e-af5b-4752-ac57-3e4f28ca11dc_ContentBits">
    <vt:lpwstr>0</vt:lpwstr>
  </property>
  <property fmtid="{D5CDD505-2E9C-101B-9397-08002B2CF9AE}" pid="9" name="ContentTypeId">
    <vt:lpwstr>0x0101009372A94E03C407419BC564D94F1A306B</vt:lpwstr>
  </property>
  <property fmtid="{D5CDD505-2E9C-101B-9397-08002B2CF9AE}" pid="10" name="MediaServiceImageTags">
    <vt:lpwstr/>
  </property>
</Properties>
</file>
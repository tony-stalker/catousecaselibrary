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2" r:id="rId5"/>
  </p:sldMasterIdLst>
  <p:notesMasterIdLst>
    <p:notesMasterId r:id="rId15"/>
  </p:notesMasterIdLst>
  <p:sldIdLst>
    <p:sldId id="2147472112" r:id="rId6"/>
    <p:sldId id="2147472135" r:id="rId7"/>
    <p:sldId id="2147472136" r:id="rId8"/>
    <p:sldId id="2076137701" r:id="rId9"/>
    <p:sldId id="2147472137" r:id="rId10"/>
    <p:sldId id="2147472139" r:id="rId11"/>
    <p:sldId id="2147472141" r:id="rId12"/>
    <p:sldId id="2147472142" r:id="rId13"/>
    <p:sldId id="21474721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8864"/>
    <a:srgbClr val="15B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13B42-34CB-6B41-944E-7824968DF914}" v="9" dt="2026-03-17T16:53:28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69"/>
    <p:restoredTop sz="81513"/>
  </p:normalViewPr>
  <p:slideViewPr>
    <p:cSldViewPr snapToGrid="0">
      <p:cViewPr varScale="1">
        <p:scale>
          <a:sx n="168" d="100"/>
          <a:sy n="168" d="100"/>
        </p:scale>
        <p:origin x="3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6463D-5A9F-CE4F-B64F-D20A1EB810A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20273-8000-AB4B-AAC8-F8E11036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0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/>
              <a:t>Thank you very much for having us.</a:t>
            </a:r>
          </a:p>
          <a:p>
            <a:r>
              <a:rPr lang="en-IL"/>
              <a:t>In the next 15-20 minutes, I will walk you through Cato’s True SASE Platform</a:t>
            </a:r>
          </a:p>
          <a:p>
            <a:r>
              <a:rPr lang="en-IL"/>
              <a:t>Let’s make this an interactive conversation. Please feel free to ask questions as I present.</a:t>
            </a:r>
          </a:p>
          <a:p>
            <a:r>
              <a:rPr lang="en-IL"/>
              <a:t>If you would like more technical details or a demo on any of the areas I will cover – we will be happy to provide them.</a:t>
            </a:r>
          </a:p>
          <a:p>
            <a:r>
              <a:rPr lang="en-IL"/>
              <a:t>Let’s start</a:t>
            </a:r>
          </a:p>
          <a:p>
            <a:pPr marL="457200" marR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4258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0273-8000-AB4B-AAC8-F8E1103650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95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we get started, I want to share the kind of challenges we see across the IT leaders we speak with. </a:t>
            </a:r>
          </a:p>
          <a:p>
            <a:endParaRPr lang="en-US"/>
          </a:p>
          <a:p>
            <a:r>
              <a:rPr lang="en-US"/>
              <a:t>They cover cost, performance, quality, user experience, and management complexity. </a:t>
            </a:r>
          </a:p>
          <a:p>
            <a:endParaRPr lang="en-US"/>
          </a:p>
          <a:p>
            <a:r>
              <a:rPr lang="en-US" b="0" i="0">
                <a:solidFill>
                  <a:srgbClr val="806000"/>
                </a:solidFill>
                <a:effectLst/>
                <a:latin typeface="Segoe UI Light" panose="020B0502040204020203" pitchFamily="34" charset="0"/>
              </a:rPr>
              <a:t>Can you help me understand the primary challenges you face today?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DEB05-5168-4175-A66F-2235235D7F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253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DEB05-5168-4175-A66F-2235235D7F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404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F712-9DBE-3BAB-0F58-24A4E3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2FA04-9904-88C3-0570-2F5A10F29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514D7-48F5-8308-28E4-F600166E8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56C38-45FA-E155-6AC0-AA956EC95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0273-8000-AB4B-AAC8-F8E1103650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2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emf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emf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3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2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09F2-B330-304E-302D-2902D6AD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7CB5-E3C7-0D59-D8EB-96C3CC232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20CF8-F56D-1773-3D9B-6DE1EB29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314D-D4E4-DB51-7C3C-F8B0D78A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EF488-8BE2-4CD9-A582-0F79D56C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D19C-C5DC-71B9-C5EC-C36E5C49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49AB-2FDE-401B-C713-65EB12BA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FE0E8-764E-DECE-156A-4AF38364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334E-0C84-2833-2506-88EEAC1B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4613C-6ABB-FC82-8F02-D9737A5D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7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7FA0-46FB-D229-AF50-47861665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784A-9F5E-845A-EDAA-9FC8D01C4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E4DDE-4998-D635-D7F3-C5FFE4CD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CA8CD-A566-7CF1-3EB2-10839807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E241F-9284-0D74-BD8F-8ADDFA5C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4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4A11-44D4-63CA-AFBF-24CCAF0B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9C702-6DEC-FEAB-C925-987F6EFD2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97457-F383-8E94-4A03-C88A2A45D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B7B7E-A4CC-3ED4-3B80-CCC431D6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6845D-9BC2-8DE4-448C-DFBD003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47B5-575E-3C65-A685-D15AFA17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4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9DAF-CF50-334B-7A91-E8B508A9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AA5C1-3585-DBE8-CF6E-8F088E4D2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769F6-DA7F-DFDB-0C60-9FF0ACFA3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B098E-FC3E-9703-774C-3021C60C4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667D6-F07A-3C17-EACA-94B863521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79B04-534D-B4C1-4757-80D3A52F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4EC4C-21CB-FFD5-7D98-8C7EA3BD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32F1B-6180-8C8D-6E82-FC6EFA41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C2AF-48E3-4D32-71B6-D69D5ADA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8F5F3-FA3A-97A2-9E3B-D7065583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E5D77-45DE-6638-7F81-06CB536E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EFF9F-EB1C-0487-EAF2-41E10455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2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4FC85-5EE4-A75E-6B7E-23C19D0E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6D7E7-1879-CF92-FD45-AA8EF393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1ADEC-F684-D067-E69A-4B8E1786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4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1EBF-BB31-8D70-F4E8-F1152CAA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CFF1-999E-9E0A-B7E0-B44030154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41563-B769-3F07-5F6C-46100F285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D97F7-C4E7-6104-E373-E23F6E5D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AB239-BEB7-D3DC-5451-8D353934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5DA96-C40B-3E33-E48F-28AA5B5B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6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6C08-F437-5475-22D0-823958C5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87AF9-221F-F13A-2AA7-704CF8059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09B12-40E4-1938-3F60-BF897B399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08C59-1BE4-188D-772C-2F316819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403F-FB31-4940-9ABF-A9648740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B7B50-9F56-CA3A-A50F-ECF0430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7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8D27-2A77-BB9B-C606-503BB8E3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1E8FA-EFE1-BD33-473F-099A56C2F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6E3B-9865-D8DC-BA79-75786B46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C5E3-B47A-B776-1AF0-C3B0256A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98578-669F-9676-7BB4-BF6F8C58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6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445FC-A127-E261-63C0-0B51CEECF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E25EC-6592-C61E-13C2-29ED4FCD7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1EFEB-EE9A-7B3A-29BE-025E96C6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972A-9807-90F5-4F6B-4599CDFA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75099-89D1-6A92-656B-E7E6B62D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95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Open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253E3F-E0AE-901A-6A63-61D8ED403D1E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152A26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EECBAEEF-E042-E44D-0252-E47FBFF52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589" t="32782" r="2861" b="32782"/>
          <a:stretch/>
        </p:blipFill>
        <p:spPr>
          <a:xfrm>
            <a:off x="129540" y="156210"/>
            <a:ext cx="9989820" cy="6545580"/>
          </a:xfrm>
          <a:custGeom>
            <a:avLst/>
            <a:gdLst>
              <a:gd name="connsiteX0" fmla="*/ 129668 w 9989820"/>
              <a:gd name="connsiteY0" fmla="*/ 0 h 6545580"/>
              <a:gd name="connsiteX1" fmla="*/ 9989820 w 9989820"/>
              <a:gd name="connsiteY1" fmla="*/ 0 h 6545580"/>
              <a:gd name="connsiteX2" fmla="*/ 9989820 w 9989820"/>
              <a:gd name="connsiteY2" fmla="*/ 6545580 h 6545580"/>
              <a:gd name="connsiteX3" fmla="*/ 129668 w 9989820"/>
              <a:gd name="connsiteY3" fmla="*/ 6545580 h 6545580"/>
              <a:gd name="connsiteX4" fmla="*/ 0 w 9989820"/>
              <a:gd name="connsiteY4" fmla="*/ 6415912 h 6545580"/>
              <a:gd name="connsiteX5" fmla="*/ 0 w 9989820"/>
              <a:gd name="connsiteY5" fmla="*/ 129668 h 6545580"/>
              <a:gd name="connsiteX6" fmla="*/ 129668 w 9989820"/>
              <a:gd name="connsiteY6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89820" h="6545580">
                <a:moveTo>
                  <a:pt x="129668" y="0"/>
                </a:moveTo>
                <a:lnTo>
                  <a:pt x="9989820" y="0"/>
                </a:lnTo>
                <a:lnTo>
                  <a:pt x="9989820" y="6545580"/>
                </a:ln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9728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1C6ACD-09BF-4D7E-93A7-862E5624E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3192" y="4882626"/>
            <a:ext cx="2874963" cy="744538"/>
          </a:xfrm>
        </p:spPr>
        <p:txBody>
          <a:bodyPr wrap="none" lIns="18288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-228600"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009F828-EE19-42E1-B484-3708F7D94F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3638" y="4873265"/>
            <a:ext cx="885825" cy="8858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2816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8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59591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33375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7789D-E8BD-4CF7-A207-912659CF34F6}"/>
              </a:ext>
            </a:extLst>
          </p:cNvPr>
          <p:cNvSpPr/>
          <p:nvPr userDrawn="1"/>
        </p:nvSpPr>
        <p:spPr>
          <a:xfrm>
            <a:off x="0" y="3995235"/>
            <a:ext cx="12192000" cy="2862765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6D599-2EA4-4A12-A90A-522A9CC653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6955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550A67-D9AE-4974-AEB7-301E8EFEB8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434937"/>
            <a:ext cx="792498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154499"/>
            <a:ext cx="7924987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1400" smtClean="0">
                <a:solidFill>
                  <a:schemeClr val="bg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1983" y="1957387"/>
            <a:ext cx="9566017" cy="347186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0"/>
              </a:spcBef>
              <a:spcAft>
                <a:spcPts val="2400"/>
              </a:spcAft>
              <a:buClr>
                <a:schemeClr val="accent5"/>
              </a:buClr>
              <a:buFont typeface="Calibri" panose="020F0502020204030204" pitchFamily="34" charset="0"/>
              <a:buChar char="/"/>
              <a:defRPr sz="2000">
                <a:solidFill>
                  <a:schemeClr val="bg1"/>
                </a:solidFill>
              </a:defRPr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ED31C-9D4A-4D8C-B04C-7AF722D583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992DE7-1412-42FF-A6E7-6DDEAAF8C8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647" y="384099"/>
            <a:ext cx="2947135" cy="50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2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59DFDA-B76E-464F-AAF0-990762382727}"/>
              </a:ext>
            </a:extLst>
          </p:cNvPr>
          <p:cNvSpPr/>
          <p:nvPr userDrawn="1"/>
        </p:nvSpPr>
        <p:spPr>
          <a:xfrm>
            <a:off x="0" y="2924223"/>
            <a:ext cx="12192000" cy="3933777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F8A675-5F69-4B0C-9F15-3B1C81429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4352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03399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6629223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33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44620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348208751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105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8312504" cy="5130198"/>
          </a:xfrm>
          <a:prstGeom prst="rect">
            <a:avLst/>
          </a:prstGeom>
        </p:spPr>
        <p:txBody>
          <a:bodyPr lIns="0">
            <a:noAutofit/>
          </a:bodyPr>
          <a:lstStyle>
            <a:lvl1pPr marL="228600" indent="-22860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  <a:lvl2pPr marL="457200" indent="-223838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2pPr>
            <a:lvl3pPr marL="690563" indent="-233363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077322-21BD-9F4D-9657-A07645EA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914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5AE33-E37F-4E53-8A42-3D9B6EB2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08" y="186990"/>
            <a:ext cx="9650128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DD027E-1F09-4A5D-8937-B89687FF93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010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18046-5ACC-4F8C-97CB-B5D7F573B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047B4-198F-4473-ACCE-EADC2BF840EE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E4C33CBF-C26E-9C4E-87E7-DFFCF1B10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2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1165225"/>
            <a:ext cx="11026775" cy="509111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9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DD38-E635-4C1F-B582-32F628AE0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02887"/>
            <a:ext cx="12192000" cy="2755113"/>
          </a:xfrm>
          <a:prstGeom prst="rect">
            <a:avLst/>
          </a:prstGeom>
          <a:pattFill prst="ltDnDiag">
            <a:fgClr>
              <a:schemeClr val="bg1"/>
            </a:fgClr>
            <a:bgClr>
              <a:srgbClr val="FAFAFA"/>
            </a:bgClr>
          </a:pattFill>
          <a:effectLst/>
        </p:spPr>
        <p:txBody>
          <a:bodyPr wrap="square" lIns="0" tIns="731520" rIns="0" bIns="1645920" anchor="t" anchorCtr="0">
            <a:spAutoFit/>
          </a:bodyPr>
          <a:lstStyle>
            <a:lvl1pPr>
              <a:def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marR="0" lvl="0" indent="0" algn="ctr" defTabSz="914377" fontAlgn="auto">
              <a:lnSpc>
                <a:spcPts val="2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3177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06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74D2C-636C-4B7A-8516-5FF9BA7A4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AA727-B620-4FB8-ACE2-13B7096987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1165" y="2237336"/>
            <a:ext cx="1925050" cy="799077"/>
          </a:xfrm>
          <a:prstGeom prst="rect">
            <a:avLst/>
          </a:prstGeom>
        </p:spPr>
      </p:pic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A51F82A-C493-AE45-8C39-BB0EA0A704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4314" y="4253028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4A22A53-FC02-554F-BF0B-037C3AA76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4314" y="4566024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AA02460A-E555-5A4B-90D9-A3F1BD5D6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28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7" y="186991"/>
            <a:ext cx="1124594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8"/>
            <a:ext cx="9063039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44" indent="-285744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54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4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39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A937F7-52E3-43B7-915D-52084F59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CE2BC32-FCF6-425A-BD47-556C3C40B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" y="1785980"/>
            <a:ext cx="7731938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44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C9E4533-1E93-482A-802D-5480BCE416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61" y="2647676"/>
            <a:ext cx="5356522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EB3F6468-49BB-483D-B488-70AFF33D87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4877" y="4578077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14155AC-D6BC-4D92-B098-B489EDDA8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4877" y="4891073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14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ED16E2C-2B60-40B3-8BA3-1649346F29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465286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753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539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ti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9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4C6F9D11-5032-004A-8800-EF38AE17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6005" y="6492875"/>
            <a:ext cx="539977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A46B8-5C1B-1BFF-03D7-C8E869BCC67A}"/>
              </a:ext>
            </a:extLst>
          </p:cNvPr>
          <p:cNvSpPr/>
          <p:nvPr userDrawn="1"/>
        </p:nvSpPr>
        <p:spPr>
          <a:xfrm>
            <a:off x="0" y="1"/>
            <a:ext cx="12192000" cy="3998793"/>
          </a:xfrm>
          <a:prstGeom prst="rect">
            <a:avLst/>
          </a:prstGeom>
          <a:solidFill>
            <a:schemeClr val="tx1"/>
          </a:solidFill>
          <a:ln w="0"/>
          <a:effectLst>
            <a:outerShdw blurRad="215900" dist="5080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077322-21BD-9F4D-9657-A07645EA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6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10515600" cy="3776737"/>
          </a:xfrm>
          <a:prstGeom prst="rect">
            <a:avLst/>
          </a:prstGeom>
        </p:spPr>
        <p:txBody>
          <a:bodyPr lIns="0">
            <a:normAutofit/>
          </a:bodyPr>
          <a:lstStyle>
            <a:lvl1pPr marL="228600" indent="-228600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400" b="1">
                <a:latin typeface="+mn-lt"/>
              </a:defRPr>
            </a:lvl1pPr>
            <a:lvl2pPr marL="457200" indent="-223838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690563" indent="-233363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081FA9-CEF9-484D-BF4F-61FB1B10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4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1058-B675-437A-D4D1-ABDA5F65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9935-2F81-26CB-42CF-BC954904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DA4B-F336-9C75-5629-87FCDEA5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D1EF1-D92B-7D43-99F0-6F1B6A8F0CB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6163-874D-732C-3AD2-356BF7D8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0477-056E-6781-4D1C-E54A7595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7EC6B-E247-C140-98C5-C57BB987B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5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489AA-9B20-F878-D489-149D7E6B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AEF53-1C89-1FDF-FBE1-83D5C2CC9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F3B74-0A7D-1FEC-6586-E2CB47238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FFA94-F558-0740-9CB2-6C2DC3831E0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CCA3B-9498-EE12-0FF4-CD68C2840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7CA5E-8C68-E4D3-16F1-C055D8137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4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60B98AC-844F-20C5-375C-54D8F70CCF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1226692" y="1272451"/>
            <a:ext cx="4953099" cy="4220422"/>
          </a:xfrm>
          <a:prstGeom prst="rect">
            <a:avLst/>
          </a:prstGeom>
          <a:effectLst>
            <a:reflection blurRad="6350" stA="22000" endPos="35000" dir="5400000" sy="-100000" algn="bl" rotWithShape="0"/>
          </a:effectLst>
        </p:spPr>
      </p:pic>
      <p:pic>
        <p:nvPicPr>
          <p:cNvPr id="13" name="Graphic 4">
            <a:extLst>
              <a:ext uri="{FF2B5EF4-FFF2-40B4-BE49-F238E27FC236}">
                <a16:creationId xmlns:a16="http://schemas.microsoft.com/office/drawing/2014/main" id="{EA3BB41E-51E7-B937-8D15-CAD9D7256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8663" y="2656057"/>
            <a:ext cx="1329075" cy="545999"/>
          </a:xfrm>
          <a:prstGeom prst="rect">
            <a:avLst/>
          </a:prstGeom>
        </p:spPr>
      </p:pic>
      <p:sp>
        <p:nvSpPr>
          <p:cNvPr id="14" name="Google Shape;1303;p1">
            <a:extLst>
              <a:ext uri="{FF2B5EF4-FFF2-40B4-BE49-F238E27FC236}">
                <a16:creationId xmlns:a16="http://schemas.microsoft.com/office/drawing/2014/main" id="{E06E10C8-D1FE-48B5-2CE5-61FF457284A3}"/>
              </a:ext>
            </a:extLst>
          </p:cNvPr>
          <p:cNvSpPr txBox="1">
            <a:spLocks/>
          </p:cNvSpPr>
          <p:nvPr/>
        </p:nvSpPr>
        <p:spPr>
          <a:xfrm>
            <a:off x="6337300" y="3961109"/>
            <a:ext cx="4158625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FDF"/>
              </a:buClr>
              <a:buSzPts val="2400"/>
              <a:buFont typeface="Poppins" panose="00000500000000000000"/>
              <a:buNone/>
              <a:tabLst/>
              <a:defRPr/>
            </a:pPr>
            <a:r>
              <a:rPr lang="en-US" sz="1800" dirty="0">
                <a:solidFill>
                  <a:srgbClr val="F4F5F5"/>
                </a:solidFill>
                <a:sym typeface="Arial" panose="020B0704020202020204"/>
              </a:rPr>
              <a:t>Enabling business growth with Cato SASE Platform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4F5F5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Arial" panose="020B07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EF63D-A416-E177-845A-3518B0AC20C0}"/>
              </a:ext>
            </a:extLst>
          </p:cNvPr>
          <p:cNvSpPr txBox="1"/>
          <p:nvPr/>
        </p:nvSpPr>
        <p:spPr>
          <a:xfrm>
            <a:off x="6337300" y="3359546"/>
            <a:ext cx="642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tabLst/>
              <a:defRPr/>
            </a:pPr>
            <a:r>
              <a:rPr lang="en-US" sz="3600" kern="0" dirty="0">
                <a:solidFill>
                  <a:srgbClr val="38DAA8"/>
                </a:solidFill>
                <a:latin typeface="Poppins Medium"/>
                <a:cs typeface="Arial" panose="020B0704020202020204"/>
                <a:sym typeface="Arial" panose="020B0704020202020204"/>
              </a:rPr>
              <a:t>Achieving Compliance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38DAA8"/>
              </a:solidFill>
              <a:effectLst/>
              <a:uLnTx/>
              <a:uFillTx/>
              <a:latin typeface="Poppins Medium"/>
              <a:cs typeface="Arial" panose="020B0704020202020204"/>
              <a:sym typeface="Arial" panose="020B07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ABE5F-EC90-46B7-29A7-EE0368D49AD3}"/>
              </a:ext>
            </a:extLst>
          </p:cNvPr>
          <p:cNvSpPr txBox="1">
            <a:spLocks/>
          </p:cNvSpPr>
          <p:nvPr/>
        </p:nvSpPr>
        <p:spPr>
          <a:xfrm>
            <a:off x="6337300" y="4831479"/>
            <a:ext cx="3808186" cy="547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78F68"/>
                </a:solidFill>
                <a:latin typeface="Poppins" panose="00000500000000000000" pitchFamily="2" charset="77"/>
                <a:ea typeface="+mj-ea"/>
                <a:cs typeface="Poppins" panose="00000500000000000000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tabLst/>
              <a:defRPr/>
            </a:pPr>
            <a:r>
              <a:rPr lang="en-US" sz="1500" dirty="0">
                <a:solidFill>
                  <a:srgbClr val="38DAA8"/>
                </a:solidFill>
                <a:latin typeface="Poppins Light"/>
                <a:cs typeface="Poppins"/>
              </a:rPr>
              <a:t>NAME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Poppins Light"/>
                <a:ea typeface="+mj-ea"/>
                <a:cs typeface="Poppins"/>
                <a:sym typeface="Arial" panose="020B0704020202020204"/>
              </a:rPr>
              <a:t>|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8DAA8"/>
                </a:solidFill>
                <a:effectLst/>
                <a:uLnTx/>
                <a:uFillTx/>
                <a:latin typeface="Poppins Light"/>
                <a:ea typeface="+mj-ea"/>
                <a:cs typeface="Poppins"/>
                <a:sym typeface="Arial" panose="020B0704020202020204"/>
              </a:rPr>
              <a:t> Sales Engineer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Poppins Light"/>
              <a:ea typeface="+mj-ea"/>
              <a:cs typeface="Poppins"/>
              <a:sym typeface="Arial" panose="020B07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6626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EAD5-FD72-C2D8-5625-CD997C71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2C8D-F527-F59E-8030-EF4CE42A6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Situation slide – Business requirement to achieve compliance</a:t>
            </a:r>
          </a:p>
          <a:p>
            <a:r>
              <a:rPr lang="en-US" dirty="0"/>
              <a:t>Challenges – point solutions, hard to manage, creates gaps, supply chain risk</a:t>
            </a:r>
          </a:p>
          <a:p>
            <a:r>
              <a:rPr lang="en-US" dirty="0"/>
              <a:t>Implication – not compliant, no customers, business goes under</a:t>
            </a:r>
          </a:p>
          <a:p>
            <a:r>
              <a:rPr lang="en-US" dirty="0"/>
              <a:t>Position – Position Cato CASB + DLP</a:t>
            </a:r>
          </a:p>
          <a:p>
            <a:r>
              <a:rPr lang="en-US" dirty="0"/>
              <a:t>Action – CASB + DLP Deployment plan</a:t>
            </a:r>
          </a:p>
          <a:p>
            <a:r>
              <a:rPr lang="en-US" dirty="0"/>
              <a:t>Benefit – Achieving compliance</a:t>
            </a:r>
          </a:p>
        </p:txBody>
      </p:sp>
    </p:spTree>
    <p:extLst>
      <p:ext uri="{BB962C8B-B14F-4D97-AF65-F5344CB8AC3E}">
        <p14:creationId xmlns:p14="http://schemas.microsoft.com/office/powerpoint/2010/main" val="167090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AAAE-F6B5-1589-BB22-A685A457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158864"/>
                </a:solidFill>
                <a:latin typeface="+mn-lt"/>
              </a:rPr>
              <a:t>What is ISO 27001, NIS2 &amp; SOC 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DF2D-6573-A93B-5062-24ADAA50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ISO 27001</a:t>
            </a:r>
          </a:p>
          <a:p>
            <a:pPr lvl="1"/>
            <a:r>
              <a:rPr lang="en-US" dirty="0"/>
              <a:t>A standard to </a:t>
            </a:r>
            <a:r>
              <a:rPr lang="en-US" b="1" dirty="0"/>
              <a:t>establish</a:t>
            </a:r>
            <a:r>
              <a:rPr lang="en-US" dirty="0"/>
              <a:t>, </a:t>
            </a:r>
            <a:r>
              <a:rPr lang="en-US" b="1" dirty="0"/>
              <a:t>implement</a:t>
            </a:r>
            <a:r>
              <a:rPr lang="en-US" dirty="0"/>
              <a:t> and </a:t>
            </a:r>
            <a:r>
              <a:rPr lang="en-US" b="1" dirty="0"/>
              <a:t>maintain</a:t>
            </a:r>
            <a:r>
              <a:rPr lang="en-US" dirty="0"/>
              <a:t> information security</a:t>
            </a:r>
          </a:p>
          <a:p>
            <a:r>
              <a:rPr lang="en-US" dirty="0"/>
              <a:t>NIS2  </a:t>
            </a:r>
          </a:p>
          <a:p>
            <a:pPr lvl="1"/>
            <a:r>
              <a:rPr lang="en-GB" dirty="0"/>
              <a:t>A framework for the protection of critical infrastructure in the European Union (EU)</a:t>
            </a:r>
          </a:p>
          <a:p>
            <a:pPr lvl="1"/>
            <a:r>
              <a:rPr lang="en-GB" dirty="0"/>
              <a:t>Ensure the </a:t>
            </a:r>
            <a:r>
              <a:rPr lang="en-GB" b="1" dirty="0"/>
              <a:t>security</a:t>
            </a:r>
            <a:r>
              <a:rPr lang="en-GB" dirty="0"/>
              <a:t> and </a:t>
            </a:r>
            <a:r>
              <a:rPr lang="en-GB" b="1" dirty="0"/>
              <a:t>resilience</a:t>
            </a:r>
            <a:r>
              <a:rPr lang="en-GB" dirty="0"/>
              <a:t> of critical infrastructure and to prevent, deter, and mitigate major accidents</a:t>
            </a:r>
            <a:endParaRPr lang="en-US" dirty="0"/>
          </a:p>
          <a:p>
            <a:r>
              <a:rPr lang="en-US" dirty="0"/>
              <a:t>SOC 2</a:t>
            </a:r>
          </a:p>
          <a:p>
            <a:pPr lvl="1"/>
            <a:r>
              <a:rPr lang="en-US" dirty="0"/>
              <a:t>Auditing on controls on </a:t>
            </a:r>
            <a:r>
              <a:rPr lang="en-US" b="1" dirty="0"/>
              <a:t>security, availability, confidentiality </a:t>
            </a:r>
            <a:r>
              <a:rPr lang="en-US" dirty="0"/>
              <a:t>and </a:t>
            </a:r>
            <a:r>
              <a:rPr lang="en-US" b="1" dirty="0"/>
              <a:t>privacy</a:t>
            </a:r>
          </a:p>
        </p:txBody>
      </p:sp>
    </p:spTree>
    <p:extLst>
      <p:ext uri="{BB962C8B-B14F-4D97-AF65-F5344CB8AC3E}">
        <p14:creationId xmlns:p14="http://schemas.microsoft.com/office/powerpoint/2010/main" val="1466469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5FC4-A5E5-4E95-9516-B40FAD06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Achieving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D76DD-C3ED-4653-9941-AD644BBD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3150" y="6172189"/>
            <a:ext cx="408632" cy="24466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| </a:t>
            </a:r>
            <a:fld id="{FEC5E14B-9965-442C-8683-0E66DD8427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29D52-4E0A-47B8-8E39-DB3B12674FD5}"/>
              </a:ext>
            </a:extLst>
          </p:cNvPr>
          <p:cNvSpPr txBox="1"/>
          <p:nvPr/>
        </p:nvSpPr>
        <p:spPr>
          <a:xfrm>
            <a:off x="8672096" y="3760298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B00A0-AC81-4C4B-8659-B43BCD6E47D2}"/>
              </a:ext>
            </a:extLst>
          </p:cNvPr>
          <p:cNvSpPr txBox="1"/>
          <p:nvPr/>
        </p:nvSpPr>
        <p:spPr>
          <a:xfrm>
            <a:off x="853520" y="1107441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 Sprawl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806FF-212C-4E5A-B183-9D8779147D74}"/>
              </a:ext>
            </a:extLst>
          </p:cNvPr>
          <p:cNvSpPr txBox="1"/>
          <p:nvPr/>
        </p:nvSpPr>
        <p:spPr>
          <a:xfrm>
            <a:off x="4737654" y="1089438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Evidence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0CAFF-C73D-4DA1-BB0F-C7E2A5FCA67A}"/>
              </a:ext>
            </a:extLst>
          </p:cNvPr>
          <p:cNvSpPr txBox="1"/>
          <p:nvPr/>
        </p:nvSpPr>
        <p:spPr>
          <a:xfrm>
            <a:off x="1677642" y="3769725"/>
            <a:ext cx="1231756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Edges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E0474-638E-4EE0-ABA5-4E20E17AA04C}"/>
              </a:ext>
            </a:extLst>
          </p:cNvPr>
          <p:cNvSpPr txBox="1"/>
          <p:nvPr/>
        </p:nvSpPr>
        <p:spPr>
          <a:xfrm>
            <a:off x="4737654" y="3760298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SaaS Activity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C570ADAB-9080-4FA5-B35A-1F7CD3D82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06188"/>
              </p:ext>
            </p:extLst>
          </p:nvPr>
        </p:nvGraphicFramePr>
        <p:xfrm>
          <a:off x="8744870" y="4334038"/>
          <a:ext cx="2734453" cy="1420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4453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“It takes us weeks to configure the same policy across all the tools”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243C740-D4AC-4426-A2DF-8F9E67324B3E}"/>
              </a:ext>
            </a:extLst>
          </p:cNvPr>
          <p:cNvGraphicFramePr>
            <a:graphicFrameLocks noGrp="1"/>
          </p:cNvGraphicFramePr>
          <p:nvPr/>
        </p:nvGraphicFramePr>
        <p:xfrm>
          <a:off x="1003910" y="1683593"/>
          <a:ext cx="2579221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922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“My network security is a mess. Just too many boxes and models”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2" name="Table 19">
            <a:extLst>
              <a:ext uri="{FF2B5EF4-FFF2-40B4-BE49-F238E27FC236}">
                <a16:creationId xmlns:a16="http://schemas.microsoft.com/office/drawing/2014/main" id="{7FABD2D2-FA1A-46A7-BE89-C81DC3E47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702771"/>
              </p:ext>
            </p:extLst>
          </p:nvPr>
        </p:nvGraphicFramePr>
        <p:xfrm>
          <a:off x="4835865" y="1721337"/>
          <a:ext cx="2683579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3579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“How do I correlate evidence across all this tooling?”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F362AF4-0D61-4107-90CB-27DBFDFB7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251100"/>
              </p:ext>
            </p:extLst>
          </p:nvPr>
        </p:nvGraphicFramePr>
        <p:xfrm>
          <a:off x="1056088" y="4345877"/>
          <a:ext cx="2474865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4865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14300" indent="-114300" algn="ctr"/>
                      <a:r>
                        <a:rPr lang="en-US" sz="2000" dirty="0"/>
                        <a:t>“How do I make sure remote workers are kept compliant?”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2FBAC03-8551-4ECB-8A7E-7A6D0DF9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167758"/>
              </p:ext>
            </p:extLst>
          </p:nvPr>
        </p:nvGraphicFramePr>
        <p:xfrm>
          <a:off x="4835865" y="4336450"/>
          <a:ext cx="2683578" cy="810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3578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14300" indent="-114300" algn="ctr"/>
                      <a:r>
                        <a:rPr lang="en-US" sz="2000" dirty="0"/>
                        <a:t>“I need to ensure my SaaS usage is controlled”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B90C20E-51C9-534F-9D53-613E52A69250}"/>
              </a:ext>
            </a:extLst>
          </p:cNvPr>
          <p:cNvSpPr txBox="1"/>
          <p:nvPr/>
        </p:nvSpPr>
        <p:spPr>
          <a:xfrm>
            <a:off x="9323540" y="1098014"/>
            <a:ext cx="1566395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0" bIns="0" anchor="ctr" anchorCtr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Governance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D61034-CBA4-8F4F-BE5A-AED760E11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362722"/>
              </p:ext>
            </p:extLst>
          </p:nvPr>
        </p:nvGraphicFramePr>
        <p:xfrm>
          <a:off x="8424057" y="1674166"/>
          <a:ext cx="3365361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36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 marL="114300" lvl="0" indent="-114300" algn="ctr"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“Shadow IT and unknown SaaS apps make it difficult  to comply”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45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76D6-2FBF-9F1A-87F8-419DA74A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6142-A1C5-6C8F-09B4-0F1E0990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158864"/>
                </a:solidFill>
                <a:latin typeface="+mn-lt"/>
              </a:rPr>
              <a:t>Business Impact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0745B3-BEBC-FF04-B279-DA776FB86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sz="2400" dirty="0"/>
              <a:t>Reputational impact</a:t>
            </a:r>
          </a:p>
          <a:p>
            <a:r>
              <a:rPr lang="en-US" sz="2400" dirty="0"/>
              <a:t>Industry Regulatory requirements</a:t>
            </a:r>
          </a:p>
          <a:p>
            <a:r>
              <a:rPr lang="en-US" sz="2400" dirty="0"/>
              <a:t>Not able to sign new customers, business unable to grow at the desired pace</a:t>
            </a:r>
          </a:p>
          <a:p>
            <a:r>
              <a:rPr lang="en-US" sz="2400" dirty="0"/>
              <a:t>Not able to insure the business against cyber attacks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406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F8C7-62D5-10C0-0B62-7D2C2BEC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6BDD-AF9F-0000-86E8-26373144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89"/>
            <a:ext cx="10515600" cy="1325563"/>
          </a:xfrm>
        </p:spPr>
        <p:txBody>
          <a:bodyPr/>
          <a:lstStyle/>
          <a:p>
            <a:r>
              <a:rPr lang="en-US" sz="2400" b="1" dirty="0">
                <a:solidFill>
                  <a:srgbClr val="158864"/>
                </a:solidFill>
                <a:latin typeface="+mn-lt"/>
              </a:rPr>
              <a:t>Cato Networks CASB and DLP Helps Business Achieve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B7D65-E50E-536D-B7D0-4F232A40B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sz="2800" b="1" dirty="0"/>
              <a:t>Application Dashboard </a:t>
            </a:r>
            <a:r>
              <a:rPr lang="en-US" sz="2800" dirty="0"/>
              <a:t>– providing monitoring and visibility of Shadow IT including DLP events with forensic evidence</a:t>
            </a:r>
          </a:p>
          <a:p>
            <a:pPr lvl="1"/>
            <a:r>
              <a:rPr lang="en-US" sz="2800" b="1" dirty="0"/>
              <a:t>CASB Controls </a:t>
            </a:r>
            <a:r>
              <a:rPr lang="en-US" sz="2800" dirty="0"/>
              <a:t>– Access to Cloud services using risk-based controls</a:t>
            </a:r>
          </a:p>
          <a:p>
            <a:pPr lvl="1"/>
            <a:r>
              <a:rPr lang="en-US" sz="2800" b="1" dirty="0"/>
              <a:t>DLP</a:t>
            </a:r>
            <a:r>
              <a:rPr lang="en-US" sz="2800" dirty="0"/>
              <a:t> – Providing alerting and control of regulated and sensitive data</a:t>
            </a:r>
          </a:p>
          <a:p>
            <a:pPr lvl="1"/>
            <a:r>
              <a:rPr lang="en-US" sz="2800" b="1" dirty="0"/>
              <a:t>App Catalogue </a:t>
            </a:r>
            <a:r>
              <a:rPr lang="en-US" sz="2800" dirty="0"/>
              <a:t>– Simplify vendor due diligence by reviewing which applications hold compliance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A4E92-4E06-1E73-B75D-7E32EE78AD1D}"/>
              </a:ext>
            </a:extLst>
          </p:cNvPr>
          <p:cNvSpPr txBox="1"/>
          <p:nvPr/>
        </p:nvSpPr>
        <p:spPr>
          <a:xfrm>
            <a:off x="351148" y="1179294"/>
            <a:ext cx="10781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800" i="1" dirty="0"/>
              <a:t>Providing both Cloud Service Governance, Access Control and information-classification and transfer-control</a:t>
            </a:r>
          </a:p>
        </p:txBody>
      </p:sp>
    </p:spTree>
    <p:extLst>
      <p:ext uri="{BB962C8B-B14F-4D97-AF65-F5344CB8AC3E}">
        <p14:creationId xmlns:p14="http://schemas.microsoft.com/office/powerpoint/2010/main" val="203324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B483-FDD0-5A51-70F5-F0B0899A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42740"/>
            <a:ext cx="11561105" cy="424732"/>
          </a:xfrm>
        </p:spPr>
        <p:txBody>
          <a:bodyPr/>
          <a:lstStyle/>
          <a:p>
            <a:r>
              <a:rPr lang="en-FR"/>
              <a:t>How Cato SASE Cloud can help YOU achieve NIS2 compliancy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B4E5F-99D7-CE32-B863-0002D191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| </a:t>
            </a:r>
            <a:fld id="{FEC5E14B-9965-442C-8683-0E66DD842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3E126-4712-696B-55CE-227A0A7E2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428283"/>
            <a:ext cx="11561104" cy="714375"/>
          </a:xfrm>
        </p:spPr>
        <p:txBody>
          <a:bodyPr/>
          <a:lstStyle/>
          <a:p>
            <a:r>
              <a:rPr lang="en-FR"/>
              <a:t>NIS2 art 21 directives closely align with NIST CSF functions which Cato SASE cloud already supports </a:t>
            </a:r>
          </a:p>
          <a:p>
            <a:endParaRPr lang="en-FR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0500C1-8134-FEC5-7D2F-33FAA8695CC2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1176888"/>
          <a:ext cx="11825562" cy="100584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4145804149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1309269464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1820827650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3178827683"/>
                    </a:ext>
                  </a:extLst>
                </a:gridCol>
              </a:tblGrid>
              <a:tr h="359092">
                <a:tc>
                  <a:txBody>
                    <a:bodyPr/>
                    <a:lstStyle/>
                    <a:p>
                      <a:r>
                        <a:rPr lang="en-FR" sz="1200"/>
                        <a:t>Incident handling and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>
                          <a:solidFill>
                            <a:srgbClr val="FBB746"/>
                          </a:solidFill>
                        </a:rPr>
                        <a:t>Detect</a:t>
                      </a:r>
                      <a:r>
                        <a:rPr lang="en-FR" sz="1200"/>
                        <a:t> </a:t>
                      </a:r>
                    </a:p>
                    <a:p>
                      <a:endParaRPr lang="en-FR" sz="1200"/>
                    </a:p>
                    <a:p>
                      <a:r>
                        <a:rPr lang="en-FR" sz="1200">
                          <a:solidFill>
                            <a:srgbClr val="F97367"/>
                          </a:solidFill>
                        </a:rPr>
                        <a:t>Respond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FBB746"/>
                          </a:solidFill>
                        </a:rPr>
                        <a:t>thresholds for alerts and events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FBB746"/>
                          </a:solidFill>
                        </a:rPr>
                        <a:t>security scores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FBB746"/>
                          </a:solidFill>
                          <a:latin typeface="+mn-lt"/>
                          <a:ea typeface="+mn-ea"/>
                          <a:cs typeface="+mn-cs"/>
                        </a:rPr>
                        <a:t>mitre Att&amp;ck dashboards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F97367"/>
                          </a:solidFill>
                          <a:latin typeface="+mn-lt"/>
                          <a:ea typeface="+mn-ea"/>
                          <a:cs typeface="+mn-cs"/>
                        </a:rPr>
                        <a:t>threats/incidents reports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F97367"/>
                          </a:solidFill>
                          <a:latin typeface="+mn-lt"/>
                          <a:ea typeface="+mn-ea"/>
                          <a:cs typeface="+mn-cs"/>
                        </a:rPr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 kern="1200">
                          <a:solidFill>
                            <a:srgbClr val="FBB746"/>
                          </a:solidFill>
                          <a:latin typeface="+mn-lt"/>
                          <a:ea typeface="+mn-ea"/>
                          <a:cs typeface="+mn-cs"/>
                        </a:rPr>
                        <a:t>Cato Management Application (CMA)</a:t>
                      </a:r>
                    </a:p>
                    <a:p>
                      <a:r>
                        <a:rPr lang="en-FR" sz="1200" kern="1200">
                          <a:solidFill>
                            <a:srgbClr val="F97367"/>
                          </a:solidFill>
                          <a:latin typeface="+mn-lt"/>
                          <a:ea typeface="+mn-ea"/>
                          <a:cs typeface="+mn-cs"/>
                        </a:rPr>
                        <a:t>MDR</a:t>
                      </a:r>
                    </a:p>
                    <a:p>
                      <a:r>
                        <a:rPr lang="en-FR" sz="1200" kern="1200">
                          <a:solidFill>
                            <a:srgbClr val="F97367"/>
                          </a:solidFill>
                          <a:latin typeface="+mn-lt"/>
                          <a:ea typeface="+mn-ea"/>
                          <a:cs typeface="+mn-cs"/>
                        </a:rPr>
                        <a:t>XDR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01560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5972D8-E59D-4C93-5E39-41D372967CF6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827521"/>
          <a:ext cx="11825562" cy="381655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3387857485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1840531133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310857870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3316839826"/>
                    </a:ext>
                  </a:extLst>
                </a:gridCol>
              </a:tblGrid>
              <a:tr h="381655">
                <a:tc>
                  <a:txBody>
                    <a:bodyPr/>
                    <a:lstStyle/>
                    <a:p>
                      <a:r>
                        <a:rPr lang="en-FR" sz="1200"/>
                        <a:t>NIS2 Security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/>
                        <a:t>NIST CSF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/>
                        <a:t>Cato SASE Cloud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/>
                        <a:t>Cato SASE Technology /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8507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8C564ED-5099-6FF2-2EF4-C6E1A2F96EFD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2174963"/>
          <a:ext cx="11825562" cy="64008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4120934609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2664064421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4194806053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3346149652"/>
                    </a:ext>
                  </a:extLst>
                </a:gridCol>
              </a:tblGrid>
              <a:tr h="308292">
                <a:tc>
                  <a:txBody>
                    <a:bodyPr/>
                    <a:lstStyle/>
                    <a:p>
                      <a:r>
                        <a:rPr lang="en-FR" sz="1200"/>
                        <a:t>Business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>
                          <a:solidFill>
                            <a:srgbClr val="4BB2E0"/>
                          </a:solidFill>
                        </a:rPr>
                        <a:t>Identify – Business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Cloud-native fully meshed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99.999% SLA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Global private backbone</a:t>
                      </a:r>
                    </a:p>
                    <a:p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HA everywhere</a:t>
                      </a:r>
                    </a:p>
                    <a:p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Redundant T1 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49391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68B6A40-1621-BF7C-439F-0B70BE3810E5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2811553"/>
          <a:ext cx="11825562" cy="355256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3715132017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3593146727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4271341923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3373129555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Supply Chain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 kern="1200">
                          <a:solidFill>
                            <a:srgbClr val="FBB746"/>
                          </a:solidFill>
                          <a:latin typeface="+mn-lt"/>
                          <a:ea typeface="+mn-ea"/>
                          <a:cs typeface="+mn-cs"/>
                        </a:rPr>
                        <a:t>Detect – Continuous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>
                          <a:solidFill>
                            <a:srgbClr val="FBB746"/>
                          </a:solidFill>
                          <a:latin typeface="+mn-lt"/>
                          <a:ea typeface="+mn-ea"/>
                          <a:cs typeface="+mn-cs"/>
                        </a:rPr>
                        <a:t>granular access control policies</a:t>
                      </a:r>
                      <a:endParaRPr lang="en-FR" sz="1200" kern="1200">
                        <a:solidFill>
                          <a:srgbClr val="FBB74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 kern="1200">
                          <a:solidFill>
                            <a:srgbClr val="FBB746"/>
                          </a:solidFill>
                          <a:latin typeface="+mn-lt"/>
                          <a:ea typeface="+mn-ea"/>
                          <a:cs typeface="+mn-cs"/>
                        </a:rPr>
                        <a:t>NGFW, CASB, DLP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44906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23C328D-116F-D4AB-01E4-CB95E5735305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3163319"/>
          <a:ext cx="11825562" cy="100584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822751573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3809829980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1141344674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737027486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Systems Acquisition, development, and maintenance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Identify – Risk Assessment</a:t>
                      </a:r>
                    </a:p>
                    <a:p>
                      <a:r>
                        <a:rPr lang="en-FR" sz="1200">
                          <a:solidFill>
                            <a:srgbClr val="9292EA"/>
                          </a:solidFill>
                        </a:rPr>
                        <a:t>Protect -  Data Security</a:t>
                      </a:r>
                      <a:endParaRPr lang="en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automatic security assessement against  best practices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full encryption of data in-transit and at-rest with </a:t>
                      </a:r>
                      <a:r>
                        <a:rPr lang="en-GB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proprietary distributed KMS</a:t>
                      </a:r>
                      <a:endParaRPr lang="en-FR" sz="1200" kern="1200">
                        <a:solidFill>
                          <a:srgbClr val="9292E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Cato Management Application (CMA)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Socket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SDP Client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POPs / Data Lake</a:t>
                      </a:r>
                    </a:p>
                    <a:p>
                      <a:endParaRPr lang="en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94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883D732-CD06-D186-1426-A010F2ACBA2B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4171806"/>
          <a:ext cx="11825562" cy="64008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3551263856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2578139830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1970625884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3413033873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Cryptography and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>
                          <a:solidFill>
                            <a:srgbClr val="9292EA"/>
                          </a:solidFill>
                        </a:rPr>
                        <a:t>Protect -  Data Security</a:t>
                      </a:r>
                      <a:endParaRPr lang="en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full encryption of data in-transit and at-rest with </a:t>
                      </a:r>
                      <a:r>
                        <a:rPr lang="en-GB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proprietary distributed KMS</a:t>
                      </a:r>
                      <a:endParaRPr lang="en-FR" sz="1200" kern="1200">
                        <a:solidFill>
                          <a:srgbClr val="9292E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Socket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SDP Client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POPs / Data Lake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16123"/>
                  </a:ext>
                </a:extLst>
              </a:tr>
            </a:tbl>
          </a:graphicData>
        </a:graphic>
      </p:graphicFrame>
      <p:pic>
        <p:nvPicPr>
          <p:cNvPr id="10" name="Picture 8" descr="NIST Proposes Significant Revamp of Popular Cybersecurity Framework |  Mirage News">
            <a:extLst>
              <a:ext uri="{FF2B5EF4-FFF2-40B4-BE49-F238E27FC236}">
                <a16:creationId xmlns:a16="http://schemas.microsoft.com/office/drawing/2014/main" id="{8E435227-39FC-DC11-6F7D-B0F52144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654" y="-51505"/>
            <a:ext cx="1373436" cy="132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97CB78A-06A6-B59E-E213-48E85FD30048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4809630"/>
          <a:ext cx="11825562" cy="4572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2552349034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313816137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3635481084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122187576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Access control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>
                          <a:solidFill>
                            <a:srgbClr val="9292EA"/>
                          </a:solidFill>
                        </a:rPr>
                        <a:t>Protect -  Access Control</a:t>
                      </a:r>
                      <a:endParaRPr lang="en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RBAC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MFA,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Management Application (CMA)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8692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E38682E-C0BC-83BE-3F56-9CDD38A6B787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5264574"/>
          <a:ext cx="11825562" cy="4572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2154557534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1236436786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242121749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2098891402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Asset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Identify – Asset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Full Application awareness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Full Context flow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FR" sz="1200" kern="1200">
                          <a:solidFill>
                            <a:srgbClr val="4BB2E0"/>
                          </a:solidFill>
                          <a:latin typeface="+mn-lt"/>
                          <a:ea typeface="+mn-ea"/>
                          <a:cs typeface="+mn-cs"/>
                        </a:rPr>
                        <a:t>DPI, NGFW, CASB,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4415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81E3DC5-9D47-91AA-D43D-7F300DBED42A}"/>
              </a:ext>
            </a:extLst>
          </p:cNvPr>
          <p:cNvGraphicFramePr>
            <a:graphicFrameLocks noGrp="1"/>
          </p:cNvGraphicFramePr>
          <p:nvPr/>
        </p:nvGraphicFramePr>
        <p:xfrm>
          <a:off x="129040" y="5718524"/>
          <a:ext cx="11825562" cy="64008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48147">
                  <a:extLst>
                    <a:ext uri="{9D8B030D-6E8A-4147-A177-3AD203B41FA5}">
                      <a16:colId xmlns:a16="http://schemas.microsoft.com/office/drawing/2014/main" val="385936354"/>
                    </a:ext>
                  </a:extLst>
                </a:gridCol>
                <a:gridCol w="2633849">
                  <a:extLst>
                    <a:ext uri="{9D8B030D-6E8A-4147-A177-3AD203B41FA5}">
                      <a16:colId xmlns:a16="http://schemas.microsoft.com/office/drawing/2014/main" val="3646716630"/>
                    </a:ext>
                  </a:extLst>
                </a:gridCol>
                <a:gridCol w="3421433">
                  <a:extLst>
                    <a:ext uri="{9D8B030D-6E8A-4147-A177-3AD203B41FA5}">
                      <a16:colId xmlns:a16="http://schemas.microsoft.com/office/drawing/2014/main" val="1783004326"/>
                    </a:ext>
                  </a:extLst>
                </a:gridCol>
                <a:gridCol w="3222133">
                  <a:extLst>
                    <a:ext uri="{9D8B030D-6E8A-4147-A177-3AD203B41FA5}">
                      <a16:colId xmlns:a16="http://schemas.microsoft.com/office/drawing/2014/main" val="2227625493"/>
                    </a:ext>
                  </a:extLst>
                </a:gridCol>
              </a:tblGrid>
              <a:tr h="355256">
                <a:tc>
                  <a:txBody>
                    <a:bodyPr/>
                    <a:lstStyle/>
                    <a:p>
                      <a:r>
                        <a:rPr lang="en-FR" sz="1200"/>
                        <a:t>Zero Trust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>
                          <a:solidFill>
                            <a:srgbClr val="9292EA"/>
                          </a:solidFill>
                        </a:rPr>
                        <a:t>Protect -  Access Control</a:t>
                      </a:r>
                      <a:endParaRPr lang="en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Universal ZTNA with continous assessment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MFA, SSO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Management Application (CMA)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Socket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200" kern="1200">
                          <a:solidFill>
                            <a:srgbClr val="9292EA"/>
                          </a:solidFill>
                          <a:latin typeface="+mn-lt"/>
                          <a:ea typeface="+mn-ea"/>
                          <a:cs typeface="+mn-cs"/>
                        </a:rPr>
                        <a:t>Cato SDP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38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0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E268-D030-C6EB-8DBE-DFBBE139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27001 clauses mapped to Cato Networks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9CC082B-CFD9-0E38-4A92-30F9810A3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494372"/>
              </p:ext>
            </p:extLst>
          </p:nvPr>
        </p:nvGraphicFramePr>
        <p:xfrm>
          <a:off x="183219" y="1155800"/>
          <a:ext cx="11345841" cy="5031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9115">
                  <a:extLst>
                    <a:ext uri="{9D8B030D-6E8A-4147-A177-3AD203B41FA5}">
                      <a16:colId xmlns:a16="http://schemas.microsoft.com/office/drawing/2014/main" val="1638999313"/>
                    </a:ext>
                  </a:extLst>
                </a:gridCol>
                <a:gridCol w="1772787">
                  <a:extLst>
                    <a:ext uri="{9D8B030D-6E8A-4147-A177-3AD203B41FA5}">
                      <a16:colId xmlns:a16="http://schemas.microsoft.com/office/drawing/2014/main" val="2342666773"/>
                    </a:ext>
                  </a:extLst>
                </a:gridCol>
                <a:gridCol w="2245531">
                  <a:extLst>
                    <a:ext uri="{9D8B030D-6E8A-4147-A177-3AD203B41FA5}">
                      <a16:colId xmlns:a16="http://schemas.microsoft.com/office/drawing/2014/main" val="2585819720"/>
                    </a:ext>
                  </a:extLst>
                </a:gridCol>
                <a:gridCol w="2009159">
                  <a:extLst>
                    <a:ext uri="{9D8B030D-6E8A-4147-A177-3AD203B41FA5}">
                      <a16:colId xmlns:a16="http://schemas.microsoft.com/office/drawing/2014/main" val="2550213994"/>
                    </a:ext>
                  </a:extLst>
                </a:gridCol>
                <a:gridCol w="709115">
                  <a:extLst>
                    <a:ext uri="{9D8B030D-6E8A-4147-A177-3AD203B41FA5}">
                      <a16:colId xmlns:a16="http://schemas.microsoft.com/office/drawing/2014/main" val="3587750854"/>
                    </a:ext>
                  </a:extLst>
                </a:gridCol>
                <a:gridCol w="1418231">
                  <a:extLst>
                    <a:ext uri="{9D8B030D-6E8A-4147-A177-3AD203B41FA5}">
                      <a16:colId xmlns:a16="http://schemas.microsoft.com/office/drawing/2014/main" val="1091682740"/>
                    </a:ext>
                  </a:extLst>
                </a:gridCol>
                <a:gridCol w="2481903">
                  <a:extLst>
                    <a:ext uri="{9D8B030D-6E8A-4147-A177-3AD203B41FA5}">
                      <a16:colId xmlns:a16="http://schemas.microsoft.com/office/drawing/2014/main" val="738550081"/>
                    </a:ext>
                  </a:extLst>
                </a:gridCol>
              </a:tblGrid>
              <a:tr h="182224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ISO/IEC 27001:2022 clauses 4–10 mapped to Cato Networks</a:t>
                      </a:r>
                      <a:endParaRPr lang="en-GB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481462"/>
                  </a:ext>
                </a:extLst>
              </a:tr>
              <a:tr h="273335">
                <a:tc gridSpan="7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Important: all clauses 4–10 are customer-owned ISMS requirements. Cato can support them, but it does not replace your governance, risk, audit, or corrective-action processes.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435222"/>
                  </a:ext>
                </a:extLst>
              </a:tr>
              <a:tr h="113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b"/>
                </a:tc>
                <a:extLst>
                  <a:ext uri="{0D108BD9-81ED-4DB2-BD59-A6C34878D82A}">
                    <a16:rowId xmlns:a16="http://schemas.microsoft.com/office/drawing/2014/main" val="3349809279"/>
                  </a:ext>
                </a:extLst>
              </a:tr>
              <a:tr h="4100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Clause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Requirement summary (paraphrased)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How Cato maps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What customer still owns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Coverage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Example Cato evidence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Source URL(s)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extLst>
                  <a:ext uri="{0D108BD9-81ED-4DB2-BD59-A6C34878D82A}">
                    <a16:rowId xmlns:a16="http://schemas.microsoft.com/office/drawing/2014/main" val="1972545648"/>
                  </a:ext>
                </a:extLst>
              </a:tr>
              <a:tr h="5068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4 Context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Define the ISMS scope, internal/external issues, interested parties, and dependencies relevant to information security.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Cato should be treated as an externally provided cloud security/networking service inside scope, supplier, and dependency analyses. Its security/compliance materials and DPA can support supplier due diligence.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Set scope boundaries, identify legal/regulatory requirements, decide interested-party expectations, and assess supplier risk in context of your business.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Indirect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Security/compliance page; DPA; supplier evidence collection.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https://www.catonetworks.com/security-compliance-and-privacy/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https://www.catonetworks.com/cato-networks-data-processing-and-privacy-agreement/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4020874710"/>
                  </a:ext>
                </a:extLst>
              </a:tr>
              <a:tr h="4100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5 Leadership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Establish policy, assign roles/accountability, and demonstrate top-management commitment.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Very little direct product mapping. Cato can support execution through centralized administration and managed services, but leadership evidence remains internal.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Approve policy, assign owners, fund the ISMS, define governance forums, and demonstrate leadership oversight.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Minimal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CMA; managed services (operational support only).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https://www.catonetworks.com/platform/cato-management-application-cma/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https://www.catonetworks.com/services/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2646982510"/>
                  </a:ext>
                </a:extLst>
              </a:tr>
              <a:tr h="5068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6 Planning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Perform risk assessment and treatment, set information-security objectives, and maintain the Statement of Applicability.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Cato provides candidate technical treatments and evidence: ZTNA, NGFW, SWG, IPS, CASB, DLP, DNS Security, TLS inspection, logging, XDR, and MDR. These help justify selected controls in the SoA.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Define risk methodology, evaluate risks, select or reject controls, justify exclusions, document SoA, and set measurable objectives.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Moderate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Platform architecture and control-capability pages.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https://www.catonetworks.com/platform/architecture/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https://www.catonetworks.com/platform/universal-zero-trust-network-access-ztna/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https://www.catonetworks.com/platform/data-loss-prevention-dlp/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2349398620"/>
                  </a:ext>
                </a:extLst>
              </a:tr>
              <a:tr h="6070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7 Support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Provide resources, competence, awareness, communication, and documented information needed for the ISMS.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Cato provides a unified management plane, telemetry, documentation, integrations, and optional managed services that help run security operations and preserve evidence.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Train staff, run awareness programs, control documents and records, manage internal/external communications, and keep competence records.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Partial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CMA; integrations; managed services.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https://www.catonetworks.com/platform/cato-management-application-cma/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https://support.catonetworks.com/hc/en-us/articles/15935823855389-Using-the-Integrations-Page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https://www.catonetworks.com/services/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2977395014"/>
                  </a:ext>
                </a:extLst>
              </a:tr>
              <a:tr h="7072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8 Operation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Implement risk-treatment plans, operate controls, manage changes, and control outsourced processes relevant to the ISMS.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This is the strongest fit. Cato centrally enforces access control, network security, web filtering, cloud-app control, DLP, logging, monitoring, and detection/response across users, sites, and cloud traffic.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Run operating procedures, approve changes, manage exceptions, supervise the vendor, investigate events, and ensure outsourced activities meet your requirements.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Strong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Architecture; NGFW; ZTNA; CASB; DLP; XDR; managed services.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https://www.catonetworks.com/platform/architecture/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https://www.catonetworks.com/solutions/next-generation-firewall/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https://www.catonetworks.com/platform/cloud-access-security-broker-casb/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https://www.catonetworks.com/platform/extended-detection-and-response-xdr/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3274738128"/>
                  </a:ext>
                </a:extLst>
              </a:tr>
              <a:tr h="8074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9 Performance evaluation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Monitor, measure, analyze, evaluate, audit, and review the ISMS.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Cato provides dashboards, event telemetry, a data lake, XDR stories, and SIEM integrations that support monitoring and evidence collection for control effectiveness.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Define KPIs, review effectiveness, conduct internal audits, evaluate compliance, and hold management reviews.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Moderate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Event logs; SIEM integrations; XDR.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>
                          <a:effectLst/>
                        </a:rPr>
                        <a:t>https://support.catonetworks.com/hc/en-us/articles/20703361797277-Best-Practices-for-Cato-Event-Logs-and-Ingestion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https://support.catonetworks.com/hc/en-us/articles/13975273800733-Cato-Data-Third-Party-Supported-Integrations</a:t>
                      </a:r>
                      <a:br>
                        <a:rPr lang="en-GB" sz="600" u="sng" strike="noStrike">
                          <a:effectLst/>
                        </a:rPr>
                      </a:br>
                      <a:r>
                        <a:rPr lang="en-GB" sz="600" u="sng" strike="noStrike">
                          <a:effectLst/>
                        </a:rPr>
                        <a:t>https://www.catonetworks.com/platform/extended-detection-and-response-xdr/</a:t>
                      </a:r>
                      <a:endParaRPr lang="en-GB" sz="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3800382955"/>
                  </a:ext>
                </a:extLst>
              </a:tr>
              <a:tr h="5068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10 Improvement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Handle nonconformities, take corrective action, and continually improve the ISMS.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Cato telemetry, threat stories, and vendor-delivered service updates can help identify weaknesses and improvement opportunities. They provide inputs, not your corrective-action process itself.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Run root-cause analysis, record nonconformities, assign corrective actions, verify effectiveness, and drive continual improvement.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Partial</a:t>
                      </a:r>
                      <a:endParaRPr lang="en-GB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none" strike="noStrike">
                          <a:effectLst/>
                        </a:rPr>
                        <a:t>XDR; managed services; self-maintaining platform operations.</a:t>
                      </a:r>
                      <a:endParaRPr lang="en-GB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600" u="sng" strike="noStrike" dirty="0">
                          <a:effectLst/>
                        </a:rPr>
                        <a:t>https://</a:t>
                      </a:r>
                      <a:r>
                        <a:rPr lang="en-GB" sz="600" u="sng" strike="noStrike" dirty="0" err="1">
                          <a:effectLst/>
                        </a:rPr>
                        <a:t>www.catonetworks.com</a:t>
                      </a:r>
                      <a:r>
                        <a:rPr lang="en-GB" sz="600" u="sng" strike="noStrike" dirty="0">
                          <a:effectLst/>
                        </a:rPr>
                        <a:t>/platform/extended-detection-and-response-</a:t>
                      </a:r>
                      <a:r>
                        <a:rPr lang="en-GB" sz="600" u="sng" strike="noStrike" dirty="0" err="1">
                          <a:effectLst/>
                        </a:rPr>
                        <a:t>xdr</a:t>
                      </a:r>
                      <a:r>
                        <a:rPr lang="en-GB" sz="600" u="sng" strike="noStrike" dirty="0">
                          <a:effectLst/>
                        </a:rPr>
                        <a:t>/</a:t>
                      </a:r>
                      <a:br>
                        <a:rPr lang="en-GB" sz="600" u="sng" strike="noStrike" dirty="0">
                          <a:effectLst/>
                        </a:rPr>
                      </a:br>
                      <a:r>
                        <a:rPr lang="en-GB" sz="600" u="sng" strike="noStrike" dirty="0">
                          <a:effectLst/>
                        </a:rPr>
                        <a:t>https://</a:t>
                      </a:r>
                      <a:r>
                        <a:rPr lang="en-GB" sz="600" u="sng" strike="noStrike" dirty="0" err="1">
                          <a:effectLst/>
                        </a:rPr>
                        <a:t>www.catonetworks.com</a:t>
                      </a:r>
                      <a:r>
                        <a:rPr lang="en-GB" sz="600" u="sng" strike="noStrike" dirty="0">
                          <a:effectLst/>
                        </a:rPr>
                        <a:t>/services/</a:t>
                      </a:r>
                      <a:br>
                        <a:rPr lang="en-GB" sz="600" u="sng" strike="noStrike" dirty="0">
                          <a:effectLst/>
                        </a:rPr>
                      </a:br>
                      <a:r>
                        <a:rPr lang="en-GB" sz="600" u="sng" strike="noStrike" dirty="0">
                          <a:effectLst/>
                        </a:rPr>
                        <a:t>https://</a:t>
                      </a:r>
                      <a:r>
                        <a:rPr lang="en-GB" sz="600" u="sng" strike="noStrike" dirty="0" err="1">
                          <a:effectLst/>
                        </a:rPr>
                        <a:t>www.catonetworks.com</a:t>
                      </a:r>
                      <a:r>
                        <a:rPr lang="en-GB" sz="600" u="sng" strike="noStrike" dirty="0">
                          <a:effectLst/>
                        </a:rPr>
                        <a:t>/platform/architecture/</a:t>
                      </a:r>
                      <a:endParaRPr lang="en-GB" sz="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5" marR="4925" marT="4925" marB="0"/>
                </a:tc>
                <a:extLst>
                  <a:ext uri="{0D108BD9-81ED-4DB2-BD59-A6C34878D82A}">
                    <a16:rowId xmlns:a16="http://schemas.microsoft.com/office/drawing/2014/main" val="23375661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E7AB-E71A-C009-74F1-6F91BDE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AA853-90CB-99C3-B6B9-2BFCB0F84F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5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2D4505-E262-5ED4-A453-9F5FBB76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7D35-F0B3-7216-A9B5-CAD61AEF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</a:t>
            </a:r>
            <a:r>
              <a:rPr lang="en-US" dirty="0" err="1"/>
              <a:t>HOW-To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234E3-952F-4EAA-8CC5-16BC4EF22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8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PT TEMPLATE 2022 04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4.potx" id="{9CD7B0D1-D289-43E8-8B8B-7EAA4D834AAB}" vid="{4F81D770-173F-4D4F-B64E-BCC448EC36C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59af04aa-14d6-4764-88c2-31407ba52b8d" xsi:nil="true"/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Manager_x0020_Name xmlns="59af04aa-14d6-4764-88c2-31407ba52b8d" xsi:nil="true"/>
    <Full_x0020_Name xmlns="59af04aa-14d6-4764-88c2-31407ba52b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68BB68-79DE-4FCD-ABB2-113B85B45E3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59af04aa-14d6-4764-88c2-31407ba52b8d"/>
    <ds:schemaRef ds:uri="http://schemas.microsoft.com/office/infopath/2007/PartnerControls"/>
    <ds:schemaRef ds:uri="d5da3514-3b6b-4ccd-bd93-9b0746cba409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5BEBEB-B011-4B86-ACC7-E25697BB29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60CA58-0F5D-47FE-9531-6D37F02E083E}"/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1606</Words>
  <Application>Microsoft Macintosh PowerPoint</Application>
  <PresentationFormat>Widescreen</PresentationFormat>
  <Paragraphs>182</Paragraphs>
  <Slides>9</Slides>
  <Notes>5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Poppins</vt:lpstr>
      <vt:lpstr>Poppins Light</vt:lpstr>
      <vt:lpstr>Poppins Medium</vt:lpstr>
      <vt:lpstr>Segoe UI Light</vt:lpstr>
      <vt:lpstr>Wingdings</vt:lpstr>
      <vt:lpstr>Office Theme</vt:lpstr>
      <vt:lpstr>PPT TEMPLATE 2022 04</vt:lpstr>
      <vt:lpstr>PowerPoint Presentation</vt:lpstr>
      <vt:lpstr>SCIPAB</vt:lpstr>
      <vt:lpstr>What is ISO 27001, NIS2 &amp; SOC 2?</vt:lpstr>
      <vt:lpstr>Challenges in Achieving Compliance</vt:lpstr>
      <vt:lpstr>Business Impact</vt:lpstr>
      <vt:lpstr>Cato Networks CASB and DLP Helps Business Achieve Compliance</vt:lpstr>
      <vt:lpstr>How Cato SASE Cloud can help YOU achieve NIS2 compliancy</vt:lpstr>
      <vt:lpstr>ISO 27001 clauses mapped to Cato Networks</vt:lpstr>
      <vt:lpstr>DEMO HOW-To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Morris</dc:creator>
  <cp:lastModifiedBy>Ben Morris</cp:lastModifiedBy>
  <cp:revision>2</cp:revision>
  <dcterms:created xsi:type="dcterms:W3CDTF">2026-03-16T10:09:43Z</dcterms:created>
  <dcterms:modified xsi:type="dcterms:W3CDTF">2026-03-17T16:54:01Z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
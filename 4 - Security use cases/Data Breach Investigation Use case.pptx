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3708" r:id="rId5"/>
    <p:sldId id="2147472536" r:id="rId6"/>
    <p:sldId id="2147472540" r:id="rId7"/>
    <p:sldId id="214747254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/>
    <p:restoredTop sz="94645"/>
  </p:normalViewPr>
  <p:slideViewPr>
    <p:cSldViewPr snapToGrid="0">
      <p:cViewPr varScale="1">
        <p:scale>
          <a:sx n="113" d="100"/>
          <a:sy n="113" d="100"/>
        </p:scale>
        <p:origin x="68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CB17-974E-494A-9109-E30C7318F43A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026F-5CEC-4793-872F-B7F99F4A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emf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emf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29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20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 userDrawn="1"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 userDrawn="1"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 userDrawn="1"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 userDrawn="1"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 userDrawn="1"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 userDrawn="1"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 userDrawn="1"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 userDrawn="1"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 userDrawn="1"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 userDrawn="1"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2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920" y="1753277"/>
            <a:ext cx="7331806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2349459"/>
            <a:ext cx="7334250" cy="353538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79165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392231"/>
            <a:ext cx="11561105" cy="4247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731238"/>
            <a:ext cx="11561104" cy="714375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A51C37-6529-02AE-EC1C-72587B288E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218" y="105999"/>
            <a:ext cx="5067300" cy="286232"/>
          </a:xfrm>
        </p:spPr>
        <p:txBody>
          <a:bodyPr vert="horz" wrap="square" lIns="0" tIns="45720" rIns="0" bIns="45720" rtlCol="0">
            <a:spAutoFit/>
          </a:bodyPr>
          <a:lstStyle>
            <a:lvl1pPr marL="0" indent="0">
              <a:buFontTx/>
              <a:buNone/>
              <a:defRPr lang="en-US" sz="1400" b="1" smtClean="0">
                <a:solidFill>
                  <a:schemeClr val="accent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L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674873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7527A84-62A5-40F8-9ABB-C2EE3BC821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2" r:id="rId4"/>
    <p:sldLayoutId id="2147483652" r:id="rId5"/>
    <p:sldLayoutId id="2147483663" r:id="rId6"/>
    <p:sldLayoutId id="2147483664" r:id="rId7"/>
    <p:sldLayoutId id="2147483665" r:id="rId8"/>
    <p:sldLayoutId id="2147483668" r:id="rId9"/>
    <p:sldLayoutId id="2147483666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catonetworks.com/hc/en-us/articles/32572506261789-Investigating-DLP-Violations-with-Forensic-Evidence" TargetMode="External"/><Relationship Id="rId2" Type="http://schemas.openxmlformats.org/officeDocument/2006/relationships/hyperlink" Target="https://support.catonetworks.com/hc/en-us/articles/32769630749085-Amazon-S3-Configuring-the-Forensic-Storage-Connector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051145-21E8-47F6-BBCA-EF759715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795"/>
            <a:ext cx="8626475" cy="840230"/>
          </a:xfrm>
        </p:spPr>
        <p:txBody>
          <a:bodyPr/>
          <a:lstStyle/>
          <a:p>
            <a:r>
              <a:rPr lang="en-US" dirty="0"/>
              <a:t>Data Breach investigation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FD940-E0AB-4011-8B15-F575C0A4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and simple data forensics</a:t>
            </a:r>
          </a:p>
        </p:txBody>
      </p:sp>
    </p:spTree>
    <p:extLst>
      <p:ext uri="{BB962C8B-B14F-4D97-AF65-F5344CB8AC3E}">
        <p14:creationId xmlns:p14="http://schemas.microsoft.com/office/powerpoint/2010/main" val="619052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DFDA-E0D4-98B9-0518-F360E88A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CA821-7B47-55F9-3E82-6114EEB1A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9" y="392231"/>
            <a:ext cx="11561105" cy="424732"/>
          </a:xfrm>
        </p:spPr>
        <p:txBody>
          <a:bodyPr/>
          <a:lstStyle/>
          <a:p>
            <a:r>
              <a:rPr lang="en-US" dirty="0">
                <a:cs typeface="Calibri"/>
              </a:rPr>
              <a:t>Business objective overview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66468-E40D-54DE-A979-2544959F04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320" y="731238"/>
            <a:ext cx="11561104" cy="714375"/>
          </a:xfrm>
        </p:spPr>
        <p:txBody>
          <a:bodyPr/>
          <a:lstStyle/>
          <a:p>
            <a:r>
              <a:rPr lang="en-US" dirty="0"/>
              <a:t>DLP Forensics Evidence</a:t>
            </a:r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4A97E-9EAB-20A9-0F02-FC64D1B65A6B}"/>
              </a:ext>
            </a:extLst>
          </p:cNvPr>
          <p:cNvSpPr txBox="1"/>
          <p:nvPr/>
        </p:nvSpPr>
        <p:spPr>
          <a:xfrm>
            <a:off x="475318" y="1409516"/>
            <a:ext cx="4494799" cy="50783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864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The use case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86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Security teams need to determine whether an event is a real data leak or a false positive.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864"/>
              </a:buClr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86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Calibri" panose="020F0502020204030204"/>
              </a:rPr>
              <a:t>In the event of an incident forensics are required to determine the impact.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864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/>
              </a:rPr>
              <a:t>The Solution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,Sans-Serif"/>
              <a:buChar char="•"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DLP Forensics: Customer-owned </a:t>
            </a:r>
            <a:r>
              <a:rPr lang="en-US" dirty="0">
                <a:latin typeface="Calibri" panose="020F0502020204030204"/>
              </a:rPr>
              <a:t>storage with secure and encrypted forensics retrieval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fully governed by RBAC and auditing.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/>
              </a:rPr>
              <a:t>The Value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,Sans-Serif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Seamless DLP Incidents Investigation directly from the CMA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B50F00-9D85-3C3B-444F-01BF41245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086" y="731237"/>
            <a:ext cx="4929884" cy="57345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47892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501D-152B-2EE4-9DCD-567984587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E4C7-1D44-123B-CFF1-13594ED7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9" y="392231"/>
            <a:ext cx="11561105" cy="424732"/>
          </a:xfrm>
        </p:spPr>
        <p:txBody>
          <a:bodyPr/>
          <a:lstStyle/>
          <a:p>
            <a:r>
              <a:rPr lang="en-US"/>
              <a:t>DLP Forensics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FB81A-00AE-A9B6-8A32-26AACE210A6D}"/>
              </a:ext>
            </a:extLst>
          </p:cNvPr>
          <p:cNvSpPr txBox="1"/>
          <p:nvPr/>
        </p:nvSpPr>
        <p:spPr>
          <a:xfrm>
            <a:off x="475318" y="1409516"/>
            <a:ext cx="10723260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>
              <a:buClr>
                <a:srgbClr val="158864"/>
              </a:buClr>
              <a:defRPr/>
            </a:pPr>
            <a:r>
              <a:rPr lang="en-IL"/>
              <a:t>🔗 </a:t>
            </a:r>
            <a:r>
              <a:rPr lang="en-US" b="1" dirty="0">
                <a:solidFill>
                  <a:srgbClr val="222C33"/>
                </a:solidFill>
                <a:latin typeface="Calibri" panose="020F0502020204030204"/>
                <a:cs typeface="Calibri" panose="020F0502020204030204"/>
              </a:rPr>
              <a:t>Forensics Encryption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lvl="0" indent="-285750">
              <a:buClr>
                <a:srgbClr val="158864"/>
              </a:buClr>
              <a:buFont typeface="Arial" panose="020B0604020202020204" pitchFamily="34" charset="0"/>
              <a:buChar char="•"/>
              <a:defRPr/>
            </a:pPr>
            <a:r>
              <a:rPr lang="en-US" dirty="0"/>
              <a:t>All forensics are encrypted and stored using a per-account unique encryption key.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864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lvl="0">
              <a:defRPr/>
            </a:pPr>
            <a:r>
              <a:rPr lang="en-IL"/>
              <a:t>🔑  </a:t>
            </a:r>
            <a:r>
              <a:rPr lang="en-US" b="1" dirty="0">
                <a:solidFill>
                  <a:srgbClr val="222C33"/>
                </a:solidFill>
                <a:latin typeface="Calibri" panose="020F0502020204030204"/>
                <a:ea typeface="Calibri" panose="020F0502020204030204"/>
                <a:cs typeface="Calibri"/>
              </a:rPr>
              <a:t>RBAC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285750" lvl="0" indent="-285750">
              <a:buFont typeface="Arial,Sans-Serif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forensics </a:t>
            </a:r>
            <a:r>
              <a:rPr lang="en-US" dirty="0">
                <a:solidFill>
                  <a:srgbClr val="222C33"/>
                </a:solidFill>
              </a:rPr>
              <a:t>are governed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RBAC.</a:t>
            </a:r>
            <a:endParaRPr lang="en-US" dirty="0"/>
          </a:p>
          <a:p>
            <a:pPr marL="285750" lvl="0" indent="-285750">
              <a:buFont typeface="Arial,Sans-Serif"/>
              <a:buChar char="•"/>
              <a:defRPr/>
            </a:pPr>
            <a:endParaRPr lang="en-US" dirty="0">
              <a:solidFill>
                <a:srgbClr val="222C33"/>
              </a:solidFill>
            </a:endParaRPr>
          </a:p>
          <a:p>
            <a:pPr lvl="0">
              <a:defRPr/>
            </a:pPr>
            <a:r>
              <a:rPr lang="en-IL"/>
              <a:t>📋 </a:t>
            </a:r>
            <a:r>
              <a:rPr lang="en-US" b="1" dirty="0">
                <a:solidFill>
                  <a:srgbClr val="222C33"/>
                </a:solidFill>
                <a:ea typeface="Calibri" panose="020F0502020204030204"/>
                <a:cs typeface="Calibri"/>
              </a:rPr>
              <a:t>Audit &amp; Activity Logging</a:t>
            </a:r>
            <a:endParaRPr lang="en-US" dirty="0">
              <a:solidFill>
                <a:srgbClr val="222C33"/>
              </a:solidFill>
              <a:ea typeface="Calibri"/>
              <a:cs typeface="Calibri"/>
            </a:endParaRPr>
          </a:p>
          <a:p>
            <a:pPr marL="285750" lvl="0" indent="-285750">
              <a:buFont typeface="Arial,Sans-Serif"/>
              <a:buChar char="•"/>
              <a:defRPr/>
            </a:pPr>
            <a:r>
              <a:rPr lang="en-US" dirty="0"/>
              <a:t>All actions related to DLP Forensics are fully audited (Config change, view forensics, etc.)</a:t>
            </a:r>
          </a:p>
          <a:p>
            <a:pPr lvl="0"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lvl="0">
              <a:defRPr/>
            </a:pPr>
            <a:r>
              <a:rPr lang="en-IL"/>
              <a:t>⚙️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/>
              </a:rPr>
              <a:t>DLP Forensics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285750" lvl="0" indent="-285750">
              <a:buFont typeface="Arial,Sans-Serif"/>
              <a:buChar char="•"/>
              <a:defRPr/>
            </a:pPr>
            <a:r>
              <a:rPr lang="en-US" dirty="0">
                <a:solidFill>
                  <a:srgbClr val="222C33"/>
                </a:solidFill>
                <a:latin typeface="Calibri" panose="020F0502020204030204"/>
              </a:rPr>
              <a:t>Full file storage is supported for files up to 20MB.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16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B067-4E5C-86B1-A18B-8662CBEB9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CD65-F13C-C470-13D4-8F3C1957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9" y="392231"/>
            <a:ext cx="11561105" cy="424732"/>
          </a:xfrm>
        </p:spPr>
        <p:txBody>
          <a:bodyPr/>
          <a:lstStyle/>
          <a:p>
            <a:r>
              <a:rPr lang="en-US" dirty="0"/>
              <a:t>How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F3FDD-4A9A-9364-CB4A-2289504251A5}"/>
              </a:ext>
            </a:extLst>
          </p:cNvPr>
          <p:cNvSpPr txBox="1"/>
          <p:nvPr/>
        </p:nvSpPr>
        <p:spPr>
          <a:xfrm>
            <a:off x="475318" y="1409516"/>
            <a:ext cx="10723260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>
              <a:buClr>
                <a:srgbClr val="158864"/>
              </a:buClr>
              <a:defRPr/>
            </a:pPr>
            <a:r>
              <a:rPr lang="en-GB" dirty="0"/>
              <a:t>Configure AWS S3 bucket, IAM Policy and role</a:t>
            </a:r>
          </a:p>
          <a:p>
            <a:pPr lvl="0">
              <a:buClr>
                <a:srgbClr val="158864"/>
              </a:buClr>
              <a:defRPr/>
            </a:pPr>
            <a:r>
              <a:rPr lang="en-US" b="1" dirty="0">
                <a:solidFill>
                  <a:srgbClr val="222C33"/>
                </a:solidFill>
                <a:ea typeface="Calibri" panose="020F0502020204030204"/>
                <a:cs typeface="Calibri" panose="020F0502020204030204"/>
                <a:hlinkClick r:id="rId2"/>
              </a:rPr>
              <a:t>https://support.catonetworks.com/hc/en-us/articles/32769630749085-Amazon-S3-Configuring-the-Forensic-Storage-Connector</a:t>
            </a:r>
            <a:endParaRPr lang="en-US" b="1" dirty="0">
              <a:solidFill>
                <a:srgbClr val="222C33"/>
              </a:solidFill>
              <a:ea typeface="Calibri" panose="020F0502020204030204"/>
              <a:cs typeface="Calibri" panose="020F0502020204030204"/>
            </a:endParaRPr>
          </a:p>
          <a:p>
            <a:pPr lvl="0">
              <a:buClr>
                <a:srgbClr val="158864"/>
              </a:buClr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lvl="0">
              <a:buClr>
                <a:srgbClr val="158864"/>
              </a:buClr>
              <a:defRPr/>
            </a:pPr>
            <a:r>
              <a:rPr lang="en-US" dirty="0">
                <a:solidFill>
                  <a:srgbClr val="222C33"/>
                </a:solidFill>
                <a:latin typeface="Calibri" panose="020F0502020204030204"/>
                <a:ea typeface="Calibri"/>
                <a:cs typeface="Calibri"/>
              </a:rPr>
              <a:t>Enable the DLP forensics integration and add the role &amp; permissions</a:t>
            </a:r>
          </a:p>
          <a:p>
            <a:pPr lvl="0">
              <a:buClr>
                <a:srgbClr val="158864"/>
              </a:buClr>
              <a:defRPr/>
            </a:pPr>
            <a:r>
              <a:rPr lang="en-US" dirty="0">
                <a:solidFill>
                  <a:srgbClr val="222C33"/>
                </a:solidFill>
                <a:ea typeface="Calibri"/>
                <a:cs typeface="Calibri"/>
                <a:hlinkClick r:id="rId3"/>
              </a:rPr>
              <a:t>https://support.catonetworks.com/hc/en-us/articles/32572506261789-Investigating-DLP-Violations-with-Forensic-Evidence</a:t>
            </a:r>
            <a:endParaRPr lang="en-US" dirty="0">
              <a:solidFill>
                <a:srgbClr val="222C33"/>
              </a:solidFill>
              <a:ea typeface="Calibri"/>
              <a:cs typeface="Calibri"/>
            </a:endParaRPr>
          </a:p>
          <a:p>
            <a:pPr lvl="0">
              <a:buClr>
                <a:srgbClr val="158864"/>
              </a:buClr>
              <a:defRPr/>
            </a:pPr>
            <a:endParaRPr lang="en-US" dirty="0">
              <a:solidFill>
                <a:srgbClr val="222C33"/>
              </a:solidFill>
              <a:latin typeface="Calibri" panose="020F0502020204030204"/>
              <a:ea typeface="Calibri"/>
              <a:cs typeface="Calibri"/>
            </a:endParaRPr>
          </a:p>
          <a:p>
            <a:pPr lvl="0">
              <a:buClr>
                <a:srgbClr val="158864"/>
              </a:buClr>
              <a:defRPr/>
            </a:pPr>
            <a:r>
              <a:rPr lang="en-US" dirty="0">
                <a:solidFill>
                  <a:srgbClr val="222C33"/>
                </a:solidFill>
                <a:latin typeface="Calibri" panose="020F0502020204030204"/>
                <a:ea typeface="Calibri"/>
                <a:cs typeface="Calibri"/>
              </a:rPr>
              <a:t>Upload a file including sensitive PII such as credit card data to CoPilot</a:t>
            </a:r>
          </a:p>
          <a:p>
            <a:pPr lvl="0">
              <a:buClr>
                <a:srgbClr val="158864"/>
              </a:buClr>
              <a:defRPr/>
            </a:pPr>
            <a:endParaRPr lang="en-US" dirty="0">
              <a:solidFill>
                <a:srgbClr val="222C33"/>
              </a:solidFill>
              <a:latin typeface="Calibri" panose="020F0502020204030204"/>
              <a:ea typeface="Calibri"/>
              <a:cs typeface="Calibri"/>
            </a:endParaRPr>
          </a:p>
          <a:p>
            <a:pPr lvl="0">
              <a:buClr>
                <a:srgbClr val="158864"/>
              </a:buClr>
              <a:defRPr/>
            </a:pPr>
            <a:r>
              <a:rPr lang="en-US" dirty="0">
                <a:solidFill>
                  <a:srgbClr val="222C33"/>
                </a:solidFill>
                <a:latin typeface="Calibri" panose="020F0502020204030204"/>
                <a:ea typeface="Calibri"/>
                <a:cs typeface="Calibri"/>
              </a:rPr>
              <a:t>Find the relevant event from the data protection dashboard .Click on the ”view forensics” from the evidence field. </a:t>
            </a:r>
          </a:p>
          <a:p>
            <a:pPr lvl="0">
              <a:buClr>
                <a:srgbClr val="158864"/>
              </a:buClr>
              <a:defRPr/>
            </a:pPr>
            <a:endParaRPr lang="en-US" dirty="0">
              <a:solidFill>
                <a:srgbClr val="222C33"/>
              </a:solidFill>
              <a:latin typeface="Calibri" panose="020F0502020204030204"/>
              <a:ea typeface="Calibri"/>
              <a:cs typeface="Calibri"/>
            </a:endParaRPr>
          </a:p>
          <a:p>
            <a:pPr lvl="0">
              <a:buClr>
                <a:srgbClr val="158864"/>
              </a:buClr>
              <a:defRPr/>
            </a:pPr>
            <a:r>
              <a:rPr lang="en-US" dirty="0">
                <a:solidFill>
                  <a:srgbClr val="222C33"/>
                </a:solidFill>
                <a:latin typeface="Calibri" panose="020F0502020204030204"/>
                <a:ea typeface="Calibri"/>
                <a:cs typeface="Calibri"/>
              </a:rPr>
              <a:t>Open the data incident page and click on “view evidence” to view and download the data snippet.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22C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393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6.potx" id="{C0F50A09-C38A-4BC0-AD93-17F5AD48579C}" vid="{DC00E7B4-0CF7-47E3-99ED-6FD79A8958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5da3514-3b6b-4ccd-bd93-9b0746cba409">
      <UserInfo>
        <DisplayName>Sharon Halbani</DisplayName>
        <AccountId>832</AccountId>
        <AccountType/>
      </UserInfo>
    </SharedWithUsers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_Flow_SignoffStatus xmlns="59af04aa-14d6-4764-88c2-31407ba52b8d" xsi:nil="true"/>
    <Manager_x0020_Name xmlns="59af04aa-14d6-4764-88c2-31407ba52b8d" xsi:nil="true"/>
    <Full_x0020_Name xmlns="59af04aa-14d6-4764-88c2-31407ba52b8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2" ma:contentTypeDescription="Create a new document." ma:contentTypeScope="" ma:versionID="2a5be53b095fe5f2c3f270eac2e82b16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1573f9c29841bbcb0b7ecf2d122902d7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  <xsd:element ref="ns2:Full_x0020_Name" minOccurs="0"/>
                <xsd:element ref="ns2:Manager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Full_x0020_Name" ma:index="27" nillable="true" ma:displayName="Full Name" ma:internalName="Full_x0020_Name">
      <xsd:simpleType>
        <xsd:restriction base="dms:Text">
          <xsd:maxLength value="255"/>
        </xsd:restriction>
      </xsd:simpleType>
    </xsd:element>
    <xsd:element name="Manager_x0020_Name" ma:index="28" nillable="true" ma:displayName="Manager Name" ma:internalName="Manager_x0020_Nam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8E23FD-1D3C-4B77-BD11-3F1EF586A9C7}">
  <ds:schemaRefs>
    <ds:schemaRef ds:uri="http://schemas.microsoft.com/office/2006/documentManagement/types"/>
    <ds:schemaRef ds:uri="59af04aa-14d6-4764-88c2-31407ba52b8d"/>
    <ds:schemaRef ds:uri="http://www.w3.org/XML/1998/namespace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d5da3514-3b6b-4ccd-bd93-9b0746cba409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00B76D7-C0C3-42FF-97C1-EF20CF65F7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402E16-071D-41DA-85B3-925E3D1B800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7327</TotalTime>
  <Words>251</Words>
  <Application>Microsoft Macintosh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Arial,Sans-Serif</vt:lpstr>
      <vt:lpstr>Calibri</vt:lpstr>
      <vt:lpstr>Office Theme</vt:lpstr>
      <vt:lpstr>Data Breach investigation</vt:lpstr>
      <vt:lpstr>Business objective overview</vt:lpstr>
      <vt:lpstr>DLP Forensics</vt:lpstr>
      <vt:lpstr>How 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Huggins</dc:creator>
  <cp:lastModifiedBy>Aaron Huggins</cp:lastModifiedBy>
  <cp:revision>4</cp:revision>
  <dcterms:created xsi:type="dcterms:W3CDTF">2024-09-17T11:17:58Z</dcterms:created>
  <dcterms:modified xsi:type="dcterms:W3CDTF">2026-04-23T13:18:27Z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
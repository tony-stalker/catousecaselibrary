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8" r:id="rId5"/>
    <p:sldId id="3708" r:id="rId6"/>
    <p:sldId id="3711" r:id="rId7"/>
    <p:sldId id="2147471919" r:id="rId8"/>
    <p:sldId id="2147471923" r:id="rId9"/>
    <p:sldId id="214747192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4653"/>
  </p:normalViewPr>
  <p:slideViewPr>
    <p:cSldViewPr snapToGrid="0">
      <p:cViewPr varScale="1">
        <p:scale>
          <a:sx n="118" d="100"/>
          <a:sy n="118" d="100"/>
        </p:scale>
        <p:origin x="52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4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Manufacturing OT/IOT device Security</a:t>
            </a: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Visibility of OT/IOT Device types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Contextual policies applied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Consistent security policy for any and all devices/users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7FFC9-E698-6936-5341-493C7A2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249684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Business objective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51145-21E8-47F6-BBCA-EF75971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795"/>
            <a:ext cx="8626475" cy="840230"/>
          </a:xfrm>
        </p:spPr>
        <p:txBody>
          <a:bodyPr/>
          <a:lstStyle/>
          <a:p>
            <a:r>
              <a:rPr lang="en-US" dirty="0"/>
              <a:t>OT/IOT Device Security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FD940-E0AB-4011-8B15-F575C0A4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2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D0FA98-4566-4E9D-8CA9-507C68C9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Benefits </a:t>
            </a:r>
          </a:p>
          <a:p>
            <a:r>
              <a:rPr lang="en-US" dirty="0"/>
              <a:t>Reduce operational complexity</a:t>
            </a:r>
          </a:p>
          <a:p>
            <a:r>
              <a:rPr lang="en-US" dirty="0"/>
              <a:t>Context and identity aware policy membership</a:t>
            </a:r>
          </a:p>
          <a:p>
            <a:r>
              <a:rPr lang="en-US" dirty="0"/>
              <a:t>Increased security and reduce the threat landscape using ZTNA principles </a:t>
            </a:r>
          </a:p>
          <a:p>
            <a:r>
              <a:rPr lang="en-US" dirty="0"/>
              <a:t>Reduced risk of lateral movement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Description</a:t>
            </a:r>
          </a:p>
          <a:p>
            <a:r>
              <a:rPr lang="en-US" dirty="0"/>
              <a:t>Configure global policies based on Device type, function and network/security framework (Perdue model/IEC62443) </a:t>
            </a:r>
          </a:p>
          <a:p>
            <a:r>
              <a:rPr lang="en-US" dirty="0"/>
              <a:t>Segment devices using LAN FW</a:t>
            </a:r>
          </a:p>
          <a:p>
            <a:r>
              <a:rPr lang="en-US" dirty="0"/>
              <a:t>Demonstrate advanced threat protection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9D08E8-AF6A-4C26-A003-EE4EC2011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OT/IOT Device Security – Configured once, applied everywhere, contextually aware</a:t>
            </a:r>
          </a:p>
        </p:txBody>
      </p:sp>
    </p:spTree>
    <p:extLst>
      <p:ext uri="{BB962C8B-B14F-4D97-AF65-F5344CB8AC3E}">
        <p14:creationId xmlns:p14="http://schemas.microsoft.com/office/powerpoint/2010/main" val="176253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7DA9-B538-ACF6-B968-0DE12DB8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D761296-BCD4-5933-FC45-1CA9BCA213D0}"/>
              </a:ext>
            </a:extLst>
          </p:cNvPr>
          <p:cNvSpPr/>
          <p:nvPr/>
        </p:nvSpPr>
        <p:spPr>
          <a:xfrm>
            <a:off x="3667692" y="1505641"/>
            <a:ext cx="5163151" cy="488648"/>
          </a:xfrm>
          <a:custGeom>
            <a:avLst/>
            <a:gdLst>
              <a:gd name="connsiteX0" fmla="*/ 3186589 w 6373367"/>
              <a:gd name="connsiteY0" fmla="*/ 720852 h 720851"/>
              <a:gd name="connsiteX1" fmla="*/ 988790 w 6373367"/>
              <a:gd name="connsiteY1" fmla="*/ 637794 h 720851"/>
              <a:gd name="connsiteX2" fmla="*/ 312801 w 6373367"/>
              <a:gd name="connsiteY2" fmla="*/ 546259 h 720851"/>
              <a:gd name="connsiteX3" fmla="*/ 0 w 6373367"/>
              <a:gd name="connsiteY3" fmla="*/ 360426 h 720851"/>
              <a:gd name="connsiteX4" fmla="*/ 519208 w 6373367"/>
              <a:gd name="connsiteY4" fmla="*/ 137636 h 720851"/>
              <a:gd name="connsiteX5" fmla="*/ 3186684 w 6373367"/>
              <a:gd name="connsiteY5" fmla="*/ 0 h 720851"/>
              <a:gd name="connsiteX6" fmla="*/ 5854161 w 6373367"/>
              <a:gd name="connsiteY6" fmla="*/ 137636 h 720851"/>
              <a:gd name="connsiteX7" fmla="*/ 6373368 w 6373367"/>
              <a:gd name="connsiteY7" fmla="*/ 360426 h 720851"/>
              <a:gd name="connsiteX8" fmla="*/ 6060472 w 6373367"/>
              <a:gd name="connsiteY8" fmla="*/ 546259 h 720851"/>
              <a:gd name="connsiteX9" fmla="*/ 5384483 w 6373367"/>
              <a:gd name="connsiteY9" fmla="*/ 637794 h 720851"/>
              <a:gd name="connsiteX10" fmla="*/ 3186684 w 6373367"/>
              <a:gd name="connsiteY10" fmla="*/ 720852 h 72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73367" h="720851">
                <a:moveTo>
                  <a:pt x="3186589" y="720852"/>
                </a:moveTo>
                <a:cubicBezTo>
                  <a:pt x="2356866" y="720852"/>
                  <a:pt x="1576388" y="691325"/>
                  <a:pt x="988790" y="637794"/>
                </a:cubicBezTo>
                <a:cubicBezTo>
                  <a:pt x="700278" y="611505"/>
                  <a:pt x="472916" y="580739"/>
                  <a:pt x="312801" y="546259"/>
                </a:cubicBezTo>
                <a:cubicBezTo>
                  <a:pt x="150305" y="511302"/>
                  <a:pt x="0" y="464534"/>
                  <a:pt x="0" y="360426"/>
                </a:cubicBezTo>
                <a:cubicBezTo>
                  <a:pt x="0" y="256318"/>
                  <a:pt x="140684" y="194786"/>
                  <a:pt x="519208" y="137636"/>
                </a:cubicBezTo>
                <a:cubicBezTo>
                  <a:pt x="1090232" y="51435"/>
                  <a:pt x="2087309" y="0"/>
                  <a:pt x="3186684" y="0"/>
                </a:cubicBezTo>
                <a:cubicBezTo>
                  <a:pt x="4286060" y="0"/>
                  <a:pt x="5283137" y="51435"/>
                  <a:pt x="5854161" y="137636"/>
                </a:cubicBezTo>
                <a:cubicBezTo>
                  <a:pt x="6232589" y="194786"/>
                  <a:pt x="6373368" y="255175"/>
                  <a:pt x="6373368" y="360426"/>
                </a:cubicBezTo>
                <a:cubicBezTo>
                  <a:pt x="6373368" y="465677"/>
                  <a:pt x="6222969" y="511302"/>
                  <a:pt x="6060472" y="546259"/>
                </a:cubicBezTo>
                <a:cubicBezTo>
                  <a:pt x="5900452" y="580739"/>
                  <a:pt x="5672995" y="611505"/>
                  <a:pt x="5384483" y="637794"/>
                </a:cubicBezTo>
                <a:cubicBezTo>
                  <a:pt x="4796886" y="691325"/>
                  <a:pt x="4016312" y="720852"/>
                  <a:pt x="3186684" y="720852"/>
                </a:cubicBezTo>
                <a:close/>
              </a:path>
            </a:pathLst>
          </a:custGeom>
          <a:noFill/>
          <a:ln w="28575" cap="flat">
            <a:solidFill>
              <a:srgbClr val="0070C0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3628AB7-95E0-3A8A-09AF-731DF88E08CD}"/>
              </a:ext>
            </a:extLst>
          </p:cNvPr>
          <p:cNvSpPr/>
          <p:nvPr/>
        </p:nvSpPr>
        <p:spPr>
          <a:xfrm>
            <a:off x="3431634" y="1473602"/>
            <a:ext cx="5818288" cy="558662"/>
          </a:xfrm>
          <a:custGeom>
            <a:avLst/>
            <a:gdLst>
              <a:gd name="connsiteX0" fmla="*/ 3186589 w 6373367"/>
              <a:gd name="connsiteY0" fmla="*/ 720852 h 720851"/>
              <a:gd name="connsiteX1" fmla="*/ 988790 w 6373367"/>
              <a:gd name="connsiteY1" fmla="*/ 637794 h 720851"/>
              <a:gd name="connsiteX2" fmla="*/ 312801 w 6373367"/>
              <a:gd name="connsiteY2" fmla="*/ 546259 h 720851"/>
              <a:gd name="connsiteX3" fmla="*/ 0 w 6373367"/>
              <a:gd name="connsiteY3" fmla="*/ 360426 h 720851"/>
              <a:gd name="connsiteX4" fmla="*/ 519208 w 6373367"/>
              <a:gd name="connsiteY4" fmla="*/ 137636 h 720851"/>
              <a:gd name="connsiteX5" fmla="*/ 3186684 w 6373367"/>
              <a:gd name="connsiteY5" fmla="*/ 0 h 720851"/>
              <a:gd name="connsiteX6" fmla="*/ 5854161 w 6373367"/>
              <a:gd name="connsiteY6" fmla="*/ 137636 h 720851"/>
              <a:gd name="connsiteX7" fmla="*/ 6373368 w 6373367"/>
              <a:gd name="connsiteY7" fmla="*/ 360426 h 720851"/>
              <a:gd name="connsiteX8" fmla="*/ 6060472 w 6373367"/>
              <a:gd name="connsiteY8" fmla="*/ 546259 h 720851"/>
              <a:gd name="connsiteX9" fmla="*/ 5384483 w 6373367"/>
              <a:gd name="connsiteY9" fmla="*/ 637794 h 720851"/>
              <a:gd name="connsiteX10" fmla="*/ 3186684 w 6373367"/>
              <a:gd name="connsiteY10" fmla="*/ 720852 h 72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73367" h="720851">
                <a:moveTo>
                  <a:pt x="3186589" y="720852"/>
                </a:moveTo>
                <a:cubicBezTo>
                  <a:pt x="2356866" y="720852"/>
                  <a:pt x="1576388" y="691325"/>
                  <a:pt x="988790" y="637794"/>
                </a:cubicBezTo>
                <a:cubicBezTo>
                  <a:pt x="700278" y="611505"/>
                  <a:pt x="472916" y="580739"/>
                  <a:pt x="312801" y="546259"/>
                </a:cubicBezTo>
                <a:cubicBezTo>
                  <a:pt x="150305" y="511302"/>
                  <a:pt x="0" y="464534"/>
                  <a:pt x="0" y="360426"/>
                </a:cubicBezTo>
                <a:cubicBezTo>
                  <a:pt x="0" y="256318"/>
                  <a:pt x="140684" y="194786"/>
                  <a:pt x="519208" y="137636"/>
                </a:cubicBezTo>
                <a:cubicBezTo>
                  <a:pt x="1090232" y="51435"/>
                  <a:pt x="2087309" y="0"/>
                  <a:pt x="3186684" y="0"/>
                </a:cubicBezTo>
                <a:cubicBezTo>
                  <a:pt x="4286060" y="0"/>
                  <a:pt x="5283137" y="51435"/>
                  <a:pt x="5854161" y="137636"/>
                </a:cubicBezTo>
                <a:cubicBezTo>
                  <a:pt x="6232589" y="194786"/>
                  <a:pt x="6373368" y="255175"/>
                  <a:pt x="6373368" y="360426"/>
                </a:cubicBezTo>
                <a:cubicBezTo>
                  <a:pt x="6373368" y="465677"/>
                  <a:pt x="6222969" y="511302"/>
                  <a:pt x="6060472" y="546259"/>
                </a:cubicBezTo>
                <a:cubicBezTo>
                  <a:pt x="5900452" y="580739"/>
                  <a:pt x="5672995" y="611505"/>
                  <a:pt x="5384483" y="637794"/>
                </a:cubicBezTo>
                <a:cubicBezTo>
                  <a:pt x="4796886" y="691325"/>
                  <a:pt x="4016312" y="720852"/>
                  <a:pt x="3186684" y="720852"/>
                </a:cubicBezTo>
                <a:close/>
              </a:path>
            </a:pathLst>
          </a:custGeom>
          <a:noFill/>
          <a:ln w="28575" cap="flat">
            <a:solidFill>
              <a:srgbClr val="FFC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9B5E6-23F9-E8BE-2F50-00AD6D66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How To Device Access Control – Centralized network</a:t>
            </a:r>
            <a:endParaRPr lang="en-IL"/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00BFA4D7-FF44-D541-6F30-CAFF47F1C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0816" y="5343219"/>
            <a:ext cx="657225" cy="171450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EBBADE84-8E35-5093-0981-98FBAB14A484}"/>
              </a:ext>
            </a:extLst>
          </p:cNvPr>
          <p:cNvSpPr txBox="1"/>
          <p:nvPr/>
        </p:nvSpPr>
        <p:spPr>
          <a:xfrm>
            <a:off x="3692880" y="5076602"/>
            <a:ext cx="409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PLC</a:t>
            </a:r>
            <a:endParaRPr lang="en-IL" sz="120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A6ECE85-0136-75B9-0E71-71CFF7D6AE43}"/>
              </a:ext>
            </a:extLst>
          </p:cNvPr>
          <p:cNvSpPr txBox="1"/>
          <p:nvPr/>
        </p:nvSpPr>
        <p:spPr>
          <a:xfrm>
            <a:off x="3979894" y="4426708"/>
            <a:ext cx="1255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Control Center</a:t>
            </a:r>
            <a:endParaRPr lang="en-IL" sz="1400"/>
          </a:p>
        </p:txBody>
      </p:sp>
      <p:pic>
        <p:nvPicPr>
          <p:cNvPr id="275" name="Graphic 274">
            <a:extLst>
              <a:ext uri="{FF2B5EF4-FFF2-40B4-BE49-F238E27FC236}">
                <a16:creationId xmlns:a16="http://schemas.microsoft.com/office/drawing/2014/main" id="{5EBC9CC8-0C93-D6C9-390C-BF165A93A7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4043" y="4342465"/>
            <a:ext cx="593526" cy="593526"/>
          </a:xfrm>
          <a:prstGeom prst="rect">
            <a:avLst/>
          </a:prstGeom>
        </p:spPr>
      </p:pic>
      <p:pic>
        <p:nvPicPr>
          <p:cNvPr id="276" name="Graphic 275">
            <a:extLst>
              <a:ext uri="{FF2B5EF4-FFF2-40B4-BE49-F238E27FC236}">
                <a16:creationId xmlns:a16="http://schemas.microsoft.com/office/drawing/2014/main" id="{0D66B5F7-AC30-AD73-1BCC-701F7E8BA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5489" y="4328295"/>
            <a:ext cx="593526" cy="593526"/>
          </a:xfrm>
          <a:prstGeom prst="rect">
            <a:avLst/>
          </a:prstGeom>
        </p:spPr>
      </p:pic>
      <p:sp>
        <p:nvSpPr>
          <p:cNvPr id="277" name="TextBox 276">
            <a:extLst>
              <a:ext uri="{FF2B5EF4-FFF2-40B4-BE49-F238E27FC236}">
                <a16:creationId xmlns:a16="http://schemas.microsoft.com/office/drawing/2014/main" id="{E9D7A540-A69D-3FE9-0871-6137C118CB74}"/>
              </a:ext>
            </a:extLst>
          </p:cNvPr>
          <p:cNvSpPr txBox="1"/>
          <p:nvPr/>
        </p:nvSpPr>
        <p:spPr>
          <a:xfrm>
            <a:off x="7116000" y="4419536"/>
            <a:ext cx="1254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SCADA Servers</a:t>
            </a:r>
            <a:endParaRPr lang="en-IL" sz="14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8C9C2CC-A55C-2BBF-3A61-AE14F78891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88237" y="6049962"/>
            <a:ext cx="424732" cy="42473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2A104C0-AE61-4DE3-B0E8-5A3D78E7FE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21401" y="6024300"/>
            <a:ext cx="476056" cy="47605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02CB39F-48EE-3FC4-CFA4-19D6A737E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56694" y="5091132"/>
            <a:ext cx="470550" cy="5499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C2D332-4E0E-EDF6-82AA-1968593A03DF}"/>
              </a:ext>
            </a:extLst>
          </p:cNvPr>
          <p:cNvSpPr txBox="1"/>
          <p:nvPr/>
        </p:nvSpPr>
        <p:spPr>
          <a:xfrm>
            <a:off x="2450782" y="5016546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HMI</a:t>
            </a:r>
            <a:endParaRPr lang="en-IL" sz="120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41DE952-45A7-7B3D-2413-A04AF94ED39A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3127244" y="5366129"/>
            <a:ext cx="239941" cy="62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535A529-93A5-EE99-77DA-F006EF6BECDF}"/>
              </a:ext>
            </a:extLst>
          </p:cNvPr>
          <p:cNvSpPr/>
          <p:nvPr/>
        </p:nvSpPr>
        <p:spPr>
          <a:xfrm>
            <a:off x="1322828" y="5805053"/>
            <a:ext cx="1057275" cy="649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Level 0</a:t>
            </a:r>
          </a:p>
          <a:p>
            <a:pPr algn="ctr"/>
            <a:r>
              <a:rPr lang="en-US" sz="1400"/>
              <a:t>Physical Process</a:t>
            </a:r>
            <a:endParaRPr lang="en-IL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37BCF7-D35B-1376-1218-474EE15CF3D0}"/>
              </a:ext>
            </a:extLst>
          </p:cNvPr>
          <p:cNvSpPr/>
          <p:nvPr/>
        </p:nvSpPr>
        <p:spPr>
          <a:xfrm>
            <a:off x="1322827" y="5059726"/>
            <a:ext cx="1057275" cy="649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Level 1</a:t>
            </a:r>
          </a:p>
          <a:p>
            <a:pPr algn="ctr"/>
            <a:r>
              <a:rPr lang="en-US" sz="1400"/>
              <a:t>Process</a:t>
            </a:r>
            <a:endParaRPr lang="en-IL" sz="140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7851FBD3-96CF-83E1-938A-75898E09A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8871" y="5343219"/>
            <a:ext cx="657225" cy="1714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3350768-6F8C-4F12-0BED-0E7C25F0B6C7}"/>
              </a:ext>
            </a:extLst>
          </p:cNvPr>
          <p:cNvSpPr txBox="1"/>
          <p:nvPr/>
        </p:nvSpPr>
        <p:spPr>
          <a:xfrm>
            <a:off x="7070935" y="5076602"/>
            <a:ext cx="409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PLC</a:t>
            </a:r>
            <a:endParaRPr lang="en-IL" sz="120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3383E00F-BFC0-092B-D2FB-4481DD302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6292" y="6049962"/>
            <a:ext cx="424732" cy="42473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0A55F77-2637-C2B7-07DA-5EBD58627C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9456" y="6024300"/>
            <a:ext cx="476056" cy="47605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C003ABAA-7E27-99B8-2D5D-4240AECE7C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34749" y="5091132"/>
            <a:ext cx="470550" cy="54999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1707636-FEC0-5241-3976-74669AE9B734}"/>
              </a:ext>
            </a:extLst>
          </p:cNvPr>
          <p:cNvSpPr txBox="1"/>
          <p:nvPr/>
        </p:nvSpPr>
        <p:spPr>
          <a:xfrm>
            <a:off x="5828837" y="5016546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HMI</a:t>
            </a:r>
            <a:endParaRPr lang="en-IL" sz="120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662CE1-D03E-BF1E-5E28-019C8AC04AB6}"/>
              </a:ext>
            </a:extLst>
          </p:cNvPr>
          <p:cNvCxnSpPr>
            <a:cxnSpLocks/>
            <a:endCxn id="32" idx="3"/>
          </p:cNvCxnSpPr>
          <p:nvPr/>
        </p:nvCxnSpPr>
        <p:spPr>
          <a:xfrm flipH="1" flipV="1">
            <a:off x="6505299" y="5366129"/>
            <a:ext cx="239941" cy="62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E1EF2FA3-FDF8-DB87-8081-2E71B4876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8302" y="5337481"/>
            <a:ext cx="657225" cy="17145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2198FBE-5EF9-12A7-F512-77D73D7A0B89}"/>
              </a:ext>
            </a:extLst>
          </p:cNvPr>
          <p:cNvSpPr txBox="1"/>
          <p:nvPr/>
        </p:nvSpPr>
        <p:spPr>
          <a:xfrm>
            <a:off x="10360366" y="5070864"/>
            <a:ext cx="409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PLC</a:t>
            </a:r>
            <a:endParaRPr lang="en-IL" sz="120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D600882C-DD6D-5144-9DDF-6F8F7ECCC8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5723" y="6044224"/>
            <a:ext cx="424732" cy="42473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04D57617-BB44-1050-2E9C-584D682330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8887" y="6018562"/>
            <a:ext cx="476056" cy="47605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E789CDA-F428-E4D8-C127-DE5DCC85A0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24180" y="5085394"/>
            <a:ext cx="470550" cy="54999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773C894-5ED4-236B-541F-3F6C5BDBB396}"/>
              </a:ext>
            </a:extLst>
          </p:cNvPr>
          <p:cNvSpPr txBox="1"/>
          <p:nvPr/>
        </p:nvSpPr>
        <p:spPr>
          <a:xfrm>
            <a:off x="9118268" y="5010808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HMI</a:t>
            </a:r>
            <a:endParaRPr lang="en-IL" sz="120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5F5BAF9-F982-48FB-B470-32E306B26C3B}"/>
              </a:ext>
            </a:extLst>
          </p:cNvPr>
          <p:cNvCxnSpPr>
            <a:cxnSpLocks/>
            <a:endCxn id="45" idx="3"/>
          </p:cNvCxnSpPr>
          <p:nvPr/>
        </p:nvCxnSpPr>
        <p:spPr>
          <a:xfrm flipH="1" flipV="1">
            <a:off x="9794730" y="5360391"/>
            <a:ext cx="239941" cy="62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6077F3E4-38D2-EF0D-D61E-BC61CBC779EE}"/>
              </a:ext>
            </a:extLst>
          </p:cNvPr>
          <p:cNvSpPr/>
          <p:nvPr/>
        </p:nvSpPr>
        <p:spPr>
          <a:xfrm>
            <a:off x="1322826" y="4302875"/>
            <a:ext cx="1057275" cy="649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Level 2</a:t>
            </a:r>
          </a:p>
          <a:p>
            <a:pPr algn="ctr"/>
            <a:r>
              <a:rPr lang="en-US" sz="1400"/>
              <a:t>Control</a:t>
            </a:r>
            <a:endParaRPr lang="en-IL" sz="1400"/>
          </a:p>
        </p:txBody>
      </p:sp>
      <p:sp>
        <p:nvSpPr>
          <p:cNvPr id="139" name="Arrow: Down 138">
            <a:extLst>
              <a:ext uri="{FF2B5EF4-FFF2-40B4-BE49-F238E27FC236}">
                <a16:creationId xmlns:a16="http://schemas.microsoft.com/office/drawing/2014/main" id="{C4D73096-C9AB-B383-62CA-8B8677814920}"/>
              </a:ext>
            </a:extLst>
          </p:cNvPr>
          <p:cNvSpPr/>
          <p:nvPr/>
        </p:nvSpPr>
        <p:spPr>
          <a:xfrm>
            <a:off x="10890636" y="3489014"/>
            <a:ext cx="352425" cy="30008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0" name="Arrow: Down 139">
            <a:extLst>
              <a:ext uri="{FF2B5EF4-FFF2-40B4-BE49-F238E27FC236}">
                <a16:creationId xmlns:a16="http://schemas.microsoft.com/office/drawing/2014/main" id="{8DD29F3A-D4C3-8507-2F9B-2ED71FC924EB}"/>
              </a:ext>
            </a:extLst>
          </p:cNvPr>
          <p:cNvSpPr/>
          <p:nvPr/>
        </p:nvSpPr>
        <p:spPr>
          <a:xfrm rot="10800000">
            <a:off x="10890635" y="391683"/>
            <a:ext cx="352425" cy="28981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C6140C6-BC65-0EDC-556E-E870A1E44DE9}"/>
              </a:ext>
            </a:extLst>
          </p:cNvPr>
          <p:cNvSpPr txBox="1"/>
          <p:nvPr/>
        </p:nvSpPr>
        <p:spPr>
          <a:xfrm rot="16200000">
            <a:off x="10090284" y="4687416"/>
            <a:ext cx="1949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Operational Technology</a:t>
            </a:r>
            <a:endParaRPr lang="en-IL" sz="1400" b="1">
              <a:solidFill>
                <a:schemeClr val="bg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8ACED7F-2415-03E5-51E4-6A94AF430434}"/>
              </a:ext>
            </a:extLst>
          </p:cNvPr>
          <p:cNvSpPr txBox="1"/>
          <p:nvPr/>
        </p:nvSpPr>
        <p:spPr>
          <a:xfrm rot="16200000">
            <a:off x="10069286" y="1840850"/>
            <a:ext cx="1991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Information Technology</a:t>
            </a:r>
            <a:endParaRPr lang="en-IL" sz="1400" b="1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D0071F2-2E8C-8E70-6E48-8D7A11CAF182}"/>
              </a:ext>
            </a:extLst>
          </p:cNvPr>
          <p:cNvSpPr/>
          <p:nvPr/>
        </p:nvSpPr>
        <p:spPr>
          <a:xfrm>
            <a:off x="1322829" y="3447576"/>
            <a:ext cx="1057275" cy="649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Level 3</a:t>
            </a:r>
          </a:p>
          <a:p>
            <a:pPr algn="ctr"/>
            <a:r>
              <a:rPr lang="en-US" sz="1400"/>
              <a:t>Operations</a:t>
            </a:r>
            <a:endParaRPr lang="en-IL" sz="140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6C10079-ACC0-63A3-57B1-84C75C88015F}"/>
              </a:ext>
            </a:extLst>
          </p:cNvPr>
          <p:cNvSpPr/>
          <p:nvPr/>
        </p:nvSpPr>
        <p:spPr>
          <a:xfrm>
            <a:off x="1322828" y="529944"/>
            <a:ext cx="1057275" cy="649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Level 4/5</a:t>
            </a:r>
          </a:p>
          <a:p>
            <a:pPr algn="ctr"/>
            <a:r>
              <a:rPr lang="en-US" sz="1400"/>
              <a:t>Enterprise</a:t>
            </a:r>
            <a:endParaRPr lang="en-IL" sz="140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9EED7AB-5E78-CB5E-02C9-F86613AF38D8}"/>
              </a:ext>
            </a:extLst>
          </p:cNvPr>
          <p:cNvSpPr/>
          <p:nvPr/>
        </p:nvSpPr>
        <p:spPr>
          <a:xfrm>
            <a:off x="3901744" y="631640"/>
            <a:ext cx="4714875" cy="344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Enterprise Apps </a:t>
            </a:r>
            <a:endParaRPr lang="en-IL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F9DA4DC-97D9-560E-2B60-C8AF01BF50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04611" y="31165"/>
            <a:ext cx="829143" cy="8572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B29546-69AF-D1FF-4CBA-8D1FBF45B029}"/>
              </a:ext>
            </a:extLst>
          </p:cNvPr>
          <p:cNvCxnSpPr/>
          <p:nvPr/>
        </p:nvCxnSpPr>
        <p:spPr>
          <a:xfrm flipV="1">
            <a:off x="2380101" y="4952160"/>
            <a:ext cx="8421540" cy="342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B01205-C0F8-2C86-C0B2-3F34BE86644E}"/>
              </a:ext>
            </a:extLst>
          </p:cNvPr>
          <p:cNvCxnSpPr/>
          <p:nvPr/>
        </p:nvCxnSpPr>
        <p:spPr>
          <a:xfrm flipV="1">
            <a:off x="2397247" y="5734450"/>
            <a:ext cx="8421540" cy="342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C89C6A-E48E-A799-47D8-258FE24DFF09}"/>
              </a:ext>
            </a:extLst>
          </p:cNvPr>
          <p:cNvCxnSpPr/>
          <p:nvPr/>
        </p:nvCxnSpPr>
        <p:spPr>
          <a:xfrm flipV="1">
            <a:off x="2405695" y="4155594"/>
            <a:ext cx="8421540" cy="342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557577-2309-B100-A849-C65438B31A7F}"/>
              </a:ext>
            </a:extLst>
          </p:cNvPr>
          <p:cNvSpPr txBox="1"/>
          <p:nvPr/>
        </p:nvSpPr>
        <p:spPr>
          <a:xfrm>
            <a:off x="3999707" y="5885800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Sensor</a:t>
            </a:r>
            <a:endParaRPr lang="en-IL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707ADA-D065-C0B3-1B6C-B2B927D3EA61}"/>
              </a:ext>
            </a:extLst>
          </p:cNvPr>
          <p:cNvSpPr txBox="1"/>
          <p:nvPr/>
        </p:nvSpPr>
        <p:spPr>
          <a:xfrm>
            <a:off x="7294376" y="586266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Sensor</a:t>
            </a:r>
            <a:endParaRPr lang="en-IL" sz="12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3B48F9-9645-F28D-0416-FAC08F617E66}"/>
              </a:ext>
            </a:extLst>
          </p:cNvPr>
          <p:cNvSpPr txBox="1"/>
          <p:nvPr/>
        </p:nvSpPr>
        <p:spPr>
          <a:xfrm>
            <a:off x="10370524" y="5761201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Sensor</a:t>
            </a:r>
            <a:endParaRPr lang="en-IL" sz="12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9D0456-D273-D8BC-95AE-7C7AB47B39D1}"/>
              </a:ext>
            </a:extLst>
          </p:cNvPr>
          <p:cNvSpPr txBox="1"/>
          <p:nvPr/>
        </p:nvSpPr>
        <p:spPr>
          <a:xfrm>
            <a:off x="2410689" y="5805053"/>
            <a:ext cx="921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Field device</a:t>
            </a:r>
            <a:endParaRPr lang="en-IL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4A7AA4-5C87-4AD8-D764-91270F927CA3}"/>
              </a:ext>
            </a:extLst>
          </p:cNvPr>
          <p:cNvSpPr txBox="1"/>
          <p:nvPr/>
        </p:nvSpPr>
        <p:spPr>
          <a:xfrm>
            <a:off x="9127167" y="5802394"/>
            <a:ext cx="921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Field device</a:t>
            </a:r>
            <a:endParaRPr lang="en-IL"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CBB7F0-D665-D0CA-FD02-4E46CED92ECD}"/>
              </a:ext>
            </a:extLst>
          </p:cNvPr>
          <p:cNvSpPr txBox="1"/>
          <p:nvPr/>
        </p:nvSpPr>
        <p:spPr>
          <a:xfrm>
            <a:off x="5933681" y="5783241"/>
            <a:ext cx="921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Field device</a:t>
            </a:r>
            <a:endParaRPr lang="en-IL" sz="120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AE9DA6AB-5F86-2B09-2354-A0E8942BA576}"/>
              </a:ext>
            </a:extLst>
          </p:cNvPr>
          <p:cNvSpPr/>
          <p:nvPr/>
        </p:nvSpPr>
        <p:spPr>
          <a:xfrm>
            <a:off x="3279233" y="1411817"/>
            <a:ext cx="6044947" cy="683705"/>
          </a:xfrm>
          <a:custGeom>
            <a:avLst/>
            <a:gdLst>
              <a:gd name="connsiteX0" fmla="*/ 3186589 w 6373367"/>
              <a:gd name="connsiteY0" fmla="*/ 720852 h 720851"/>
              <a:gd name="connsiteX1" fmla="*/ 988790 w 6373367"/>
              <a:gd name="connsiteY1" fmla="*/ 637794 h 720851"/>
              <a:gd name="connsiteX2" fmla="*/ 312801 w 6373367"/>
              <a:gd name="connsiteY2" fmla="*/ 546259 h 720851"/>
              <a:gd name="connsiteX3" fmla="*/ 0 w 6373367"/>
              <a:gd name="connsiteY3" fmla="*/ 360426 h 720851"/>
              <a:gd name="connsiteX4" fmla="*/ 519208 w 6373367"/>
              <a:gd name="connsiteY4" fmla="*/ 137636 h 720851"/>
              <a:gd name="connsiteX5" fmla="*/ 3186684 w 6373367"/>
              <a:gd name="connsiteY5" fmla="*/ 0 h 720851"/>
              <a:gd name="connsiteX6" fmla="*/ 5854161 w 6373367"/>
              <a:gd name="connsiteY6" fmla="*/ 137636 h 720851"/>
              <a:gd name="connsiteX7" fmla="*/ 6373368 w 6373367"/>
              <a:gd name="connsiteY7" fmla="*/ 360426 h 720851"/>
              <a:gd name="connsiteX8" fmla="*/ 6060472 w 6373367"/>
              <a:gd name="connsiteY8" fmla="*/ 546259 h 720851"/>
              <a:gd name="connsiteX9" fmla="*/ 5384483 w 6373367"/>
              <a:gd name="connsiteY9" fmla="*/ 637794 h 720851"/>
              <a:gd name="connsiteX10" fmla="*/ 3186684 w 6373367"/>
              <a:gd name="connsiteY10" fmla="*/ 720852 h 72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73367" h="720851">
                <a:moveTo>
                  <a:pt x="3186589" y="720852"/>
                </a:moveTo>
                <a:cubicBezTo>
                  <a:pt x="2356866" y="720852"/>
                  <a:pt x="1576388" y="691325"/>
                  <a:pt x="988790" y="637794"/>
                </a:cubicBezTo>
                <a:cubicBezTo>
                  <a:pt x="700278" y="611505"/>
                  <a:pt x="472916" y="580739"/>
                  <a:pt x="312801" y="546259"/>
                </a:cubicBezTo>
                <a:cubicBezTo>
                  <a:pt x="150305" y="511302"/>
                  <a:pt x="0" y="464534"/>
                  <a:pt x="0" y="360426"/>
                </a:cubicBezTo>
                <a:cubicBezTo>
                  <a:pt x="0" y="256318"/>
                  <a:pt x="140684" y="194786"/>
                  <a:pt x="519208" y="137636"/>
                </a:cubicBezTo>
                <a:cubicBezTo>
                  <a:pt x="1090232" y="51435"/>
                  <a:pt x="2087309" y="0"/>
                  <a:pt x="3186684" y="0"/>
                </a:cubicBezTo>
                <a:cubicBezTo>
                  <a:pt x="4286060" y="0"/>
                  <a:pt x="5283137" y="51435"/>
                  <a:pt x="5854161" y="137636"/>
                </a:cubicBezTo>
                <a:cubicBezTo>
                  <a:pt x="6232589" y="194786"/>
                  <a:pt x="6373368" y="255175"/>
                  <a:pt x="6373368" y="360426"/>
                </a:cubicBezTo>
                <a:cubicBezTo>
                  <a:pt x="6373368" y="465677"/>
                  <a:pt x="6222969" y="511302"/>
                  <a:pt x="6060472" y="546259"/>
                </a:cubicBezTo>
                <a:cubicBezTo>
                  <a:pt x="5900452" y="580739"/>
                  <a:pt x="5672995" y="611505"/>
                  <a:pt x="5384483" y="637794"/>
                </a:cubicBezTo>
                <a:cubicBezTo>
                  <a:pt x="4796886" y="691325"/>
                  <a:pt x="4016312" y="720852"/>
                  <a:pt x="3186684" y="720852"/>
                </a:cubicBezTo>
                <a:close/>
              </a:path>
            </a:pathLst>
          </a:custGeom>
          <a:noFill/>
          <a:ln w="28575" cap="flat">
            <a:solidFill>
              <a:srgbClr val="158864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039E0616-7AFB-D685-F6D6-7CCFA5CDA945}"/>
              </a:ext>
            </a:extLst>
          </p:cNvPr>
          <p:cNvSpPr/>
          <p:nvPr/>
        </p:nvSpPr>
        <p:spPr>
          <a:xfrm>
            <a:off x="8921889" y="1387245"/>
            <a:ext cx="742428" cy="805260"/>
          </a:xfrm>
          <a:custGeom>
            <a:avLst/>
            <a:gdLst>
              <a:gd name="connsiteX0" fmla="*/ 200501 w 782764"/>
              <a:gd name="connsiteY0" fmla="*/ 510254 h 849010"/>
              <a:gd name="connsiteX1" fmla="*/ 165163 w 782764"/>
              <a:gd name="connsiteY1" fmla="*/ 387953 h 849010"/>
              <a:gd name="connsiteX2" fmla="*/ 202502 w 782764"/>
              <a:gd name="connsiteY2" fmla="*/ 262700 h 849010"/>
              <a:gd name="connsiteX3" fmla="*/ 266033 w 782764"/>
              <a:gd name="connsiteY3" fmla="*/ 197929 h 849010"/>
              <a:gd name="connsiteX4" fmla="*/ 395001 w 782764"/>
              <a:gd name="connsiteY4" fmla="*/ 158210 h 849010"/>
              <a:gd name="connsiteX5" fmla="*/ 624840 w 782764"/>
              <a:gd name="connsiteY5" fmla="*/ 388049 h 849010"/>
              <a:gd name="connsiteX6" fmla="*/ 395001 w 782764"/>
              <a:gd name="connsiteY6" fmla="*/ 617887 h 849010"/>
              <a:gd name="connsiteX7" fmla="*/ 262985 w 782764"/>
              <a:gd name="connsiteY7" fmla="*/ 575882 h 849010"/>
              <a:gd name="connsiteX8" fmla="*/ 122967 w 782764"/>
              <a:gd name="connsiteY8" fmla="*/ 611410 h 849010"/>
              <a:gd name="connsiteX9" fmla="*/ 81629 w 782764"/>
              <a:gd name="connsiteY9" fmla="*/ 619887 h 849010"/>
              <a:gd name="connsiteX10" fmla="*/ 307467 w 782764"/>
              <a:gd name="connsiteY10" fmla="*/ 819150 h 849010"/>
              <a:gd name="connsiteX11" fmla="*/ 475298 w 782764"/>
              <a:gd name="connsiteY11" fmla="*/ 819150 h 849010"/>
              <a:gd name="connsiteX12" fmla="*/ 782764 w 782764"/>
              <a:gd name="connsiteY12" fmla="*/ 391382 h 849010"/>
              <a:gd name="connsiteX13" fmla="*/ 391382 w 782764"/>
              <a:gd name="connsiteY13" fmla="*/ 0 h 849010"/>
              <a:gd name="connsiteX14" fmla="*/ 81725 w 782764"/>
              <a:gd name="connsiteY14" fmla="*/ 152209 h 849010"/>
              <a:gd name="connsiteX15" fmla="*/ 36862 w 782764"/>
              <a:gd name="connsiteY15" fmla="*/ 225552 h 849010"/>
              <a:gd name="connsiteX16" fmla="*/ 0 w 782764"/>
              <a:gd name="connsiteY16" fmla="*/ 391382 h 849010"/>
              <a:gd name="connsiteX17" fmla="*/ 35719 w 782764"/>
              <a:gd name="connsiteY17" fmla="*/ 547116 h 849010"/>
              <a:gd name="connsiteX18" fmla="*/ 106109 w 782764"/>
              <a:gd name="connsiteY18" fmla="*/ 533019 h 849010"/>
              <a:gd name="connsiteX19" fmla="*/ 200501 w 782764"/>
              <a:gd name="connsiteY19" fmla="*/ 510159 h 84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82764" h="849010">
                <a:moveTo>
                  <a:pt x="200501" y="510254"/>
                </a:moveTo>
                <a:cubicBezTo>
                  <a:pt x="178022" y="474821"/>
                  <a:pt x="165163" y="432911"/>
                  <a:pt x="165163" y="387953"/>
                </a:cubicBezTo>
                <a:cubicBezTo>
                  <a:pt x="165163" y="341662"/>
                  <a:pt x="178879" y="298704"/>
                  <a:pt x="202502" y="262700"/>
                </a:cubicBezTo>
                <a:cubicBezTo>
                  <a:pt x="219170" y="237077"/>
                  <a:pt x="240792" y="215075"/>
                  <a:pt x="266033" y="197929"/>
                </a:cubicBezTo>
                <a:cubicBezTo>
                  <a:pt x="302895" y="172879"/>
                  <a:pt x="347282" y="158210"/>
                  <a:pt x="395001" y="158210"/>
                </a:cubicBezTo>
                <a:cubicBezTo>
                  <a:pt x="521589" y="158210"/>
                  <a:pt x="624840" y="261366"/>
                  <a:pt x="624840" y="388049"/>
                </a:cubicBezTo>
                <a:cubicBezTo>
                  <a:pt x="624840" y="514731"/>
                  <a:pt x="521589" y="617887"/>
                  <a:pt x="395001" y="617887"/>
                </a:cubicBezTo>
                <a:cubicBezTo>
                  <a:pt x="345948" y="617887"/>
                  <a:pt x="300323" y="602361"/>
                  <a:pt x="262985" y="575882"/>
                </a:cubicBezTo>
                <a:cubicBezTo>
                  <a:pt x="212788" y="591979"/>
                  <a:pt x="162306" y="602933"/>
                  <a:pt x="122967" y="611410"/>
                </a:cubicBezTo>
                <a:cubicBezTo>
                  <a:pt x="109633" y="614267"/>
                  <a:pt x="95821" y="617125"/>
                  <a:pt x="81629" y="619887"/>
                </a:cubicBezTo>
                <a:cubicBezTo>
                  <a:pt x="147733" y="704850"/>
                  <a:pt x="240602" y="765524"/>
                  <a:pt x="307467" y="819150"/>
                </a:cubicBezTo>
                <a:cubicBezTo>
                  <a:pt x="356521" y="858965"/>
                  <a:pt x="426244" y="858965"/>
                  <a:pt x="475298" y="819150"/>
                </a:cubicBezTo>
                <a:cubicBezTo>
                  <a:pt x="590645" y="726567"/>
                  <a:pt x="782764" y="613410"/>
                  <a:pt x="782764" y="391382"/>
                </a:cubicBezTo>
                <a:cubicBezTo>
                  <a:pt x="782764" y="175069"/>
                  <a:pt x="607695" y="0"/>
                  <a:pt x="391382" y="0"/>
                </a:cubicBezTo>
                <a:cubicBezTo>
                  <a:pt x="265557" y="0"/>
                  <a:pt x="153352" y="59626"/>
                  <a:pt x="81725" y="152209"/>
                </a:cubicBezTo>
                <a:cubicBezTo>
                  <a:pt x="64198" y="174784"/>
                  <a:pt x="49149" y="199358"/>
                  <a:pt x="36862" y="225552"/>
                </a:cubicBezTo>
                <a:cubicBezTo>
                  <a:pt x="13240" y="275939"/>
                  <a:pt x="0" y="332137"/>
                  <a:pt x="0" y="391382"/>
                </a:cubicBezTo>
                <a:cubicBezTo>
                  <a:pt x="0" y="450437"/>
                  <a:pt x="13621" y="501777"/>
                  <a:pt x="35719" y="547116"/>
                </a:cubicBezTo>
                <a:cubicBezTo>
                  <a:pt x="60484" y="542449"/>
                  <a:pt x="84011" y="537686"/>
                  <a:pt x="106109" y="533019"/>
                </a:cubicBezTo>
                <a:cubicBezTo>
                  <a:pt x="137255" y="526351"/>
                  <a:pt x="169450" y="518827"/>
                  <a:pt x="200501" y="510159"/>
                </a:cubicBezTo>
                <a:close/>
              </a:path>
            </a:pathLst>
          </a:custGeom>
          <a:solidFill>
            <a:srgbClr val="15886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09929726-8D6E-C2E5-9E5D-D9A42835CB2F}"/>
              </a:ext>
            </a:extLst>
          </p:cNvPr>
          <p:cNvSpPr/>
          <p:nvPr/>
        </p:nvSpPr>
        <p:spPr>
          <a:xfrm>
            <a:off x="2942078" y="1387335"/>
            <a:ext cx="742428" cy="805260"/>
          </a:xfrm>
          <a:custGeom>
            <a:avLst/>
            <a:gdLst>
              <a:gd name="connsiteX0" fmla="*/ 676656 w 782764"/>
              <a:gd name="connsiteY0" fmla="*/ 533019 h 849010"/>
              <a:gd name="connsiteX1" fmla="*/ 747046 w 782764"/>
              <a:gd name="connsiteY1" fmla="*/ 547116 h 849010"/>
              <a:gd name="connsiteX2" fmla="*/ 782764 w 782764"/>
              <a:gd name="connsiteY2" fmla="*/ 391382 h 849010"/>
              <a:gd name="connsiteX3" fmla="*/ 745903 w 782764"/>
              <a:gd name="connsiteY3" fmla="*/ 225552 h 849010"/>
              <a:gd name="connsiteX4" fmla="*/ 701040 w 782764"/>
              <a:gd name="connsiteY4" fmla="*/ 152210 h 849010"/>
              <a:gd name="connsiteX5" fmla="*/ 391382 w 782764"/>
              <a:gd name="connsiteY5" fmla="*/ 0 h 849010"/>
              <a:gd name="connsiteX6" fmla="*/ 0 w 782764"/>
              <a:gd name="connsiteY6" fmla="*/ 391382 h 849010"/>
              <a:gd name="connsiteX7" fmla="*/ 307467 w 782764"/>
              <a:gd name="connsiteY7" fmla="*/ 819150 h 849010"/>
              <a:gd name="connsiteX8" fmla="*/ 475297 w 782764"/>
              <a:gd name="connsiteY8" fmla="*/ 819150 h 849010"/>
              <a:gd name="connsiteX9" fmla="*/ 701135 w 782764"/>
              <a:gd name="connsiteY9" fmla="*/ 619887 h 849010"/>
              <a:gd name="connsiteX10" fmla="*/ 659797 w 782764"/>
              <a:gd name="connsiteY10" fmla="*/ 611410 h 849010"/>
              <a:gd name="connsiteX11" fmla="*/ 519779 w 782764"/>
              <a:gd name="connsiteY11" fmla="*/ 575881 h 849010"/>
              <a:gd name="connsiteX12" fmla="*/ 387763 w 782764"/>
              <a:gd name="connsiteY12" fmla="*/ 617887 h 849010"/>
              <a:gd name="connsiteX13" fmla="*/ 157925 w 782764"/>
              <a:gd name="connsiteY13" fmla="*/ 388048 h 849010"/>
              <a:gd name="connsiteX14" fmla="*/ 387763 w 782764"/>
              <a:gd name="connsiteY14" fmla="*/ 158210 h 849010"/>
              <a:gd name="connsiteX15" fmla="*/ 516731 w 782764"/>
              <a:gd name="connsiteY15" fmla="*/ 197929 h 849010"/>
              <a:gd name="connsiteX16" fmla="*/ 580263 w 782764"/>
              <a:gd name="connsiteY16" fmla="*/ 262699 h 849010"/>
              <a:gd name="connsiteX17" fmla="*/ 617601 w 782764"/>
              <a:gd name="connsiteY17" fmla="*/ 387953 h 849010"/>
              <a:gd name="connsiteX18" fmla="*/ 582263 w 782764"/>
              <a:gd name="connsiteY18" fmla="*/ 510254 h 849010"/>
              <a:gd name="connsiteX19" fmla="*/ 676656 w 782764"/>
              <a:gd name="connsiteY19" fmla="*/ 533114 h 84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82764" h="849010">
                <a:moveTo>
                  <a:pt x="676656" y="533019"/>
                </a:moveTo>
                <a:cubicBezTo>
                  <a:pt x="698754" y="537686"/>
                  <a:pt x="722281" y="542449"/>
                  <a:pt x="747046" y="547116"/>
                </a:cubicBezTo>
                <a:cubicBezTo>
                  <a:pt x="769144" y="501777"/>
                  <a:pt x="782764" y="450437"/>
                  <a:pt x="782764" y="391382"/>
                </a:cubicBezTo>
                <a:cubicBezTo>
                  <a:pt x="782764" y="332327"/>
                  <a:pt x="769525" y="275939"/>
                  <a:pt x="745903" y="225552"/>
                </a:cubicBezTo>
                <a:cubicBezTo>
                  <a:pt x="733616" y="199454"/>
                  <a:pt x="718566" y="174784"/>
                  <a:pt x="701040" y="152210"/>
                </a:cubicBezTo>
                <a:cubicBezTo>
                  <a:pt x="629412" y="59531"/>
                  <a:pt x="517112" y="0"/>
                  <a:pt x="391382" y="0"/>
                </a:cubicBezTo>
                <a:cubicBezTo>
                  <a:pt x="175070" y="0"/>
                  <a:pt x="0" y="175070"/>
                  <a:pt x="0" y="391382"/>
                </a:cubicBezTo>
                <a:cubicBezTo>
                  <a:pt x="0" y="607695"/>
                  <a:pt x="192119" y="726567"/>
                  <a:pt x="307467" y="819150"/>
                </a:cubicBezTo>
                <a:cubicBezTo>
                  <a:pt x="356521" y="858964"/>
                  <a:pt x="426244" y="858964"/>
                  <a:pt x="475297" y="819150"/>
                </a:cubicBezTo>
                <a:cubicBezTo>
                  <a:pt x="542163" y="765429"/>
                  <a:pt x="635032" y="704755"/>
                  <a:pt x="701135" y="619887"/>
                </a:cubicBezTo>
                <a:cubicBezTo>
                  <a:pt x="686943" y="617125"/>
                  <a:pt x="673132" y="614267"/>
                  <a:pt x="659797" y="611410"/>
                </a:cubicBezTo>
                <a:cubicBezTo>
                  <a:pt x="620459" y="602932"/>
                  <a:pt x="569976" y="591979"/>
                  <a:pt x="519779" y="575881"/>
                </a:cubicBezTo>
                <a:cubicBezTo>
                  <a:pt x="482441" y="602361"/>
                  <a:pt x="436817" y="617887"/>
                  <a:pt x="387763" y="617887"/>
                </a:cubicBezTo>
                <a:cubicBezTo>
                  <a:pt x="261175" y="617887"/>
                  <a:pt x="157925" y="514731"/>
                  <a:pt x="157925" y="388048"/>
                </a:cubicBezTo>
                <a:cubicBezTo>
                  <a:pt x="157925" y="261366"/>
                  <a:pt x="261175" y="158210"/>
                  <a:pt x="387763" y="158210"/>
                </a:cubicBezTo>
                <a:cubicBezTo>
                  <a:pt x="435578" y="158210"/>
                  <a:pt x="479870" y="172974"/>
                  <a:pt x="516731" y="197929"/>
                </a:cubicBezTo>
                <a:cubicBezTo>
                  <a:pt x="541972" y="215074"/>
                  <a:pt x="563594" y="237077"/>
                  <a:pt x="580263" y="262699"/>
                </a:cubicBezTo>
                <a:cubicBezTo>
                  <a:pt x="603885" y="298799"/>
                  <a:pt x="617601" y="341757"/>
                  <a:pt x="617601" y="387953"/>
                </a:cubicBezTo>
                <a:cubicBezTo>
                  <a:pt x="617601" y="434149"/>
                  <a:pt x="604647" y="474821"/>
                  <a:pt x="582263" y="510254"/>
                </a:cubicBezTo>
                <a:cubicBezTo>
                  <a:pt x="613315" y="518827"/>
                  <a:pt x="645414" y="526352"/>
                  <a:pt x="676656" y="533114"/>
                </a:cubicBezTo>
                <a:close/>
              </a:path>
            </a:pathLst>
          </a:custGeom>
          <a:solidFill>
            <a:srgbClr val="15886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pic>
        <p:nvPicPr>
          <p:cNvPr id="133" name="Graphic 132">
            <a:extLst>
              <a:ext uri="{FF2B5EF4-FFF2-40B4-BE49-F238E27FC236}">
                <a16:creationId xmlns:a16="http://schemas.microsoft.com/office/drawing/2014/main" id="{E77605D1-A24E-95B6-BA9B-5C45994217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75769" y="2073030"/>
            <a:ext cx="1346092" cy="189718"/>
          </a:xfrm>
          <a:prstGeom prst="rect">
            <a:avLst/>
          </a:prstGeom>
        </p:spPr>
      </p:pic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D94F830F-8042-29FB-92A0-5DC1558D4E6D}"/>
              </a:ext>
            </a:extLst>
          </p:cNvPr>
          <p:cNvSpPr/>
          <p:nvPr/>
        </p:nvSpPr>
        <p:spPr>
          <a:xfrm>
            <a:off x="5913090" y="1665814"/>
            <a:ext cx="772643" cy="782803"/>
          </a:xfrm>
          <a:custGeom>
            <a:avLst/>
            <a:gdLst>
              <a:gd name="connsiteX0" fmla="*/ 1026605 w 2053208"/>
              <a:gd name="connsiteY0" fmla="*/ 0 h 2226111"/>
              <a:gd name="connsiteX1" fmla="*/ 0 w 2053208"/>
              <a:gd name="connsiteY1" fmla="*/ 1026605 h 2226111"/>
              <a:gd name="connsiteX2" fmla="*/ 806387 w 2053208"/>
              <a:gd name="connsiteY2" fmla="*/ 2147888 h 2226111"/>
              <a:gd name="connsiteX3" fmla="*/ 1246823 w 2053208"/>
              <a:gd name="connsiteY3" fmla="*/ 2147888 h 2226111"/>
              <a:gd name="connsiteX4" fmla="*/ 2053209 w 2053208"/>
              <a:gd name="connsiteY4" fmla="*/ 1026605 h 2226111"/>
              <a:gd name="connsiteX5" fmla="*/ 1026605 w 2053208"/>
              <a:gd name="connsiteY5" fmla="*/ 0 h 2226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53208" h="2226111">
                <a:moveTo>
                  <a:pt x="1026605" y="0"/>
                </a:moveTo>
                <a:cubicBezTo>
                  <a:pt x="459581" y="0"/>
                  <a:pt x="0" y="459581"/>
                  <a:pt x="0" y="1026605"/>
                </a:cubicBezTo>
                <a:cubicBezTo>
                  <a:pt x="0" y="1593628"/>
                  <a:pt x="504254" y="1905286"/>
                  <a:pt x="806387" y="2147888"/>
                </a:cubicBezTo>
                <a:cubicBezTo>
                  <a:pt x="935069" y="2252186"/>
                  <a:pt x="1118044" y="2252186"/>
                  <a:pt x="1246823" y="2147888"/>
                </a:cubicBezTo>
                <a:cubicBezTo>
                  <a:pt x="1548955" y="1905381"/>
                  <a:pt x="2053209" y="1608582"/>
                  <a:pt x="2053209" y="1026605"/>
                </a:cubicBezTo>
                <a:cubicBezTo>
                  <a:pt x="2053209" y="444627"/>
                  <a:pt x="1591532" y="0"/>
                  <a:pt x="1026605" y="0"/>
                </a:cubicBezTo>
                <a:close/>
              </a:path>
            </a:pathLst>
          </a:custGeom>
          <a:solidFill>
            <a:srgbClr val="158864"/>
          </a:solidFill>
          <a:ln w="9525" cap="flat">
            <a:solidFill>
              <a:srgbClr val="158864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5F81F94C-2F3F-DABA-89A5-0902B56493BB}"/>
              </a:ext>
            </a:extLst>
          </p:cNvPr>
          <p:cNvSpPr/>
          <p:nvPr/>
        </p:nvSpPr>
        <p:spPr>
          <a:xfrm>
            <a:off x="6035604" y="1787734"/>
            <a:ext cx="527617" cy="493036"/>
          </a:xfrm>
          <a:custGeom>
            <a:avLst/>
            <a:gdLst>
              <a:gd name="connsiteX0" fmla="*/ 1402080 w 1402080"/>
              <a:gd name="connsiteY0" fmla="*/ 701040 h 1402080"/>
              <a:gd name="connsiteX1" fmla="*/ 701040 w 1402080"/>
              <a:gd name="connsiteY1" fmla="*/ 1402080 h 1402080"/>
              <a:gd name="connsiteX2" fmla="*/ 0 w 1402080"/>
              <a:gd name="connsiteY2" fmla="*/ 701040 h 1402080"/>
              <a:gd name="connsiteX3" fmla="*/ 701040 w 1402080"/>
              <a:gd name="connsiteY3" fmla="*/ 0 h 1402080"/>
              <a:gd name="connsiteX4" fmla="*/ 1402080 w 1402080"/>
              <a:gd name="connsiteY4" fmla="*/ 701040 h 140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2080" h="1402080">
                <a:moveTo>
                  <a:pt x="1402080" y="701040"/>
                </a:moveTo>
                <a:cubicBezTo>
                  <a:pt x="1402080" y="1088214"/>
                  <a:pt x="1088214" y="1402080"/>
                  <a:pt x="701040" y="1402080"/>
                </a:cubicBezTo>
                <a:cubicBezTo>
                  <a:pt x="313866" y="1402080"/>
                  <a:pt x="0" y="1088214"/>
                  <a:pt x="0" y="701040"/>
                </a:cubicBezTo>
                <a:cubicBezTo>
                  <a:pt x="0" y="313866"/>
                  <a:pt x="313866" y="0"/>
                  <a:pt x="701040" y="0"/>
                </a:cubicBezTo>
                <a:cubicBezTo>
                  <a:pt x="1088214" y="0"/>
                  <a:pt x="1402080" y="313866"/>
                  <a:pt x="1402080" y="70104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158864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3CEF726-2F0F-1CD4-C4E9-C013997498B1}"/>
              </a:ext>
            </a:extLst>
          </p:cNvPr>
          <p:cNvSpPr txBox="1"/>
          <p:nvPr/>
        </p:nvSpPr>
        <p:spPr>
          <a:xfrm>
            <a:off x="6150854" y="1741594"/>
            <a:ext cx="284023" cy="97406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Cato </a:t>
            </a:r>
            <a:r>
              <a:rPr lang="en-US" sz="1200" b="1" err="1">
                <a:solidFill>
                  <a:schemeClr val="bg1"/>
                </a:solidFill>
              </a:rPr>
              <a:t>PoP</a:t>
            </a:r>
            <a:endParaRPr lang="en-US" sz="1200">
              <a:solidFill>
                <a:schemeClr val="bg1"/>
              </a:solidFill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4E79D22-A7B0-2E6B-4F4A-B24C949B7CC4}"/>
              </a:ext>
            </a:extLst>
          </p:cNvPr>
          <p:cNvCxnSpPr/>
          <p:nvPr/>
        </p:nvCxnSpPr>
        <p:spPr>
          <a:xfrm flipV="1">
            <a:off x="2352451" y="3325774"/>
            <a:ext cx="8421540" cy="342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2" name="Graphic 151">
            <a:extLst>
              <a:ext uri="{FF2B5EF4-FFF2-40B4-BE49-F238E27FC236}">
                <a16:creationId xmlns:a16="http://schemas.microsoft.com/office/drawing/2014/main" id="{52258DA7-A5E0-1DE3-A217-53773C277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41880" y="3493627"/>
            <a:ext cx="593526" cy="593526"/>
          </a:xfrm>
          <a:prstGeom prst="rect">
            <a:avLst/>
          </a:prstGeom>
        </p:spPr>
      </p:pic>
      <p:pic>
        <p:nvPicPr>
          <p:cNvPr id="154" name="Graphic 153">
            <a:extLst>
              <a:ext uri="{FF2B5EF4-FFF2-40B4-BE49-F238E27FC236}">
                <a16:creationId xmlns:a16="http://schemas.microsoft.com/office/drawing/2014/main" id="{5E944F79-D49E-8646-F6C5-B5E1A0DB4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2497" y="3493321"/>
            <a:ext cx="593526" cy="593526"/>
          </a:xfrm>
          <a:prstGeom prst="rect">
            <a:avLst/>
          </a:prstGeom>
        </p:spPr>
      </p:pic>
      <p:pic>
        <p:nvPicPr>
          <p:cNvPr id="156" name="Graphic 155">
            <a:extLst>
              <a:ext uri="{FF2B5EF4-FFF2-40B4-BE49-F238E27FC236}">
                <a16:creationId xmlns:a16="http://schemas.microsoft.com/office/drawing/2014/main" id="{0438D04C-EEDD-69DD-9ABE-1D4BD7D17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5446" y="3447178"/>
            <a:ext cx="593526" cy="593526"/>
          </a:xfrm>
          <a:prstGeom prst="rect">
            <a:avLst/>
          </a:prstGeom>
        </p:spPr>
      </p:pic>
      <p:pic>
        <p:nvPicPr>
          <p:cNvPr id="196" name="Graphic 195">
            <a:extLst>
              <a:ext uri="{FF2B5EF4-FFF2-40B4-BE49-F238E27FC236}">
                <a16:creationId xmlns:a16="http://schemas.microsoft.com/office/drawing/2014/main" id="{2ACB7B93-DFE2-616B-5563-898DD988045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57205" y="3422979"/>
            <a:ext cx="421484" cy="509293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71742887-114D-AEA3-1923-002EAB407B6F}"/>
              </a:ext>
            </a:extLst>
          </p:cNvPr>
          <p:cNvSpPr txBox="1"/>
          <p:nvPr/>
        </p:nvSpPr>
        <p:spPr>
          <a:xfrm>
            <a:off x="2569638" y="3578299"/>
            <a:ext cx="976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File server </a:t>
            </a:r>
            <a:endParaRPr lang="en-IL" sz="140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C69B6E65-8980-FCDA-5105-CC7C00E72488}"/>
              </a:ext>
            </a:extLst>
          </p:cNvPr>
          <p:cNvSpPr txBox="1"/>
          <p:nvPr/>
        </p:nvSpPr>
        <p:spPr>
          <a:xfrm>
            <a:off x="4224401" y="3575370"/>
            <a:ext cx="1071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Jump server</a:t>
            </a:r>
            <a:endParaRPr lang="en-IL" sz="140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FE475B3-C12D-B0D5-E48B-B57FD3277CD7}"/>
              </a:ext>
            </a:extLst>
          </p:cNvPr>
          <p:cNvSpPr txBox="1"/>
          <p:nvPr/>
        </p:nvSpPr>
        <p:spPr>
          <a:xfrm>
            <a:off x="6282655" y="3572951"/>
            <a:ext cx="1032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Print server</a:t>
            </a:r>
            <a:endParaRPr lang="en-IL" sz="140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0CAF11F-0C8D-937D-750F-0C6130F7FA06}"/>
              </a:ext>
            </a:extLst>
          </p:cNvPr>
          <p:cNvSpPr txBox="1"/>
          <p:nvPr/>
        </p:nvSpPr>
        <p:spPr>
          <a:xfrm>
            <a:off x="8068855" y="3572950"/>
            <a:ext cx="846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Historian</a:t>
            </a:r>
            <a:endParaRPr lang="en-IL" sz="140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3426B2A-925D-6185-8755-211B9082C1E6}"/>
              </a:ext>
            </a:extLst>
          </p:cNvPr>
          <p:cNvSpPr txBox="1"/>
          <p:nvPr/>
        </p:nvSpPr>
        <p:spPr>
          <a:xfrm>
            <a:off x="31689" y="2576523"/>
            <a:ext cx="3335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IT/OT Segmentation</a:t>
            </a:r>
            <a:endParaRPr lang="en-IL" sz="2400" b="1">
              <a:solidFill>
                <a:srgbClr val="FF0000"/>
              </a:solidFill>
            </a:endParaRPr>
          </a:p>
        </p:txBody>
      </p:sp>
      <p:sp>
        <p:nvSpPr>
          <p:cNvPr id="245" name="Arrow: Up-Down 244">
            <a:extLst>
              <a:ext uri="{FF2B5EF4-FFF2-40B4-BE49-F238E27FC236}">
                <a16:creationId xmlns:a16="http://schemas.microsoft.com/office/drawing/2014/main" id="{0843B022-D9ED-9E55-82FC-65B5176897B4}"/>
              </a:ext>
            </a:extLst>
          </p:cNvPr>
          <p:cNvSpPr/>
          <p:nvPr/>
        </p:nvSpPr>
        <p:spPr>
          <a:xfrm>
            <a:off x="6018427" y="2470925"/>
            <a:ext cx="251421" cy="701333"/>
          </a:xfrm>
          <a:prstGeom prst="up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46" name="Graphic 726">
            <a:extLst>
              <a:ext uri="{FF2B5EF4-FFF2-40B4-BE49-F238E27FC236}">
                <a16:creationId xmlns:a16="http://schemas.microsoft.com/office/drawing/2014/main" id="{E89E4A4D-0775-379B-058C-0F9EC0EE8620}"/>
              </a:ext>
            </a:extLst>
          </p:cNvPr>
          <p:cNvGrpSpPr/>
          <p:nvPr/>
        </p:nvGrpSpPr>
        <p:grpSpPr>
          <a:xfrm>
            <a:off x="6016886" y="3196675"/>
            <a:ext cx="645401" cy="284937"/>
            <a:chOff x="5737383" y="4595145"/>
            <a:chExt cx="680465" cy="300418"/>
          </a:xfrm>
          <a:solidFill>
            <a:srgbClr val="FFFFFF"/>
          </a:solidFill>
        </p:grpSpPr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E91A6DF1-F069-2585-7B51-819D865BF030}"/>
                </a:ext>
              </a:extLst>
            </p:cNvPr>
            <p:cNvSpPr/>
            <p:nvPr/>
          </p:nvSpPr>
          <p:spPr>
            <a:xfrm>
              <a:off x="5737383" y="4595145"/>
              <a:ext cx="680465" cy="300418"/>
            </a:xfrm>
            <a:custGeom>
              <a:avLst/>
              <a:gdLst>
                <a:gd name="connsiteX0" fmla="*/ 679514 w 680465"/>
                <a:gd name="connsiteY0" fmla="*/ 0 h 300418"/>
                <a:gd name="connsiteX1" fmla="*/ 680466 w 680465"/>
                <a:gd name="connsiteY1" fmla="*/ 952 h 300418"/>
                <a:gd name="connsiteX2" fmla="*/ 680466 w 680465"/>
                <a:gd name="connsiteY2" fmla="*/ 299466 h 300418"/>
                <a:gd name="connsiteX3" fmla="*/ 679514 w 680465"/>
                <a:gd name="connsiteY3" fmla="*/ 300419 h 300418"/>
                <a:gd name="connsiteX4" fmla="*/ 953 w 680465"/>
                <a:gd name="connsiteY4" fmla="*/ 300419 h 300418"/>
                <a:gd name="connsiteX5" fmla="*/ 0 w 680465"/>
                <a:gd name="connsiteY5" fmla="*/ 299466 h 300418"/>
                <a:gd name="connsiteX6" fmla="*/ 0 w 680465"/>
                <a:gd name="connsiteY6" fmla="*/ 952 h 300418"/>
                <a:gd name="connsiteX7" fmla="*/ 953 w 680465"/>
                <a:gd name="connsiteY7" fmla="*/ 0 h 300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0465" h="300418">
                  <a:moveTo>
                    <a:pt x="679514" y="0"/>
                  </a:moveTo>
                  <a:cubicBezTo>
                    <a:pt x="680040" y="0"/>
                    <a:pt x="680466" y="426"/>
                    <a:pt x="680466" y="952"/>
                  </a:cubicBezTo>
                  <a:lnTo>
                    <a:pt x="680466" y="299466"/>
                  </a:lnTo>
                  <a:cubicBezTo>
                    <a:pt x="680466" y="299992"/>
                    <a:pt x="680039" y="300419"/>
                    <a:pt x="679514" y="300419"/>
                  </a:cubicBezTo>
                  <a:lnTo>
                    <a:pt x="953" y="300419"/>
                  </a:lnTo>
                  <a:cubicBezTo>
                    <a:pt x="426" y="300419"/>
                    <a:pt x="0" y="299992"/>
                    <a:pt x="0" y="299466"/>
                  </a:cubicBezTo>
                  <a:lnTo>
                    <a:pt x="0" y="952"/>
                  </a:lnTo>
                  <a:cubicBezTo>
                    <a:pt x="0" y="426"/>
                    <a:pt x="426" y="0"/>
                    <a:pt x="953" y="0"/>
                  </a:cubicBezTo>
                  <a:close/>
                </a:path>
              </a:pathLst>
            </a:custGeom>
            <a:solidFill>
              <a:srgbClr val="FFFFFF"/>
            </a:solidFill>
            <a:ln w="12383" cap="flat">
              <a:solidFill>
                <a:srgbClr val="15886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600"/>
            </a:p>
          </p:txBody>
        </p:sp>
        <p:grpSp>
          <p:nvGrpSpPr>
            <p:cNvPr id="248" name="Graphic 726">
              <a:extLst>
                <a:ext uri="{FF2B5EF4-FFF2-40B4-BE49-F238E27FC236}">
                  <a16:creationId xmlns:a16="http://schemas.microsoft.com/office/drawing/2014/main" id="{F7B5B7FE-4B6D-2236-F74F-40F21BF1D215}"/>
                </a:ext>
              </a:extLst>
            </p:cNvPr>
            <p:cNvGrpSpPr/>
            <p:nvPr/>
          </p:nvGrpSpPr>
          <p:grpSpPr>
            <a:xfrm>
              <a:off x="6095904" y="4680299"/>
              <a:ext cx="246792" cy="131730"/>
              <a:chOff x="6095904" y="4680299"/>
              <a:chExt cx="246792" cy="131730"/>
            </a:xfrm>
            <a:solidFill>
              <a:srgbClr val="FFFFFF"/>
            </a:solidFill>
          </p:grpSpPr>
          <p:grpSp>
            <p:nvGrpSpPr>
              <p:cNvPr id="250" name="Graphic 726">
                <a:extLst>
                  <a:ext uri="{FF2B5EF4-FFF2-40B4-BE49-F238E27FC236}">
                    <a16:creationId xmlns:a16="http://schemas.microsoft.com/office/drawing/2014/main" id="{26909457-7273-878F-434D-569FCB65FB03}"/>
                  </a:ext>
                </a:extLst>
              </p:cNvPr>
              <p:cNvGrpSpPr/>
              <p:nvPr/>
            </p:nvGrpSpPr>
            <p:grpSpPr>
              <a:xfrm>
                <a:off x="6169437" y="4680299"/>
                <a:ext cx="26098" cy="78962"/>
                <a:chOff x="6169437" y="4680299"/>
                <a:chExt cx="26098" cy="78962"/>
              </a:xfrm>
              <a:solidFill>
                <a:srgbClr val="FFFFFF"/>
              </a:solidFill>
            </p:grpSpPr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4DEA79AF-2D43-E98B-0D09-6629FA51133D}"/>
                    </a:ext>
                  </a:extLst>
                </p:cNvPr>
                <p:cNvSpPr/>
                <p:nvPr/>
              </p:nvSpPr>
              <p:spPr>
                <a:xfrm>
                  <a:off x="6169437" y="4680299"/>
                  <a:ext cx="26098" cy="26098"/>
                </a:xfrm>
                <a:custGeom>
                  <a:avLst/>
                  <a:gdLst>
                    <a:gd name="connsiteX0" fmla="*/ 26099 w 26098"/>
                    <a:gd name="connsiteY0" fmla="*/ 13049 h 26098"/>
                    <a:gd name="connsiteX1" fmla="*/ 13049 w 26098"/>
                    <a:gd name="connsiteY1" fmla="*/ 26098 h 26098"/>
                    <a:gd name="connsiteX2" fmla="*/ 0 w 26098"/>
                    <a:gd name="connsiteY2" fmla="*/ 13049 h 26098"/>
                    <a:gd name="connsiteX3" fmla="*/ 13049 w 26098"/>
                    <a:gd name="connsiteY3" fmla="*/ 0 h 26098"/>
                    <a:gd name="connsiteX4" fmla="*/ 26099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9" y="13049"/>
                      </a:moveTo>
                      <a:cubicBezTo>
                        <a:pt x="26099" y="20256"/>
                        <a:pt x="20257" y="26098"/>
                        <a:pt x="13049" y="26098"/>
                      </a:cubicBezTo>
                      <a:cubicBezTo>
                        <a:pt x="5842" y="26098"/>
                        <a:pt x="0" y="20256"/>
                        <a:pt x="0" y="13049"/>
                      </a:cubicBezTo>
                      <a:cubicBezTo>
                        <a:pt x="0" y="5842"/>
                        <a:pt x="5842" y="0"/>
                        <a:pt x="13049" y="0"/>
                      </a:cubicBezTo>
                      <a:cubicBezTo>
                        <a:pt x="20257" y="0"/>
                        <a:pt x="26099" y="5842"/>
                        <a:pt x="26099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787D58A0-DF46-7DDB-7921-D77C6A96D8E8}"/>
                    </a:ext>
                  </a:extLst>
                </p:cNvPr>
                <p:cNvSpPr/>
                <p:nvPr/>
              </p:nvSpPr>
              <p:spPr>
                <a:xfrm>
                  <a:off x="6169437" y="4733163"/>
                  <a:ext cx="26098" cy="26098"/>
                </a:xfrm>
                <a:custGeom>
                  <a:avLst/>
                  <a:gdLst>
                    <a:gd name="connsiteX0" fmla="*/ 26099 w 26098"/>
                    <a:gd name="connsiteY0" fmla="*/ 13049 h 26098"/>
                    <a:gd name="connsiteX1" fmla="*/ 13049 w 26098"/>
                    <a:gd name="connsiteY1" fmla="*/ 26099 h 26098"/>
                    <a:gd name="connsiteX2" fmla="*/ 0 w 26098"/>
                    <a:gd name="connsiteY2" fmla="*/ 13049 h 26098"/>
                    <a:gd name="connsiteX3" fmla="*/ 13049 w 26098"/>
                    <a:gd name="connsiteY3" fmla="*/ 0 h 26098"/>
                    <a:gd name="connsiteX4" fmla="*/ 26099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9" y="13049"/>
                      </a:moveTo>
                      <a:cubicBezTo>
                        <a:pt x="26099" y="20256"/>
                        <a:pt x="20257" y="26099"/>
                        <a:pt x="13049" y="26099"/>
                      </a:cubicBezTo>
                      <a:cubicBezTo>
                        <a:pt x="5842" y="26099"/>
                        <a:pt x="0" y="20256"/>
                        <a:pt x="0" y="13049"/>
                      </a:cubicBezTo>
                      <a:cubicBezTo>
                        <a:pt x="0" y="5843"/>
                        <a:pt x="5842" y="0"/>
                        <a:pt x="13049" y="0"/>
                      </a:cubicBezTo>
                      <a:cubicBezTo>
                        <a:pt x="20257" y="0"/>
                        <a:pt x="26099" y="5843"/>
                        <a:pt x="26099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</p:grpSp>
          <p:grpSp>
            <p:nvGrpSpPr>
              <p:cNvPr id="251" name="Graphic 726">
                <a:extLst>
                  <a:ext uri="{FF2B5EF4-FFF2-40B4-BE49-F238E27FC236}">
                    <a16:creationId xmlns:a16="http://schemas.microsoft.com/office/drawing/2014/main" id="{73B30F46-0069-F2C5-9BC9-E720CC53EEAB}"/>
                  </a:ext>
                </a:extLst>
              </p:cNvPr>
              <p:cNvGrpSpPr/>
              <p:nvPr/>
            </p:nvGrpSpPr>
            <p:grpSpPr>
              <a:xfrm>
                <a:off x="6243065" y="4680299"/>
                <a:ext cx="26098" cy="78962"/>
                <a:chOff x="6243065" y="4680299"/>
                <a:chExt cx="26098" cy="78962"/>
              </a:xfrm>
              <a:solidFill>
                <a:srgbClr val="FFFFFF"/>
              </a:solidFill>
            </p:grpSpPr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C139C704-8C60-0C17-FB40-4F331324AB71}"/>
                    </a:ext>
                  </a:extLst>
                </p:cNvPr>
                <p:cNvSpPr/>
                <p:nvPr/>
              </p:nvSpPr>
              <p:spPr>
                <a:xfrm>
                  <a:off x="6243065" y="4680299"/>
                  <a:ext cx="26098" cy="26098"/>
                </a:xfrm>
                <a:custGeom>
                  <a:avLst/>
                  <a:gdLst>
                    <a:gd name="connsiteX0" fmla="*/ 26098 w 26098"/>
                    <a:gd name="connsiteY0" fmla="*/ 13049 h 26098"/>
                    <a:gd name="connsiteX1" fmla="*/ 13049 w 26098"/>
                    <a:gd name="connsiteY1" fmla="*/ 26098 h 26098"/>
                    <a:gd name="connsiteX2" fmla="*/ 0 w 26098"/>
                    <a:gd name="connsiteY2" fmla="*/ 13049 h 26098"/>
                    <a:gd name="connsiteX3" fmla="*/ 13049 w 26098"/>
                    <a:gd name="connsiteY3" fmla="*/ 0 h 26098"/>
                    <a:gd name="connsiteX4" fmla="*/ 26098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8" y="13049"/>
                      </a:moveTo>
                      <a:cubicBezTo>
                        <a:pt x="26098" y="20256"/>
                        <a:pt x="20256" y="26098"/>
                        <a:pt x="13049" y="26098"/>
                      </a:cubicBezTo>
                      <a:cubicBezTo>
                        <a:pt x="5842" y="26098"/>
                        <a:pt x="0" y="20256"/>
                        <a:pt x="0" y="13049"/>
                      </a:cubicBezTo>
                      <a:cubicBezTo>
                        <a:pt x="0" y="5842"/>
                        <a:pt x="5842" y="0"/>
                        <a:pt x="13049" y="0"/>
                      </a:cubicBezTo>
                      <a:cubicBezTo>
                        <a:pt x="20256" y="0"/>
                        <a:pt x="26098" y="5842"/>
                        <a:pt x="26098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29B8B41B-5060-39C7-9DF2-6C445C81E6E7}"/>
                    </a:ext>
                  </a:extLst>
                </p:cNvPr>
                <p:cNvSpPr/>
                <p:nvPr/>
              </p:nvSpPr>
              <p:spPr>
                <a:xfrm>
                  <a:off x="6243065" y="4733163"/>
                  <a:ext cx="26098" cy="26098"/>
                </a:xfrm>
                <a:custGeom>
                  <a:avLst/>
                  <a:gdLst>
                    <a:gd name="connsiteX0" fmla="*/ 26098 w 26098"/>
                    <a:gd name="connsiteY0" fmla="*/ 13049 h 26098"/>
                    <a:gd name="connsiteX1" fmla="*/ 13049 w 26098"/>
                    <a:gd name="connsiteY1" fmla="*/ 26099 h 26098"/>
                    <a:gd name="connsiteX2" fmla="*/ 0 w 26098"/>
                    <a:gd name="connsiteY2" fmla="*/ 13049 h 26098"/>
                    <a:gd name="connsiteX3" fmla="*/ 13049 w 26098"/>
                    <a:gd name="connsiteY3" fmla="*/ 0 h 26098"/>
                    <a:gd name="connsiteX4" fmla="*/ 26098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8" y="13049"/>
                      </a:moveTo>
                      <a:cubicBezTo>
                        <a:pt x="26098" y="20256"/>
                        <a:pt x="20256" y="26099"/>
                        <a:pt x="13049" y="26099"/>
                      </a:cubicBezTo>
                      <a:cubicBezTo>
                        <a:pt x="5842" y="26099"/>
                        <a:pt x="0" y="20256"/>
                        <a:pt x="0" y="13049"/>
                      </a:cubicBezTo>
                      <a:cubicBezTo>
                        <a:pt x="0" y="5843"/>
                        <a:pt x="5842" y="0"/>
                        <a:pt x="13049" y="0"/>
                      </a:cubicBezTo>
                      <a:cubicBezTo>
                        <a:pt x="20256" y="0"/>
                        <a:pt x="26098" y="5843"/>
                        <a:pt x="26098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</p:grpSp>
          <p:grpSp>
            <p:nvGrpSpPr>
              <p:cNvPr id="252" name="Graphic 726">
                <a:extLst>
                  <a:ext uri="{FF2B5EF4-FFF2-40B4-BE49-F238E27FC236}">
                    <a16:creationId xmlns:a16="http://schemas.microsoft.com/office/drawing/2014/main" id="{C3C8A212-3BC9-4809-6AAC-43CE4C702A1C}"/>
                  </a:ext>
                </a:extLst>
              </p:cNvPr>
              <p:cNvGrpSpPr/>
              <p:nvPr/>
            </p:nvGrpSpPr>
            <p:grpSpPr>
              <a:xfrm>
                <a:off x="6316598" y="4680299"/>
                <a:ext cx="26098" cy="78962"/>
                <a:chOff x="6316598" y="4680299"/>
                <a:chExt cx="26098" cy="78962"/>
              </a:xfrm>
              <a:solidFill>
                <a:srgbClr val="FFFFFF"/>
              </a:solidFill>
            </p:grpSpPr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EB6B798D-4696-592E-97B5-2E6B28A3BF84}"/>
                    </a:ext>
                  </a:extLst>
                </p:cNvPr>
                <p:cNvSpPr/>
                <p:nvPr/>
              </p:nvSpPr>
              <p:spPr>
                <a:xfrm>
                  <a:off x="6316598" y="4680299"/>
                  <a:ext cx="26098" cy="26098"/>
                </a:xfrm>
                <a:custGeom>
                  <a:avLst/>
                  <a:gdLst>
                    <a:gd name="connsiteX0" fmla="*/ 26099 w 26098"/>
                    <a:gd name="connsiteY0" fmla="*/ 13049 h 26098"/>
                    <a:gd name="connsiteX1" fmla="*/ 13050 w 26098"/>
                    <a:gd name="connsiteY1" fmla="*/ 26098 h 26098"/>
                    <a:gd name="connsiteX2" fmla="*/ 0 w 26098"/>
                    <a:gd name="connsiteY2" fmla="*/ 13049 h 26098"/>
                    <a:gd name="connsiteX3" fmla="*/ 13050 w 26098"/>
                    <a:gd name="connsiteY3" fmla="*/ 0 h 26098"/>
                    <a:gd name="connsiteX4" fmla="*/ 26099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9" y="13049"/>
                      </a:moveTo>
                      <a:cubicBezTo>
                        <a:pt x="26099" y="20256"/>
                        <a:pt x="20257" y="26098"/>
                        <a:pt x="13050" y="26098"/>
                      </a:cubicBezTo>
                      <a:cubicBezTo>
                        <a:pt x="5842" y="26098"/>
                        <a:pt x="0" y="20256"/>
                        <a:pt x="0" y="13049"/>
                      </a:cubicBezTo>
                      <a:cubicBezTo>
                        <a:pt x="0" y="5842"/>
                        <a:pt x="5842" y="0"/>
                        <a:pt x="13050" y="0"/>
                      </a:cubicBezTo>
                      <a:cubicBezTo>
                        <a:pt x="20257" y="0"/>
                        <a:pt x="26099" y="5842"/>
                        <a:pt x="26099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993674EE-496B-633E-CF50-76B5A4C1C2B3}"/>
                    </a:ext>
                  </a:extLst>
                </p:cNvPr>
                <p:cNvSpPr/>
                <p:nvPr/>
              </p:nvSpPr>
              <p:spPr>
                <a:xfrm>
                  <a:off x="6316598" y="4733163"/>
                  <a:ext cx="26098" cy="26098"/>
                </a:xfrm>
                <a:custGeom>
                  <a:avLst/>
                  <a:gdLst>
                    <a:gd name="connsiteX0" fmla="*/ 26099 w 26098"/>
                    <a:gd name="connsiteY0" fmla="*/ 13049 h 26098"/>
                    <a:gd name="connsiteX1" fmla="*/ 13050 w 26098"/>
                    <a:gd name="connsiteY1" fmla="*/ 26099 h 26098"/>
                    <a:gd name="connsiteX2" fmla="*/ 0 w 26098"/>
                    <a:gd name="connsiteY2" fmla="*/ 13049 h 26098"/>
                    <a:gd name="connsiteX3" fmla="*/ 13050 w 26098"/>
                    <a:gd name="connsiteY3" fmla="*/ 0 h 26098"/>
                    <a:gd name="connsiteX4" fmla="*/ 26099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9" y="13049"/>
                      </a:moveTo>
                      <a:cubicBezTo>
                        <a:pt x="26099" y="20256"/>
                        <a:pt x="20257" y="26099"/>
                        <a:pt x="13050" y="26099"/>
                      </a:cubicBezTo>
                      <a:cubicBezTo>
                        <a:pt x="5842" y="26099"/>
                        <a:pt x="0" y="20256"/>
                        <a:pt x="0" y="13049"/>
                      </a:cubicBezTo>
                      <a:cubicBezTo>
                        <a:pt x="0" y="5843"/>
                        <a:pt x="5842" y="0"/>
                        <a:pt x="13050" y="0"/>
                      </a:cubicBezTo>
                      <a:cubicBezTo>
                        <a:pt x="20257" y="0"/>
                        <a:pt x="26099" y="5843"/>
                        <a:pt x="26099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</p:grpSp>
          <p:grpSp>
            <p:nvGrpSpPr>
              <p:cNvPr id="253" name="Graphic 726">
                <a:extLst>
                  <a:ext uri="{FF2B5EF4-FFF2-40B4-BE49-F238E27FC236}">
                    <a16:creationId xmlns:a16="http://schemas.microsoft.com/office/drawing/2014/main" id="{B3E3D196-3807-907F-3DC1-70A8904E7BF7}"/>
                  </a:ext>
                </a:extLst>
              </p:cNvPr>
              <p:cNvGrpSpPr/>
              <p:nvPr/>
            </p:nvGrpSpPr>
            <p:grpSpPr>
              <a:xfrm>
                <a:off x="6095904" y="4680299"/>
                <a:ext cx="26098" cy="131730"/>
                <a:chOff x="6095904" y="4680299"/>
                <a:chExt cx="26098" cy="131730"/>
              </a:xfrm>
              <a:solidFill>
                <a:srgbClr val="FFFFFF"/>
              </a:solidFill>
            </p:grpSpPr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6988743E-4510-584A-AE5B-49BBCFFB1224}"/>
                    </a:ext>
                  </a:extLst>
                </p:cNvPr>
                <p:cNvSpPr/>
                <p:nvPr/>
              </p:nvSpPr>
              <p:spPr>
                <a:xfrm>
                  <a:off x="6095904" y="4680299"/>
                  <a:ext cx="26098" cy="26098"/>
                </a:xfrm>
                <a:custGeom>
                  <a:avLst/>
                  <a:gdLst>
                    <a:gd name="connsiteX0" fmla="*/ 26098 w 26098"/>
                    <a:gd name="connsiteY0" fmla="*/ 13049 h 26098"/>
                    <a:gd name="connsiteX1" fmla="*/ 13049 w 26098"/>
                    <a:gd name="connsiteY1" fmla="*/ 26098 h 26098"/>
                    <a:gd name="connsiteX2" fmla="*/ 0 w 26098"/>
                    <a:gd name="connsiteY2" fmla="*/ 13049 h 26098"/>
                    <a:gd name="connsiteX3" fmla="*/ 13049 w 26098"/>
                    <a:gd name="connsiteY3" fmla="*/ 0 h 26098"/>
                    <a:gd name="connsiteX4" fmla="*/ 26098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8" y="13049"/>
                      </a:moveTo>
                      <a:cubicBezTo>
                        <a:pt x="26098" y="20256"/>
                        <a:pt x="20256" y="26098"/>
                        <a:pt x="13049" y="26098"/>
                      </a:cubicBezTo>
                      <a:cubicBezTo>
                        <a:pt x="5842" y="26098"/>
                        <a:pt x="0" y="20256"/>
                        <a:pt x="0" y="13049"/>
                      </a:cubicBezTo>
                      <a:cubicBezTo>
                        <a:pt x="0" y="5842"/>
                        <a:pt x="5842" y="0"/>
                        <a:pt x="13049" y="0"/>
                      </a:cubicBezTo>
                      <a:cubicBezTo>
                        <a:pt x="20256" y="0"/>
                        <a:pt x="26098" y="5842"/>
                        <a:pt x="26098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98D28E43-31FD-9B6B-306E-A671DA05D7EF}"/>
                    </a:ext>
                  </a:extLst>
                </p:cNvPr>
                <p:cNvSpPr/>
                <p:nvPr/>
              </p:nvSpPr>
              <p:spPr>
                <a:xfrm>
                  <a:off x="6095904" y="4733163"/>
                  <a:ext cx="26098" cy="26098"/>
                </a:xfrm>
                <a:custGeom>
                  <a:avLst/>
                  <a:gdLst>
                    <a:gd name="connsiteX0" fmla="*/ 26098 w 26098"/>
                    <a:gd name="connsiteY0" fmla="*/ 13049 h 26098"/>
                    <a:gd name="connsiteX1" fmla="*/ 13049 w 26098"/>
                    <a:gd name="connsiteY1" fmla="*/ 26099 h 26098"/>
                    <a:gd name="connsiteX2" fmla="*/ 0 w 26098"/>
                    <a:gd name="connsiteY2" fmla="*/ 13049 h 26098"/>
                    <a:gd name="connsiteX3" fmla="*/ 13049 w 26098"/>
                    <a:gd name="connsiteY3" fmla="*/ 0 h 26098"/>
                    <a:gd name="connsiteX4" fmla="*/ 26098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8" y="13049"/>
                      </a:moveTo>
                      <a:cubicBezTo>
                        <a:pt x="26098" y="20256"/>
                        <a:pt x="20256" y="26099"/>
                        <a:pt x="13049" y="26099"/>
                      </a:cubicBezTo>
                      <a:cubicBezTo>
                        <a:pt x="5842" y="26099"/>
                        <a:pt x="0" y="20256"/>
                        <a:pt x="0" y="13049"/>
                      </a:cubicBezTo>
                      <a:cubicBezTo>
                        <a:pt x="0" y="5843"/>
                        <a:pt x="5842" y="0"/>
                        <a:pt x="13049" y="0"/>
                      </a:cubicBezTo>
                      <a:cubicBezTo>
                        <a:pt x="20256" y="0"/>
                        <a:pt x="26098" y="5843"/>
                        <a:pt x="26098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14B275CA-F147-AE59-A01A-A6604D50CBA9}"/>
                    </a:ext>
                  </a:extLst>
                </p:cNvPr>
                <p:cNvSpPr/>
                <p:nvPr/>
              </p:nvSpPr>
              <p:spPr>
                <a:xfrm>
                  <a:off x="6095904" y="4785931"/>
                  <a:ext cx="26098" cy="26098"/>
                </a:xfrm>
                <a:custGeom>
                  <a:avLst/>
                  <a:gdLst>
                    <a:gd name="connsiteX0" fmla="*/ 26098 w 26098"/>
                    <a:gd name="connsiteY0" fmla="*/ 13049 h 26098"/>
                    <a:gd name="connsiteX1" fmla="*/ 13049 w 26098"/>
                    <a:gd name="connsiteY1" fmla="*/ 26098 h 26098"/>
                    <a:gd name="connsiteX2" fmla="*/ 0 w 26098"/>
                    <a:gd name="connsiteY2" fmla="*/ 13049 h 26098"/>
                    <a:gd name="connsiteX3" fmla="*/ 13049 w 26098"/>
                    <a:gd name="connsiteY3" fmla="*/ 0 h 26098"/>
                    <a:gd name="connsiteX4" fmla="*/ 26098 w 26098"/>
                    <a:gd name="connsiteY4" fmla="*/ 13049 h 2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98" h="26098">
                      <a:moveTo>
                        <a:pt x="26098" y="13049"/>
                      </a:moveTo>
                      <a:cubicBezTo>
                        <a:pt x="26098" y="20256"/>
                        <a:pt x="20256" y="26098"/>
                        <a:pt x="13049" y="26098"/>
                      </a:cubicBezTo>
                      <a:cubicBezTo>
                        <a:pt x="5842" y="26098"/>
                        <a:pt x="0" y="20256"/>
                        <a:pt x="0" y="13049"/>
                      </a:cubicBezTo>
                      <a:cubicBezTo>
                        <a:pt x="0" y="5842"/>
                        <a:pt x="5842" y="0"/>
                        <a:pt x="13049" y="0"/>
                      </a:cubicBezTo>
                      <a:cubicBezTo>
                        <a:pt x="20256" y="0"/>
                        <a:pt x="26098" y="5842"/>
                        <a:pt x="26098" y="130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383" cap="flat">
                  <a:solidFill>
                    <a:srgbClr val="15886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600"/>
                </a:p>
              </p:txBody>
            </p:sp>
          </p:grpSp>
        </p:grp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4B9EB401-3598-7E90-B571-F8B67E325FAB}"/>
                </a:ext>
              </a:extLst>
            </p:cNvPr>
            <p:cNvSpPr/>
            <p:nvPr/>
          </p:nvSpPr>
          <p:spPr>
            <a:xfrm>
              <a:off x="5816917" y="4683537"/>
              <a:ext cx="123634" cy="123634"/>
            </a:xfrm>
            <a:custGeom>
              <a:avLst/>
              <a:gdLst>
                <a:gd name="connsiteX0" fmla="*/ 123634 w 123634"/>
                <a:gd name="connsiteY0" fmla="*/ 61817 h 123634"/>
                <a:gd name="connsiteX1" fmla="*/ 61817 w 123634"/>
                <a:gd name="connsiteY1" fmla="*/ 123635 h 123634"/>
                <a:gd name="connsiteX2" fmla="*/ 0 w 123634"/>
                <a:gd name="connsiteY2" fmla="*/ 61817 h 123634"/>
                <a:gd name="connsiteX3" fmla="*/ 61817 w 123634"/>
                <a:gd name="connsiteY3" fmla="*/ 0 h 123634"/>
                <a:gd name="connsiteX4" fmla="*/ 123634 w 123634"/>
                <a:gd name="connsiteY4" fmla="*/ 61817 h 12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34" h="123634">
                  <a:moveTo>
                    <a:pt x="123634" y="61817"/>
                  </a:moveTo>
                  <a:cubicBezTo>
                    <a:pt x="123634" y="95958"/>
                    <a:pt x="95958" y="123635"/>
                    <a:pt x="61817" y="123635"/>
                  </a:cubicBezTo>
                  <a:cubicBezTo>
                    <a:pt x="27677" y="123635"/>
                    <a:pt x="0" y="95958"/>
                    <a:pt x="0" y="61817"/>
                  </a:cubicBezTo>
                  <a:cubicBezTo>
                    <a:pt x="0" y="27677"/>
                    <a:pt x="27677" y="0"/>
                    <a:pt x="61817" y="0"/>
                  </a:cubicBezTo>
                  <a:cubicBezTo>
                    <a:pt x="95958" y="0"/>
                    <a:pt x="123634" y="27677"/>
                    <a:pt x="123634" y="61817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15886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60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19CA7B-279F-395E-90DA-69D0D003DB02}"/>
              </a:ext>
            </a:extLst>
          </p:cNvPr>
          <p:cNvSpPr txBox="1"/>
          <p:nvPr/>
        </p:nvSpPr>
        <p:spPr>
          <a:xfrm>
            <a:off x="4237828" y="1559953"/>
            <a:ext cx="1613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WAN Segmentation</a:t>
            </a:r>
            <a:endParaRPr lang="en-IL" sz="1400"/>
          </a:p>
        </p:txBody>
      </p: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D135C95F-8BFC-9D0D-ACCA-81C73EEF0D03}"/>
              </a:ext>
            </a:extLst>
          </p:cNvPr>
          <p:cNvSpPr/>
          <p:nvPr/>
        </p:nvSpPr>
        <p:spPr>
          <a:xfrm>
            <a:off x="6369309" y="2477185"/>
            <a:ext cx="251421" cy="701333"/>
          </a:xfrm>
          <a:prstGeom prst="up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Arrow: Up-Down 6">
            <a:extLst>
              <a:ext uri="{FF2B5EF4-FFF2-40B4-BE49-F238E27FC236}">
                <a16:creationId xmlns:a16="http://schemas.microsoft.com/office/drawing/2014/main" id="{8A1964B4-A5A7-629F-4D90-1C3D2693CA5F}"/>
              </a:ext>
            </a:extLst>
          </p:cNvPr>
          <p:cNvSpPr/>
          <p:nvPr/>
        </p:nvSpPr>
        <p:spPr>
          <a:xfrm rot="1522178">
            <a:off x="9433744" y="699588"/>
            <a:ext cx="251421" cy="701333"/>
          </a:xfrm>
          <a:prstGeom prst="up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8" name="Graphic 7" descr="Cloud outline">
            <a:extLst>
              <a:ext uri="{FF2B5EF4-FFF2-40B4-BE49-F238E27FC236}">
                <a16:creationId xmlns:a16="http://schemas.microsoft.com/office/drawing/2014/main" id="{25E281AF-F615-1E18-4C1A-3D44B9575E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31687" y="-33275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4A4600-3FE6-DE1A-BABA-7DDA7AA6C064}"/>
              </a:ext>
            </a:extLst>
          </p:cNvPr>
          <p:cNvSpPr txBox="1"/>
          <p:nvPr/>
        </p:nvSpPr>
        <p:spPr>
          <a:xfrm>
            <a:off x="6485489" y="1562372"/>
            <a:ext cx="2325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Internet/Cloud Segmentation</a:t>
            </a:r>
            <a:endParaRPr lang="en-IL" sz="1400"/>
          </a:p>
        </p:txBody>
      </p:sp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B495BC26-FED7-8445-2797-40F4F4A8BF44}"/>
              </a:ext>
            </a:extLst>
          </p:cNvPr>
          <p:cNvSpPr/>
          <p:nvPr/>
        </p:nvSpPr>
        <p:spPr>
          <a:xfrm rot="3283980" flipH="1">
            <a:off x="4728104" y="2933472"/>
            <a:ext cx="172259" cy="2847033"/>
          </a:xfrm>
          <a:prstGeom prst="upDownArrow">
            <a:avLst/>
          </a:prstGeom>
          <a:solidFill>
            <a:srgbClr val="FF0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0F4129E3-0132-04C0-E86B-AE740CC469B0}"/>
              </a:ext>
            </a:extLst>
          </p:cNvPr>
          <p:cNvSpPr/>
          <p:nvPr/>
        </p:nvSpPr>
        <p:spPr>
          <a:xfrm rot="20038921" flipH="1">
            <a:off x="6688071" y="3449953"/>
            <a:ext cx="193493" cy="918107"/>
          </a:xfrm>
          <a:prstGeom prst="upDownArrow">
            <a:avLst/>
          </a:prstGeom>
          <a:solidFill>
            <a:srgbClr val="FF0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A9F818-893D-D0B2-15D9-F788C2BA6F5D}"/>
              </a:ext>
            </a:extLst>
          </p:cNvPr>
          <p:cNvSpPr txBox="1"/>
          <p:nvPr/>
        </p:nvSpPr>
        <p:spPr>
          <a:xfrm>
            <a:off x="3701395" y="2919920"/>
            <a:ext cx="1576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LAN Segmentation</a:t>
            </a:r>
            <a:endParaRPr lang="en-IL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CD0942-99B9-BB2B-3065-88ADFA95A735}"/>
              </a:ext>
            </a:extLst>
          </p:cNvPr>
          <p:cNvSpPr txBox="1"/>
          <p:nvPr/>
        </p:nvSpPr>
        <p:spPr>
          <a:xfrm>
            <a:off x="4173752" y="5281487"/>
            <a:ext cx="1681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Micro-Segmentation</a:t>
            </a:r>
            <a:endParaRPr lang="en-IL" sz="1400"/>
          </a:p>
        </p:txBody>
      </p:sp>
    </p:spTree>
    <p:extLst>
      <p:ext uri="{BB962C8B-B14F-4D97-AF65-F5344CB8AC3E}">
        <p14:creationId xmlns:p14="http://schemas.microsoft.com/office/powerpoint/2010/main" val="391159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4C5D-8394-6BBD-7C50-A58F664B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Access Control Based on Device Attributes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260B6-762B-E62E-7539-13A4C9447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58744"/>
            <a:ext cx="5916783" cy="531617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2C71BB4-844D-C7BF-13E9-78ECCCB66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611" y="31165"/>
            <a:ext cx="829143" cy="857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4435E1-D860-8685-2EA2-957EEC168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53" y="1354348"/>
            <a:ext cx="5179625" cy="438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9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0078-48DA-F737-74D6-43CE0A06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D16B-66F4-10D5-35EC-8A884FFD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How To Access Control Based on Device Attributes</a:t>
            </a:r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ADB0E-45C2-1A0E-E088-459DBB546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20" y="1389333"/>
            <a:ext cx="11561104" cy="4161995"/>
          </a:xfrm>
          <a:prstGeom prst="rect">
            <a:avLst/>
          </a:prstGeom>
          <a:noFill/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5A0710B-3EB8-B625-8EDB-CD84DF26E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611" y="31165"/>
            <a:ext cx="829143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8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6.potx" id="{C0F50A09-C38A-4BC0-AD93-17F5AD48579C}" vid="{DC00E7B4-0CF7-47E3-99ED-6FD79A8958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5da3514-3b6b-4ccd-bd93-9b0746cba409">
      <UserInfo>
        <DisplayName>Sharon Halbani</DisplayName>
        <AccountId>832</AccountId>
        <AccountType/>
      </UserInfo>
    </SharedWithUsers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0" ma:contentTypeDescription="Create a new document." ma:contentTypeScope="" ma:versionID="08fb6b4fc3b47eae18c5a7f5b3886d77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43abeb6f895ee604ecbf81a58d4d4871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8E23FD-1D3C-4B77-BD11-3F1EF586A9C7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59af04aa-14d6-4764-88c2-31407ba52b8d"/>
    <ds:schemaRef ds:uri="http://schemas.microsoft.com/office/infopath/2007/PartnerControls"/>
    <ds:schemaRef ds:uri="http://www.w3.org/XML/1998/namespace"/>
    <ds:schemaRef ds:uri="d5da3514-3b6b-4ccd-bd93-9b0746cba409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32EAF3A-B6BD-4F1D-9B3B-90C3AB20800E}"/>
</file>

<file path=customXml/itemProps3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8714</TotalTime>
  <Words>194</Words>
  <Application>Microsoft Macintosh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Business objective overview</vt:lpstr>
      <vt:lpstr>OT/IOT Device Security </vt:lpstr>
      <vt:lpstr>Use case</vt:lpstr>
      <vt:lpstr>How To Device Access Control – Centralized network</vt:lpstr>
      <vt:lpstr>How To Access Control Based on Device Attributes</vt:lpstr>
      <vt:lpstr>How To Access Control Based on Device Attributes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Niall Kinsella</cp:lastModifiedBy>
  <cp:revision>5</cp:revision>
  <dcterms:created xsi:type="dcterms:W3CDTF">2024-09-17T11:17:58Z</dcterms:created>
  <dcterms:modified xsi:type="dcterms:W3CDTF">2025-11-26T11:34:15Z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